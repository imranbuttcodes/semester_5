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30352"/>
            <a:ext cx="2377440" cy="384048"/>
          </a:xfrm>
          <a:prstGeom prst="roundRect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7607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BS IT • ACADEMIC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ptos"/>
              </a:defRPr>
            </a:pPr>
            <a:r>
              <a:t>Style in 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031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2DCEB"/>
                </a:solidFill>
                <a:latin typeface="Aptos"/>
              </a:defRPr>
            </a:pPr>
            <a:r>
              <a:t>Writing that is clear, professional,</a:t>
            </a:r>
            <a:br/>
            <a:r>
              <a:t>precise and audience-aware.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914400"/>
            <a:ext cx="4709160" cy="4343400"/>
          </a:xfrm>
          <a:prstGeom prst="roundRect">
            <a:avLst/>
          </a:prstGeom>
          <a:solidFill>
            <a:srgbClr val="23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1234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Aptos"/>
              </a:defRPr>
            </a:pPr>
            <a:r>
              <a:t>STYLE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178308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78308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Passive 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78308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DD7E6"/>
                </a:solidFill>
                <a:latin typeface="Aptos"/>
              </a:defRPr>
            </a:pPr>
            <a:r>
              <a:t>Use strategically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31343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31343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Redundancy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31343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DD7E6"/>
                </a:solidFill>
                <a:latin typeface="Aptos"/>
              </a:defRPr>
            </a:pPr>
            <a:r>
              <a:t>Delete repetition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843784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5CF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8437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Contractions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843784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DD7E6"/>
                </a:solidFill>
                <a:latin typeface="Aptos"/>
              </a:defRPr>
            </a:pPr>
            <a:r>
              <a:t>Match the register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3374135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374135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Wordiness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374135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DD7E6"/>
                </a:solidFill>
                <a:latin typeface="Aptos"/>
              </a:defRPr>
            </a:pPr>
            <a:r>
              <a:t>Prefer economy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904487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904487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Phrasal verbs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904487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DD7E6"/>
                </a:solidFill>
                <a:latin typeface="Aptos"/>
              </a:defRPr>
            </a:pPr>
            <a:r>
              <a:t>Choose precise verbs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443484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43484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Idioms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43484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DD7E6"/>
                </a:solidFill>
                <a:latin typeface="Aptos"/>
              </a:defRPr>
            </a:pPr>
            <a:r>
              <a:t>Use with caution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2578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D3EE"/>
                </a:solidFill>
                <a:latin typeface="Aptos"/>
              </a:defRPr>
            </a:pPr>
            <a:r>
              <a:t>Professional writing is a design choice.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600200" cy="384048"/>
          </a:xfrm>
          <a:prstGeom prst="roundRect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976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1E37"/>
                </a:solidFill>
                <a:latin typeface="Aptos"/>
              </a:defRPr>
            </a:pPr>
            <a:r>
              <a:t>By the end of this lesson…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57400"/>
            <a:ext cx="1056132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185416"/>
            <a:ext cx="438912" cy="384048"/>
          </a:xfrm>
          <a:prstGeom prst="roundRect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31136"/>
            <a:ext cx="438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194560"/>
            <a:ext cx="923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1E37"/>
                </a:solidFill>
                <a:latin typeface="Aptos"/>
              </a:defRPr>
            </a:pPr>
            <a:r>
              <a:t>Recognize stylistic features that weaken formal writing.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26080"/>
            <a:ext cx="1056132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3054096"/>
            <a:ext cx="438912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99815"/>
            <a:ext cx="438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063239"/>
            <a:ext cx="923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1E37"/>
                </a:solidFill>
                <a:latin typeface="Aptos"/>
              </a:defRPr>
            </a:pPr>
            <a:r>
              <a:t>Revise sentences for clarity, concision and appropriate register.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94760"/>
            <a:ext cx="1056132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" y="3922776"/>
            <a:ext cx="438912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968496"/>
            <a:ext cx="438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931920"/>
            <a:ext cx="923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1E37"/>
                </a:solidFill>
                <a:latin typeface="Aptos"/>
              </a:defRPr>
            </a:pPr>
            <a:r>
              <a:t>Distinguish conversational English from academic/technical English.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663440"/>
            <a:ext cx="1056132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4791456"/>
            <a:ext cx="438912" cy="38404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837176"/>
            <a:ext cx="438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4800600"/>
            <a:ext cx="923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1E37"/>
                </a:solidFill>
                <a:latin typeface="Aptos"/>
              </a:defRPr>
            </a:pPr>
            <a:r>
              <a:t>Apply style choices to emails, reports, documentation and assignments.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600200" cy="384048"/>
          </a:xfrm>
          <a:prstGeom prst="roundRect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976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1E37"/>
                </a:solidFill>
                <a:latin typeface="Aptos"/>
              </a:defRPr>
            </a:pPr>
            <a:r>
              <a:t>Style depends on purpose +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361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ptos"/>
              </a:defRPr>
            </a:pPr>
            <a:r>
              <a:t>Not every informal feature is grammatically wrong; the question is whether it fits the 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Aptos"/>
              </a:defRPr>
            </a:pPr>
            <a:r>
              <a:t>CASUAL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80" y="2331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5CF6"/>
                </a:solidFill>
                <a:latin typeface="Aptos"/>
              </a:defRPr>
            </a:pPr>
            <a:r>
              <a:t>PROFESSIONAL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2331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ptos"/>
              </a:defRPr>
            </a:pPr>
            <a:r>
              <a:t>FORMAL / ACADEMIC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880360"/>
            <a:ext cx="10149840" cy="128016"/>
          </a:xfrm>
          <a:prstGeom prst="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724912"/>
            <a:ext cx="438912" cy="438912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0" y="2724912"/>
            <a:ext cx="438912" cy="438912"/>
          </a:xfrm>
          <a:prstGeom prst="ellipse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98480" y="2724912"/>
            <a:ext cx="438912" cy="43891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3429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04487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1E37"/>
                </a:solidFill>
                <a:latin typeface="Aptos"/>
              </a:defRPr>
            </a:pPr>
            <a:r>
              <a:t>“Can’t log in. Check it out.”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805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Aptos"/>
              </a:defRPr>
            </a:pPr>
            <a:r>
              <a:t>TEAM CHAT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3657600"/>
            <a:ext cx="3429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3904487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1E37"/>
                </a:solidFill>
                <a:latin typeface="Aptos"/>
              </a:defRPr>
            </a:pPr>
            <a:r>
              <a:t>“Please investigate the login issue.”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4805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Aptos"/>
              </a:defRPr>
            </a:pPr>
            <a:r>
              <a:t>WORK EMAIL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3657600"/>
            <a:ext cx="3429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3904487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1E37"/>
                </a:solidFill>
                <a:latin typeface="Aptos"/>
              </a:defRPr>
            </a:pPr>
            <a:r>
              <a:t>“The login failure was investigated using server logs.”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4805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Aptos"/>
              </a:defRPr>
            </a:pPr>
            <a:r>
              <a:t>TECHNICAL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23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5CF6"/>
                </a:solidFill>
                <a:latin typeface="Aptos"/>
              </a:defRPr>
            </a:pPr>
            <a:r>
              <a:t>Ask: What level of formality does the situation require?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600200" cy="384048"/>
          </a:xfrm>
          <a:prstGeom prst="roundRect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976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1E37"/>
                </a:solidFill>
                <a:latin typeface="Aptos"/>
              </a:defRPr>
            </a:pPr>
            <a:r>
              <a:t>Passive 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361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ptos"/>
              </a:defRPr>
            </a:pPr>
            <a:r>
              <a:t>Useful in formal writing—but not automatically better.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84831"/>
            <a:ext cx="10698480" cy="5303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2199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Passive voice shifts attention from the doer to the action or result.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87752"/>
            <a:ext cx="1417320" cy="38404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334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LESS EFFECTIVE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5257800" cy="132588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19272"/>
            <a:ext cx="4709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Aptos"/>
              </a:defRPr>
            </a:pPr>
            <a:r>
              <a:t>“The developer fixed the security vulnerability.”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587752"/>
            <a:ext cx="128016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6334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BETTER STYLE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063240"/>
            <a:ext cx="5166360" cy="1325880"/>
          </a:xfrm>
          <a:prstGeom prst="roundRect">
            <a:avLst/>
          </a:prstGeom>
          <a:solidFill>
            <a:srgbClr val="F0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319272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Aptos"/>
              </a:defRPr>
            </a:pPr>
            <a:r>
              <a:t>“The security vulnerability was fixed before deployment.”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9204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Aptos"/>
              </a:defRPr>
            </a:pPr>
            <a:r>
              <a:t>STYLE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5074920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1E37"/>
                </a:solidFill>
                <a:latin typeface="Aptos"/>
              </a:defRPr>
            </a:pPr>
            <a:r>
              <a:t>Use passive voice when the action/result matters more than the agent, or the agent is unknown/unimportant.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892040"/>
            <a:ext cx="5166360" cy="960120"/>
          </a:xfrm>
          <a:prstGeom prst="round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1023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5047488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Rewrite: “We collected the data from 120 users.” When would passive voice be preferable?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600200" cy="384048"/>
          </a:xfrm>
          <a:prstGeom prst="roundRect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976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1E37"/>
                </a:solidFill>
                <a:latin typeface="Aptos"/>
              </a:defRPr>
            </a:pPr>
            <a:r>
              <a:t>Redundancy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361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ptos"/>
              </a:defRPr>
            </a:pPr>
            <a:r>
              <a:t>Say it once—clearly.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84831"/>
            <a:ext cx="10698480" cy="5303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2199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Redundancy occurs when words repeat information already expressed.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87752"/>
            <a:ext cx="1417320" cy="38404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334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LESS EFFECTIVE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5257800" cy="132588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19272"/>
            <a:ext cx="4709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Aptos"/>
              </a:defRPr>
            </a:pPr>
            <a:r>
              <a:t>“The final outcome was completely unanimous among all team members.”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587752"/>
            <a:ext cx="128016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6334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BETTER STYLE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063240"/>
            <a:ext cx="5166360" cy="1325880"/>
          </a:xfrm>
          <a:prstGeom prst="roundRect">
            <a:avLst/>
          </a:prstGeom>
          <a:solidFill>
            <a:srgbClr val="F0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319272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Aptos"/>
              </a:defRPr>
            </a:pPr>
            <a:r>
              <a:t>“The outcome was unanimous among the team members.”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9204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Aptos"/>
              </a:defRPr>
            </a:pPr>
            <a:r>
              <a:t>STYLE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5074920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1E37"/>
                </a:solidFill>
                <a:latin typeface="Aptos"/>
              </a:defRPr>
            </a:pPr>
            <a:r>
              <a:t>Remove duplicated meaning: final outcome, past history, advance planning, repeat again, basic fundamentals.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892040"/>
            <a:ext cx="5166360" cy="960120"/>
          </a:xfrm>
          <a:prstGeom prst="round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1023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5047488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Edit: “The two alternatives are both equally viable options.”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600200" cy="384048"/>
          </a:xfrm>
          <a:prstGeom prst="roundRect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976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1E37"/>
                </a:solidFill>
                <a:latin typeface="Aptos"/>
              </a:defRPr>
            </a:pPr>
            <a:r>
              <a:t>Contractions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361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ptos"/>
              </a:defRPr>
            </a:pPr>
            <a:r>
              <a:t>Correct English, but register-sensitive.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84831"/>
            <a:ext cx="10698480" cy="530352"/>
          </a:xfrm>
          <a:prstGeom prst="roundRect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2199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Contractions combine words: don’t, can’t, it’s, we’ve, they’re.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87752"/>
            <a:ext cx="1417320" cy="38404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334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LESS EFFECTIVE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5257800" cy="132588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19272"/>
            <a:ext cx="4709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Aptos"/>
              </a:defRPr>
            </a:pPr>
            <a:r>
              <a:t>Academic report: “We can’t determine why the system failed.”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587752"/>
            <a:ext cx="128016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6334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BETTER STYLE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063240"/>
            <a:ext cx="5166360" cy="1325880"/>
          </a:xfrm>
          <a:prstGeom prst="roundRect">
            <a:avLst/>
          </a:prstGeom>
          <a:solidFill>
            <a:srgbClr val="F0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319272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Aptos"/>
              </a:defRPr>
            </a:pPr>
            <a:r>
              <a:t>Academic report: “We cannot determine why the system failed.”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9204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7C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5CF6"/>
                </a:solidFill>
                <a:latin typeface="Aptos"/>
              </a:defRPr>
            </a:pPr>
            <a:r>
              <a:t>STYLE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5074920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1E37"/>
                </a:solidFill>
                <a:latin typeface="Aptos"/>
              </a:defRPr>
            </a:pPr>
            <a:r>
              <a:t>Contractions are natural in speech, chats and many emails; avoid or limit them when a highly formal academic style is required.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892040"/>
            <a:ext cx="5166360" cy="960120"/>
          </a:xfrm>
          <a:prstGeom prst="round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1023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5047488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Which fits better in a report: “doesn’t” or “does not”? Explain why.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600200" cy="384048"/>
          </a:xfrm>
          <a:prstGeom prst="roundRect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976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1E37"/>
                </a:solidFill>
                <a:latin typeface="Aptos"/>
              </a:defRPr>
            </a:pPr>
            <a:r>
              <a:t>Wordiness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361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ptos"/>
              </a:defRPr>
            </a:pPr>
            <a:r>
              <a:t>Make every word earn its place.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84831"/>
            <a:ext cx="10698480" cy="53035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2199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Wordiness uses more words than necessary to express an idea.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87752"/>
            <a:ext cx="1417320" cy="38404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334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LESS EFFECTIVE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5257800" cy="132588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19272"/>
            <a:ext cx="4709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Aptos"/>
              </a:defRPr>
            </a:pPr>
            <a:r>
              <a:t>“Due to the fact that the server was unavailable, users were unable to access the system.”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587752"/>
            <a:ext cx="128016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6334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BETTER STYLE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063240"/>
            <a:ext cx="5166360" cy="1325880"/>
          </a:xfrm>
          <a:prstGeom prst="roundRect">
            <a:avLst/>
          </a:prstGeom>
          <a:solidFill>
            <a:srgbClr val="F0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319272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Aptos"/>
              </a:defRPr>
            </a:pPr>
            <a:r>
              <a:t>“Because the server was unavailable, users could not access the system.”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9204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Aptos"/>
              </a:defRPr>
            </a:pPr>
            <a:r>
              <a:t>STYLE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5074920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1E37"/>
                </a:solidFill>
                <a:latin typeface="Aptos"/>
              </a:defRPr>
            </a:pPr>
            <a:r>
              <a:t>Replace inflated phrases: due to the fact that → because; in order to → to; at this point in time → now.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892040"/>
            <a:ext cx="5166360" cy="960120"/>
          </a:xfrm>
          <a:prstGeom prst="round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1023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5047488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Shorten: “It is important to note that the results clearly indicate that…”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600200" cy="384048"/>
          </a:xfrm>
          <a:prstGeom prst="roundRect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976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1E37"/>
                </a:solidFill>
                <a:latin typeface="Aptos"/>
              </a:defRPr>
            </a:pPr>
            <a:r>
              <a:t>Phrasal Verbs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361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ptos"/>
              </a:defRPr>
            </a:pPr>
            <a:r>
              <a:t>Natural in conversation; sometimes too informal or imprecise for technical prose.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84831"/>
            <a:ext cx="10698480" cy="5303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2199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 phrasal verb combines a verb + particle: find out, set up, look into, carry 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87752"/>
            <a:ext cx="1417320" cy="38404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334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LESS EFFECTIVE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5257800" cy="132588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19272"/>
            <a:ext cx="4709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Aptos"/>
              </a:defRPr>
            </a:pPr>
            <a:r>
              <a:t>“The team looked into the error and found out the cause.”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587752"/>
            <a:ext cx="128016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6334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BETTER STYLE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063240"/>
            <a:ext cx="5166360" cy="1325880"/>
          </a:xfrm>
          <a:prstGeom prst="roundRect">
            <a:avLst/>
          </a:prstGeom>
          <a:solidFill>
            <a:srgbClr val="F0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319272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Aptos"/>
              </a:defRPr>
            </a:pPr>
            <a:r>
              <a:t>“The team investigated the error and identified the cause.”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9204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Aptos"/>
              </a:defRPr>
            </a:pPr>
            <a:r>
              <a:t>STYLE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5074920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1E37"/>
                </a:solidFill>
                <a:latin typeface="Aptos"/>
              </a:defRPr>
            </a:pPr>
            <a:r>
              <a:t>Do not mechanically eliminate every phrasal verb. Prefer a precise single-word verb when it improves formality or technical accuracy.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892040"/>
            <a:ext cx="5166360" cy="960120"/>
          </a:xfrm>
          <a:prstGeom prst="round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1023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5047488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Replace where appropriate: put off • look into • come up with • carry out.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600200" cy="384048"/>
          </a:xfrm>
          <a:prstGeom prst="roundRect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976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1E37"/>
                </a:solidFill>
                <a:latin typeface="Aptos"/>
              </a:defRPr>
            </a:pPr>
            <a:r>
              <a:t>Idioms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361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ptos"/>
              </a:defRPr>
            </a:pPr>
            <a:r>
              <a:t>Meaningful—but risky when precision matters.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84831"/>
            <a:ext cx="10698480" cy="530352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2199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Idioms are fixed expressions whose meaning is not fully predictable from the individual words.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87752"/>
            <a:ext cx="1417320" cy="38404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334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LESS EFFECTIVE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5257800" cy="132588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19272"/>
            <a:ext cx="4709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Aptos"/>
              </a:defRPr>
            </a:pPr>
            <a:r>
              <a:t>“The development team needs to get the ball rolling.”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587752"/>
            <a:ext cx="128016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6334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BETTER STYLE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063240"/>
            <a:ext cx="5166360" cy="1325880"/>
          </a:xfrm>
          <a:prstGeom prst="roundRect">
            <a:avLst/>
          </a:prstGeom>
          <a:solidFill>
            <a:srgbClr val="F0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319272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Aptos"/>
              </a:defRPr>
            </a:pPr>
            <a:r>
              <a:t>“The development team needs to begin the implementation phase.”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9204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Aptos"/>
              </a:defRPr>
            </a:pPr>
            <a:r>
              <a:t>STYLE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5074920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1E37"/>
                </a:solidFill>
                <a:latin typeface="Aptos"/>
              </a:defRPr>
            </a:pPr>
            <a:r>
              <a:t>Avoid culture-specific or ambiguous idioms in academic, international and technical writing when literal wording is clearer.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892040"/>
            <a:ext cx="5166360" cy="960120"/>
          </a:xfrm>
          <a:prstGeom prst="round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1023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5047488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Make formal: “We need to get everyone on the same page.”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1325880" cy="384048"/>
          </a:xfrm>
          <a:prstGeom prst="roundRect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MYTH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Always avoid these features?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64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D3EE"/>
                </a:solidFill>
                <a:latin typeface="Aptos"/>
              </a:defRPr>
            </a:pPr>
            <a:r>
              <a:t>No. Good style is contextual.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5120640" cy="1234440"/>
          </a:xfrm>
          <a:prstGeom prst="roundRect">
            <a:avLst/>
          </a:prstGeom>
          <a:solidFill>
            <a:srgbClr val="263552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Aptos"/>
              </a:defRPr>
            </a:pPr>
            <a:r>
              <a:t>Passive 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98648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</a:defRPr>
            </a:pPr>
            <a:r>
              <a:t>Useful when focus belongs on process/result.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496312"/>
            <a:ext cx="105156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542032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NOT banned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331720"/>
            <a:ext cx="5120640" cy="1234440"/>
          </a:xfrm>
          <a:prstGeom prst="roundRect">
            <a:avLst/>
          </a:prstGeom>
          <a:solidFill>
            <a:srgbClr val="263552"/>
          </a:solidFill>
          <a:ln>
            <a:solidFill>
              <a:srgbClr val="7C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514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5CF6"/>
                </a:solidFill>
                <a:latin typeface="Aptos"/>
              </a:defRPr>
            </a:pPr>
            <a:r>
              <a:t>Contractions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898648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</a:defRPr>
            </a:pPr>
            <a:r>
              <a:t>Acceptable in many professional contexts.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2496312"/>
            <a:ext cx="1051560" cy="384048"/>
          </a:xfrm>
          <a:prstGeom prst="roundRect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2542032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REGISTER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79"/>
            <a:ext cx="5120640" cy="1234440"/>
          </a:xfrm>
          <a:prstGeom prst="roundRect">
            <a:avLst/>
          </a:prstGeom>
          <a:solidFill>
            <a:srgbClr val="26355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233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Aptos"/>
              </a:defRPr>
            </a:pPr>
            <a:r>
              <a:t>Phrasal verbs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07407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</a:defRPr>
            </a:pPr>
            <a:r>
              <a:t>Some are standard and precise.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4005071"/>
            <a:ext cx="105156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050791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JUDGMENT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840479"/>
            <a:ext cx="5120640" cy="1234440"/>
          </a:xfrm>
          <a:prstGeom prst="roundRect">
            <a:avLst/>
          </a:prstGeom>
          <a:solidFill>
            <a:srgbClr val="263552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0233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C4899"/>
                </a:solidFill>
                <a:latin typeface="Aptos"/>
              </a:defRPr>
            </a:pPr>
            <a:r>
              <a:t>Idioms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407407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</a:defRPr>
            </a:pPr>
            <a:r>
              <a:t>Fine conversationally; risky in formal technical prose.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4005071"/>
            <a:ext cx="1051560" cy="384048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4050791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AUDIENCE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623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ACC15"/>
                </a:solidFill>
                <a:latin typeface="Aptos"/>
              </a:defRPr>
            </a:pPr>
            <a:r>
              <a:t>Key principle: choose the form that maximizes clarity, precision and appropriateness.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600200" cy="384048"/>
          </a:xfrm>
          <a:prstGeom prst="roundRect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976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EDITING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1E37"/>
                </a:solidFill>
                <a:latin typeface="Aptos"/>
              </a:defRPr>
            </a:pPr>
            <a:r>
              <a:t>Repair this paragraph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361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ptos"/>
              </a:defRPr>
            </a:pPr>
            <a:r>
              <a:t>Work in pairs. Find at least five style problems.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6984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41E37"/>
                </a:solidFill>
                <a:latin typeface="Aptos"/>
              </a:defRPr>
            </a:pPr>
            <a:r>
              <a:t>“Due to the fact that we couldn’t figure out the exact reason why the application crashed, the issue was looked into by the development team. They came up with a new solution in order to fix the problem, and at the end of the day everyone was on the same page.”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434840"/>
            <a:ext cx="1508760" cy="38404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480559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Wordiness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4434840"/>
            <a:ext cx="1508760" cy="384048"/>
          </a:xfrm>
          <a:prstGeom prst="roundRect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4480559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Contraction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4434840"/>
            <a:ext cx="150876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4480559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Passive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434840"/>
            <a:ext cx="150876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480559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Phrasal verbs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4434840"/>
            <a:ext cx="1508760" cy="384048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4480559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Idiom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21240" y="4434840"/>
            <a:ext cx="1508760" cy="38404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4480559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Redundancy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663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1E37"/>
                </a:solidFill>
                <a:latin typeface="Aptos"/>
              </a:defRPr>
            </a:pPr>
            <a:r>
              <a:t>Challenge: revise it without changing the core meaning.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600200" cy="384048"/>
          </a:xfrm>
          <a:prstGeom prst="roundRect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976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MODEL REVISION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1E37"/>
                </a:solidFill>
                <a:latin typeface="Aptos"/>
              </a:defRPr>
            </a:pPr>
            <a:r>
              <a:t>One possible professional version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698480" cy="1645920"/>
          </a:xfrm>
          <a:prstGeom prst="round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8716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“Because the cause of the application crash was unclear, the development team investigated the issue. The team developed a solution to resolve the problem and reached agreement on the implementation plan.”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160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1E37"/>
                </a:solidFill>
                <a:latin typeface="Aptos"/>
              </a:defRPr>
            </a:pPr>
            <a:r>
              <a:t>Due to the fact that → Because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41605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5CF6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4160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1E37"/>
                </a:solidFill>
                <a:latin typeface="Aptos"/>
              </a:defRPr>
            </a:pPr>
            <a:r>
              <a:t>couldn’t → was unclear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1888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81888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1E37"/>
                </a:solidFill>
                <a:latin typeface="Aptos"/>
              </a:defRPr>
            </a:pPr>
            <a:r>
              <a:t>looked into → investigated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81888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481888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1E37"/>
                </a:solidFill>
                <a:latin typeface="Aptos"/>
              </a:defRPr>
            </a:pPr>
            <a:r>
              <a:t>came up with → developed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7725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47725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1E37"/>
                </a:solidFill>
                <a:latin typeface="Aptos"/>
              </a:defRPr>
            </a:pPr>
            <a:r>
              <a:t>in order to → 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47725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547725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1E37"/>
                </a:solidFill>
                <a:latin typeface="Aptos"/>
              </a:defRPr>
            </a:pPr>
            <a:r>
              <a:t>at the end of the day → removed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600200" cy="384048"/>
          </a:xfrm>
          <a:prstGeom prst="roundRect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976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1E37"/>
                </a:solidFill>
                <a:latin typeface="Aptos"/>
              </a:defRPr>
            </a:pPr>
            <a:r>
              <a:t>What is the style problem?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1663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21992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1E37"/>
                </a:solidFill>
                <a:latin typeface="Aptos"/>
              </a:defRPr>
            </a:pPr>
            <a:r>
              <a:t>“The reason is because…”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368296"/>
            <a:ext cx="1325880" cy="38404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414015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Redundancy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57400"/>
            <a:ext cx="51663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221992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1E37"/>
                </a:solidFill>
                <a:latin typeface="Aptos"/>
              </a:defRPr>
            </a:pPr>
            <a:r>
              <a:t>“We’ll carry out the experiment.” in a highly formal paper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9800" y="2368296"/>
            <a:ext cx="1325880" cy="384048"/>
          </a:xfrm>
          <a:prstGeom prst="roundRect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29800" y="2414015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Contraction / register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91840"/>
            <a:ext cx="51663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56432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1E37"/>
                </a:solidFill>
                <a:latin typeface="Aptos"/>
              </a:defRPr>
            </a:pPr>
            <a:r>
              <a:t>“The team put off the deployment.”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602736"/>
            <a:ext cx="132588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36484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Phrasal verb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291840"/>
            <a:ext cx="51663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456432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1E37"/>
                </a:solidFill>
                <a:latin typeface="Aptos"/>
              </a:defRPr>
            </a:pPr>
            <a:r>
              <a:t>“At this moment in time…”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3602736"/>
            <a:ext cx="1325880" cy="38404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36484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Wordiness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526280"/>
            <a:ext cx="51663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90872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1E37"/>
                </a:solidFill>
                <a:latin typeface="Aptos"/>
              </a:defRPr>
            </a:pPr>
            <a:r>
              <a:t>“The results were analyzed.”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4837176"/>
            <a:ext cx="132588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48828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Passive voice — possibly appropriate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526280"/>
            <a:ext cx="51663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690872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1E37"/>
                </a:solidFill>
                <a:latin typeface="Aptos"/>
              </a:defRPr>
            </a:pPr>
            <a:r>
              <a:t>“The project is a piece of cake.”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29800" y="4837176"/>
            <a:ext cx="1325880" cy="384048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48828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Idiom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65836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Style Check before SUBMIT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5331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D3EE"/>
                </a:solidFill>
                <a:latin typeface="Aptos"/>
              </a:defRPr>
            </a:pPr>
            <a:r>
              <a:t>Six questions for better academic &amp; technical writing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65960"/>
            <a:ext cx="41148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02536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Aptos"/>
              </a:defRPr>
            </a:pPr>
            <a:r>
              <a:t>Passive 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2002536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Is the focus on the right thing?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69464"/>
            <a:ext cx="411480" cy="38404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1518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0604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Aptos"/>
              </a:defRPr>
            </a:pPr>
            <a:r>
              <a:t>Redundancy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606040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Have I repeated meaning?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72968"/>
            <a:ext cx="411480" cy="384048"/>
          </a:xfrm>
          <a:prstGeom prst="roundRect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18687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0954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5CF6"/>
                </a:solidFill>
                <a:latin typeface="Aptos"/>
              </a:defRPr>
            </a:pPr>
            <a:r>
              <a:t>Contractions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209544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Does the formality level fit?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76472"/>
            <a:ext cx="411480" cy="38404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22191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Aptos"/>
              </a:defRPr>
            </a:pPr>
            <a:r>
              <a:t>Wordiness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81304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Can I say this more directly?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379976"/>
            <a:ext cx="41148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425696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41655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Aptos"/>
              </a:defRPr>
            </a:pPr>
            <a:r>
              <a:t>Phrasal verbs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416552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Is there a more precise verb?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983480"/>
            <a:ext cx="411480" cy="384048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02920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020056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Aptos"/>
              </a:defRPr>
            </a:pPr>
            <a:r>
              <a:t>Idioms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5020056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Will every reader understand it literally?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58200" y="2011680"/>
            <a:ext cx="2834640" cy="3383280"/>
          </a:xfrm>
          <a:prstGeom prst="roundRect">
            <a:avLst/>
          </a:prstGeom>
          <a:solidFill>
            <a:srgbClr val="26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2331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CC15"/>
                </a:solidFill>
                <a:latin typeface="Aptos"/>
              </a:defRPr>
            </a:pPr>
            <a:r>
              <a:t>EXIT TICKET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2926080"/>
            <a:ext cx="2148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Write one sentence containing TWO style problems.</a:t>
            </a:r>
            <a:br/>
            <a:br/>
            <a:r>
              <a:t>Exchange it with a partner and revise it.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D3EE"/>
                </a:solidFill>
                <a:latin typeface="Aptos"/>
              </a:defRPr>
            </a:pPr>
            <a:r>
              <a:t>Clear • Concise • Appropriate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