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30352"/>
            <a:ext cx="2057400" cy="384048"/>
          </a:xfrm>
          <a:prstGeom prst="roundRect">
            <a:avLst/>
          </a:prstGeom>
          <a:solidFill>
            <a:srgbClr val="7A5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BS IT •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The 7 C’s of</a:t>
            </a:r>
            <a:br/>
            <a:r>
              <a:t>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0632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7DEEB"/>
                </a:solidFill>
                <a:latin typeface="Aptos"/>
              </a:defRPr>
            </a:pPr>
            <a:r>
              <a:t>Turn everyday messages into clear, professional,</a:t>
            </a:r>
            <a:br/>
            <a:r>
              <a:t>actionable communication.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731520"/>
            <a:ext cx="4754880" cy="5394960"/>
          </a:xfrm>
          <a:prstGeom prst="round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1051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C9F0"/>
                </a:solidFill>
                <a:latin typeface="Aptos"/>
              </a:defRPr>
            </a:pPr>
            <a:r>
              <a:t>TEAM CHAT</a:t>
            </a:r>
          </a:p>
        </p:txBody>
      </p:sp>
      <p:sp>
        <p:nvSpPr>
          <p:cNvPr id="8" name="Oval 7"/>
          <p:cNvSpPr/>
          <p:nvPr/>
        </p:nvSpPr>
        <p:spPr>
          <a:xfrm>
            <a:off x="6931152" y="1600200"/>
            <a:ext cx="438912" cy="43891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31152" y="1664208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9792" y="1581912"/>
            <a:ext cx="3337560" cy="713232"/>
          </a:xfrm>
          <a:prstGeom prst="roundRect">
            <a:avLst/>
          </a:prstGeom>
          <a:solidFill>
            <a:srgbClr val="2A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642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Aptos"/>
              </a:defRPr>
            </a:pPr>
            <a:r>
              <a:t>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1874519"/>
            <a:ext cx="2880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</a:defRPr>
            </a:pPr>
            <a:r>
              <a:t>The app is not working.</a:t>
            </a:r>
          </a:p>
        </p:txBody>
      </p:sp>
      <p:sp>
        <p:nvSpPr>
          <p:cNvPr id="13" name="Oval 12"/>
          <p:cNvSpPr/>
          <p:nvPr/>
        </p:nvSpPr>
        <p:spPr>
          <a:xfrm>
            <a:off x="6931152" y="2587752"/>
            <a:ext cx="438912" cy="438912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31152" y="2651760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9792" y="2569464"/>
            <a:ext cx="3337560" cy="713232"/>
          </a:xfrm>
          <a:prstGeom prst="roundRect">
            <a:avLst/>
          </a:prstGeom>
          <a:solidFill>
            <a:srgbClr val="2A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62672" y="26517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Aptos"/>
              </a:defRPr>
            </a:pPr>
            <a:r>
              <a:t>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2" y="2862072"/>
            <a:ext cx="2880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</a:defRPr>
            </a:pPr>
            <a:r>
              <a:t>Which version? Which device?</a:t>
            </a:r>
          </a:p>
        </p:txBody>
      </p:sp>
      <p:sp>
        <p:nvSpPr>
          <p:cNvPr id="18" name="Oval 17"/>
          <p:cNvSpPr/>
          <p:nvPr/>
        </p:nvSpPr>
        <p:spPr>
          <a:xfrm>
            <a:off x="6931152" y="3575304"/>
            <a:ext cx="438912" cy="43891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3639312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9792" y="3557016"/>
            <a:ext cx="3337560" cy="713232"/>
          </a:xfrm>
          <a:prstGeom prst="roundRect">
            <a:avLst/>
          </a:prstGeom>
          <a:solidFill>
            <a:srgbClr val="2A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2" y="363931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Aptos"/>
              </a:defRPr>
            </a:pPr>
            <a:r>
              <a:t>Dev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3849624"/>
            <a:ext cx="2880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</a:defRPr>
            </a:pPr>
            <a:r>
              <a:t>Android 14 • v3.2.1 • login crash</a:t>
            </a:r>
          </a:p>
        </p:txBody>
      </p:sp>
      <p:sp>
        <p:nvSpPr>
          <p:cNvPr id="23" name="Oval 22"/>
          <p:cNvSpPr/>
          <p:nvPr/>
        </p:nvSpPr>
        <p:spPr>
          <a:xfrm>
            <a:off x="6931152" y="4562856"/>
            <a:ext cx="438912" cy="438912"/>
          </a:xfrm>
          <a:prstGeom prst="ellipse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1152" y="4626864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9792" y="4544568"/>
            <a:ext cx="3337560" cy="713232"/>
          </a:xfrm>
          <a:prstGeom prst="roundRect">
            <a:avLst/>
          </a:prstGeom>
          <a:solidFill>
            <a:srgbClr val="2A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62672" y="462686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CC9F0"/>
                </a:solidFill>
                <a:latin typeface="Aptos"/>
              </a:defRPr>
            </a:pPr>
            <a:r>
              <a:t>PM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2" y="4837176"/>
            <a:ext cx="2880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</a:defRPr>
            </a:pPr>
            <a:r>
              <a:t>Perfect. Now we can act.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166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CC9F0"/>
                </a:solidFill>
                <a:latin typeface="Aptos"/>
              </a:defRPr>
            </a:pPr>
            <a:r>
              <a:t>Communication is a technical skill.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77A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508760" cy="384048"/>
          </a:xfrm>
          <a:prstGeom prst="roundRect">
            <a:avLst/>
          </a:prstGeom>
          <a:solidFill>
            <a:srgbClr val="7A5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3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WARM-UP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2038"/>
                </a:solidFill>
                <a:latin typeface="Aptos"/>
              </a:defRPr>
            </a:pPr>
            <a:r>
              <a:t>Would you know what to do?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69494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51460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42038"/>
                </a:solidFill>
                <a:latin typeface="Aptos"/>
              </a:defRPr>
            </a:pPr>
            <a:r>
              <a:t>“Please fix the issue and send it soon.”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337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A5AF8"/>
                </a:solidFill>
                <a:latin typeface="Aptos"/>
              </a:defRPr>
            </a:pPr>
            <a:r>
              <a:t>What is missing?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840480"/>
            <a:ext cx="2743200" cy="502920"/>
          </a:xfrm>
          <a:prstGeom prst="roundRect">
            <a:avLst/>
          </a:prstGeom>
          <a:solidFill>
            <a:srgbClr val="F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96849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Aptos"/>
              </a:defRPr>
            </a:pPr>
            <a:r>
              <a:t>Which issue?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3840480"/>
            <a:ext cx="2743200" cy="502920"/>
          </a:xfrm>
          <a:prstGeom prst="roundRect">
            <a:avLst/>
          </a:prstGeom>
          <a:solidFill>
            <a:srgbClr val="F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396849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Aptos"/>
              </a:defRPr>
            </a:pPr>
            <a:r>
              <a:t>Who should fix it?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526280"/>
            <a:ext cx="2743200" cy="502920"/>
          </a:xfrm>
          <a:prstGeom prst="roundRect">
            <a:avLst/>
          </a:prstGeom>
          <a:solidFill>
            <a:srgbClr val="F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65429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Aptos"/>
              </a:defRPr>
            </a:pPr>
            <a:r>
              <a:t>What does “soon” mean?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4526280"/>
            <a:ext cx="2743200" cy="502920"/>
          </a:xfrm>
          <a:prstGeom prst="roundRect">
            <a:avLst/>
          </a:prstGeom>
          <a:solidFill>
            <a:srgbClr val="F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465429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Aptos"/>
              </a:defRPr>
            </a:pPr>
            <a:r>
              <a:t>Where should it be sent?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057400"/>
            <a:ext cx="3429000" cy="3383280"/>
          </a:xfrm>
          <a:prstGeom prst="roundRect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4688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CC9F0"/>
                </a:solidFill>
                <a:latin typeface="Aptos"/>
              </a:defRPr>
            </a:pPr>
            <a:r>
              <a:t>PAIR • THINK •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063240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Rewrite the message so a teammate can act immediately.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46177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ACC15"/>
                </a:solidFill>
                <a:latin typeface="Aptos"/>
              </a:defRPr>
            </a:pPr>
            <a:r>
              <a:t>60 seconds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77A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508760" cy="384048"/>
          </a:xfrm>
          <a:prstGeom prst="roundRect">
            <a:avLst/>
          </a:prstGeom>
          <a:solidFill>
            <a:srgbClr val="7A5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3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2038"/>
                </a:solidFill>
                <a:latin typeface="Aptos"/>
              </a:defRPr>
            </a:pPr>
            <a:r>
              <a:t>Meet the 7 C’s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677A"/>
                </a:solidFill>
                <a:latin typeface="Aptos"/>
              </a:defRPr>
            </a:pPr>
            <a:r>
              <a:t>Use them as a checklist before you click Send.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246888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2359152"/>
            <a:ext cx="566928" cy="566928"/>
          </a:xfrm>
          <a:prstGeom prst="ellipse">
            <a:avLst/>
          </a:prstGeom>
          <a:solidFill>
            <a:srgbClr val="7A5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423160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774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2038"/>
                </a:solidFill>
                <a:latin typeface="Aptos"/>
              </a:defRPr>
            </a:pPr>
            <a:r>
              <a:t>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77063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77A"/>
                </a:solidFill>
                <a:latin typeface="Aptos"/>
              </a:defRPr>
            </a:pPr>
            <a:r>
              <a:t>All needed info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148840"/>
            <a:ext cx="246888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39312" y="2359152"/>
            <a:ext cx="566928" cy="566928"/>
          </a:xfrm>
          <a:prstGeom prst="ellipse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2423160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3774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2038"/>
                </a:solidFill>
                <a:latin typeface="Aptos"/>
              </a:defRPr>
            </a:pPr>
            <a:r>
              <a:t>Concise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77063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77A"/>
                </a:solidFill>
                <a:latin typeface="Aptos"/>
              </a:defRPr>
            </a:pPr>
            <a:r>
              <a:t>No clutter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148840"/>
            <a:ext cx="246888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1" y="2359152"/>
            <a:ext cx="566928" cy="566928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2423160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3774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2038"/>
                </a:solidFill>
                <a:latin typeface="Aptos"/>
              </a:defRPr>
            </a:pPr>
            <a:r>
              <a:t>Considerate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77063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77A"/>
                </a:solidFill>
                <a:latin typeface="Aptos"/>
              </a:defRPr>
            </a:pPr>
            <a:r>
              <a:t>Audience-first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2148840"/>
            <a:ext cx="246888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17151" y="2359152"/>
            <a:ext cx="566928" cy="566928"/>
          </a:xfrm>
          <a:prstGeom prst="ellipse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7151" y="2423160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39" y="23774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2038"/>
                </a:solidFill>
                <a:latin typeface="Aptos"/>
              </a:defRPr>
            </a:pPr>
            <a:r>
              <a:t>Clear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39" y="277063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77A"/>
                </a:solidFill>
                <a:latin typeface="Aptos"/>
              </a:defRPr>
            </a:pPr>
            <a:r>
              <a:t>One meaning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794760"/>
            <a:ext cx="246888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0392" y="4005072"/>
            <a:ext cx="566928" cy="56692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4069080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0233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2038"/>
                </a:solidFill>
                <a:latin typeface="Aptos"/>
              </a:defRPr>
            </a:pPr>
            <a:r>
              <a:t>Concrete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4165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77A"/>
                </a:solidFill>
                <a:latin typeface="Aptos"/>
              </a:defRPr>
            </a:pPr>
            <a:r>
              <a:t>Facts + evidence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3794760"/>
            <a:ext cx="246888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639312" y="4005072"/>
            <a:ext cx="566928" cy="5669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39312" y="4069080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0233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2038"/>
                </a:solidFill>
                <a:latin typeface="Aptos"/>
              </a:defRPr>
            </a:pPr>
            <a:r>
              <a:t>Courteous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44165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77A"/>
                </a:solidFill>
                <a:latin typeface="Aptos"/>
              </a:defRPr>
            </a:pPr>
            <a:r>
              <a:t>Respectful tone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794760"/>
            <a:ext cx="246888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28231" y="4005072"/>
            <a:ext cx="566928" cy="5669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1" y="4069080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0233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2038"/>
                </a:solidFill>
                <a:latin typeface="Aptos"/>
              </a:defRPr>
            </a:pPr>
            <a:r>
              <a:t>Correct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4165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77A"/>
                </a:solidFill>
                <a:latin typeface="Aptos"/>
              </a:defRPr>
            </a:pPr>
            <a:r>
              <a:t>Accurate + error-free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715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A5AF8"/>
                </a:solidFill>
                <a:latin typeface="Aptos"/>
              </a:defRPr>
            </a:pPr>
            <a:r>
              <a:t>Challenge: Which C do you already use best?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77A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508760" cy="384048"/>
          </a:xfrm>
          <a:prstGeom prst="roundRect">
            <a:avLst/>
          </a:prstGeom>
          <a:solidFill>
            <a:srgbClr val="7A5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3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2038"/>
                </a:solidFill>
                <a:latin typeface="Aptos"/>
              </a:defRPr>
            </a:pPr>
            <a:r>
              <a:t>Completeness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677A"/>
                </a:solidFill>
                <a:latin typeface="Aptos"/>
              </a:defRPr>
            </a:pPr>
            <a:r>
              <a:t>Give the receiver everything needed to 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2971800" cy="3474720"/>
          </a:xfrm>
          <a:prstGeom prst="roundRect">
            <a:avLst/>
          </a:prstGeom>
          <a:solidFill>
            <a:srgbClr val="7A5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2606040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670048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WHO • WHAT • WHEN • WHERE • HOW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2176272"/>
            <a:ext cx="1051560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21284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651760"/>
            <a:ext cx="3429000" cy="11430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2889504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“The app is not working.”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176272"/>
            <a:ext cx="960120" cy="38404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221284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651760"/>
            <a:ext cx="3703320" cy="1143000"/>
          </a:xfrm>
          <a:prstGeom prst="roundRect">
            <a:avLst/>
          </a:prstGeom>
          <a:solidFill>
            <a:srgbClr val="F0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852928"/>
            <a:ext cx="3246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“Android app v3.2.1 crashes on login on Android 14 after valid credentials are entered.”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4251960"/>
            <a:ext cx="7406640" cy="1371600"/>
          </a:xfrm>
          <a:prstGeom prst="roundRect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450799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C9F0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64608"/>
            <a:ext cx="6720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What 2 details would you still ask for before debugging?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77A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508760" cy="384048"/>
          </a:xfrm>
          <a:prstGeom prst="roundRect">
            <a:avLst/>
          </a:prstGeom>
          <a:solidFill>
            <a:srgbClr val="7A5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3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2038"/>
                </a:solidFill>
                <a:latin typeface="Aptos"/>
              </a:defRPr>
            </a:pPr>
            <a:r>
              <a:t>Conciseness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677A"/>
                </a:solidFill>
                <a:latin typeface="Aptos"/>
              </a:defRPr>
            </a:pPr>
            <a:r>
              <a:t>Keep the message complete—but remove the noise.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2971800" cy="3474720"/>
          </a:xfrm>
          <a:prstGeom prst="round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2606040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670048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SHORT ≠ INCOMPLETE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2176272"/>
            <a:ext cx="1051560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21284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651760"/>
            <a:ext cx="3429000" cy="11430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2889504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“I am writing to inform you that the server is currently unavailable at this point in time.”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176272"/>
            <a:ext cx="960120" cy="38404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221284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651760"/>
            <a:ext cx="3703320" cy="1143000"/>
          </a:xfrm>
          <a:prstGeom prst="roundRect">
            <a:avLst/>
          </a:prstGeom>
          <a:solidFill>
            <a:srgbClr val="F0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852928"/>
            <a:ext cx="3246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“The server is currently unavailable.”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4251960"/>
            <a:ext cx="7406640" cy="1371600"/>
          </a:xfrm>
          <a:prstGeom prst="roundRect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450799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C9F0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64608"/>
            <a:ext cx="6720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Cut 5 unnecessary words from a recent email sentence.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77A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508760" cy="384048"/>
          </a:xfrm>
          <a:prstGeom prst="roundRect">
            <a:avLst/>
          </a:prstGeom>
          <a:solidFill>
            <a:srgbClr val="7A5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3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2038"/>
                </a:solidFill>
                <a:latin typeface="Aptos"/>
              </a:defRPr>
            </a:pPr>
            <a:r>
              <a:t>Consideration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677A"/>
                </a:solidFill>
                <a:latin typeface="Aptos"/>
              </a:defRPr>
            </a:pPr>
            <a:r>
              <a:t>Design the message for the person receiving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2971800" cy="347472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2606040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670048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AUDIENCE • NEEDS •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2176272"/>
            <a:ext cx="1051560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21284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651760"/>
            <a:ext cx="3429000" cy="11430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2889504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To a client: “POST /login throws HTTP 500 due to auth middleware.”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176272"/>
            <a:ext cx="960120" cy="38404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221284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651760"/>
            <a:ext cx="3703320" cy="1143000"/>
          </a:xfrm>
          <a:prstGeom prst="roundRect">
            <a:avLst/>
          </a:prstGeom>
          <a:solidFill>
            <a:srgbClr val="F0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852928"/>
            <a:ext cx="3246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To a client: “The login service is temporarily unavailable; our team is investigating.”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4251960"/>
            <a:ext cx="7406640" cy="1371600"/>
          </a:xfrm>
          <a:prstGeom prst="roundRect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450799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C9F0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64608"/>
            <a:ext cx="6720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How would you explain ‘cloud storage’ to a non-IT client?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77A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508760" cy="384048"/>
          </a:xfrm>
          <a:prstGeom prst="roundRect">
            <a:avLst/>
          </a:prstGeom>
          <a:solidFill>
            <a:srgbClr val="7A5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3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2038"/>
                </a:solidFill>
                <a:latin typeface="Aptos"/>
              </a:defRPr>
            </a:pPr>
            <a:r>
              <a:t>Clarity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677A"/>
                </a:solidFill>
                <a:latin typeface="Aptos"/>
              </a:defRPr>
            </a:pPr>
            <a:r>
              <a:t>Make the purpose and required action unmistakable.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2971800" cy="3474720"/>
          </a:xfrm>
          <a:prstGeom prst="round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2606040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670048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ONE PURPOSE • PRECISE WORDS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2176272"/>
            <a:ext cx="1051560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21284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651760"/>
            <a:ext cx="3429000" cy="11430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2889504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“Fix it and upload it there.”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176272"/>
            <a:ext cx="960120" cy="38404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221284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651760"/>
            <a:ext cx="3703320" cy="1143000"/>
          </a:xfrm>
          <a:prstGeom prst="roundRect">
            <a:avLst/>
          </a:prstGeom>
          <a:solidFill>
            <a:srgbClr val="F0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852928"/>
            <a:ext cx="3246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“Correct the login validation error and upload the revised code to GitHub by 3:00 p.m.”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4251960"/>
            <a:ext cx="7406640" cy="1371600"/>
          </a:xfrm>
          <a:prstGeom prst="roundRect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450799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C9F0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64608"/>
            <a:ext cx="6720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Circle the vague words: it • there • soon • thing • some.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77A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508760" cy="384048"/>
          </a:xfrm>
          <a:prstGeom prst="roundRect">
            <a:avLst/>
          </a:prstGeom>
          <a:solidFill>
            <a:srgbClr val="7A5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3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2038"/>
                </a:solidFill>
                <a:latin typeface="Aptos"/>
              </a:defRPr>
            </a:pPr>
            <a:r>
              <a:t>Concreteness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677A"/>
                </a:solidFill>
                <a:latin typeface="Aptos"/>
              </a:defRPr>
            </a:pPr>
            <a:r>
              <a:t>Replace vague claims with specific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2971800" cy="347472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2606040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670048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FACTS • NUMBERS • EXAMPLES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2176272"/>
            <a:ext cx="1051560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21284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651760"/>
            <a:ext cx="3429000" cy="11430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2889504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“The website is much faster now.”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176272"/>
            <a:ext cx="960120" cy="38404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221284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651760"/>
            <a:ext cx="3703320" cy="1143000"/>
          </a:xfrm>
          <a:prstGeom prst="roundRect">
            <a:avLst/>
          </a:prstGeom>
          <a:solidFill>
            <a:srgbClr val="F0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852928"/>
            <a:ext cx="3246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“Average page-load time decreased from 4.2 s to 1.8 s after optimization.”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4251960"/>
            <a:ext cx="7406640" cy="1371600"/>
          </a:xfrm>
          <a:prstGeom prst="roundRect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450799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C9F0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64608"/>
            <a:ext cx="6720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Turn ‘many users complained’ into a measurable statement.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77A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508760" cy="384048"/>
          </a:xfrm>
          <a:prstGeom prst="roundRect">
            <a:avLst/>
          </a:prstGeom>
          <a:solidFill>
            <a:srgbClr val="7A5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3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2038"/>
                </a:solidFill>
                <a:latin typeface="Aptos"/>
              </a:defRPr>
            </a:pPr>
            <a:r>
              <a:t>Courtesy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677A"/>
                </a:solidFill>
                <a:latin typeface="Aptos"/>
              </a:defRPr>
            </a:pPr>
            <a:r>
              <a:t>Professional communication protects relationships.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2971800" cy="347472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2606040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670048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RESPECT • POSITIVE TONE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2176272"/>
            <a:ext cx="1051560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21284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651760"/>
            <a:ext cx="3429000" cy="11430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2889504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“You failed to send the file again.”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176272"/>
            <a:ext cx="960120" cy="38404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221284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651760"/>
            <a:ext cx="3703320" cy="1143000"/>
          </a:xfrm>
          <a:prstGeom prst="roundRect">
            <a:avLst/>
          </a:prstGeom>
          <a:solidFill>
            <a:srgbClr val="F0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852928"/>
            <a:ext cx="3246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“Could you please resend the file? I have not received it yet. Thank you.”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4251960"/>
            <a:ext cx="7406640" cy="1371600"/>
          </a:xfrm>
          <a:prstGeom prst="roundRect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450799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C9F0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64608"/>
            <a:ext cx="6720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Rewrite a blaming sentence without weakening the request.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77A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508760" cy="384048"/>
          </a:xfrm>
          <a:prstGeom prst="roundRect">
            <a:avLst/>
          </a:prstGeom>
          <a:solidFill>
            <a:srgbClr val="7A5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3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7/7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2038"/>
                </a:solidFill>
                <a:latin typeface="Aptos"/>
              </a:defRPr>
            </a:pPr>
            <a:r>
              <a:t>Correctness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677A"/>
                </a:solidFill>
                <a:latin typeface="Aptos"/>
              </a:defRPr>
            </a:pPr>
            <a:r>
              <a:t>Accuracy builds trust—and prevents costly errors.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2971800" cy="34747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2606040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670048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LANGUAGE • FACTS • DETAILS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2176272"/>
            <a:ext cx="1051560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21284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651760"/>
            <a:ext cx="3429000" cy="11430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2889504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“Meeting: Monday, 15 October” — but 15 October is Tuesday.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176272"/>
            <a:ext cx="960120" cy="38404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221284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651760"/>
            <a:ext cx="3703320" cy="1143000"/>
          </a:xfrm>
          <a:prstGeom prst="roundRect">
            <a:avLst/>
          </a:prstGeom>
          <a:solidFill>
            <a:srgbClr val="F0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852928"/>
            <a:ext cx="3246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Verify the day, date, time, link, names, facts, spelling and terminology before sending.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4251960"/>
            <a:ext cx="7406640" cy="1371600"/>
          </a:xfrm>
          <a:prstGeom prst="roundRect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450799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C9F0"/>
                </a:solidFill>
                <a:latin typeface="Aptos"/>
              </a:defRPr>
            </a:pPr>
            <a:r>
              <a:t>YOUR 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64608"/>
            <a:ext cx="6720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Spot 3 things you should verify in a technical project update.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77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325880" cy="384048"/>
          </a:xfrm>
          <a:prstGeom prst="roundRect">
            <a:avLst/>
          </a:prstGeom>
          <a:solidFill>
            <a:srgbClr val="7A5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Can you diagnose this message?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727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E6"/>
                </a:solidFill>
                <a:latin typeface="Aptos"/>
              </a:defRPr>
            </a:pPr>
            <a:r>
              <a:t>Read it like a project manager.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148840"/>
            <a:ext cx="5029200" cy="2148840"/>
          </a:xfrm>
          <a:prstGeom prst="roundRect">
            <a:avLst/>
          </a:prstGeom>
          <a:solidFill>
            <a:srgbClr val="27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560320"/>
            <a:ext cx="4434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“Hi. The system has an issue.</a:t>
            </a:r>
            <a:br/>
            <a:r>
              <a:t>Please fix it quickly because users are complaining.”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2148840" cy="566928"/>
          </a:xfrm>
          <a:prstGeom prst="roundRect">
            <a:avLst/>
          </a:prstGeom>
          <a:solidFill>
            <a:srgbClr val="273753"/>
          </a:solidFill>
          <a:ln>
            <a:solidFill>
              <a:srgbClr val="7A5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2066544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A5AF8"/>
                </a:solidFill>
                <a:latin typeface="Aptos"/>
              </a:defRPr>
            </a:pPr>
            <a:r>
              <a:t>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920240"/>
            <a:ext cx="2148840" cy="566928"/>
          </a:xfrm>
          <a:prstGeom prst="roundRect">
            <a:avLst/>
          </a:prstGeom>
          <a:solidFill>
            <a:srgbClr val="273753"/>
          </a:solidFill>
          <a:ln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066544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169E1"/>
                </a:solidFill>
                <a:latin typeface="Aptos"/>
              </a:defRPr>
            </a:pPr>
            <a:r>
              <a:t>Concise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724912"/>
            <a:ext cx="2148840" cy="566928"/>
          </a:xfrm>
          <a:prstGeom prst="roundRect">
            <a:avLst/>
          </a:prstGeom>
          <a:solidFill>
            <a:srgbClr val="273753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871216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472B6"/>
                </a:solidFill>
                <a:latin typeface="Aptos"/>
              </a:defRPr>
            </a:pPr>
            <a:r>
              <a:t>Considerate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2724912"/>
            <a:ext cx="2148840" cy="566928"/>
          </a:xfrm>
          <a:prstGeom prst="roundRect">
            <a:avLst/>
          </a:prstGeom>
          <a:solidFill>
            <a:srgbClr val="273753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871216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CC9F0"/>
                </a:solidFill>
                <a:latin typeface="Aptos"/>
              </a:defRPr>
            </a:pPr>
            <a:r>
              <a:t>Clear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529584"/>
            <a:ext cx="2148840" cy="566928"/>
          </a:xfrm>
          <a:prstGeom prst="roundRect">
            <a:avLst/>
          </a:prstGeom>
          <a:solidFill>
            <a:srgbClr val="273753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67588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923C"/>
                </a:solidFill>
                <a:latin typeface="Aptos"/>
              </a:defRPr>
            </a:pPr>
            <a:r>
              <a:t>Concrete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3529584"/>
            <a:ext cx="2148840" cy="566928"/>
          </a:xfrm>
          <a:prstGeom prst="roundRect">
            <a:avLst/>
          </a:prstGeom>
          <a:solidFill>
            <a:srgbClr val="273753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367588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Aptos"/>
              </a:defRPr>
            </a:pPr>
            <a:r>
              <a:t>Courteous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34256"/>
            <a:ext cx="2148840" cy="566928"/>
          </a:xfrm>
          <a:prstGeom prst="roundRect">
            <a:avLst/>
          </a:prstGeom>
          <a:solidFill>
            <a:srgbClr val="273753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448056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Aptos"/>
              </a:defRPr>
            </a:pPr>
            <a:r>
              <a:t>Correct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5349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ACC15"/>
                </a:solidFill>
                <a:latin typeface="Aptos"/>
              </a:defRPr>
            </a:pPr>
            <a:r>
              <a:t>Vote: Which C is violated most clearly?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77A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508760" cy="384048"/>
          </a:xfrm>
          <a:prstGeom prst="roundRect">
            <a:avLst/>
          </a:prstGeom>
          <a:solidFill>
            <a:srgbClr val="7A5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3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2038"/>
                </a:solidFill>
                <a:latin typeface="Aptos"/>
              </a:defRPr>
            </a:pPr>
            <a:r>
              <a:t>A 7-C rewrite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0972800" cy="1920240"/>
          </a:xfrm>
          <a:prstGeom prst="roundRect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10332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Dear Support Team, the student portal has been inaccessible since 9:15 a.m. today. Users receive “Error 503” on the login page. Approximately 40 students have reported the issue. Kindly investigate and update us by 11:00 a.m. 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A5AF8"/>
                </a:solidFill>
                <a:latin typeface="Aptos"/>
              </a:defRPr>
            </a:pPr>
            <a:r>
              <a:t>Why it works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00600"/>
            <a:ext cx="1417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7A5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010912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A5AF8"/>
                </a:solidFill>
                <a:latin typeface="Aptos"/>
              </a:defRPr>
            </a:pPr>
            <a:r>
              <a:t>✓ 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4800600"/>
            <a:ext cx="1417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5010912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169E1"/>
                </a:solidFill>
                <a:latin typeface="Aptos"/>
              </a:defRPr>
            </a:pPr>
            <a:r>
              <a:t>✓ Concise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4800600"/>
            <a:ext cx="1417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5010912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472B6"/>
                </a:solidFill>
                <a:latin typeface="Aptos"/>
              </a:defRPr>
            </a:pPr>
            <a:r>
              <a:t>✓ Considerate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4800600"/>
            <a:ext cx="1417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5010912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CC9F0"/>
                </a:solidFill>
                <a:latin typeface="Aptos"/>
              </a:defRPr>
            </a:pPr>
            <a:r>
              <a:t>✓ Clear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4800600"/>
            <a:ext cx="1417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5010912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B923C"/>
                </a:solidFill>
                <a:latin typeface="Aptos"/>
              </a:defRPr>
            </a:pPr>
            <a:r>
              <a:t>✓ Concrete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4800600"/>
            <a:ext cx="1417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5010912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Aptos"/>
              </a:defRPr>
            </a:pPr>
            <a:r>
              <a:t>✓ Courteous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0" y="4800600"/>
            <a:ext cx="1417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0" y="5010912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4444"/>
                </a:solidFill>
                <a:latin typeface="Aptos"/>
              </a:defRPr>
            </a:pPr>
            <a:r>
              <a:t>✓ Correct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52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677A"/>
                </a:solidFill>
                <a:latin typeface="Aptos"/>
              </a:defRPr>
            </a:pPr>
            <a:r>
              <a:t>Notice: the message is still brief.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77A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508760" cy="384048"/>
          </a:xfrm>
          <a:prstGeom prst="roundRect">
            <a:avLst/>
          </a:prstGeom>
          <a:solidFill>
            <a:srgbClr val="7A5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0623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2038"/>
                </a:solidFill>
                <a:latin typeface="Aptos"/>
              </a:defRPr>
            </a:pPr>
            <a:r>
              <a:t>Name that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677A"/>
                </a:solidFill>
                <a:latin typeface="Aptos"/>
              </a:defRPr>
            </a:pPr>
            <a:r>
              <a:t>Call out the C before the answer appears.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1663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21992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2038"/>
                </a:solidFill>
                <a:latin typeface="Aptos"/>
              </a:defRPr>
            </a:pPr>
            <a:r>
              <a:t>“The report improved a lot.”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359152"/>
            <a:ext cx="1188720" cy="384048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23957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Concreteness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1663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221992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2038"/>
                </a:solidFill>
                <a:latin typeface="Aptos"/>
              </a:defRPr>
            </a:pPr>
            <a:r>
              <a:t>“Send it there soon.”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59" y="2359152"/>
            <a:ext cx="1188720" cy="384048"/>
          </a:xfrm>
          <a:prstGeom prst="round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59" y="23957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Clarity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91840"/>
            <a:ext cx="51663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2038"/>
                </a:solidFill>
                <a:latin typeface="Aptos"/>
              </a:defRPr>
            </a:pPr>
            <a:r>
              <a:t>“You obviously forgot again.”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593592"/>
            <a:ext cx="1188720" cy="38404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6301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Courtesy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91840"/>
            <a:ext cx="51663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456432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2038"/>
                </a:solidFill>
                <a:latin typeface="Aptos"/>
              </a:defRPr>
            </a:pPr>
            <a:r>
              <a:t>“Server down.”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59" y="3593592"/>
            <a:ext cx="1188720" cy="384048"/>
          </a:xfrm>
          <a:prstGeom prst="roundRect">
            <a:avLst/>
          </a:prstGeom>
          <a:solidFill>
            <a:srgbClr val="7A5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59" y="36301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Completeness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526280"/>
            <a:ext cx="51663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90872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2038"/>
                </a:solidFill>
                <a:latin typeface="Aptos"/>
              </a:defRPr>
            </a:pPr>
            <a:r>
              <a:t>Wrong deadline in an email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4828032"/>
            <a:ext cx="1188720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8646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Correctness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526280"/>
            <a:ext cx="51663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690872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2038"/>
                </a:solidFill>
                <a:latin typeface="Aptos"/>
              </a:defRPr>
            </a:pPr>
            <a:r>
              <a:t>Three paragraphs when one sentence works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66959" y="4828032"/>
            <a:ext cx="1188720" cy="384048"/>
          </a:xfrm>
          <a:prstGeom prst="round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59" y="48646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Conciseness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77A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64008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Before you press SEND…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533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CC9F0"/>
                </a:solidFill>
                <a:latin typeface="Aptos"/>
              </a:defRPr>
            </a:pPr>
            <a:r>
              <a:t>Run the 7-second communication check.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965960"/>
            <a:ext cx="347472" cy="347472"/>
          </a:xfrm>
          <a:prstGeom prst="ellipse">
            <a:avLst/>
          </a:prstGeom>
          <a:solidFill>
            <a:srgbClr val="7A5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29967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84248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A5AF8"/>
                </a:solidFill>
                <a:latin typeface="Aptos"/>
              </a:defRPr>
            </a:pPr>
            <a:r>
              <a:t>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984248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Did I include what the receiver needs?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532888"/>
            <a:ext cx="347472" cy="347472"/>
          </a:xfrm>
          <a:prstGeom prst="ellipse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96896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551176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169E1"/>
                </a:solidFill>
                <a:latin typeface="Aptos"/>
              </a:defRPr>
            </a:pPr>
            <a:r>
              <a:t>Concise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551176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Can I remove anything unnecessary?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099815"/>
            <a:ext cx="347472" cy="347472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63823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118103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72B6"/>
                </a:solidFill>
                <a:latin typeface="Aptos"/>
              </a:defRPr>
            </a:pPr>
            <a:r>
              <a:t>Considerate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118103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Is this right for my audience?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666744"/>
            <a:ext cx="347472" cy="347472"/>
          </a:xfrm>
          <a:prstGeom prst="ellipse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30752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685031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C9F0"/>
                </a:solidFill>
                <a:latin typeface="Aptos"/>
              </a:defRPr>
            </a:pPr>
            <a:r>
              <a:t>Clear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685031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Is the required action obvious?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233672"/>
            <a:ext cx="347472" cy="347472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97680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2519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Aptos"/>
              </a:defRPr>
            </a:pPr>
            <a:r>
              <a:t>Concrete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251959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Did I use specific facts/examples?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4800600"/>
            <a:ext cx="347472" cy="3474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864608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818888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Aptos"/>
              </a:defRPr>
            </a:pPr>
            <a:r>
              <a:t>Courteous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818888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Is the tone respectful?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" y="5367527"/>
            <a:ext cx="347472" cy="3474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431536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385815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Aptos"/>
              </a:defRPr>
            </a:pPr>
            <a:r>
              <a:t>Correct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385815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Did I verify language and facts?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0" y="1965960"/>
            <a:ext cx="2971800" cy="3429000"/>
          </a:xfrm>
          <a:prstGeom prst="roundRect">
            <a:avLst/>
          </a:prstGeom>
          <a:solidFill>
            <a:srgbClr val="27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0" y="23317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CC15"/>
                </a:solidFill>
                <a:latin typeface="Aptos"/>
              </a:defRPr>
            </a:pPr>
            <a:r>
              <a:t>EXIT TICKET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2971800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Write one weak IT message.</a:t>
            </a:r>
            <a:br/>
            <a:br/>
            <a:r>
              <a:t>Then improve it using at least 4 of the 7 C’s.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48006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CC9F0"/>
                </a:solidFill>
                <a:latin typeface="Aptos"/>
              </a:defRPr>
            </a:pPr>
            <a:r>
              <a:t>Clear communication = fewer errors + faster 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77A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