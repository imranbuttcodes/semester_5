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1" r:id="rId4"/>
  </p:sldMasterIdLst>
  <p:sldIdLst>
    <p:sldId id="256" r:id="rId5"/>
    <p:sldId id="275" r:id="rId6"/>
    <p:sldId id="259" r:id="rId7"/>
    <p:sldId id="260" r:id="rId8"/>
    <p:sldId id="261" r:id="rId9"/>
    <p:sldId id="272" r:id="rId10"/>
    <p:sldId id="262" r:id="rId11"/>
    <p:sldId id="263" r:id="rId12"/>
    <p:sldId id="268" r:id="rId13"/>
    <p:sldId id="273" r:id="rId14"/>
    <p:sldId id="264" r:id="rId15"/>
    <p:sldId id="267" r:id="rId16"/>
    <p:sldId id="266" r:id="rId17"/>
    <p:sldId id="271" r:id="rId18"/>
    <p:sldId id="276" r:id="rId19"/>
    <p:sldId id="27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5" autoAdjust="0"/>
    <p:restoredTop sz="94660"/>
  </p:normalViewPr>
  <p:slideViewPr>
    <p:cSldViewPr snapToGrid="0">
      <p:cViewPr varScale="1">
        <p:scale>
          <a:sx n="74" d="100"/>
          <a:sy n="74" d="100"/>
        </p:scale>
        <p:origin x="4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Tree>
    <p:extLst>
      <p:ext uri="{BB962C8B-B14F-4D97-AF65-F5344CB8AC3E}">
        <p14:creationId xmlns:p14="http://schemas.microsoft.com/office/powerpoint/2010/main" val="1884388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lvl1pPr>
              <a:defRPr b="1"/>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10/3/2020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793847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smtClean="0"/>
              <a:t>10/3/2020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977855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10/3/2020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96670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Tree>
    <p:extLst>
      <p:ext uri="{BB962C8B-B14F-4D97-AF65-F5344CB8AC3E}">
        <p14:creationId xmlns:p14="http://schemas.microsoft.com/office/powerpoint/2010/main" val="1279965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10/3/2020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586345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10/3/2020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134733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smtClean="0"/>
              <a:t>10/3/2020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966270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smtClean="0"/>
              <a:t>10/3/2020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67E5644-1E61-4311-A31E-84CB9C7AA8A9}" type="slidenum">
              <a:rPr lang="en-US" smtClean="0"/>
              <a:t>‹#›</a:t>
            </a:fld>
            <a:endParaRPr lang="en-US" dirty="0"/>
          </a:p>
        </p:txBody>
      </p:sp>
    </p:spTree>
    <p:extLst>
      <p:ext uri="{BB962C8B-B14F-4D97-AF65-F5344CB8AC3E}">
        <p14:creationId xmlns:p14="http://schemas.microsoft.com/office/powerpoint/2010/main" val="2398265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0298CD5-6C1E-4009-B41F-6DF62E31D3BE}" type="datetimeFigureOut">
              <a:rPr lang="en-US" smtClean="0"/>
              <a:pPr/>
              <a:t>10/3/2020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88240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0298CD5-6C1E-4009-B41F-6DF62E31D3BE}" type="datetimeFigureOut">
              <a:rPr lang="en-US" smtClean="0"/>
              <a:pPr/>
              <a:t>10/3/2020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FAB73BC-B049-4115-A692-8D63A059BFB8}"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997156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90298CD5-6C1E-4009-B41F-6DF62E31D3BE}" type="datetimeFigureOut">
              <a:rPr lang="en-US" smtClean="0"/>
              <a:pPr/>
              <a:t>10/3/2020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811843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90298CD5-6C1E-4009-B41F-6DF62E31D3BE}" type="datetimeFigureOut">
              <a:rPr lang="en-US" smtClean="0"/>
              <a:pPr/>
              <a:t>10/3/2020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AB73BC-B049-4115-A692-8D63A059BFB8}"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887644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90298CD5-6C1E-4009-B41F-6DF62E31D3BE}" type="datetimeFigureOut">
              <a:rPr lang="en-US" smtClean="0"/>
              <a:pPr/>
              <a:t>10/3/2020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02188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10/3/2020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6264698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smtClean="0"/>
              <a:t>10/3/2020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517589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0298CD5-6C1E-4009-B41F-6DF62E31D3BE}" type="datetimeFigureOut">
              <a:rPr lang="en-US" smtClean="0"/>
              <a:pPr/>
              <a:t>10/3/2020</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0587823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Lst>
  <p:txStyles>
    <p:titleStyle>
      <a:lvl1pPr algn="l" defTabSz="457200" rtl="0" eaLnBrk="1" latinLnBrk="0" hangingPunct="1">
        <a:spcBef>
          <a:spcPct val="0"/>
        </a:spcBef>
        <a:buNone/>
        <a:defRPr sz="40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22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22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22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2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2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unicheck.com/blog/5-ways-to-avoid-plagiarism" TargetMode="External"/><Relationship Id="rId2" Type="http://schemas.openxmlformats.org/officeDocument/2006/relationships/hyperlink" Target="https://owl.purdue.edu/owl/research_and_citation/using_research/quoting_paraphrasing_and_summarizing/paraphrasing.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a:t>
            </a:r>
            <a:r>
              <a:rPr lang="en-US" dirty="0" smtClean="0"/>
              <a:t>araphrasing</a:t>
            </a:r>
            <a:endParaRPr lang="en-US" dirty="0"/>
          </a:p>
        </p:txBody>
      </p:sp>
      <p:sp>
        <p:nvSpPr>
          <p:cNvPr id="4" name="Subtitle 3"/>
          <p:cNvSpPr>
            <a:spLocks noGrp="1"/>
          </p:cNvSpPr>
          <p:nvPr>
            <p:ph type="subTitle" idx="1"/>
          </p:nvPr>
        </p:nvSpPr>
        <p:spPr/>
        <p:txBody>
          <a:bodyPr/>
          <a:lstStyle/>
          <a:p>
            <a:r>
              <a:rPr lang="en-US" dirty="0" smtClean="0"/>
              <a:t>Week 3, Chapter 4</a:t>
            </a:r>
            <a:endParaRPr lang="en-US" dirty="0"/>
          </a:p>
        </p:txBody>
      </p:sp>
    </p:spTree>
    <p:extLst>
      <p:ext uri="{BB962C8B-B14F-4D97-AF65-F5344CB8AC3E}">
        <p14:creationId xmlns:p14="http://schemas.microsoft.com/office/powerpoint/2010/main" val="1959166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What is paraphrasing?</a:t>
            </a:r>
            <a:endParaRPr lang="en-US" dirty="0"/>
          </a:p>
        </p:txBody>
      </p:sp>
      <p:sp>
        <p:nvSpPr>
          <p:cNvPr id="3" name="Content Placeholder 2"/>
          <p:cNvSpPr>
            <a:spLocks noGrp="1"/>
          </p:cNvSpPr>
          <p:nvPr>
            <p:ph idx="1"/>
          </p:nvPr>
        </p:nvSpPr>
        <p:spPr/>
        <p:txBody>
          <a:bodyPr>
            <a:normAutofit/>
          </a:bodyPr>
          <a:lstStyle/>
          <a:p>
            <a:r>
              <a:rPr lang="en-US" dirty="0" smtClean="0"/>
              <a:t>Paraphrasing is one way to use a text in your own writing without directly quoting source material. </a:t>
            </a:r>
          </a:p>
          <a:p>
            <a:r>
              <a:rPr lang="en-US" dirty="0" smtClean="0"/>
              <a:t>We paraphrase to:</a:t>
            </a:r>
          </a:p>
          <a:p>
            <a:pPr lvl="1"/>
            <a:r>
              <a:rPr lang="en-US" sz="2400" dirty="0" smtClean="0"/>
              <a:t>Paraphrase </a:t>
            </a:r>
            <a:r>
              <a:rPr lang="en-US" sz="2400" dirty="0"/>
              <a:t>helps to avoid ‘plagiarism</a:t>
            </a:r>
            <a:r>
              <a:rPr lang="en-US" sz="2400" dirty="0" smtClean="0"/>
              <a:t>’.</a:t>
            </a:r>
          </a:p>
          <a:p>
            <a:pPr lvl="1"/>
            <a:r>
              <a:rPr lang="en-US" sz="2400" dirty="0" smtClean="0"/>
              <a:t>Paraphrase </a:t>
            </a:r>
            <a:r>
              <a:rPr lang="en-US" sz="2400" dirty="0"/>
              <a:t>helps to use other authors’/researchers’ ideas in your written </a:t>
            </a:r>
            <a:r>
              <a:rPr lang="en-US" sz="2400" dirty="0" smtClean="0"/>
              <a:t>work.</a:t>
            </a:r>
          </a:p>
          <a:p>
            <a:pPr lvl="1"/>
            <a:r>
              <a:rPr lang="en-US" sz="2400" dirty="0" smtClean="0"/>
              <a:t>The </a:t>
            </a:r>
            <a:r>
              <a:rPr lang="en-US" sz="2400" dirty="0"/>
              <a:t>material taken must be </a:t>
            </a:r>
            <a:r>
              <a:rPr lang="en-US" sz="2400" dirty="0" smtClean="0"/>
              <a:t>rephrased.</a:t>
            </a:r>
          </a:p>
          <a:p>
            <a:pPr lvl="1"/>
            <a:r>
              <a:rPr lang="en-US" sz="2400" dirty="0" smtClean="0"/>
              <a:t>However</a:t>
            </a:r>
            <a:r>
              <a:rPr lang="en-US" sz="2400" dirty="0"/>
              <a:t>, a reference must be given even after paraphrasing. </a:t>
            </a:r>
          </a:p>
          <a:p>
            <a:endParaRPr lang="en-US" dirty="0"/>
          </a:p>
        </p:txBody>
      </p:sp>
    </p:spTree>
    <p:extLst>
      <p:ext uri="{BB962C8B-B14F-4D97-AF65-F5344CB8AC3E}">
        <p14:creationId xmlns:p14="http://schemas.microsoft.com/office/powerpoint/2010/main" val="811554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A paraphrase is...</a:t>
            </a:r>
            <a:br>
              <a:rPr lang="en-US" smtClean="0"/>
            </a:br>
            <a:endParaRPr lang="en-US" dirty="0"/>
          </a:p>
        </p:txBody>
      </p:sp>
      <p:sp>
        <p:nvSpPr>
          <p:cNvPr id="3" name="Content Placeholder 2"/>
          <p:cNvSpPr>
            <a:spLocks noGrp="1"/>
          </p:cNvSpPr>
          <p:nvPr>
            <p:ph idx="1"/>
          </p:nvPr>
        </p:nvSpPr>
        <p:spPr/>
        <p:txBody>
          <a:bodyPr/>
          <a:lstStyle/>
          <a:p>
            <a:pPr lvl="0"/>
            <a:r>
              <a:rPr lang="en-US" smtClean="0"/>
              <a:t>Your own rendition of essential information and ideas expressed by someone else, presented in a new form.</a:t>
            </a:r>
          </a:p>
          <a:p>
            <a:r>
              <a:rPr lang="en-US" smtClean="0"/>
              <a:t>A legitimate way (when accompanied by accurate documentation) to borrow from a source.</a:t>
            </a:r>
          </a:p>
          <a:p>
            <a:pPr lvl="0"/>
            <a:r>
              <a:rPr lang="en-US" smtClean="0"/>
              <a:t>A more detailed restatement than a summary, which focuses concisely on a single main idea.</a:t>
            </a:r>
          </a:p>
          <a:p>
            <a:endParaRPr lang="en-US" dirty="0"/>
          </a:p>
        </p:txBody>
      </p:sp>
    </p:spTree>
    <p:extLst>
      <p:ext uri="{BB962C8B-B14F-4D97-AF65-F5344CB8AC3E}">
        <p14:creationId xmlns:p14="http://schemas.microsoft.com/office/powerpoint/2010/main" val="1855804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Paraphrasing is a valuable skill because...</a:t>
            </a:r>
            <a:br>
              <a:rPr lang="en-US" smtClean="0"/>
            </a:br>
            <a:endParaRPr lang="en-US" dirty="0"/>
          </a:p>
        </p:txBody>
      </p:sp>
      <p:sp>
        <p:nvSpPr>
          <p:cNvPr id="3" name="Content Placeholder 2"/>
          <p:cNvSpPr>
            <a:spLocks noGrp="1"/>
          </p:cNvSpPr>
          <p:nvPr>
            <p:ph idx="1"/>
          </p:nvPr>
        </p:nvSpPr>
        <p:spPr/>
        <p:txBody>
          <a:bodyPr/>
          <a:lstStyle/>
          <a:p>
            <a:pPr lvl="0"/>
            <a:r>
              <a:rPr lang="en-US" smtClean="0"/>
              <a:t>It is better than quoting information directly from a passage.</a:t>
            </a:r>
          </a:p>
          <a:p>
            <a:pPr lvl="0"/>
            <a:r>
              <a:rPr lang="en-US" smtClean="0"/>
              <a:t>It helps you control the temptation to quote too much.</a:t>
            </a:r>
          </a:p>
          <a:p>
            <a:pPr lvl="0"/>
            <a:r>
              <a:rPr lang="en-US" smtClean="0"/>
              <a:t>The mental process required for successful paraphrasing helps you to grasp the full meaning of the original.</a:t>
            </a:r>
          </a:p>
          <a:p>
            <a:endParaRPr lang="en-US" dirty="0"/>
          </a:p>
        </p:txBody>
      </p:sp>
    </p:spTree>
    <p:extLst>
      <p:ext uri="{BB962C8B-B14F-4D97-AF65-F5344CB8AC3E}">
        <p14:creationId xmlns:p14="http://schemas.microsoft.com/office/powerpoint/2010/main" val="4087180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6 Steps to Effective Paraphrasing</a:t>
            </a:r>
            <a:br>
              <a:rPr lang="en-US" smtClean="0"/>
            </a:br>
            <a:endParaRPr lang="en-US" dirty="0"/>
          </a:p>
        </p:txBody>
      </p:sp>
      <p:sp>
        <p:nvSpPr>
          <p:cNvPr id="3" name="Content Placeholder 2"/>
          <p:cNvSpPr>
            <a:spLocks noGrp="1"/>
          </p:cNvSpPr>
          <p:nvPr>
            <p:ph idx="1"/>
          </p:nvPr>
        </p:nvSpPr>
        <p:spPr/>
        <p:txBody>
          <a:bodyPr/>
          <a:lstStyle/>
          <a:p>
            <a:pPr marL="0" lvl="0" indent="0">
              <a:buNone/>
            </a:pPr>
            <a:r>
              <a:rPr lang="en-US" dirty="0" smtClean="0"/>
              <a:t>1. Reread the original passage until you understand its full meaning. </a:t>
            </a:r>
          </a:p>
          <a:p>
            <a:pPr marL="0" lvl="0" indent="0">
              <a:buNone/>
            </a:pPr>
            <a:endParaRPr lang="en-US" dirty="0" smtClean="0"/>
          </a:p>
          <a:p>
            <a:pPr marL="0" lvl="0" indent="0">
              <a:buNone/>
            </a:pPr>
            <a:r>
              <a:rPr lang="en-US" dirty="0" smtClean="0"/>
              <a:t>2. Set the original aside, and write your paraphrase on a note card.</a:t>
            </a:r>
          </a:p>
          <a:p>
            <a:pPr marL="0" lvl="0" indent="0">
              <a:buNone/>
            </a:pPr>
            <a:endParaRPr lang="en-US" dirty="0" smtClean="0"/>
          </a:p>
          <a:p>
            <a:pPr marL="0" lvl="0" indent="0">
              <a:buNone/>
            </a:pPr>
            <a:r>
              <a:rPr lang="en-US" dirty="0" smtClean="0"/>
              <a:t>3. Jot down a few words below your paraphrase to remind you later how you envision using this material. At the top of the note card, write a key word or phrase to indicate the subject of your paraphrase.</a:t>
            </a:r>
          </a:p>
          <a:p>
            <a:endParaRPr lang="en-US" dirty="0"/>
          </a:p>
        </p:txBody>
      </p:sp>
    </p:spTree>
    <p:extLst>
      <p:ext uri="{BB962C8B-B14F-4D97-AF65-F5344CB8AC3E}">
        <p14:creationId xmlns:p14="http://schemas.microsoft.com/office/powerpoint/2010/main" val="2403391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828" y="2036703"/>
            <a:ext cx="9771017" cy="3077766"/>
          </a:xfrm>
          <a:prstGeom prst="rect">
            <a:avLst/>
          </a:prstGeom>
        </p:spPr>
        <p:txBody>
          <a:bodyPr wrap="square">
            <a:spAutoFit/>
          </a:bodyPr>
          <a:lstStyle/>
          <a:p>
            <a:pPr lvl="0"/>
            <a:r>
              <a:rPr lang="en-US" sz="2200" b="1" dirty="0" smtClean="0"/>
              <a:t> 4. Check </a:t>
            </a:r>
            <a:r>
              <a:rPr lang="en-US" sz="2200" b="1" dirty="0"/>
              <a:t>your rendition with the original to make sure that your version accurately expresses all the essential information in a new form</a:t>
            </a:r>
            <a:r>
              <a:rPr lang="en-US" sz="2200" b="1" dirty="0" smtClean="0"/>
              <a:t>.</a:t>
            </a:r>
          </a:p>
          <a:p>
            <a:pPr lvl="0"/>
            <a:endParaRPr lang="en-US" sz="2200" b="1" dirty="0"/>
          </a:p>
          <a:p>
            <a:pPr lvl="0"/>
            <a:r>
              <a:rPr lang="en-US" sz="2200" b="1" dirty="0" smtClean="0"/>
              <a:t> 5. Use </a:t>
            </a:r>
            <a:r>
              <a:rPr lang="en-US" sz="2200" b="1" dirty="0"/>
              <a:t>quotation marks to identify any unique term or phraseology you have borrowed exactly from the source</a:t>
            </a:r>
            <a:r>
              <a:rPr lang="en-US" sz="2200" b="1" dirty="0" smtClean="0"/>
              <a:t>.</a:t>
            </a:r>
          </a:p>
          <a:p>
            <a:pPr lvl="0"/>
            <a:endParaRPr lang="en-US" sz="2200" b="1" dirty="0"/>
          </a:p>
          <a:p>
            <a:pPr lvl="0"/>
            <a:r>
              <a:rPr lang="en-US" sz="2200" b="1" dirty="0" smtClean="0"/>
              <a:t> 6. Record </a:t>
            </a:r>
            <a:r>
              <a:rPr lang="en-US" sz="2200" b="1" dirty="0"/>
              <a:t>the source (including the page) on your note card so that you can credit it easily if you decide to incorporate the material into your paper.</a:t>
            </a:r>
          </a:p>
          <a:p>
            <a:pPr marL="514350" indent="-514350">
              <a:buFont typeface="+mj-lt"/>
              <a:buAutoNum type="arabicPeriod"/>
            </a:pPr>
            <a:endParaRPr lang="en-US" dirty="0"/>
          </a:p>
        </p:txBody>
      </p:sp>
      <p:sp>
        <p:nvSpPr>
          <p:cNvPr id="3" name="Title 1"/>
          <p:cNvSpPr txBox="1">
            <a:spLocks/>
          </p:cNvSpPr>
          <p:nvPr/>
        </p:nvSpPr>
        <p:spPr>
          <a:xfrm>
            <a:off x="2337773" y="242881"/>
            <a:ext cx="9720072" cy="1499616"/>
          </a:xfrm>
          <a:prstGeom prst="rect">
            <a:avLst/>
          </a:prstGeom>
        </p:spPr>
        <p:txBody>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r>
              <a:rPr lang="en-US" sz="4000" b="1" dirty="0" smtClean="0"/>
              <a:t>6 Steps to Effective Paraphrasing</a:t>
            </a:r>
            <a:r>
              <a:rPr lang="en-US" dirty="0" smtClean="0"/>
              <a:t/>
            </a:r>
            <a:br>
              <a:rPr lang="en-US" dirty="0" smtClean="0"/>
            </a:br>
            <a:endParaRPr lang="en-US" dirty="0"/>
          </a:p>
        </p:txBody>
      </p:sp>
    </p:spTree>
    <p:extLst>
      <p:ext uri="{BB962C8B-B14F-4D97-AF65-F5344CB8AC3E}">
        <p14:creationId xmlns:p14="http://schemas.microsoft.com/office/powerpoint/2010/main" val="4106835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Paraphrasing tips</a:t>
            </a:r>
            <a:br>
              <a:rPr lang="en-US" smtClean="0"/>
            </a:br>
            <a:endParaRPr lang="en-US" dirty="0"/>
          </a:p>
        </p:txBody>
      </p:sp>
      <p:sp>
        <p:nvSpPr>
          <p:cNvPr id="3" name="Content Placeholder 2"/>
          <p:cNvSpPr>
            <a:spLocks noGrp="1"/>
          </p:cNvSpPr>
          <p:nvPr>
            <p:ph idx="1"/>
          </p:nvPr>
        </p:nvSpPr>
        <p:spPr/>
        <p:txBody>
          <a:bodyPr/>
          <a:lstStyle/>
          <a:p>
            <a:r>
              <a:rPr lang="en-US" dirty="0" smtClean="0"/>
              <a:t>These are four tricks you can apply to help you do so.</a:t>
            </a:r>
          </a:p>
          <a:p>
            <a:pPr lvl="1"/>
            <a:r>
              <a:rPr lang="en-US" dirty="0" smtClean="0"/>
              <a:t>Start your first sentence at a different point from that of the original source</a:t>
            </a:r>
          </a:p>
          <a:p>
            <a:pPr lvl="1"/>
            <a:r>
              <a:rPr lang="en-US" dirty="0" smtClean="0"/>
              <a:t>Use synonyms (words that mean the same thing)</a:t>
            </a:r>
          </a:p>
          <a:p>
            <a:pPr lvl="1"/>
            <a:r>
              <a:rPr lang="en-US" dirty="0" smtClean="0"/>
              <a:t>Change the sentence structure (e.g. from active to passive voice)</a:t>
            </a:r>
          </a:p>
          <a:p>
            <a:pPr lvl="1"/>
            <a:r>
              <a:rPr lang="en-US" dirty="0" smtClean="0"/>
              <a:t>Break the information into separate sentences</a:t>
            </a:r>
          </a:p>
          <a:p>
            <a:endParaRPr lang="en-US" dirty="0" smtClean="0"/>
          </a:p>
          <a:p>
            <a:endParaRPr lang="en-US" dirty="0"/>
          </a:p>
        </p:txBody>
      </p:sp>
    </p:spTree>
    <p:extLst>
      <p:ext uri="{BB962C8B-B14F-4D97-AF65-F5344CB8AC3E}">
        <p14:creationId xmlns:p14="http://schemas.microsoft.com/office/powerpoint/2010/main" val="3046953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Paraphrasing example</a:t>
            </a:r>
            <a:endParaRPr lang="en-US" dirty="0"/>
          </a:p>
        </p:txBody>
      </p:sp>
      <p:sp>
        <p:nvSpPr>
          <p:cNvPr id="3" name="Content Placeholder 2"/>
          <p:cNvSpPr>
            <a:spLocks noGrp="1"/>
          </p:cNvSpPr>
          <p:nvPr>
            <p:ph idx="1"/>
          </p:nvPr>
        </p:nvSpPr>
        <p:spPr/>
        <p:txBody>
          <a:bodyPr/>
          <a:lstStyle/>
          <a:p>
            <a:r>
              <a:rPr lang="en-US" dirty="0" smtClean="0"/>
              <a:t>1."The Antarctic is the vast source of cold on our planet, just as the sun is the source of our heat, and it exerts tremendous control on our climate," [Jacques] Cousteau told the camera. "The cold ocean water around Antarctica flows north to mix with warmer water from the tropics, and it’s up welling help to cool both the surface water and our atmosphere. Yet the fragility of this regulating system is now threatened by human activity." From "Captain Cousteau," 1990:17.</a:t>
            </a:r>
          </a:p>
          <a:p>
            <a:endParaRPr lang="en-US" dirty="0"/>
          </a:p>
        </p:txBody>
      </p:sp>
    </p:spTree>
    <p:extLst>
      <p:ext uri="{BB962C8B-B14F-4D97-AF65-F5344CB8AC3E}">
        <p14:creationId xmlns:p14="http://schemas.microsoft.com/office/powerpoint/2010/main" val="1779486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The Antarctic is the vast source of cold on our planet, just as the sun is the source of our heat, and it exerts tremendous control on our climate</a:t>
            </a:r>
          </a:p>
          <a:p>
            <a:pPr lvl="1"/>
            <a:r>
              <a:rPr lang="en-US" dirty="0" smtClean="0"/>
              <a:t>An important role in regulating the temperature of our Earth and keeping the climate moderate is played by the Antarctic.</a:t>
            </a:r>
          </a:p>
          <a:p>
            <a:r>
              <a:rPr lang="en-US" dirty="0" smtClean="0"/>
              <a:t>The cold ocean water around Antarctica flows north to mix with warmer water from the tropics, and it’s up welling help to cool both the surface water and our atmosphere. </a:t>
            </a:r>
          </a:p>
          <a:p>
            <a:pPr lvl="1"/>
            <a:r>
              <a:rPr lang="en-US" dirty="0" smtClean="0"/>
              <a:t>The temperature of the Earth is regulated when water from the Antarctic blends with mild water from Tropics and keeps the climate moderate.</a:t>
            </a:r>
            <a:endParaRPr lang="en-US" dirty="0"/>
          </a:p>
        </p:txBody>
      </p:sp>
    </p:spTree>
    <p:extLst>
      <p:ext uri="{BB962C8B-B14F-4D97-AF65-F5344CB8AC3E}">
        <p14:creationId xmlns:p14="http://schemas.microsoft.com/office/powerpoint/2010/main" val="1943380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4" name="Content Placeholder 3"/>
          <p:cNvSpPr>
            <a:spLocks noGrp="1"/>
          </p:cNvSpPr>
          <p:nvPr>
            <p:ph idx="1"/>
          </p:nvPr>
        </p:nvSpPr>
        <p:spPr/>
        <p:txBody>
          <a:bodyPr/>
          <a:lstStyle/>
          <a:p>
            <a:pPr>
              <a:lnSpc>
                <a:spcPct val="150000"/>
              </a:lnSpc>
              <a:buClr>
                <a:schemeClr val="accent1"/>
              </a:buClr>
            </a:pPr>
            <a:r>
              <a:rPr lang="en-US" dirty="0"/>
              <a:t>Yet the fragility of this regulating system is now threatened by human activity.</a:t>
            </a:r>
          </a:p>
          <a:p>
            <a:pPr lvl="1">
              <a:lnSpc>
                <a:spcPct val="150000"/>
              </a:lnSpc>
            </a:pPr>
            <a:r>
              <a:rPr lang="en-US" dirty="0"/>
              <a:t>Careless actions of people on the Earth are endangering the regulating system of the Earth</a:t>
            </a:r>
          </a:p>
          <a:p>
            <a:endParaRPr lang="en-US" dirty="0"/>
          </a:p>
        </p:txBody>
      </p:sp>
    </p:spTree>
    <p:extLst>
      <p:ext uri="{BB962C8B-B14F-4D97-AF65-F5344CB8AC3E}">
        <p14:creationId xmlns:p14="http://schemas.microsoft.com/office/powerpoint/2010/main" val="2767724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Paraphrasing example</a:t>
            </a:r>
            <a:endParaRPr lang="en-US" dirty="0"/>
          </a:p>
        </p:txBody>
      </p:sp>
      <p:sp>
        <p:nvSpPr>
          <p:cNvPr id="3" name="Content Placeholder 2"/>
          <p:cNvSpPr>
            <a:spLocks noGrp="1"/>
          </p:cNvSpPr>
          <p:nvPr>
            <p:ph idx="1"/>
          </p:nvPr>
        </p:nvSpPr>
        <p:spPr/>
        <p:txBody>
          <a:bodyPr/>
          <a:lstStyle/>
          <a:p>
            <a:pPr algn="just"/>
            <a:r>
              <a:rPr lang="en-US" dirty="0" smtClean="0"/>
              <a:t>1."The Antarctic is the vast source of cold on our planet, just as the sun is the source of our heat, and it exerts tremendous control on our climate," [Jacques] Cousteau told the camera. "The cold ocean water around Antarctica flows north to mix with warmer water from the tropics, and it’s up welling help to cool both the surface water and our atmosphere. Yet the fragility of this regulating system is now threatened by human activity." From "Captain Cousteau," 1990:17.</a:t>
            </a:r>
          </a:p>
          <a:p>
            <a:endParaRPr lang="en-US" dirty="0"/>
          </a:p>
        </p:txBody>
      </p:sp>
    </p:spTree>
    <p:extLst>
      <p:ext uri="{BB962C8B-B14F-4D97-AF65-F5344CB8AC3E}">
        <p14:creationId xmlns:p14="http://schemas.microsoft.com/office/powerpoint/2010/main" val="4068866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Final Paraphrase</a:t>
            </a:r>
            <a:endParaRPr lang="en-US" dirty="0"/>
          </a:p>
        </p:txBody>
      </p:sp>
      <p:sp>
        <p:nvSpPr>
          <p:cNvPr id="3" name="Content Placeholder 2"/>
          <p:cNvSpPr>
            <a:spLocks noGrp="1"/>
          </p:cNvSpPr>
          <p:nvPr>
            <p:ph idx="1"/>
          </p:nvPr>
        </p:nvSpPr>
        <p:spPr/>
        <p:txBody>
          <a:bodyPr/>
          <a:lstStyle/>
          <a:p>
            <a:endParaRPr lang="en-US" dirty="0" smtClean="0"/>
          </a:p>
          <a:p>
            <a:pPr algn="just"/>
            <a:r>
              <a:rPr lang="en-US" dirty="0" smtClean="0"/>
              <a:t>Careless actions of people on the Earth are endangering its delicate regulating system that keeps the climate of the Earth moderate. An important role in regulating the temperature of our Earth is played by the Antarctic when water from Antarctic blends with mild water from Tropics and moderates the temperature of the Earth. However, this phenomenon is being interfered greatly by human activities. ("Captain Cousteau" 17)</a:t>
            </a:r>
          </a:p>
          <a:p>
            <a:pPr marL="0" indent="0">
              <a:buNone/>
            </a:pPr>
            <a:endParaRPr lang="en-US" dirty="0"/>
          </a:p>
        </p:txBody>
      </p:sp>
    </p:spTree>
    <p:extLst>
      <p:ext uri="{BB962C8B-B14F-4D97-AF65-F5344CB8AC3E}">
        <p14:creationId xmlns:p14="http://schemas.microsoft.com/office/powerpoint/2010/main" val="3601105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Your turn!</a:t>
            </a:r>
            <a:endParaRPr lang="en-US" dirty="0"/>
          </a:p>
        </p:txBody>
      </p:sp>
      <p:sp>
        <p:nvSpPr>
          <p:cNvPr id="3" name="Content Placeholder 2"/>
          <p:cNvSpPr>
            <a:spLocks noGrp="1"/>
          </p:cNvSpPr>
          <p:nvPr>
            <p:ph idx="1"/>
          </p:nvPr>
        </p:nvSpPr>
        <p:spPr/>
        <p:txBody>
          <a:bodyPr/>
          <a:lstStyle/>
          <a:p>
            <a:pPr algn="just"/>
            <a:r>
              <a:rPr lang="en-US" dirty="0" smtClean="0"/>
              <a:t>Of the more than 1000 bicycling deaths each year, three-fourths are caused by head injuries. Half of those killed are school-age children. One study concluded that wearing a bike helmet can reduce the risk of head injury by 85 percent. In an accident, a bike helmet absorbs the shock and cushions the head. From "Bike Helmets: Unused Lifesavers," Consumer Reports (May 1990): 348.</a:t>
            </a:r>
          </a:p>
          <a:p>
            <a:endParaRPr lang="en-US" dirty="0"/>
          </a:p>
        </p:txBody>
      </p:sp>
    </p:spTree>
    <p:extLst>
      <p:ext uri="{BB962C8B-B14F-4D97-AF65-F5344CB8AC3E}">
        <p14:creationId xmlns:p14="http://schemas.microsoft.com/office/powerpoint/2010/main" val="3686393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Another!</a:t>
            </a: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Matisse is the best painter ever at putting the viewer at the scene. He's the most realistic of all modern artists, if you admit the feel of the breeze as necessary to a landscape and the smell of oranges as essential to a still life. "The Casbah Gate" depicts the well-known gateway Bab el </a:t>
            </a:r>
            <a:r>
              <a:rPr lang="en-US" dirty="0" err="1" smtClean="0"/>
              <a:t>Aassa</a:t>
            </a:r>
            <a:r>
              <a:rPr lang="en-US" dirty="0" smtClean="0"/>
              <a:t>, which pierces the southern wall of the city near the sultan's palace. With scrubby coats of ivory, aqua, blue, and rose delicately fenced by the liveliest gray outline in art history, Matisse gets the essence of a Tangier afternoon, including the subtle presence of the </a:t>
            </a:r>
            <a:r>
              <a:rPr lang="en-US" dirty="0" err="1" smtClean="0"/>
              <a:t>bowaab</a:t>
            </a:r>
            <a:r>
              <a:rPr lang="en-US" dirty="0" smtClean="0"/>
              <a:t>, the sentry who sits and surveys those who pass through the gate. From Peter </a:t>
            </a:r>
            <a:r>
              <a:rPr lang="en-US" dirty="0" err="1" smtClean="0"/>
              <a:t>Plagens</a:t>
            </a:r>
            <a:r>
              <a:rPr lang="en-US" dirty="0" smtClean="0"/>
              <a:t>, "Bright Lights." Newsweek (26 March 1990): 50.</a:t>
            </a:r>
          </a:p>
          <a:p>
            <a:endParaRPr lang="en-US" dirty="0"/>
          </a:p>
        </p:txBody>
      </p:sp>
    </p:spTree>
    <p:extLst>
      <p:ext uri="{BB962C8B-B14F-4D97-AF65-F5344CB8AC3E}">
        <p14:creationId xmlns:p14="http://schemas.microsoft.com/office/powerpoint/2010/main" val="2179897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Resources</a:t>
            </a:r>
            <a:endParaRPr lang="en-US" dirty="0"/>
          </a:p>
        </p:txBody>
      </p:sp>
      <p:sp>
        <p:nvSpPr>
          <p:cNvPr id="3" name="Content Placeholder 2"/>
          <p:cNvSpPr>
            <a:spLocks noGrp="1"/>
          </p:cNvSpPr>
          <p:nvPr>
            <p:ph idx="1"/>
          </p:nvPr>
        </p:nvSpPr>
        <p:spPr/>
        <p:txBody>
          <a:bodyPr/>
          <a:lstStyle/>
          <a:p>
            <a:pPr lvl="0"/>
            <a:r>
              <a:rPr lang="en-US" u="sng" dirty="0">
                <a:hlinkClick r:id="rId2"/>
              </a:rPr>
              <a:t>https://</a:t>
            </a:r>
            <a:r>
              <a:rPr lang="en-US" u="sng" dirty="0" smtClean="0">
                <a:hlinkClick r:id="rId2"/>
              </a:rPr>
              <a:t>owl.purdue.edu/owl/research_and_citation/using_research/quoting_paraphrasing_and_summarizing/paraphrasing.html</a:t>
            </a:r>
          </a:p>
          <a:p>
            <a:pPr lvl="0"/>
            <a:r>
              <a:rPr lang="en-US" u="sng" dirty="0" smtClean="0">
                <a:hlinkClick r:id="rId2"/>
              </a:rPr>
              <a:t>https</a:t>
            </a:r>
            <a:r>
              <a:rPr lang="en-US" u="sng" dirty="0">
                <a:hlinkClick r:id="rId2"/>
              </a:rPr>
              <a:t>://owl.purdue.edu/owl/research_and_citation/using_research/quoting_paraphrasing_and_summarizing/paraphrasing.html</a:t>
            </a:r>
            <a:endParaRPr lang="en-US" dirty="0"/>
          </a:p>
          <a:p>
            <a:pPr lvl="0"/>
            <a:r>
              <a:rPr lang="en-US" u="sng" dirty="0">
                <a:hlinkClick r:id="rId3"/>
              </a:rPr>
              <a:t>https://unicheck.com/blog/5-ways-to-avoid-plagiarism</a:t>
            </a:r>
            <a:endParaRPr lang="en-US" dirty="0"/>
          </a:p>
          <a:p>
            <a:endParaRPr lang="en-US" dirty="0"/>
          </a:p>
        </p:txBody>
      </p:sp>
    </p:spTree>
    <p:extLst>
      <p:ext uri="{BB962C8B-B14F-4D97-AF65-F5344CB8AC3E}">
        <p14:creationId xmlns:p14="http://schemas.microsoft.com/office/powerpoint/2010/main" val="3741491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Thank you</a:t>
            </a:r>
            <a:endParaRPr lang="en-US" dirty="0"/>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16999438"/>
      </p:ext>
    </p:extLst>
  </p:cSld>
  <p:clrMapOvr>
    <a:masterClrMapping/>
  </p:clrMapOvr>
</p:sld>
</file>

<file path=ppt/theme/theme1.xml><?xml version="1.0" encoding="utf-8"?>
<a:theme xmlns:a="http://schemas.openxmlformats.org/drawingml/2006/main" name="Wisp">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2">
      <a:majorFont>
        <a:latin typeface="Times New Roman"/>
        <a:ea typeface=""/>
        <a:cs typeface=""/>
      </a:majorFont>
      <a:minorFont>
        <a:latin typeface="Times New Roman"/>
        <a:ea typeface=""/>
        <a:cs typeface=""/>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4A56B41DD4F394292ED9BFB76E74855" ma:contentTypeVersion="4" ma:contentTypeDescription="Create a new document." ma:contentTypeScope="" ma:versionID="b52eef6fa577da25efa210a2de8c1591">
  <xsd:schema xmlns:xsd="http://www.w3.org/2001/XMLSchema" xmlns:xs="http://www.w3.org/2001/XMLSchema" xmlns:p="http://schemas.microsoft.com/office/2006/metadata/properties" xmlns:ns2="0e58b041-2247-4096-8347-170c2f854b47" targetNamespace="http://schemas.microsoft.com/office/2006/metadata/properties" ma:root="true" ma:fieldsID="93608008e9de9279433939524fd2bd4e" ns2:_="">
    <xsd:import namespace="0e58b041-2247-4096-8347-170c2f854b4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58b041-2247-4096-8347-170c2f854b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5F426A5-4A77-47BE-A204-7C4C380A48B3}"/>
</file>

<file path=customXml/itemProps2.xml><?xml version="1.0" encoding="utf-8"?>
<ds:datastoreItem xmlns:ds="http://schemas.openxmlformats.org/officeDocument/2006/customXml" ds:itemID="{177D2F25-E0F6-4934-921D-750A8122AA10}">
  <ds:schemaRefs>
    <ds:schemaRef ds:uri="http://schemas.microsoft.com/sharepoint/v3/contenttype/forms"/>
  </ds:schemaRefs>
</ds:datastoreItem>
</file>

<file path=customXml/itemProps3.xml><?xml version="1.0" encoding="utf-8"?>
<ds:datastoreItem xmlns:ds="http://schemas.openxmlformats.org/officeDocument/2006/customXml" ds:itemID="{343C5050-45F0-4441-A2E4-D85D04319001}">
  <ds:schemaRefs>
    <ds:schemaRef ds:uri="http://schemas.microsoft.com/office/infopath/2007/PartnerControls"/>
    <ds:schemaRef ds:uri="http://www.w3.org/XML/1998/namespace"/>
    <ds:schemaRef ds:uri="http://purl.org/dc/terms/"/>
    <ds:schemaRef ds:uri="http://schemas.microsoft.com/office/2006/documentManagement/types"/>
    <ds:schemaRef ds:uri="http://purl.org/dc/dcmitype/"/>
    <ds:schemaRef ds:uri="http://purl.org/dc/elements/1.1/"/>
    <ds:schemaRef ds:uri="53490958-682a-4171-ab66-7b866ca12ec0"/>
    <ds:schemaRef ds:uri="http://schemas.openxmlformats.org/package/2006/metadata/core-properties"/>
    <ds:schemaRef ds:uri="ff24172d-b32f-4675-ac8e-5566f2fd728b"/>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ppt theme</Template>
  <TotalTime>209</TotalTime>
  <Words>1027</Words>
  <Application>Microsoft Office PowerPoint</Application>
  <PresentationFormat>Widescreen</PresentationFormat>
  <Paragraphs>57</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Times New Roman</vt:lpstr>
      <vt:lpstr>Wingdings 3</vt:lpstr>
      <vt:lpstr>Wisp</vt:lpstr>
      <vt:lpstr>Paraphrasing</vt:lpstr>
      <vt:lpstr>What is paraphrasing?</vt:lpstr>
      <vt:lpstr>A paraphrase is... </vt:lpstr>
      <vt:lpstr>Paraphrasing is a valuable skill because... </vt:lpstr>
      <vt:lpstr>6 Steps to Effective Paraphrasing </vt:lpstr>
      <vt:lpstr>PowerPoint Presentation</vt:lpstr>
      <vt:lpstr>Paraphrasing tips </vt:lpstr>
      <vt:lpstr>Paraphrasing example</vt:lpstr>
      <vt:lpstr>PowerPoint Presentation</vt:lpstr>
      <vt:lpstr>PowerPoint Presentation</vt:lpstr>
      <vt:lpstr>Paraphrasing example</vt:lpstr>
      <vt:lpstr>Final Paraphrase</vt:lpstr>
      <vt:lpstr>Your turn!</vt:lpstr>
      <vt:lpstr>Another!</vt:lpstr>
      <vt:lpstr>Resources</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paraphrasing</dc:title>
  <dc:creator>Student18</dc:creator>
  <cp:lastModifiedBy>Tahira Munir</cp:lastModifiedBy>
  <cp:revision>21</cp:revision>
  <dcterms:created xsi:type="dcterms:W3CDTF">2019-11-18T16:24:28Z</dcterms:created>
  <dcterms:modified xsi:type="dcterms:W3CDTF">2020-10-03T14:01:50Z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0x010100C4A56B41DD4F394292ED9BFB76E74855</vt:lpwstr>
  </property>
</Properties>
</file>