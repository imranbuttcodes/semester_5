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notesSlides/notesSlide1.xml" ContentType="application/vnd.openxmlformats-officedocument.presentationml.notesSlide+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9" r:id="rId1"/>
  </p:sldMasterIdLst>
  <p:notesMasterIdLst>
    <p:notesMasterId r:id="rId20"/>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79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ustomXml" Target="../customXml/item2.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ustomXml" Target="../customXml/item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 Id="rId27"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091238-EFB6-4C47-A09C-1FA9AD0CB296}" type="datetimeFigureOut">
              <a:rPr lang="en-PK" smtClean="0"/>
              <a:t>04/10/2020</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203821-7E88-4EC0-AA39-D708B37EA593}" type="slidenum">
              <a:rPr lang="en-PK" smtClean="0"/>
              <a:t>‹#›</a:t>
            </a:fld>
            <a:endParaRPr lang="en-PK"/>
          </a:p>
        </p:txBody>
      </p:sp>
    </p:spTree>
    <p:extLst>
      <p:ext uri="{BB962C8B-B14F-4D97-AF65-F5344CB8AC3E}">
        <p14:creationId xmlns:p14="http://schemas.microsoft.com/office/powerpoint/2010/main" val="31928295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26203821-7E88-4EC0-AA39-D708B37EA593}" type="slidenum">
              <a:rPr lang="en-PK" smtClean="0"/>
              <a:t>8</a:t>
            </a:fld>
            <a:endParaRPr lang="en-PK"/>
          </a:p>
        </p:txBody>
      </p:sp>
    </p:spTree>
    <p:extLst>
      <p:ext uri="{BB962C8B-B14F-4D97-AF65-F5344CB8AC3E}">
        <p14:creationId xmlns:p14="http://schemas.microsoft.com/office/powerpoint/2010/main" val="10828766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dirty="0"/>
              <a:t>Click to edit Master title style</a:t>
            </a:r>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Tree>
    <p:extLst>
      <p:ext uri="{BB962C8B-B14F-4D97-AF65-F5344CB8AC3E}">
        <p14:creationId xmlns:p14="http://schemas.microsoft.com/office/powerpoint/2010/main" val="14015580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dirty="0"/>
              <a:t>Click to edit Master title style</a:t>
            </a:r>
          </a:p>
        </p:txBody>
      </p:sp>
      <p:sp>
        <p:nvSpPr>
          <p:cNvPr id="3" name="Content Placeholder 2"/>
          <p:cNvSpPr>
            <a:spLocks noGrp="1"/>
          </p:cNvSpPr>
          <p:nvPr>
            <p:ph idx="1"/>
          </p:nvPr>
        </p:nvSpPr>
        <p:spPr>
          <a:xfrm>
            <a:off x="2589212" y="2133600"/>
            <a:ext cx="8915400" cy="3777622"/>
          </a:xfrm>
        </p:spPr>
        <p:txBody>
          <a:bodyPr/>
          <a:lstStyle>
            <a:lvl1pPr>
              <a:defRPr b="1"/>
            </a:lvl1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991DF6DD-C3E8-43C8-9726-076D280A62FC}" type="datetimeFigureOut">
              <a:rPr lang="en-US" smtClean="0"/>
              <a:t>10/4/2020</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B97B395-00EF-4287-A346-B0CD2816462F}" type="slidenum">
              <a:rPr lang="en-US" smtClean="0"/>
              <a:t>‹#›</a:t>
            </a:fld>
            <a:endParaRPr lang="en-US"/>
          </a:p>
        </p:txBody>
      </p:sp>
    </p:spTree>
    <p:extLst>
      <p:ext uri="{BB962C8B-B14F-4D97-AF65-F5344CB8AC3E}">
        <p14:creationId xmlns:p14="http://schemas.microsoft.com/office/powerpoint/2010/main" val="6541492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91DF6DD-C3E8-43C8-9726-076D280A62FC}" type="datetimeFigureOut">
              <a:rPr lang="en-US" smtClean="0"/>
              <a:t>10/4/2020</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B97B395-00EF-4287-A346-B0CD2816462F}" type="slidenum">
              <a:rPr lang="en-US" smtClean="0"/>
              <a:t>‹#›</a:t>
            </a:fld>
            <a:endParaRPr lang="en-US"/>
          </a:p>
        </p:txBody>
      </p:sp>
    </p:spTree>
    <p:extLst>
      <p:ext uri="{BB962C8B-B14F-4D97-AF65-F5344CB8AC3E}">
        <p14:creationId xmlns:p14="http://schemas.microsoft.com/office/powerpoint/2010/main" val="24468992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91DF6DD-C3E8-43C8-9726-076D280A62FC}" type="datetimeFigureOut">
              <a:rPr lang="en-US" smtClean="0"/>
              <a:t>10/4/2020</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5B97B395-00EF-4287-A346-B0CD2816462F}" type="slidenum">
              <a:rPr lang="en-US" smtClean="0"/>
              <a:t>‹#›</a:t>
            </a:fld>
            <a:endParaRPr lang="en-US"/>
          </a:p>
        </p:txBody>
      </p:sp>
    </p:spTree>
    <p:extLst>
      <p:ext uri="{BB962C8B-B14F-4D97-AF65-F5344CB8AC3E}">
        <p14:creationId xmlns:p14="http://schemas.microsoft.com/office/powerpoint/2010/main" val="4248040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Tree>
    <p:extLst>
      <p:ext uri="{BB962C8B-B14F-4D97-AF65-F5344CB8AC3E}">
        <p14:creationId xmlns:p14="http://schemas.microsoft.com/office/powerpoint/2010/main" val="38749166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91DF6DD-C3E8-43C8-9726-076D280A62FC}" type="datetimeFigureOut">
              <a:rPr lang="en-US" smtClean="0"/>
              <a:t>10/4/2020</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5B97B395-00EF-4287-A346-B0CD2816462F}" type="slidenum">
              <a:rPr lang="en-US" smtClean="0"/>
              <a:t>‹#›</a:t>
            </a:fld>
            <a:endParaRPr lang="en-US"/>
          </a:p>
        </p:txBody>
      </p:sp>
    </p:spTree>
    <p:extLst>
      <p:ext uri="{BB962C8B-B14F-4D97-AF65-F5344CB8AC3E}">
        <p14:creationId xmlns:p14="http://schemas.microsoft.com/office/powerpoint/2010/main" val="20285399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91DF6DD-C3E8-43C8-9726-076D280A62FC}" type="datetimeFigureOut">
              <a:rPr lang="en-US" smtClean="0"/>
              <a:t>10/4/2020</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5B97B395-00EF-4287-A346-B0CD2816462F}" type="slidenum">
              <a:rPr lang="en-US" smtClean="0"/>
              <a:t>‹#›</a:t>
            </a:fld>
            <a:endParaRPr lang="en-US"/>
          </a:p>
        </p:txBody>
      </p:sp>
    </p:spTree>
    <p:extLst>
      <p:ext uri="{BB962C8B-B14F-4D97-AF65-F5344CB8AC3E}">
        <p14:creationId xmlns:p14="http://schemas.microsoft.com/office/powerpoint/2010/main" val="26553923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991DF6DD-C3E8-43C8-9726-076D280A62FC}" type="datetimeFigureOut">
              <a:rPr lang="en-US" smtClean="0"/>
              <a:t>10/4/2020</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5B97B395-00EF-4287-A346-B0CD2816462F}" type="slidenum">
              <a:rPr lang="en-US" smtClean="0"/>
              <a:t>‹#›</a:t>
            </a:fld>
            <a:endParaRPr lang="en-US"/>
          </a:p>
        </p:txBody>
      </p:sp>
    </p:spTree>
    <p:extLst>
      <p:ext uri="{BB962C8B-B14F-4D97-AF65-F5344CB8AC3E}">
        <p14:creationId xmlns:p14="http://schemas.microsoft.com/office/powerpoint/2010/main" val="7238021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991DF6DD-C3E8-43C8-9726-076D280A62FC}" type="datetimeFigureOut">
              <a:rPr lang="en-US" smtClean="0"/>
              <a:t>10/4/2020</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B97B395-00EF-4287-A346-B0CD2816462F}" type="slidenum">
              <a:rPr lang="en-US" smtClean="0"/>
              <a:t>‹#›</a:t>
            </a:fld>
            <a:endParaRPr lang="en-US"/>
          </a:p>
        </p:txBody>
      </p:sp>
    </p:spTree>
    <p:extLst>
      <p:ext uri="{BB962C8B-B14F-4D97-AF65-F5344CB8AC3E}">
        <p14:creationId xmlns:p14="http://schemas.microsoft.com/office/powerpoint/2010/main" val="5494002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91DF6DD-C3E8-43C8-9726-076D280A62FC}" type="datetimeFigureOut">
              <a:rPr lang="en-US" smtClean="0"/>
              <a:t>10/4/2020</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B97B395-00EF-4287-A346-B0CD2816462F}" type="slidenum">
              <a:rPr lang="en-US" smtClean="0"/>
              <a:t>‹#›</a:t>
            </a:fld>
            <a:endParaRPr lang="en-US"/>
          </a:p>
        </p:txBody>
      </p:sp>
    </p:spTree>
    <p:extLst>
      <p:ext uri="{BB962C8B-B14F-4D97-AF65-F5344CB8AC3E}">
        <p14:creationId xmlns:p14="http://schemas.microsoft.com/office/powerpoint/2010/main" val="42648100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91DF6DD-C3E8-43C8-9726-076D280A62FC}" type="datetimeFigureOut">
              <a:rPr lang="en-US" smtClean="0"/>
              <a:t>10/4/2020</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B97B395-00EF-4287-A346-B0CD2816462F}"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4049921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991DF6DD-C3E8-43C8-9726-076D280A62FC}" type="datetimeFigureOut">
              <a:rPr lang="en-US" smtClean="0"/>
              <a:t>10/4/2020</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B97B395-00EF-4287-A346-B0CD2816462F}" type="slidenum">
              <a:rPr lang="en-US" smtClean="0"/>
              <a:t>‹#›</a:t>
            </a:fld>
            <a:endParaRPr lang="en-US"/>
          </a:p>
        </p:txBody>
      </p:sp>
    </p:spTree>
    <p:extLst>
      <p:ext uri="{BB962C8B-B14F-4D97-AF65-F5344CB8AC3E}">
        <p14:creationId xmlns:p14="http://schemas.microsoft.com/office/powerpoint/2010/main" val="41868225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991DF6DD-C3E8-43C8-9726-076D280A62FC}" type="datetimeFigureOut">
              <a:rPr lang="en-US" smtClean="0"/>
              <a:t>10/4/2020</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B97B395-00EF-4287-A346-B0CD2816462F}"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2791333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991DF6DD-C3E8-43C8-9726-076D280A62FC}" type="datetimeFigureOut">
              <a:rPr lang="en-US" smtClean="0"/>
              <a:t>10/4/2020</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B97B395-00EF-4287-A346-B0CD2816462F}" type="slidenum">
              <a:rPr lang="en-US" smtClean="0"/>
              <a:t>‹#›</a:t>
            </a:fld>
            <a:endParaRPr lang="en-US"/>
          </a:p>
        </p:txBody>
      </p:sp>
    </p:spTree>
    <p:extLst>
      <p:ext uri="{BB962C8B-B14F-4D97-AF65-F5344CB8AC3E}">
        <p14:creationId xmlns:p14="http://schemas.microsoft.com/office/powerpoint/2010/main" val="35922361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1DF6DD-C3E8-43C8-9726-076D280A62FC}" type="datetimeFigureOut">
              <a:rPr lang="en-US" smtClean="0"/>
              <a:t>10/4/2020</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B97B395-00EF-4287-A346-B0CD2816462F}" type="slidenum">
              <a:rPr lang="en-US" smtClean="0"/>
              <a:t>‹#›</a:t>
            </a:fld>
            <a:endParaRPr lang="en-US"/>
          </a:p>
        </p:txBody>
      </p:sp>
    </p:spTree>
    <p:extLst>
      <p:ext uri="{BB962C8B-B14F-4D97-AF65-F5344CB8AC3E}">
        <p14:creationId xmlns:p14="http://schemas.microsoft.com/office/powerpoint/2010/main" val="188416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1DF6DD-C3E8-43C8-9726-076D280A62FC}" type="datetimeFigureOut">
              <a:rPr lang="en-US" smtClean="0"/>
              <a:t>10/4/2020</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B97B395-00EF-4287-A346-B0CD2816462F}" type="slidenum">
              <a:rPr lang="en-US" smtClean="0"/>
              <a:t>‹#›</a:t>
            </a:fld>
            <a:endParaRPr lang="en-US"/>
          </a:p>
        </p:txBody>
      </p:sp>
    </p:spTree>
    <p:extLst>
      <p:ext uri="{BB962C8B-B14F-4D97-AF65-F5344CB8AC3E}">
        <p14:creationId xmlns:p14="http://schemas.microsoft.com/office/powerpoint/2010/main" val="11752978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991DF6DD-C3E8-43C8-9726-076D280A62FC}" type="datetimeFigureOut">
              <a:rPr lang="en-US" smtClean="0"/>
              <a:t>10/4/2020</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5B97B395-00EF-4287-A346-B0CD2816462F}" type="slidenum">
              <a:rPr lang="en-US" smtClean="0"/>
              <a:t>‹#›</a:t>
            </a:fld>
            <a:endParaRPr lang="en-US"/>
          </a:p>
        </p:txBody>
      </p:sp>
    </p:spTree>
    <p:extLst>
      <p:ext uri="{BB962C8B-B14F-4D97-AF65-F5344CB8AC3E}">
        <p14:creationId xmlns:p14="http://schemas.microsoft.com/office/powerpoint/2010/main" val="2073071604"/>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Lst>
  <p:txStyles>
    <p:titleStyle>
      <a:lvl1pPr algn="l" defTabSz="457200" rtl="0" eaLnBrk="1" latinLnBrk="0" hangingPunct="1">
        <a:spcBef>
          <a:spcPct val="0"/>
        </a:spcBef>
        <a:buNone/>
        <a:defRPr sz="40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22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22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22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2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2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corpwriting.com/Brochure-Content-Writing/" TargetMode="External"/><Relationship Id="rId2" Type="http://schemas.openxmlformats.org/officeDocument/2006/relationships/hyperlink" Target="https://extensionpublications.unl.edu/assets/pdf/g2028.pdf"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000" dirty="0"/>
              <a:t>Technical Writing: Brochures</a:t>
            </a:r>
          </a:p>
        </p:txBody>
      </p:sp>
      <p:sp>
        <p:nvSpPr>
          <p:cNvPr id="3" name="Subtitle 2"/>
          <p:cNvSpPr>
            <a:spLocks noGrp="1"/>
          </p:cNvSpPr>
          <p:nvPr>
            <p:ph type="subTitle" idx="1"/>
          </p:nvPr>
        </p:nvSpPr>
        <p:spPr/>
        <p:txBody>
          <a:bodyPr>
            <a:normAutofit/>
          </a:bodyPr>
          <a:lstStyle/>
          <a:p>
            <a:r>
              <a:rPr lang="en-US" dirty="0">
                <a:solidFill>
                  <a:schemeClr val="tx1"/>
                </a:solidFill>
              </a:rPr>
              <a:t>Week 7, Chapter 7</a:t>
            </a:r>
          </a:p>
        </p:txBody>
      </p:sp>
    </p:spTree>
    <p:extLst>
      <p:ext uri="{BB962C8B-B14F-4D97-AF65-F5344CB8AC3E}">
        <p14:creationId xmlns:p14="http://schemas.microsoft.com/office/powerpoint/2010/main" val="23502317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solidFill>
                  <a:schemeClr val="tx1"/>
                </a:solidFill>
              </a:rPr>
              <a:t>What is a Brochure?</a:t>
            </a:r>
          </a:p>
        </p:txBody>
      </p:sp>
      <p:sp>
        <p:nvSpPr>
          <p:cNvPr id="8" name="Content Placeholder 7"/>
          <p:cNvSpPr>
            <a:spLocks noGrp="1"/>
          </p:cNvSpPr>
          <p:nvPr>
            <p:ph idx="1"/>
          </p:nvPr>
        </p:nvSpPr>
        <p:spPr/>
        <p:txBody>
          <a:bodyPr>
            <a:normAutofit/>
          </a:bodyPr>
          <a:lstStyle/>
          <a:p>
            <a:r>
              <a:rPr lang="en-US" b="0" dirty="0">
                <a:solidFill>
                  <a:schemeClr val="tx1"/>
                </a:solidFill>
                <a:latin typeface="Times New Roman" panose="02020603050405020304" pitchFamily="18" charset="0"/>
                <a:ea typeface="Calibri" panose="020F0502020204030204" pitchFamily="34" charset="0"/>
              </a:rPr>
              <a:t>O</a:t>
            </a:r>
            <a:r>
              <a:rPr lang="en-US" b="0" dirty="0">
                <a:solidFill>
                  <a:schemeClr val="tx1"/>
                </a:solidFill>
                <a:effectLst/>
                <a:latin typeface="Times New Roman" panose="02020603050405020304" pitchFamily="18" charset="0"/>
                <a:ea typeface="Calibri" panose="020F0502020204030204" pitchFamily="34" charset="0"/>
              </a:rPr>
              <a:t>ne of the most popular marketing tools </a:t>
            </a:r>
          </a:p>
          <a:p>
            <a:r>
              <a:rPr lang="en-US" b="0" dirty="0">
                <a:solidFill>
                  <a:schemeClr val="tx1"/>
                </a:solidFill>
                <a:latin typeface="Times New Roman" panose="02020603050405020304" pitchFamily="18" charset="0"/>
                <a:ea typeface="Calibri" panose="020F0502020204030204" pitchFamily="34" charset="0"/>
              </a:rPr>
              <a:t>H</a:t>
            </a:r>
            <a:r>
              <a:rPr lang="en-US" b="0" dirty="0">
                <a:solidFill>
                  <a:schemeClr val="tx1"/>
                </a:solidFill>
                <a:effectLst/>
                <a:latin typeface="Times New Roman" panose="02020603050405020304" pitchFamily="18" charset="0"/>
                <a:ea typeface="Calibri" panose="020F0502020204030204" pitchFamily="34" charset="0"/>
              </a:rPr>
              <a:t>elps draw the attention of prospective customers</a:t>
            </a:r>
          </a:p>
          <a:p>
            <a:r>
              <a:rPr lang="en-US" b="0" dirty="0">
                <a:solidFill>
                  <a:schemeClr val="tx1"/>
                </a:solidFill>
                <a:latin typeface="Times New Roman" panose="02020603050405020304" pitchFamily="18" charset="0"/>
                <a:ea typeface="Calibri" panose="020F0502020204030204" pitchFamily="34" charset="0"/>
              </a:rPr>
              <a:t>C</a:t>
            </a:r>
            <a:r>
              <a:rPr lang="en-US" b="0" dirty="0">
                <a:solidFill>
                  <a:schemeClr val="tx1"/>
                </a:solidFill>
                <a:effectLst/>
                <a:latin typeface="Times New Roman" panose="02020603050405020304" pitchFamily="18" charset="0"/>
                <a:ea typeface="Calibri" panose="020F0502020204030204" pitchFamily="34" charset="0"/>
              </a:rPr>
              <a:t>an be distributed manually, via mail or email</a:t>
            </a:r>
          </a:p>
          <a:p>
            <a:pPr marL="0" indent="0">
              <a:buNone/>
            </a:pPr>
            <a:r>
              <a:rPr lang="en-US" b="0" dirty="0">
                <a:solidFill>
                  <a:schemeClr val="tx1"/>
                </a:solidFill>
                <a:effectLst/>
                <a:latin typeface="Times New Roman" panose="02020603050405020304" pitchFamily="18" charset="0"/>
                <a:ea typeface="Calibri" panose="020F0502020204030204" pitchFamily="34" charset="0"/>
              </a:rPr>
              <a:t>or placed in brochure racks</a:t>
            </a:r>
          </a:p>
          <a:p>
            <a:r>
              <a:rPr lang="en-US" b="0" dirty="0">
                <a:solidFill>
                  <a:schemeClr val="tx1"/>
                </a:solidFill>
                <a:latin typeface="Times New Roman" panose="02020603050405020304" pitchFamily="18" charset="0"/>
                <a:ea typeface="Calibri" panose="020F0502020204030204" pitchFamily="34" charset="0"/>
              </a:rPr>
              <a:t>P</a:t>
            </a:r>
            <a:r>
              <a:rPr lang="en-US" b="0" dirty="0">
                <a:solidFill>
                  <a:schemeClr val="tx1"/>
                </a:solidFill>
                <a:effectLst/>
                <a:latin typeface="Times New Roman" panose="02020603050405020304" pitchFamily="18" charset="0"/>
                <a:ea typeface="Calibri" panose="020F0502020204030204" pitchFamily="34" charset="0"/>
              </a:rPr>
              <a:t>rinted on a single tri-fold sheet of thick glossy paper </a:t>
            </a:r>
          </a:p>
          <a:p>
            <a:r>
              <a:rPr lang="en-US" b="0" dirty="0">
                <a:solidFill>
                  <a:schemeClr val="tx1"/>
                </a:solidFill>
                <a:latin typeface="Times New Roman" panose="02020603050405020304" pitchFamily="18" charset="0"/>
                <a:ea typeface="Calibri" panose="020F0502020204030204" pitchFamily="34" charset="0"/>
              </a:rPr>
              <a:t>I</a:t>
            </a:r>
            <a:r>
              <a:rPr lang="en-US" b="0" dirty="0">
                <a:solidFill>
                  <a:schemeClr val="tx1"/>
                </a:solidFill>
                <a:effectLst/>
                <a:latin typeface="Times New Roman" panose="02020603050405020304" pitchFamily="18" charset="0"/>
                <a:ea typeface="Calibri" panose="020F0502020204030204" pitchFamily="34" charset="0"/>
              </a:rPr>
              <a:t>ncludes pictures, photos, and other graphics</a:t>
            </a:r>
            <a:endParaRPr lang="en-US" b="0" dirty="0">
              <a:solidFill>
                <a:schemeClr val="tx1"/>
              </a:solidFill>
            </a:endParaRPr>
          </a:p>
        </p:txBody>
      </p:sp>
    </p:spTree>
    <p:extLst>
      <p:ext uri="{BB962C8B-B14F-4D97-AF65-F5344CB8AC3E}">
        <p14:creationId xmlns:p14="http://schemas.microsoft.com/office/powerpoint/2010/main" val="17018582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60014-2E18-488D-824B-2A6616BD4790}"/>
              </a:ext>
            </a:extLst>
          </p:cNvPr>
          <p:cNvSpPr>
            <a:spLocks noGrp="1"/>
          </p:cNvSpPr>
          <p:nvPr>
            <p:ph type="title"/>
          </p:nvPr>
        </p:nvSpPr>
        <p:spPr/>
        <p:txBody>
          <a:bodyPr/>
          <a:lstStyle/>
          <a:p>
            <a:r>
              <a:rPr lang="en-US" dirty="0"/>
              <a:t>Example of a Brochure</a:t>
            </a:r>
            <a:endParaRPr lang="en-PK" dirty="0"/>
          </a:p>
        </p:txBody>
      </p:sp>
      <p:pic>
        <p:nvPicPr>
          <p:cNvPr id="5" name="Content Placeholder 4">
            <a:extLst>
              <a:ext uri="{FF2B5EF4-FFF2-40B4-BE49-F238E27FC236}">
                <a16:creationId xmlns:a16="http://schemas.microsoft.com/office/drawing/2014/main" id="{4EA696C5-4D9E-4936-B89F-E7FDDD8AC49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63705" y="1592977"/>
            <a:ext cx="6822829" cy="5338863"/>
          </a:xfrm>
        </p:spPr>
      </p:pic>
    </p:spTree>
    <p:extLst>
      <p:ext uri="{BB962C8B-B14F-4D97-AF65-F5344CB8AC3E}">
        <p14:creationId xmlns:p14="http://schemas.microsoft.com/office/powerpoint/2010/main" val="27815444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D07C9-E698-45F0-B736-5F26B7513D96}"/>
              </a:ext>
            </a:extLst>
          </p:cNvPr>
          <p:cNvSpPr>
            <a:spLocks noGrp="1"/>
          </p:cNvSpPr>
          <p:nvPr>
            <p:ph type="title"/>
          </p:nvPr>
        </p:nvSpPr>
        <p:spPr/>
        <p:txBody>
          <a:bodyPr/>
          <a:lstStyle/>
          <a:p>
            <a:r>
              <a:rPr lang="en-US" dirty="0"/>
              <a:t>Steps for Writing a Brochure</a:t>
            </a:r>
            <a:endParaRPr lang="en-PK" dirty="0"/>
          </a:p>
        </p:txBody>
      </p:sp>
      <p:sp>
        <p:nvSpPr>
          <p:cNvPr id="3" name="Content Placeholder 2">
            <a:extLst>
              <a:ext uri="{FF2B5EF4-FFF2-40B4-BE49-F238E27FC236}">
                <a16:creationId xmlns:a16="http://schemas.microsoft.com/office/drawing/2014/main" id="{EF4882CB-1A9E-4276-8B05-B474E90261D5}"/>
              </a:ext>
            </a:extLst>
          </p:cNvPr>
          <p:cNvSpPr>
            <a:spLocks noGrp="1"/>
          </p:cNvSpPr>
          <p:nvPr>
            <p:ph idx="1"/>
          </p:nvPr>
        </p:nvSpPr>
        <p:spPr>
          <a:xfrm>
            <a:off x="2589212" y="1904999"/>
            <a:ext cx="7009863" cy="4622409"/>
          </a:xfrm>
        </p:spPr>
        <p:txBody>
          <a:bodyPr>
            <a:normAutofit/>
          </a:bodyPr>
          <a:lstStyle/>
          <a:p>
            <a:pPr marL="342900" marR="1619250" lvl="0" indent="-342900" algn="just" rtl="0">
              <a:lnSpc>
                <a:spcPct val="107000"/>
              </a:lnSpc>
              <a:spcAft>
                <a:spcPts val="1125"/>
              </a:spcAft>
              <a:tabLst>
                <a:tab pos="457200" algn="l"/>
              </a:tabLst>
            </a:pPr>
            <a:r>
              <a:rPr lang="en-US" sz="3200" b="0"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Determine the audience for your message. </a:t>
            </a:r>
          </a:p>
          <a:p>
            <a:pPr marL="0" marR="1619250" lvl="0" indent="0" algn="just" rtl="0">
              <a:lnSpc>
                <a:spcPct val="107000"/>
              </a:lnSpc>
              <a:spcAft>
                <a:spcPts val="1125"/>
              </a:spcAft>
              <a:buNone/>
              <a:tabLst>
                <a:tab pos="457200" algn="l"/>
              </a:tabLst>
            </a:pPr>
            <a:r>
              <a:rPr lang="en-US" b="0"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Your brochure may be directed toward specific groups such as potential clients, funders, the media, or a broad audience.</a:t>
            </a:r>
            <a:endParaRPr lang="en-PK" b="0" dirty="0">
              <a:solidFill>
                <a:schemeClr val="tx1"/>
              </a:solidFill>
              <a:effectLst/>
              <a:latin typeface="Calibri" panose="020F0502020204030204" pitchFamily="34" charset="0"/>
              <a:ea typeface="SimSun" panose="02010600030101010101" pitchFamily="2" charset="-122"/>
              <a:cs typeface="Arial" panose="020B0604020202020204" pitchFamily="34" charset="0"/>
            </a:endParaRPr>
          </a:p>
          <a:p>
            <a:pPr marL="342900" marR="1619250" lvl="0" indent="-342900" algn="just">
              <a:lnSpc>
                <a:spcPct val="107000"/>
              </a:lnSpc>
              <a:spcAft>
                <a:spcPts val="1125"/>
              </a:spcAft>
              <a:tabLst>
                <a:tab pos="457200" algn="l"/>
              </a:tabLst>
            </a:pPr>
            <a:r>
              <a:rPr lang="en-US" sz="3200" b="0"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Decide on the purpose of your brochure.</a:t>
            </a:r>
          </a:p>
          <a:p>
            <a:pPr marL="0" marR="1619250" lvl="0" indent="0" algn="just">
              <a:lnSpc>
                <a:spcPct val="107000"/>
              </a:lnSpc>
              <a:spcAft>
                <a:spcPts val="1125"/>
              </a:spcAft>
              <a:buNone/>
              <a:tabLst>
                <a:tab pos="457200" algn="l"/>
              </a:tabLst>
            </a:pPr>
            <a:r>
              <a:rPr lang="en-US" b="0"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persuading, informing, entertaining, etc.</a:t>
            </a:r>
            <a:endParaRPr lang="en-PK" b="0" dirty="0">
              <a:solidFill>
                <a:schemeClr val="tx1"/>
              </a:solidFill>
              <a:effectLst/>
              <a:latin typeface="Calibri" panose="020F0502020204030204" pitchFamily="34" charset="0"/>
              <a:ea typeface="SimSun" panose="02010600030101010101" pitchFamily="2" charset="-122"/>
              <a:cs typeface="Arial" panose="020B0604020202020204" pitchFamily="34" charset="0"/>
            </a:endParaRPr>
          </a:p>
          <a:p>
            <a:endParaRPr lang="en-PK" dirty="0"/>
          </a:p>
        </p:txBody>
      </p:sp>
    </p:spTree>
    <p:extLst>
      <p:ext uri="{BB962C8B-B14F-4D97-AF65-F5344CB8AC3E}">
        <p14:creationId xmlns:p14="http://schemas.microsoft.com/office/powerpoint/2010/main" val="18313474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5F806-E275-44F0-9AF2-D4B771957696}"/>
              </a:ext>
            </a:extLst>
          </p:cNvPr>
          <p:cNvSpPr>
            <a:spLocks noGrp="1"/>
          </p:cNvSpPr>
          <p:nvPr>
            <p:ph type="title"/>
          </p:nvPr>
        </p:nvSpPr>
        <p:spPr/>
        <p:txBody>
          <a:bodyPr/>
          <a:lstStyle/>
          <a:p>
            <a:r>
              <a:rPr lang="en-US" dirty="0"/>
              <a:t>Steps for Writing a Brochure Cont.</a:t>
            </a:r>
            <a:endParaRPr lang="en-PK" dirty="0"/>
          </a:p>
        </p:txBody>
      </p:sp>
      <p:sp>
        <p:nvSpPr>
          <p:cNvPr id="3" name="Content Placeholder 2">
            <a:extLst>
              <a:ext uri="{FF2B5EF4-FFF2-40B4-BE49-F238E27FC236}">
                <a16:creationId xmlns:a16="http://schemas.microsoft.com/office/drawing/2014/main" id="{447A1B7C-5E31-4438-B22E-1CAD3C6C64E0}"/>
              </a:ext>
            </a:extLst>
          </p:cNvPr>
          <p:cNvSpPr>
            <a:spLocks noGrp="1"/>
          </p:cNvSpPr>
          <p:nvPr>
            <p:ph idx="1"/>
          </p:nvPr>
        </p:nvSpPr>
        <p:spPr>
          <a:xfrm>
            <a:off x="2589213" y="2236763"/>
            <a:ext cx="6118689" cy="4621237"/>
          </a:xfrm>
        </p:spPr>
        <p:txBody>
          <a:bodyPr>
            <a:normAutofit fontScale="85000" lnSpcReduction="10000"/>
          </a:bodyPr>
          <a:lstStyle/>
          <a:p>
            <a:r>
              <a:rPr lang="en-US" sz="3800" b="0"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Think about the message you want to convey to your readers</a:t>
            </a:r>
            <a:r>
              <a:rPr lang="en-US" sz="3800" b="0" dirty="0">
                <a:solidFill>
                  <a:schemeClr val="tx1"/>
                </a:solidFill>
                <a:latin typeface="Times New Roman" panose="02020603050405020304" pitchFamily="18" charset="0"/>
                <a:ea typeface="Times New Roman" panose="02020603050405020304" pitchFamily="18" charset="0"/>
                <a:cs typeface="Arial" panose="020B0604020202020204" pitchFamily="34" charset="0"/>
              </a:rPr>
              <a:t>.</a:t>
            </a:r>
            <a:r>
              <a:rPr lang="en-US" sz="3800" b="0"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 </a:t>
            </a:r>
          </a:p>
          <a:p>
            <a:pPr marL="0" indent="0">
              <a:buNone/>
            </a:pPr>
            <a:r>
              <a:rPr lang="en-US" sz="2600" b="0"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Since a brochure format sets a strict limit to the amount of printed information, you must choose carefully among the facts, pictures, and other data you want to include.</a:t>
            </a:r>
            <a:endParaRPr lang="en-PK" sz="2600" b="0" dirty="0">
              <a:solidFill>
                <a:schemeClr val="tx1"/>
              </a:solidFill>
              <a:effectLst/>
              <a:latin typeface="Calibri" panose="020F0502020204030204" pitchFamily="34" charset="0"/>
              <a:ea typeface="SimSun" panose="02010600030101010101" pitchFamily="2" charset="-122"/>
              <a:cs typeface="Arial" panose="020B0604020202020204" pitchFamily="34" charset="0"/>
            </a:endParaRPr>
          </a:p>
          <a:p>
            <a:endParaRPr lang="en-US" sz="2600" b="0"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endParaRPr>
          </a:p>
          <a:p>
            <a:r>
              <a:rPr lang="en-US" sz="3800" b="0"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Write the text for your brochure. </a:t>
            </a:r>
          </a:p>
          <a:p>
            <a:pPr marL="0" indent="0">
              <a:buNone/>
            </a:pPr>
            <a:r>
              <a:rPr lang="en-US" sz="2600" b="0"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Try to be concise and accurate. The text should be written in short sentences with positive language and active voice.</a:t>
            </a:r>
            <a:endParaRPr lang="en-PK" sz="2600" b="0" dirty="0">
              <a:solidFill>
                <a:schemeClr val="tx1"/>
              </a:solidFill>
              <a:effectLst/>
              <a:latin typeface="Calibri" panose="020F0502020204030204" pitchFamily="34" charset="0"/>
              <a:ea typeface="SimSun" panose="02010600030101010101" pitchFamily="2" charset="-122"/>
              <a:cs typeface="Arial" panose="020B0604020202020204" pitchFamily="34" charset="0"/>
            </a:endParaRPr>
          </a:p>
          <a:p>
            <a:endParaRPr lang="en-PK" dirty="0"/>
          </a:p>
        </p:txBody>
      </p:sp>
    </p:spTree>
    <p:extLst>
      <p:ext uri="{BB962C8B-B14F-4D97-AF65-F5344CB8AC3E}">
        <p14:creationId xmlns:p14="http://schemas.microsoft.com/office/powerpoint/2010/main" val="4591177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363FE-3FA6-4206-8835-816A7F2CA4DF}"/>
              </a:ext>
            </a:extLst>
          </p:cNvPr>
          <p:cNvSpPr>
            <a:spLocks noGrp="1"/>
          </p:cNvSpPr>
          <p:nvPr>
            <p:ph type="title"/>
          </p:nvPr>
        </p:nvSpPr>
        <p:spPr/>
        <p:txBody>
          <a:bodyPr/>
          <a:lstStyle/>
          <a:p>
            <a:r>
              <a:rPr lang="en-US" dirty="0"/>
              <a:t>Steps for Writing a Brochure Cont.</a:t>
            </a:r>
            <a:endParaRPr lang="en-PK" dirty="0"/>
          </a:p>
        </p:txBody>
      </p:sp>
      <p:sp>
        <p:nvSpPr>
          <p:cNvPr id="3" name="Content Placeholder 2">
            <a:extLst>
              <a:ext uri="{FF2B5EF4-FFF2-40B4-BE49-F238E27FC236}">
                <a16:creationId xmlns:a16="http://schemas.microsoft.com/office/drawing/2014/main" id="{C5D04558-46EE-43AE-B2DE-C3545C7EA911}"/>
              </a:ext>
            </a:extLst>
          </p:cNvPr>
          <p:cNvSpPr>
            <a:spLocks noGrp="1"/>
          </p:cNvSpPr>
          <p:nvPr>
            <p:ph idx="1"/>
          </p:nvPr>
        </p:nvSpPr>
        <p:spPr>
          <a:xfrm>
            <a:off x="2589213" y="1659988"/>
            <a:ext cx="7609864" cy="5500467"/>
          </a:xfrm>
        </p:spPr>
        <p:txBody>
          <a:bodyPr>
            <a:normAutofit fontScale="32500" lnSpcReduction="20000"/>
          </a:bodyPr>
          <a:lstStyle/>
          <a:p>
            <a:pPr marL="342900" marR="1619250" lvl="0" indent="-342900" algn="just">
              <a:lnSpc>
                <a:spcPct val="107000"/>
              </a:lnSpc>
              <a:spcAft>
                <a:spcPts val="1125"/>
              </a:spcAft>
              <a:tabLst>
                <a:tab pos="457200" algn="l"/>
              </a:tabLst>
            </a:pPr>
            <a:r>
              <a:rPr lang="en-US" sz="9800" b="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Decide on what graphics you are going to use to enhance the brochure. </a:t>
            </a:r>
          </a:p>
          <a:p>
            <a:pPr marL="0" marR="1619250" lvl="0" indent="0" algn="just">
              <a:lnSpc>
                <a:spcPct val="107000"/>
              </a:lnSpc>
              <a:spcAft>
                <a:spcPts val="1125"/>
              </a:spcAft>
              <a:buNone/>
              <a:tabLst>
                <a:tab pos="457200" algn="l"/>
              </a:tabLst>
            </a:pPr>
            <a:r>
              <a:rPr lang="en-US" sz="6800" b="0" dirty="0">
                <a:solidFill>
                  <a:srgbClr val="000000"/>
                </a:solidFill>
                <a:effectLst/>
                <a:latin typeface="+mj-lt"/>
                <a:ea typeface="Times New Roman" panose="02020603050405020304" pitchFamily="18" charset="0"/>
                <a:cs typeface="Arial" panose="020B0604020202020204" pitchFamily="34" charset="0"/>
              </a:rPr>
              <a:t>Colorful, bright paper attracts attention and is more interesting to read. On the other hand, too many pictures or colors can distract your readers from perceiving your message, or make the brochure look too flashy.</a:t>
            </a:r>
            <a:endParaRPr lang="en-PK" sz="6800" b="0" dirty="0">
              <a:effectLst/>
              <a:latin typeface="+mj-lt"/>
              <a:ea typeface="SimSun" panose="02010600030101010101" pitchFamily="2" charset="-122"/>
              <a:cs typeface="Arial" panose="020B0604020202020204" pitchFamily="34" charset="0"/>
            </a:endParaRPr>
          </a:p>
          <a:p>
            <a:pPr marL="342900" marR="1619250" lvl="0" indent="-342900" algn="just">
              <a:lnSpc>
                <a:spcPct val="107000"/>
              </a:lnSpc>
              <a:spcAft>
                <a:spcPts val="1125"/>
              </a:spcAft>
              <a:tabLst>
                <a:tab pos="457200" algn="l"/>
              </a:tabLst>
            </a:pPr>
            <a:r>
              <a:rPr lang="en-US" sz="9800" b="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Add a call to action at the end of your brochure. </a:t>
            </a:r>
          </a:p>
          <a:p>
            <a:pPr marL="0" marR="1619250" lvl="0" indent="0" algn="just">
              <a:lnSpc>
                <a:spcPct val="107000"/>
              </a:lnSpc>
              <a:spcAft>
                <a:spcPts val="1125"/>
              </a:spcAft>
              <a:buNone/>
              <a:tabLst>
                <a:tab pos="457200" algn="l"/>
              </a:tabLst>
            </a:pPr>
            <a:r>
              <a:rPr lang="en-US" sz="6800" b="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You can ask your readers to make a phone call, visit a website for more details, or purchase a sample of your product.</a:t>
            </a:r>
            <a:endParaRPr lang="en-PK" sz="6800" b="0" dirty="0">
              <a:effectLst/>
              <a:latin typeface="Calibri" panose="020F0502020204030204" pitchFamily="34" charset="0"/>
              <a:ea typeface="SimSun" panose="02010600030101010101" pitchFamily="2" charset="-122"/>
              <a:cs typeface="Arial" panose="020B0604020202020204" pitchFamily="34" charset="0"/>
            </a:endParaRPr>
          </a:p>
          <a:p>
            <a:endParaRPr lang="en-PK" dirty="0"/>
          </a:p>
        </p:txBody>
      </p:sp>
    </p:spTree>
    <p:extLst>
      <p:ext uri="{BB962C8B-B14F-4D97-AF65-F5344CB8AC3E}">
        <p14:creationId xmlns:p14="http://schemas.microsoft.com/office/powerpoint/2010/main" val="4648718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4A460-8C33-4313-B3D6-26A891AD6299}"/>
              </a:ext>
            </a:extLst>
          </p:cNvPr>
          <p:cNvSpPr>
            <a:spLocks noGrp="1"/>
          </p:cNvSpPr>
          <p:nvPr>
            <p:ph type="title"/>
          </p:nvPr>
        </p:nvSpPr>
        <p:spPr/>
        <p:txBody>
          <a:bodyPr/>
          <a:lstStyle/>
          <a:p>
            <a:r>
              <a:rPr lang="en-US" dirty="0"/>
              <a:t>Steps for Writing a Brochure Cont.</a:t>
            </a:r>
            <a:endParaRPr lang="en-PK" dirty="0"/>
          </a:p>
        </p:txBody>
      </p:sp>
      <p:sp>
        <p:nvSpPr>
          <p:cNvPr id="3" name="Content Placeholder 2">
            <a:extLst>
              <a:ext uri="{FF2B5EF4-FFF2-40B4-BE49-F238E27FC236}">
                <a16:creationId xmlns:a16="http://schemas.microsoft.com/office/drawing/2014/main" id="{A46FCF50-57B9-45A0-B087-AF1775816667}"/>
              </a:ext>
            </a:extLst>
          </p:cNvPr>
          <p:cNvSpPr>
            <a:spLocks noGrp="1"/>
          </p:cNvSpPr>
          <p:nvPr>
            <p:ph idx="1"/>
          </p:nvPr>
        </p:nvSpPr>
        <p:spPr>
          <a:xfrm>
            <a:off x="2589212" y="2138289"/>
            <a:ext cx="6892413" cy="3772932"/>
          </a:xfrm>
        </p:spPr>
        <p:txBody>
          <a:bodyPr/>
          <a:lstStyle/>
          <a:p>
            <a:pPr marL="342900" marR="1619250" lvl="0" indent="-342900" algn="just">
              <a:lnSpc>
                <a:spcPct val="107000"/>
              </a:lnSpc>
              <a:spcAft>
                <a:spcPts val="1125"/>
              </a:spcAft>
              <a:tabLst>
                <a:tab pos="457200" algn="l"/>
              </a:tabLst>
            </a:pPr>
            <a:r>
              <a:rPr lang="en-US" sz="3200" b="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Proofread and edit the brochure. </a:t>
            </a:r>
          </a:p>
          <a:p>
            <a:pPr marL="0" marR="1619250" lvl="0" indent="0" algn="just">
              <a:lnSpc>
                <a:spcPct val="107000"/>
              </a:lnSpc>
              <a:spcAft>
                <a:spcPts val="1125"/>
              </a:spcAft>
              <a:buNone/>
              <a:tabLst>
                <a:tab pos="457200" algn="l"/>
              </a:tabLst>
            </a:pPr>
            <a:r>
              <a:rPr lang="en-US" b="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Check to see if you can supersede some elements with others, or where you can use more precise words or more expressive pictures.</a:t>
            </a:r>
            <a:endParaRPr lang="en-PK" b="0" dirty="0">
              <a:effectLst/>
              <a:latin typeface="Calibri" panose="020F0502020204030204" pitchFamily="34" charset="0"/>
              <a:ea typeface="SimSun" panose="02010600030101010101" pitchFamily="2" charset="-122"/>
              <a:cs typeface="Arial" panose="020B0604020202020204" pitchFamily="34" charset="0"/>
            </a:endParaRPr>
          </a:p>
          <a:p>
            <a:endParaRPr lang="en-PK" dirty="0"/>
          </a:p>
        </p:txBody>
      </p:sp>
    </p:spTree>
    <p:extLst>
      <p:ext uri="{BB962C8B-B14F-4D97-AF65-F5344CB8AC3E}">
        <p14:creationId xmlns:p14="http://schemas.microsoft.com/office/powerpoint/2010/main" val="23224692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FA3C7-DBFB-4FB3-BD98-28F30275CD5E}"/>
              </a:ext>
            </a:extLst>
          </p:cNvPr>
          <p:cNvSpPr>
            <a:spLocks noGrp="1"/>
          </p:cNvSpPr>
          <p:nvPr>
            <p:ph type="title"/>
          </p:nvPr>
        </p:nvSpPr>
        <p:spPr/>
        <p:txBody>
          <a:bodyPr>
            <a:normAutofit fontScale="90000"/>
          </a:bodyPr>
          <a:lstStyle/>
          <a:p>
            <a:r>
              <a:rPr lang="en-US" dirty="0"/>
              <a:t>Criteria for Brochures: Title Page (Front Panel)</a:t>
            </a:r>
            <a:endParaRPr lang="en-PK" dirty="0"/>
          </a:p>
        </p:txBody>
      </p:sp>
      <p:sp>
        <p:nvSpPr>
          <p:cNvPr id="3" name="Content Placeholder 2">
            <a:extLst>
              <a:ext uri="{FF2B5EF4-FFF2-40B4-BE49-F238E27FC236}">
                <a16:creationId xmlns:a16="http://schemas.microsoft.com/office/drawing/2014/main" id="{59739CD5-DF05-4FA7-98B8-65E85D211950}"/>
              </a:ext>
            </a:extLst>
          </p:cNvPr>
          <p:cNvSpPr>
            <a:spLocks noGrp="1"/>
          </p:cNvSpPr>
          <p:nvPr>
            <p:ph idx="1"/>
          </p:nvPr>
        </p:nvSpPr>
        <p:spPr>
          <a:xfrm>
            <a:off x="2589212" y="2133600"/>
            <a:ext cx="8915400" cy="4548554"/>
          </a:xfrm>
        </p:spPr>
        <p:txBody>
          <a:bodyPr>
            <a:normAutofit fontScale="32500" lnSpcReduction="20000"/>
          </a:bodyPr>
          <a:lstStyle/>
          <a:p>
            <a:pPr marR="1619250" algn="just">
              <a:lnSpc>
                <a:spcPct val="107000"/>
              </a:lnSpc>
              <a:spcAft>
                <a:spcPts val="1125"/>
              </a:spcAft>
            </a:pPr>
            <a:r>
              <a:rPr lang="en-US" sz="6800" b="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Topic:  In the top one-third of the panel, name the topic about which you’re writing (product name, service, etc.).</a:t>
            </a:r>
            <a:endParaRPr lang="en-PK" sz="6800" b="0" dirty="0">
              <a:effectLst/>
              <a:latin typeface="Calibri" panose="020F0502020204030204" pitchFamily="34" charset="0"/>
              <a:ea typeface="SimSun" panose="02010600030101010101" pitchFamily="2" charset="-122"/>
              <a:cs typeface="Arial" panose="020B0604020202020204" pitchFamily="34" charset="0"/>
            </a:endParaRPr>
          </a:p>
          <a:p>
            <a:pPr marR="1619250" algn="just">
              <a:lnSpc>
                <a:spcPct val="107000"/>
              </a:lnSpc>
              <a:spcAft>
                <a:spcPts val="1125"/>
              </a:spcAft>
            </a:pPr>
            <a:r>
              <a:rPr lang="en-US" sz="6800" b="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Graphic:  In the middle third of the panel, include a graphic to appeal to your reader’s need for a visual representation of your topic.  The graphic will sell the value of your subject (its beauty, its usefulness, its location, its significance, etc.) or visually represent the focus of your brochure.</a:t>
            </a:r>
            <a:endParaRPr lang="en-PK" sz="6800" b="0" dirty="0">
              <a:effectLst/>
              <a:latin typeface="Calibri" panose="020F0502020204030204" pitchFamily="34" charset="0"/>
              <a:ea typeface="SimSun" panose="02010600030101010101" pitchFamily="2" charset="-122"/>
              <a:cs typeface="Arial" panose="020B0604020202020204" pitchFamily="34" charset="0"/>
            </a:endParaRPr>
          </a:p>
          <a:p>
            <a:pPr marR="1619250" algn="just">
              <a:lnSpc>
                <a:spcPct val="107000"/>
              </a:lnSpc>
              <a:spcAft>
                <a:spcPts val="1125"/>
              </a:spcAft>
            </a:pPr>
            <a:r>
              <a:rPr lang="en-US" sz="6800" b="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Contact Information:  place contact information on the bottom third of this panel.  You could include your name, your company’s name, street address, city, state, zip code, telephone number, fax number, and/or e-mail address.</a:t>
            </a:r>
            <a:endParaRPr lang="en-PK" sz="6800" b="0" dirty="0">
              <a:effectLst/>
              <a:latin typeface="Calibri" panose="020F0502020204030204" pitchFamily="34" charset="0"/>
              <a:ea typeface="SimSun" panose="02010600030101010101" pitchFamily="2" charset="-122"/>
              <a:cs typeface="Arial" panose="020B0604020202020204" pitchFamily="34" charset="0"/>
            </a:endParaRPr>
          </a:p>
          <a:p>
            <a:endParaRPr lang="en-PK" dirty="0"/>
          </a:p>
        </p:txBody>
      </p:sp>
    </p:spTree>
    <p:extLst>
      <p:ext uri="{BB962C8B-B14F-4D97-AF65-F5344CB8AC3E}">
        <p14:creationId xmlns:p14="http://schemas.microsoft.com/office/powerpoint/2010/main" val="37647888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4E20B-C1D8-4A75-A057-1D3F798F3610}"/>
              </a:ext>
            </a:extLst>
          </p:cNvPr>
          <p:cNvSpPr>
            <a:spLocks noGrp="1"/>
          </p:cNvSpPr>
          <p:nvPr>
            <p:ph type="title"/>
          </p:nvPr>
        </p:nvSpPr>
        <p:spPr/>
        <p:txBody>
          <a:bodyPr>
            <a:normAutofit fontScale="90000"/>
          </a:bodyPr>
          <a:lstStyle/>
          <a:p>
            <a:r>
              <a:rPr lang="en-US" dirty="0"/>
              <a:t>Criteria for Brochures: Body Panels (Fold-in and Inside)</a:t>
            </a:r>
            <a:endParaRPr lang="en-PK" dirty="0"/>
          </a:p>
        </p:txBody>
      </p:sp>
      <p:sp>
        <p:nvSpPr>
          <p:cNvPr id="3" name="Content Placeholder 2">
            <a:extLst>
              <a:ext uri="{FF2B5EF4-FFF2-40B4-BE49-F238E27FC236}">
                <a16:creationId xmlns:a16="http://schemas.microsoft.com/office/drawing/2014/main" id="{3669695F-B1EF-40B9-A1C7-AAFDA4B1DE41}"/>
              </a:ext>
            </a:extLst>
          </p:cNvPr>
          <p:cNvSpPr>
            <a:spLocks noGrp="1"/>
          </p:cNvSpPr>
          <p:nvPr>
            <p:ph idx="1"/>
          </p:nvPr>
        </p:nvSpPr>
        <p:spPr>
          <a:xfrm>
            <a:off x="2589212" y="2133600"/>
            <a:ext cx="8915400" cy="4724400"/>
          </a:xfrm>
        </p:spPr>
        <p:txBody>
          <a:bodyPr>
            <a:normAutofit lnSpcReduction="10000"/>
          </a:bodyPr>
          <a:lstStyle/>
          <a:p>
            <a:pPr algn="just">
              <a:lnSpc>
                <a:spcPct val="107000"/>
              </a:lnSpc>
              <a:spcAft>
                <a:spcPts val="800"/>
              </a:spcAft>
            </a:pPr>
            <a:r>
              <a:rPr lang="en-US" b="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rPr>
              <a:t>Provide headings and subheadings.</a:t>
            </a:r>
            <a:endParaRPr lang="en-PK" b="0" dirty="0">
              <a:solidFill>
                <a:schemeClr val="tx1"/>
              </a:solidFill>
              <a:effectLst/>
              <a:latin typeface="Calibri" panose="020F0502020204030204" pitchFamily="34" charset="0"/>
              <a:ea typeface="SimSun" panose="02010600030101010101" pitchFamily="2" charset="-122"/>
              <a:cs typeface="Arial" panose="020B0604020202020204" pitchFamily="34" charset="0"/>
            </a:endParaRPr>
          </a:p>
          <a:p>
            <a:pPr algn="just">
              <a:lnSpc>
                <a:spcPct val="107000"/>
              </a:lnSpc>
              <a:spcAft>
                <a:spcPts val="800"/>
              </a:spcAft>
            </a:pPr>
            <a:r>
              <a:rPr lang="en-US" b="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rPr>
              <a:t> Use graphics (photos, maps, line drawings, tables, figures, etc.).</a:t>
            </a:r>
            <a:endParaRPr lang="en-PK" b="0" dirty="0">
              <a:solidFill>
                <a:schemeClr val="tx1"/>
              </a:solidFill>
              <a:effectLst/>
              <a:latin typeface="Calibri" panose="020F0502020204030204" pitchFamily="34" charset="0"/>
              <a:ea typeface="SimSun" panose="02010600030101010101" pitchFamily="2" charset="-122"/>
              <a:cs typeface="Arial" panose="020B0604020202020204" pitchFamily="34" charset="0"/>
            </a:endParaRPr>
          </a:p>
          <a:p>
            <a:pPr algn="just">
              <a:lnSpc>
                <a:spcPct val="107000"/>
              </a:lnSpc>
              <a:spcAft>
                <a:spcPts val="800"/>
              </a:spcAft>
            </a:pPr>
            <a:r>
              <a:rPr lang="en-US" b="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rPr>
              <a:t> Develop your ideas.  Consider including the following information, dependent upon your topic:</a:t>
            </a:r>
            <a:endParaRPr lang="en-PK" b="0" dirty="0">
              <a:solidFill>
                <a:schemeClr val="tx1"/>
              </a:solidFill>
              <a:effectLst/>
              <a:latin typeface="Calibri" panose="020F0502020204030204" pitchFamily="34" charset="0"/>
              <a:ea typeface="SimSun" panose="02010600030101010101" pitchFamily="2" charset="-122"/>
              <a:cs typeface="Arial" panose="020B0604020202020204" pitchFamily="34" charset="0"/>
            </a:endParaRPr>
          </a:p>
          <a:p>
            <a:pPr marL="457200" lvl="1" indent="0" algn="just">
              <a:lnSpc>
                <a:spcPct val="107000"/>
              </a:lnSpc>
              <a:spcAft>
                <a:spcPts val="800"/>
              </a:spcAft>
              <a:buNone/>
            </a:pPr>
            <a:r>
              <a:rPr lang="en-US" dirty="0">
                <a:solidFill>
                  <a:schemeClr val="tx1"/>
                </a:solidFill>
                <a:effectLst/>
                <a:latin typeface="Times New Roman" panose="02020603050405020304" pitchFamily="18" charset="0"/>
                <a:ea typeface="Calibri" panose="020F0502020204030204" pitchFamily="34" charset="0"/>
                <a:cs typeface="Arial" panose="020B0604020202020204" pitchFamily="34" charset="0"/>
              </a:rPr>
              <a:t>—Locations, maps, directions</a:t>
            </a:r>
            <a:endParaRPr lang="en-PK" dirty="0">
              <a:solidFill>
                <a:schemeClr val="tx1"/>
              </a:solidFill>
              <a:effectLst/>
              <a:latin typeface="Calibri" panose="020F0502020204030204" pitchFamily="34" charset="0"/>
              <a:ea typeface="SimSun" panose="02010600030101010101" pitchFamily="2" charset="-122"/>
              <a:cs typeface="Arial" panose="020B0604020202020204" pitchFamily="34" charset="0"/>
            </a:endParaRPr>
          </a:p>
          <a:p>
            <a:pPr marL="457200" lvl="1" indent="0" algn="just">
              <a:lnSpc>
                <a:spcPct val="107000"/>
              </a:lnSpc>
              <a:spcAft>
                <a:spcPts val="800"/>
              </a:spcAft>
              <a:buNone/>
            </a:pPr>
            <a:r>
              <a:rPr lang="en-US" dirty="0">
                <a:solidFill>
                  <a:schemeClr val="tx1"/>
                </a:solidFill>
                <a:effectLst/>
                <a:latin typeface="Times New Roman" panose="02020603050405020304" pitchFamily="18" charset="0"/>
                <a:ea typeface="Calibri" panose="020F0502020204030204" pitchFamily="34" charset="0"/>
                <a:cs typeface="Arial" panose="020B0604020202020204" pitchFamily="34" charset="0"/>
              </a:rPr>
              <a:t>—Technical Specifications and warranties</a:t>
            </a:r>
            <a:endParaRPr lang="en-PK" dirty="0">
              <a:solidFill>
                <a:schemeClr val="tx1"/>
              </a:solidFill>
              <a:effectLst/>
              <a:latin typeface="Calibri" panose="020F0502020204030204" pitchFamily="34" charset="0"/>
              <a:ea typeface="SimSun" panose="02010600030101010101" pitchFamily="2" charset="-122"/>
              <a:cs typeface="Arial" panose="020B0604020202020204" pitchFamily="34" charset="0"/>
            </a:endParaRPr>
          </a:p>
          <a:p>
            <a:pPr marL="0" indent="0" algn="just">
              <a:lnSpc>
                <a:spcPct val="107000"/>
              </a:lnSpc>
              <a:spcAft>
                <a:spcPts val="800"/>
              </a:spcAft>
              <a:buNone/>
            </a:pPr>
            <a:r>
              <a:rPr lang="en-US" dirty="0">
                <a:solidFill>
                  <a:schemeClr val="tx1"/>
                </a:solidFill>
                <a:effectLst/>
                <a:latin typeface="Times New Roman" panose="02020603050405020304" pitchFamily="18" charset="0"/>
                <a:ea typeface="Calibri" panose="020F0502020204030204" pitchFamily="34" charset="0"/>
                <a:cs typeface="Arial" panose="020B0604020202020204" pitchFamily="34" charset="0"/>
              </a:rPr>
              <a:t>	—</a:t>
            </a:r>
            <a:r>
              <a:rPr lang="en-US" b="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rPr>
              <a:t>Prices and payment plans</a:t>
            </a:r>
            <a:endParaRPr lang="en-PK" b="0" dirty="0">
              <a:solidFill>
                <a:schemeClr val="tx1"/>
              </a:solidFill>
              <a:effectLst/>
              <a:latin typeface="Calibri" panose="020F0502020204030204" pitchFamily="34" charset="0"/>
              <a:ea typeface="SimSun" panose="02010600030101010101" pitchFamily="2" charset="-122"/>
              <a:cs typeface="Arial" panose="020B0604020202020204" pitchFamily="34" charset="0"/>
            </a:endParaRPr>
          </a:p>
          <a:p>
            <a:pPr marL="0" indent="0" algn="just">
              <a:lnSpc>
                <a:spcPct val="107000"/>
              </a:lnSpc>
              <a:spcAft>
                <a:spcPts val="800"/>
              </a:spcAft>
              <a:buNone/>
            </a:pPr>
            <a:r>
              <a:rPr lang="en-US" b="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rPr>
              <a:t>	—Credentials and company history</a:t>
            </a:r>
            <a:endParaRPr lang="en-PK" b="0" dirty="0">
              <a:solidFill>
                <a:schemeClr val="tx1"/>
              </a:solidFill>
              <a:effectLst/>
              <a:latin typeface="Calibri" panose="020F0502020204030204" pitchFamily="34" charset="0"/>
              <a:ea typeface="SimSun" panose="02010600030101010101" pitchFamily="2" charset="-122"/>
              <a:cs typeface="Arial" panose="020B0604020202020204" pitchFamily="34" charset="0"/>
            </a:endParaRPr>
          </a:p>
          <a:p>
            <a:pPr marL="0" indent="0" algn="just">
              <a:lnSpc>
                <a:spcPct val="107000"/>
              </a:lnSpc>
              <a:spcAft>
                <a:spcPts val="800"/>
              </a:spcAft>
              <a:buNone/>
            </a:pPr>
            <a:r>
              <a:rPr lang="en-US" sz="1800" b="0" dirty="0">
                <a:effectLst/>
                <a:latin typeface="Times New Roman" panose="02020603050405020304" pitchFamily="18" charset="0"/>
                <a:ea typeface="Calibri" panose="020F0502020204030204" pitchFamily="34" charset="0"/>
                <a:cs typeface="Arial" panose="020B0604020202020204" pitchFamily="34" charset="0"/>
              </a:rPr>
              <a:t>	</a:t>
            </a:r>
            <a:endParaRPr lang="en-PK" sz="1800" b="0" dirty="0">
              <a:effectLst/>
              <a:latin typeface="Calibri" panose="020F0502020204030204" pitchFamily="34" charset="0"/>
              <a:ea typeface="SimSun" panose="02010600030101010101" pitchFamily="2" charset="-122"/>
              <a:cs typeface="Arial" panose="020B0604020202020204" pitchFamily="34" charset="0"/>
            </a:endParaRPr>
          </a:p>
        </p:txBody>
      </p:sp>
    </p:spTree>
    <p:extLst>
      <p:ext uri="{BB962C8B-B14F-4D97-AF65-F5344CB8AC3E}">
        <p14:creationId xmlns:p14="http://schemas.microsoft.com/office/powerpoint/2010/main" val="1615073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F098C-2E54-4EB3-924C-9440CFF036AE}"/>
              </a:ext>
            </a:extLst>
          </p:cNvPr>
          <p:cNvSpPr>
            <a:spLocks noGrp="1"/>
          </p:cNvSpPr>
          <p:nvPr>
            <p:ph type="title"/>
          </p:nvPr>
        </p:nvSpPr>
        <p:spPr/>
        <p:txBody>
          <a:bodyPr>
            <a:normAutofit fontScale="90000"/>
          </a:bodyPr>
          <a:lstStyle/>
          <a:p>
            <a:r>
              <a:rPr lang="en-US" dirty="0"/>
              <a:t>Criteria for Brochures: Body Panels (Fold-in and Inside) Cont.</a:t>
            </a:r>
            <a:endParaRPr lang="en-PK" dirty="0"/>
          </a:p>
        </p:txBody>
      </p:sp>
      <p:sp>
        <p:nvSpPr>
          <p:cNvPr id="3" name="Content Placeholder 2">
            <a:extLst>
              <a:ext uri="{FF2B5EF4-FFF2-40B4-BE49-F238E27FC236}">
                <a16:creationId xmlns:a16="http://schemas.microsoft.com/office/drawing/2014/main" id="{816CADE3-1374-4C91-835A-73459F3D1141}"/>
              </a:ext>
            </a:extLst>
          </p:cNvPr>
          <p:cNvSpPr>
            <a:spLocks noGrp="1"/>
          </p:cNvSpPr>
          <p:nvPr>
            <p:ph idx="1"/>
          </p:nvPr>
        </p:nvSpPr>
        <p:spPr/>
        <p:txBody>
          <a:bodyPr/>
          <a:lstStyle/>
          <a:p>
            <a:pPr marL="0" indent="0" algn="just">
              <a:lnSpc>
                <a:spcPct val="107000"/>
              </a:lnSpc>
              <a:spcAft>
                <a:spcPts val="800"/>
              </a:spcAft>
              <a:buNone/>
            </a:pPr>
            <a:r>
              <a:rPr lang="en-US" sz="2400" b="0" dirty="0">
                <a:effectLst/>
                <a:latin typeface="Times New Roman" panose="02020603050405020304" pitchFamily="18" charset="0"/>
                <a:ea typeface="Calibri" panose="020F0502020204030204" pitchFamily="34" charset="0"/>
                <a:cs typeface="Arial" panose="020B0604020202020204" pitchFamily="34" charset="0"/>
              </a:rPr>
              <a:t>	 </a:t>
            </a:r>
            <a:r>
              <a:rPr lang="en-US" sz="2400" b="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rPr>
              <a:t>— </a:t>
            </a:r>
            <a:r>
              <a:rPr lang="en-US" b="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rPr>
              <a:t>Unique Characteristics of the product or service</a:t>
            </a:r>
            <a:endParaRPr lang="en-PK" b="0" dirty="0">
              <a:solidFill>
                <a:schemeClr val="tx1"/>
              </a:solidFill>
              <a:effectLst/>
              <a:latin typeface="Calibri" panose="020F0502020204030204" pitchFamily="34" charset="0"/>
              <a:ea typeface="SimSun" panose="02010600030101010101" pitchFamily="2" charset="-122"/>
              <a:cs typeface="Arial" panose="020B0604020202020204" pitchFamily="34" charset="0"/>
            </a:endParaRPr>
          </a:p>
          <a:p>
            <a:pPr marL="0" indent="0" algn="just">
              <a:lnSpc>
                <a:spcPct val="107000"/>
              </a:lnSpc>
              <a:spcAft>
                <a:spcPts val="800"/>
              </a:spcAft>
              <a:buNone/>
            </a:pPr>
            <a:r>
              <a:rPr lang="en-US" b="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rPr>
              <a:t>	—Personnel biographies and employment opportunities</a:t>
            </a:r>
            <a:endParaRPr lang="en-PK" b="0" dirty="0">
              <a:solidFill>
                <a:schemeClr val="tx1"/>
              </a:solidFill>
              <a:effectLst/>
              <a:latin typeface="Calibri" panose="020F0502020204030204" pitchFamily="34" charset="0"/>
              <a:ea typeface="SimSun" panose="02010600030101010101" pitchFamily="2" charset="-122"/>
              <a:cs typeface="Arial" panose="020B0604020202020204" pitchFamily="34" charset="0"/>
            </a:endParaRPr>
          </a:p>
          <a:p>
            <a:pPr marL="0" indent="0" algn="just">
              <a:lnSpc>
                <a:spcPct val="107000"/>
              </a:lnSpc>
              <a:spcAft>
                <a:spcPts val="800"/>
              </a:spcAft>
              <a:buNone/>
            </a:pPr>
            <a:r>
              <a:rPr lang="en-US" b="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rPr>
              <a:t>	—Options</a:t>
            </a:r>
            <a:endParaRPr lang="en-PK" b="0" dirty="0">
              <a:solidFill>
                <a:schemeClr val="tx1"/>
              </a:solidFill>
              <a:effectLst/>
              <a:latin typeface="Calibri" panose="020F0502020204030204" pitchFamily="34" charset="0"/>
              <a:ea typeface="SimSun" panose="02010600030101010101" pitchFamily="2" charset="-122"/>
              <a:cs typeface="Arial" panose="020B0604020202020204" pitchFamily="34" charset="0"/>
            </a:endParaRPr>
          </a:p>
          <a:p>
            <a:pPr marL="0" indent="0" algn="just">
              <a:lnSpc>
                <a:spcPct val="107000"/>
              </a:lnSpc>
              <a:spcAft>
                <a:spcPts val="800"/>
              </a:spcAft>
              <a:buNone/>
            </a:pPr>
            <a:r>
              <a:rPr lang="en-US" b="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rPr>
              <a:t>	—Delivery (Dates/Methods)</a:t>
            </a:r>
            <a:endParaRPr lang="en-PK" b="0" dirty="0">
              <a:solidFill>
                <a:schemeClr val="tx1"/>
              </a:solidFill>
              <a:effectLst/>
              <a:latin typeface="Calibri" panose="020F0502020204030204" pitchFamily="34" charset="0"/>
              <a:ea typeface="SimSun" panose="02010600030101010101" pitchFamily="2" charset="-122"/>
              <a:cs typeface="Arial" panose="020B0604020202020204" pitchFamily="34" charset="0"/>
            </a:endParaRPr>
          </a:p>
          <a:p>
            <a:endParaRPr lang="en-PK" dirty="0"/>
          </a:p>
        </p:txBody>
      </p:sp>
    </p:spTree>
    <p:extLst>
      <p:ext uri="{BB962C8B-B14F-4D97-AF65-F5344CB8AC3E}">
        <p14:creationId xmlns:p14="http://schemas.microsoft.com/office/powerpoint/2010/main" val="14506275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B489E-5D4C-48CC-BDCB-C54ADC30F986}"/>
              </a:ext>
            </a:extLst>
          </p:cNvPr>
          <p:cNvSpPr>
            <a:spLocks noGrp="1"/>
          </p:cNvSpPr>
          <p:nvPr>
            <p:ph type="title"/>
          </p:nvPr>
        </p:nvSpPr>
        <p:spPr/>
        <p:txBody>
          <a:bodyPr/>
          <a:lstStyle/>
          <a:p>
            <a:r>
              <a:rPr lang="en-US" dirty="0"/>
              <a:t>Criteria for Brochures: Back Panel</a:t>
            </a:r>
            <a:endParaRPr lang="en-PK" dirty="0"/>
          </a:p>
        </p:txBody>
      </p:sp>
      <p:sp>
        <p:nvSpPr>
          <p:cNvPr id="3" name="Content Placeholder 2">
            <a:extLst>
              <a:ext uri="{FF2B5EF4-FFF2-40B4-BE49-F238E27FC236}">
                <a16:creationId xmlns:a16="http://schemas.microsoft.com/office/drawing/2014/main" id="{65BB6203-B2BF-452A-A856-3A6DC78A40B1}"/>
              </a:ext>
            </a:extLst>
          </p:cNvPr>
          <p:cNvSpPr>
            <a:spLocks noGrp="1"/>
          </p:cNvSpPr>
          <p:nvPr>
            <p:ph idx="1"/>
          </p:nvPr>
        </p:nvSpPr>
        <p:spPr/>
        <p:txBody>
          <a:bodyPr>
            <a:normAutofit lnSpcReduction="10000"/>
          </a:bodyPr>
          <a:lstStyle/>
          <a:p>
            <a:pPr marR="1619250" algn="just">
              <a:lnSpc>
                <a:spcPct val="107000"/>
              </a:lnSpc>
              <a:spcAft>
                <a:spcPts val="1125"/>
              </a:spcAft>
            </a:pPr>
            <a:r>
              <a:rPr lang="en-US" b="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Conclusion:  Use this panel to summarize your brochure’s content, highlighting your topic’s benefits, or suggesting a next step for your readers to pursue.</a:t>
            </a:r>
            <a:endParaRPr lang="en-PK" b="0" dirty="0">
              <a:effectLst/>
              <a:latin typeface="Calibri" panose="020F0502020204030204" pitchFamily="34" charset="0"/>
              <a:ea typeface="SimSun" panose="02010600030101010101" pitchFamily="2" charset="-122"/>
              <a:cs typeface="Arial" panose="020B0604020202020204" pitchFamily="34" charset="0"/>
            </a:endParaRPr>
          </a:p>
          <a:p>
            <a:pPr marR="1619250" algn="just">
              <a:lnSpc>
                <a:spcPct val="107000"/>
              </a:lnSpc>
              <a:spcAft>
                <a:spcPts val="1125"/>
              </a:spcAft>
            </a:pPr>
            <a:r>
              <a:rPr lang="en-US" b="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Mailing:  This panel could be used as the face of an envelope.  On this panel, when left blank, you could provide your address, a place for a stamp or paid postage, and your reader’s address.</a:t>
            </a:r>
            <a:endParaRPr lang="en-PK" b="0" dirty="0">
              <a:effectLst/>
              <a:latin typeface="Calibri" panose="020F0502020204030204" pitchFamily="34" charset="0"/>
              <a:ea typeface="SimSun" panose="02010600030101010101" pitchFamily="2" charset="-122"/>
              <a:cs typeface="Arial" panose="020B0604020202020204" pitchFamily="34" charset="0"/>
            </a:endParaRPr>
          </a:p>
          <a:p>
            <a:pPr marR="1619250" algn="just">
              <a:lnSpc>
                <a:spcPct val="107000"/>
              </a:lnSpc>
              <a:spcAft>
                <a:spcPts val="1125"/>
              </a:spcAft>
            </a:pPr>
            <a:r>
              <a:rPr lang="en-US" b="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Location:  Provide your address, hours of operation, phone numbers, e-mail, and a map to help them locate you.</a:t>
            </a:r>
            <a:endParaRPr lang="en-PK" b="0" dirty="0">
              <a:effectLst/>
              <a:latin typeface="Calibri" panose="020F0502020204030204" pitchFamily="34" charset="0"/>
              <a:ea typeface="SimSun" panose="02010600030101010101" pitchFamily="2" charset="-122"/>
              <a:cs typeface="Arial" panose="020B0604020202020204" pitchFamily="34" charset="0"/>
            </a:endParaRPr>
          </a:p>
          <a:p>
            <a:endParaRPr lang="en-PK" dirty="0"/>
          </a:p>
        </p:txBody>
      </p:sp>
    </p:spTree>
    <p:extLst>
      <p:ext uri="{BB962C8B-B14F-4D97-AF65-F5344CB8AC3E}">
        <p14:creationId xmlns:p14="http://schemas.microsoft.com/office/powerpoint/2010/main" val="32398989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9D364-BFAA-4117-944B-473891909D77}"/>
              </a:ext>
            </a:extLst>
          </p:cNvPr>
          <p:cNvSpPr>
            <a:spLocks noGrp="1"/>
          </p:cNvSpPr>
          <p:nvPr>
            <p:ph type="title"/>
          </p:nvPr>
        </p:nvSpPr>
        <p:spPr/>
        <p:txBody>
          <a:bodyPr>
            <a:normAutofit fontScale="90000"/>
          </a:bodyPr>
          <a:lstStyle/>
          <a:p>
            <a:r>
              <a:rPr lang="en-US" dirty="0"/>
              <a:t>Topic Selection (Common Purposes of Brochures)</a:t>
            </a:r>
            <a:endParaRPr lang="en-PK" dirty="0"/>
          </a:p>
        </p:txBody>
      </p:sp>
      <p:sp>
        <p:nvSpPr>
          <p:cNvPr id="3" name="Content Placeholder 2">
            <a:extLst>
              <a:ext uri="{FF2B5EF4-FFF2-40B4-BE49-F238E27FC236}">
                <a16:creationId xmlns:a16="http://schemas.microsoft.com/office/drawing/2014/main" id="{4A61200F-CEBA-4B4F-8733-5594D003D725}"/>
              </a:ext>
            </a:extLst>
          </p:cNvPr>
          <p:cNvSpPr>
            <a:spLocks noGrp="1"/>
          </p:cNvSpPr>
          <p:nvPr>
            <p:ph idx="1"/>
          </p:nvPr>
        </p:nvSpPr>
        <p:spPr/>
        <p:txBody>
          <a:bodyPr>
            <a:normAutofit fontScale="92500" lnSpcReduction="20000"/>
          </a:bodyPr>
          <a:lstStyle/>
          <a:p>
            <a:pPr marL="342900" marR="1619250" lvl="0" indent="-342900" algn="just" rtl="0">
              <a:lnSpc>
                <a:spcPct val="107000"/>
              </a:lnSpc>
              <a:spcAft>
                <a:spcPts val="800"/>
              </a:spcAft>
              <a:buSzPts val="1000"/>
              <a:buFont typeface="Symbol" panose="05050102010706020507" pitchFamily="18" charset="2"/>
              <a:buChar char=""/>
              <a:tabLst>
                <a:tab pos="457200" algn="l"/>
              </a:tabLst>
            </a:pPr>
            <a:r>
              <a:rPr lang="en-US" sz="2400" b="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answering frequently-asked-questions</a:t>
            </a:r>
            <a:endParaRPr lang="en-PK" sz="2400" b="0" dirty="0">
              <a:effectLst/>
              <a:latin typeface="Calibri" panose="020F0502020204030204" pitchFamily="34" charset="0"/>
              <a:ea typeface="SimSun" panose="02010600030101010101" pitchFamily="2" charset="-122"/>
              <a:cs typeface="Arial" panose="020B0604020202020204" pitchFamily="34" charset="0"/>
            </a:endParaRPr>
          </a:p>
          <a:p>
            <a:pPr marL="342900" marR="1619250" lvl="0" indent="-342900" algn="just">
              <a:lnSpc>
                <a:spcPct val="107000"/>
              </a:lnSpc>
              <a:spcAft>
                <a:spcPts val="800"/>
              </a:spcAft>
              <a:buSzPts val="1000"/>
              <a:buFont typeface="Symbol" panose="05050102010706020507" pitchFamily="18" charset="2"/>
              <a:buChar char=""/>
              <a:tabLst>
                <a:tab pos="457200" algn="l"/>
              </a:tabLst>
            </a:pPr>
            <a:r>
              <a:rPr lang="en-US" sz="2400" b="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offering brief “how-to” information</a:t>
            </a:r>
            <a:endParaRPr lang="en-PK" sz="2400" b="0" dirty="0">
              <a:effectLst/>
              <a:latin typeface="Calibri" panose="020F0502020204030204" pitchFamily="34" charset="0"/>
              <a:ea typeface="SimSun" panose="02010600030101010101" pitchFamily="2" charset="-122"/>
              <a:cs typeface="Arial" panose="020B0604020202020204" pitchFamily="34" charset="0"/>
            </a:endParaRPr>
          </a:p>
          <a:p>
            <a:pPr marL="342900" marR="1619250" lvl="0" indent="-342900" algn="just">
              <a:lnSpc>
                <a:spcPct val="107000"/>
              </a:lnSpc>
              <a:spcAft>
                <a:spcPts val="800"/>
              </a:spcAft>
              <a:buSzPts val="1000"/>
              <a:buFont typeface="Symbol" panose="05050102010706020507" pitchFamily="18" charset="2"/>
              <a:buChar char=""/>
              <a:tabLst>
                <a:tab pos="457200" algn="l"/>
              </a:tabLst>
            </a:pPr>
            <a:r>
              <a:rPr lang="en-US" sz="2400" b="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showing the pros or cons</a:t>
            </a:r>
            <a:endParaRPr lang="en-PK" sz="2400" b="0" dirty="0">
              <a:effectLst/>
              <a:latin typeface="Calibri" panose="020F0502020204030204" pitchFamily="34" charset="0"/>
              <a:ea typeface="SimSun" panose="02010600030101010101" pitchFamily="2" charset="-122"/>
              <a:cs typeface="Arial" panose="020B0604020202020204" pitchFamily="34" charset="0"/>
            </a:endParaRPr>
          </a:p>
          <a:p>
            <a:pPr marL="342900" marR="1619250" lvl="0" indent="-342900" algn="just">
              <a:lnSpc>
                <a:spcPct val="107000"/>
              </a:lnSpc>
              <a:spcAft>
                <a:spcPts val="800"/>
              </a:spcAft>
              <a:buSzPts val="1000"/>
              <a:buFont typeface="Symbol" panose="05050102010706020507" pitchFamily="18" charset="2"/>
              <a:buChar char=""/>
              <a:tabLst>
                <a:tab pos="457200" algn="l"/>
              </a:tabLst>
            </a:pPr>
            <a:r>
              <a:rPr lang="en-US" sz="2400" b="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explaining a procedure to a reader</a:t>
            </a:r>
            <a:endParaRPr lang="en-PK" sz="2400" b="0" dirty="0">
              <a:effectLst/>
              <a:latin typeface="Calibri" panose="020F0502020204030204" pitchFamily="34" charset="0"/>
              <a:ea typeface="SimSun" panose="02010600030101010101" pitchFamily="2" charset="-122"/>
              <a:cs typeface="Arial" panose="020B0604020202020204" pitchFamily="34" charset="0"/>
            </a:endParaRPr>
          </a:p>
          <a:p>
            <a:pPr marL="342900" marR="1619250" lvl="0" indent="-342900" algn="just">
              <a:lnSpc>
                <a:spcPct val="107000"/>
              </a:lnSpc>
              <a:spcAft>
                <a:spcPts val="800"/>
              </a:spcAft>
              <a:buSzPts val="1000"/>
              <a:buFont typeface="Symbol" panose="05050102010706020507" pitchFamily="18" charset="2"/>
              <a:buChar char=""/>
              <a:tabLst>
                <a:tab pos="457200" algn="l"/>
              </a:tabLst>
            </a:pPr>
            <a:r>
              <a:rPr lang="en-US" sz="2400" b="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giving potential clients an overview of a company’s portfolio</a:t>
            </a:r>
            <a:endParaRPr lang="en-PK" sz="2400" b="0" dirty="0">
              <a:effectLst/>
              <a:latin typeface="Calibri" panose="020F0502020204030204" pitchFamily="34" charset="0"/>
              <a:ea typeface="SimSun" panose="02010600030101010101" pitchFamily="2" charset="-122"/>
              <a:cs typeface="Arial" panose="020B0604020202020204" pitchFamily="34" charset="0"/>
            </a:endParaRPr>
          </a:p>
          <a:p>
            <a:pPr marL="342900" marR="1619250" lvl="0" indent="-342900" algn="just">
              <a:lnSpc>
                <a:spcPct val="107000"/>
              </a:lnSpc>
              <a:spcAft>
                <a:spcPts val="800"/>
              </a:spcAft>
              <a:buSzPts val="1000"/>
              <a:buFont typeface="Symbol" panose="05050102010706020507" pitchFamily="18" charset="2"/>
              <a:buChar char=""/>
              <a:tabLst>
                <a:tab pos="457200" algn="l"/>
              </a:tabLst>
            </a:pPr>
            <a:r>
              <a:rPr lang="en-US" sz="2400" b="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encouraging a client to purchase a particular product instead of another</a:t>
            </a:r>
            <a:endParaRPr lang="en-PK" sz="2400" b="0" dirty="0">
              <a:effectLst/>
              <a:latin typeface="Calibri" panose="020F0502020204030204" pitchFamily="34" charset="0"/>
              <a:ea typeface="SimSun" panose="02010600030101010101" pitchFamily="2" charset="-122"/>
              <a:cs typeface="Arial" panose="020B0604020202020204" pitchFamily="34" charset="0"/>
            </a:endParaRPr>
          </a:p>
          <a:p>
            <a:pPr marL="0" indent="0">
              <a:buNone/>
            </a:pPr>
            <a:endParaRPr lang="en-PK" dirty="0"/>
          </a:p>
        </p:txBody>
      </p:sp>
    </p:spTree>
    <p:extLst>
      <p:ext uri="{BB962C8B-B14F-4D97-AF65-F5344CB8AC3E}">
        <p14:creationId xmlns:p14="http://schemas.microsoft.com/office/powerpoint/2010/main" val="17700715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9CD4D-BAF6-4D5A-9330-299604D8D56F}"/>
              </a:ext>
            </a:extLst>
          </p:cNvPr>
          <p:cNvSpPr>
            <a:spLocks noGrp="1"/>
          </p:cNvSpPr>
          <p:nvPr>
            <p:ph type="title"/>
          </p:nvPr>
        </p:nvSpPr>
        <p:spPr/>
        <p:txBody>
          <a:bodyPr/>
          <a:lstStyle/>
          <a:p>
            <a:r>
              <a:rPr lang="en-US" dirty="0"/>
              <a:t>Key Points to Consider</a:t>
            </a:r>
            <a:endParaRPr lang="en-PK" dirty="0"/>
          </a:p>
        </p:txBody>
      </p:sp>
      <p:sp>
        <p:nvSpPr>
          <p:cNvPr id="3" name="Content Placeholder 2">
            <a:extLst>
              <a:ext uri="{FF2B5EF4-FFF2-40B4-BE49-F238E27FC236}">
                <a16:creationId xmlns:a16="http://schemas.microsoft.com/office/drawing/2014/main" id="{AB6F6062-11F2-44E9-8B36-3A1C2B59BAA9}"/>
              </a:ext>
            </a:extLst>
          </p:cNvPr>
          <p:cNvSpPr>
            <a:spLocks noGrp="1"/>
          </p:cNvSpPr>
          <p:nvPr>
            <p:ph idx="1"/>
          </p:nvPr>
        </p:nvSpPr>
        <p:spPr/>
        <p:txBody>
          <a:bodyPr/>
          <a:lstStyle/>
          <a:p>
            <a:pPr marL="514350" lvl="0" indent="-514350">
              <a:buFont typeface="+mj-lt"/>
              <a:buAutoNum type="arabicPeriod"/>
            </a:pPr>
            <a:r>
              <a:rPr lang="en-US" b="0" dirty="0">
                <a:solidFill>
                  <a:schemeClr val="tx1"/>
                </a:solidFill>
              </a:rPr>
              <a:t>Pay attention to how the cover of your brochure looks and what information it contains. </a:t>
            </a:r>
          </a:p>
          <a:p>
            <a:pPr marL="514350" lvl="0" indent="-514350">
              <a:buFont typeface="+mj-lt"/>
              <a:buAutoNum type="arabicPeriod"/>
            </a:pPr>
            <a:r>
              <a:rPr lang="en-US" b="0" dirty="0">
                <a:solidFill>
                  <a:schemeClr val="tx1"/>
                </a:solidFill>
              </a:rPr>
              <a:t>You are free to experiment with different shapes and designs to find a solution that matches the goal you are pursuing. </a:t>
            </a:r>
          </a:p>
          <a:p>
            <a:pPr marL="514350" lvl="0" indent="-514350">
              <a:buFont typeface="+mj-lt"/>
              <a:buAutoNum type="arabicPeriod"/>
            </a:pPr>
            <a:r>
              <a:rPr lang="en-US" b="0" dirty="0">
                <a:solidFill>
                  <a:schemeClr val="tx1"/>
                </a:solidFill>
              </a:rPr>
              <a:t>The use of testimonials in the brochure can increase its credibility in the readers’ eyes. </a:t>
            </a:r>
          </a:p>
          <a:p>
            <a:pPr marL="514350" lvl="0" indent="-514350">
              <a:buFont typeface="+mj-lt"/>
              <a:buAutoNum type="arabicPeriod"/>
            </a:pPr>
            <a:r>
              <a:rPr lang="en-US" b="0" dirty="0">
                <a:solidFill>
                  <a:schemeClr val="tx1"/>
                </a:solidFill>
              </a:rPr>
              <a:t>Brochures add credibility to your company. </a:t>
            </a:r>
          </a:p>
          <a:p>
            <a:pPr marL="0" indent="0">
              <a:buNone/>
            </a:pPr>
            <a:endParaRPr lang="en-PK" dirty="0"/>
          </a:p>
        </p:txBody>
      </p:sp>
    </p:spTree>
    <p:extLst>
      <p:ext uri="{BB962C8B-B14F-4D97-AF65-F5344CB8AC3E}">
        <p14:creationId xmlns:p14="http://schemas.microsoft.com/office/powerpoint/2010/main" val="11067277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B45FC-3768-4782-8F88-F7B4B5776DEA}"/>
              </a:ext>
            </a:extLst>
          </p:cNvPr>
          <p:cNvSpPr>
            <a:spLocks noGrp="1"/>
          </p:cNvSpPr>
          <p:nvPr>
            <p:ph type="title"/>
          </p:nvPr>
        </p:nvSpPr>
        <p:spPr/>
        <p:txBody>
          <a:bodyPr/>
          <a:lstStyle/>
          <a:p>
            <a:r>
              <a:rPr lang="en-US" dirty="0"/>
              <a:t>Dos of Brochure Writing</a:t>
            </a:r>
            <a:endParaRPr lang="en-PK" dirty="0"/>
          </a:p>
        </p:txBody>
      </p:sp>
      <p:sp>
        <p:nvSpPr>
          <p:cNvPr id="3" name="Content Placeholder 2">
            <a:extLst>
              <a:ext uri="{FF2B5EF4-FFF2-40B4-BE49-F238E27FC236}">
                <a16:creationId xmlns:a16="http://schemas.microsoft.com/office/drawing/2014/main" id="{3B3F6A25-C985-4C27-9A2E-63AB5ADE1BA6}"/>
              </a:ext>
            </a:extLst>
          </p:cNvPr>
          <p:cNvSpPr>
            <a:spLocks noGrp="1"/>
          </p:cNvSpPr>
          <p:nvPr>
            <p:ph idx="1"/>
          </p:nvPr>
        </p:nvSpPr>
        <p:spPr>
          <a:xfrm>
            <a:off x="2589212" y="1905000"/>
            <a:ext cx="7680203" cy="4509868"/>
          </a:xfrm>
        </p:spPr>
        <p:txBody>
          <a:bodyPr>
            <a:normAutofit/>
          </a:bodyPr>
          <a:lstStyle/>
          <a:p>
            <a:pPr marL="347472" marR="0" indent="-347472" algn="just" rtl="0" eaLnBrk="1" fontAlgn="t" latinLnBrk="0" hangingPunct="1">
              <a:lnSpc>
                <a:spcPct val="107000"/>
              </a:lnSpc>
              <a:spcBef>
                <a:spcPts val="0"/>
              </a:spcBef>
              <a:spcAft>
                <a:spcPts val="750"/>
              </a:spcAft>
              <a:tabLst>
                <a:tab pos="457200" algn="l"/>
              </a:tabLst>
            </a:pPr>
            <a:r>
              <a:rPr lang="en-US" b="0" i="0" u="none" strike="noStrike" kern="1200" dirty="0">
                <a:solidFill>
                  <a:schemeClr val="tx1"/>
                </a:solidFill>
                <a:effectLst/>
                <a:latin typeface="+mj-lt"/>
              </a:rPr>
              <a:t>Do write in short sentences. </a:t>
            </a:r>
          </a:p>
          <a:p>
            <a:pPr marL="347472" marR="0" indent="-347472" algn="just" rtl="0" eaLnBrk="1" fontAlgn="t" latinLnBrk="0" hangingPunct="1">
              <a:lnSpc>
                <a:spcPct val="107000"/>
              </a:lnSpc>
              <a:spcBef>
                <a:spcPts val="0"/>
              </a:spcBef>
              <a:spcAft>
                <a:spcPts val="750"/>
              </a:spcAft>
              <a:tabLst>
                <a:tab pos="457200" algn="l"/>
              </a:tabLst>
            </a:pPr>
            <a:r>
              <a:rPr lang="en-US" b="0" i="0" u="none" strike="noStrike" kern="1200" dirty="0">
                <a:solidFill>
                  <a:schemeClr val="tx1"/>
                </a:solidFill>
                <a:effectLst/>
                <a:latin typeface="+mj-lt"/>
              </a:rPr>
              <a:t>Do use bulleted lists when possible.</a:t>
            </a:r>
            <a:endParaRPr lang="en-PK" b="0" i="0" u="none" strike="noStrike" dirty="0">
              <a:solidFill>
                <a:schemeClr val="tx1"/>
              </a:solidFill>
              <a:effectLst/>
              <a:latin typeface="+mj-lt"/>
            </a:endParaRPr>
          </a:p>
          <a:p>
            <a:pPr marL="347472" marR="0" indent="-347472" algn="just" rtl="0" eaLnBrk="1" fontAlgn="t" latinLnBrk="0" hangingPunct="1">
              <a:lnSpc>
                <a:spcPct val="107000"/>
              </a:lnSpc>
              <a:spcBef>
                <a:spcPts val="0"/>
              </a:spcBef>
              <a:spcAft>
                <a:spcPts val="750"/>
              </a:spcAft>
              <a:tabLst>
                <a:tab pos="457200" algn="l"/>
              </a:tabLst>
            </a:pPr>
            <a:r>
              <a:rPr lang="en-US" b="0" i="0" u="none" strike="noStrike" kern="1200" dirty="0">
                <a:solidFill>
                  <a:schemeClr val="tx1"/>
                </a:solidFill>
                <a:effectLst/>
                <a:latin typeface="+mj-lt"/>
              </a:rPr>
              <a:t>Do try to make your brochure as helpful as possible.</a:t>
            </a:r>
            <a:endParaRPr lang="en-PK" b="0" i="0" u="none" strike="noStrike" dirty="0">
              <a:solidFill>
                <a:schemeClr val="tx1"/>
              </a:solidFill>
              <a:effectLst/>
              <a:latin typeface="+mj-lt"/>
            </a:endParaRPr>
          </a:p>
          <a:p>
            <a:pPr marL="347472" marR="0" indent="-347472" algn="just" rtl="0" eaLnBrk="1" fontAlgn="t" latinLnBrk="0" hangingPunct="1">
              <a:lnSpc>
                <a:spcPct val="107000"/>
              </a:lnSpc>
              <a:spcBef>
                <a:spcPts val="0"/>
              </a:spcBef>
              <a:spcAft>
                <a:spcPts val="750"/>
              </a:spcAft>
              <a:tabLst>
                <a:tab pos="457200" algn="l"/>
              </a:tabLst>
            </a:pPr>
            <a:r>
              <a:rPr lang="en-US" b="0" i="0" u="none" strike="noStrike" kern="1200" dirty="0">
                <a:solidFill>
                  <a:schemeClr val="tx1"/>
                </a:solidFill>
                <a:effectLst/>
                <a:latin typeface="+mj-lt"/>
              </a:rPr>
              <a:t>Do leave some space, free from any text or graphics </a:t>
            </a:r>
          </a:p>
          <a:p>
            <a:pPr marL="0" marR="0" indent="0" algn="just" rtl="0" eaLnBrk="1" fontAlgn="t" latinLnBrk="0" hangingPunct="1">
              <a:lnSpc>
                <a:spcPct val="107000"/>
              </a:lnSpc>
              <a:spcBef>
                <a:spcPts val="0"/>
              </a:spcBef>
              <a:spcAft>
                <a:spcPts val="750"/>
              </a:spcAft>
              <a:buNone/>
              <a:tabLst>
                <a:tab pos="457200" algn="l"/>
              </a:tabLst>
            </a:pPr>
            <a:r>
              <a:rPr lang="en-US" b="0" i="0" u="none" strike="noStrike" kern="1200" dirty="0">
                <a:solidFill>
                  <a:schemeClr val="tx1"/>
                </a:solidFill>
                <a:effectLst/>
                <a:latin typeface="+mj-lt"/>
              </a:rPr>
              <a:t>in your brochure. This is called “white space.</a:t>
            </a:r>
            <a:endParaRPr lang="en-PK" b="0" i="0" u="none" strike="noStrike" dirty="0">
              <a:solidFill>
                <a:schemeClr val="tx1"/>
              </a:solidFill>
              <a:effectLst/>
              <a:latin typeface="+mj-lt"/>
            </a:endParaRPr>
          </a:p>
          <a:p>
            <a:pPr marL="347472" marR="0" indent="-347472" algn="just" rtl="0" eaLnBrk="1" fontAlgn="t" latinLnBrk="0" hangingPunct="1">
              <a:lnSpc>
                <a:spcPct val="107000"/>
              </a:lnSpc>
              <a:spcBef>
                <a:spcPts val="0"/>
              </a:spcBef>
              <a:spcAft>
                <a:spcPts val="750"/>
              </a:spcAft>
              <a:tabLst>
                <a:tab pos="457200" algn="l"/>
              </a:tabLst>
            </a:pPr>
            <a:r>
              <a:rPr lang="en-US" b="0" i="0" u="none" strike="noStrike" kern="1200" dirty="0">
                <a:solidFill>
                  <a:schemeClr val="tx1"/>
                </a:solidFill>
                <a:effectLst/>
                <a:latin typeface="+mj-lt"/>
              </a:rPr>
              <a:t>Do only use quality paper, like glossy thick paper.</a:t>
            </a:r>
          </a:p>
          <a:p>
            <a:pPr marL="347472" marR="0" indent="-347472" algn="just" rtl="0" eaLnBrk="1" fontAlgn="t" latinLnBrk="0" hangingPunct="1">
              <a:lnSpc>
                <a:spcPct val="107000"/>
              </a:lnSpc>
              <a:spcBef>
                <a:spcPts val="0"/>
              </a:spcBef>
              <a:spcAft>
                <a:spcPts val="750"/>
              </a:spcAft>
              <a:tabLst>
                <a:tab pos="457200" algn="l"/>
              </a:tabLst>
            </a:pPr>
            <a:r>
              <a:rPr lang="en-US" b="0" i="0" u="none" strike="noStrike" kern="1200" dirty="0">
                <a:solidFill>
                  <a:schemeClr val="tx1"/>
                </a:solidFill>
                <a:effectLst/>
                <a:latin typeface="+mj-lt"/>
              </a:rPr>
              <a:t>Do keep it relatively simple. Using too many fonts and bold lettering, tilt, and color will make your brochure look unprofessional.</a:t>
            </a:r>
            <a:endParaRPr lang="en-PK" b="0" i="0" u="none" strike="noStrike" dirty="0">
              <a:solidFill>
                <a:schemeClr val="tx1"/>
              </a:solidFill>
              <a:effectLst/>
              <a:latin typeface="+mj-lt"/>
            </a:endParaRPr>
          </a:p>
          <a:p>
            <a:pPr marL="0" indent="0">
              <a:buNone/>
            </a:pPr>
            <a:endParaRPr lang="en-PK" dirty="0"/>
          </a:p>
        </p:txBody>
      </p:sp>
    </p:spTree>
    <p:extLst>
      <p:ext uri="{BB962C8B-B14F-4D97-AF65-F5344CB8AC3E}">
        <p14:creationId xmlns:p14="http://schemas.microsoft.com/office/powerpoint/2010/main" val="37026256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42251-ADE6-47D2-94E3-95B7BB14680B}"/>
              </a:ext>
            </a:extLst>
          </p:cNvPr>
          <p:cNvSpPr>
            <a:spLocks noGrp="1"/>
          </p:cNvSpPr>
          <p:nvPr>
            <p:ph type="title"/>
          </p:nvPr>
        </p:nvSpPr>
        <p:spPr/>
        <p:txBody>
          <a:bodyPr/>
          <a:lstStyle/>
          <a:p>
            <a:r>
              <a:rPr lang="en-US" dirty="0"/>
              <a:t>Don’ts of Brochure Writing</a:t>
            </a:r>
            <a:endParaRPr lang="en-PK" dirty="0"/>
          </a:p>
        </p:txBody>
      </p:sp>
      <p:sp>
        <p:nvSpPr>
          <p:cNvPr id="3" name="Content Placeholder 2">
            <a:extLst>
              <a:ext uri="{FF2B5EF4-FFF2-40B4-BE49-F238E27FC236}">
                <a16:creationId xmlns:a16="http://schemas.microsoft.com/office/drawing/2014/main" id="{D61CD375-DF7A-49FA-AE65-32F3842AE2FC}"/>
              </a:ext>
            </a:extLst>
          </p:cNvPr>
          <p:cNvSpPr>
            <a:spLocks noGrp="1"/>
          </p:cNvSpPr>
          <p:nvPr>
            <p:ph idx="1"/>
          </p:nvPr>
        </p:nvSpPr>
        <p:spPr>
          <a:xfrm>
            <a:off x="2589212" y="1800665"/>
            <a:ext cx="5963945" cy="4909624"/>
          </a:xfrm>
        </p:spPr>
        <p:txBody>
          <a:bodyPr>
            <a:normAutofit fontScale="92500" lnSpcReduction="20000"/>
          </a:bodyPr>
          <a:lstStyle/>
          <a:p>
            <a:pPr marL="347472" marR="0" indent="-347472" algn="just" rtl="0" eaLnBrk="1" fontAlgn="t" latinLnBrk="0" hangingPunct="1">
              <a:lnSpc>
                <a:spcPct val="107000"/>
              </a:lnSpc>
              <a:spcBef>
                <a:spcPts val="0"/>
              </a:spcBef>
              <a:spcAft>
                <a:spcPts val="750"/>
              </a:spcAft>
              <a:tabLst>
                <a:tab pos="457200" algn="l"/>
              </a:tabLst>
            </a:pPr>
            <a:r>
              <a:rPr lang="en-US" sz="2400" b="0" i="0" u="none" strike="noStrike" kern="1200" dirty="0">
                <a:solidFill>
                  <a:srgbClr val="000000"/>
                </a:solidFill>
                <a:effectLst/>
                <a:latin typeface="+mj-lt"/>
              </a:rPr>
              <a:t>Don’t create a complicated design. In most cases, a simple design is more efficient and easier to perceive. </a:t>
            </a:r>
            <a:endParaRPr lang="en-PK" sz="2400" b="0" i="0" u="none" strike="noStrike" dirty="0">
              <a:effectLst/>
              <a:latin typeface="+mj-lt"/>
            </a:endParaRPr>
          </a:p>
          <a:p>
            <a:pPr marL="347472" marR="0" indent="-347472" algn="just" rtl="0" eaLnBrk="1" fontAlgn="t" latinLnBrk="0" hangingPunct="1">
              <a:lnSpc>
                <a:spcPct val="107000"/>
              </a:lnSpc>
              <a:spcBef>
                <a:spcPts val="0"/>
              </a:spcBef>
              <a:spcAft>
                <a:spcPts val="750"/>
              </a:spcAft>
              <a:tabLst>
                <a:tab pos="457200" algn="l"/>
              </a:tabLst>
            </a:pPr>
            <a:r>
              <a:rPr lang="en-US" sz="2400" b="0" i="0" u="none" strike="noStrike" kern="1200" dirty="0">
                <a:solidFill>
                  <a:srgbClr val="000000"/>
                </a:solidFill>
                <a:effectLst/>
                <a:latin typeface="+mj-lt"/>
              </a:rPr>
              <a:t>Don’t write in passive voice.</a:t>
            </a:r>
            <a:endParaRPr lang="en-PK" sz="2400" b="0" i="0" u="none" strike="noStrike" dirty="0">
              <a:effectLst/>
              <a:latin typeface="+mj-lt"/>
            </a:endParaRPr>
          </a:p>
          <a:p>
            <a:pPr marL="347472" marR="0" indent="-347472" algn="just" rtl="0" eaLnBrk="1" fontAlgn="t" latinLnBrk="0" hangingPunct="1">
              <a:lnSpc>
                <a:spcPct val="107000"/>
              </a:lnSpc>
              <a:spcBef>
                <a:spcPts val="0"/>
              </a:spcBef>
              <a:spcAft>
                <a:spcPts val="750"/>
              </a:spcAft>
              <a:tabLst>
                <a:tab pos="457200" algn="l"/>
              </a:tabLst>
            </a:pPr>
            <a:r>
              <a:rPr lang="en-US" sz="2400" b="0" i="0" u="none" strike="noStrike" kern="1200" dirty="0">
                <a:solidFill>
                  <a:srgbClr val="000000"/>
                </a:solidFill>
                <a:effectLst/>
                <a:latin typeface="+mj-lt"/>
              </a:rPr>
              <a:t>Don’t combine colors just because you like them. Use colors that are complimentary or even the same as on your company’s logo.</a:t>
            </a:r>
            <a:endParaRPr lang="en-PK" sz="2400" b="0" i="0" u="none" strike="noStrike" dirty="0">
              <a:effectLst/>
              <a:latin typeface="+mj-lt"/>
            </a:endParaRPr>
          </a:p>
          <a:p>
            <a:pPr marL="347472" marR="0" indent="-347472" algn="just" rtl="0" eaLnBrk="1" fontAlgn="t" latinLnBrk="0" hangingPunct="1">
              <a:lnSpc>
                <a:spcPct val="107000"/>
              </a:lnSpc>
              <a:spcBef>
                <a:spcPts val="0"/>
              </a:spcBef>
              <a:spcAft>
                <a:spcPts val="750"/>
              </a:spcAft>
              <a:tabLst>
                <a:tab pos="457200" algn="l"/>
              </a:tabLst>
            </a:pPr>
            <a:r>
              <a:rPr lang="en-US" sz="2400" b="0" i="0" u="none" strike="noStrike" kern="1200" dirty="0">
                <a:solidFill>
                  <a:srgbClr val="000000"/>
                </a:solidFill>
                <a:effectLst/>
                <a:latin typeface="+mj-lt"/>
              </a:rPr>
              <a:t>Don’t try to cram all the information you can onto a single sheet of paper.</a:t>
            </a:r>
            <a:endParaRPr lang="en-PK" sz="2400" b="0" i="0" u="none" strike="noStrike" dirty="0">
              <a:effectLst/>
              <a:latin typeface="+mj-lt"/>
            </a:endParaRPr>
          </a:p>
          <a:p>
            <a:pPr marL="347472" marR="0" indent="-347472" algn="just" rtl="0" eaLnBrk="1" fontAlgn="t" latinLnBrk="0" hangingPunct="1">
              <a:lnSpc>
                <a:spcPct val="107000"/>
              </a:lnSpc>
              <a:spcBef>
                <a:spcPts val="0"/>
              </a:spcBef>
              <a:spcAft>
                <a:spcPts val="750"/>
              </a:spcAft>
              <a:tabLst>
                <a:tab pos="457200" algn="l"/>
              </a:tabLst>
            </a:pPr>
            <a:r>
              <a:rPr lang="en-US" sz="2400" b="0" i="0" u="none" strike="noStrike" kern="1200" dirty="0">
                <a:solidFill>
                  <a:srgbClr val="000000"/>
                </a:solidFill>
                <a:effectLst/>
                <a:latin typeface="+mj-lt"/>
              </a:rPr>
              <a:t>Don’t make your brochure too thick. It won’t make it look more solid—instead, it will chase customers away. </a:t>
            </a:r>
            <a:endParaRPr lang="en-PK" sz="2400" b="0" i="0" u="none" strike="noStrike" dirty="0">
              <a:effectLst/>
              <a:latin typeface="+mj-lt"/>
            </a:endParaRPr>
          </a:p>
          <a:p>
            <a:pPr marL="347472" marR="0" indent="-347472" algn="just" rtl="0" eaLnBrk="1" fontAlgn="t" latinLnBrk="0" hangingPunct="1">
              <a:lnSpc>
                <a:spcPct val="107000"/>
              </a:lnSpc>
              <a:spcBef>
                <a:spcPts val="0"/>
              </a:spcBef>
              <a:spcAft>
                <a:spcPts val="750"/>
              </a:spcAft>
              <a:tabLst>
                <a:tab pos="457200" algn="l"/>
              </a:tabLst>
            </a:pPr>
            <a:r>
              <a:rPr lang="en-US" sz="2400" b="0" i="0" u="none" strike="noStrike" kern="1200" dirty="0">
                <a:solidFill>
                  <a:srgbClr val="000000"/>
                </a:solidFill>
                <a:effectLst/>
                <a:latin typeface="+mj-lt"/>
              </a:rPr>
              <a:t>Don’t forget to add contact information at the end of the brochure.</a:t>
            </a:r>
            <a:endParaRPr lang="en-PK" sz="2400" b="0" i="0" u="none" strike="noStrike" dirty="0">
              <a:effectLst/>
              <a:latin typeface="+mj-lt"/>
            </a:endParaRPr>
          </a:p>
          <a:p>
            <a:endParaRPr lang="en-PK" dirty="0"/>
          </a:p>
        </p:txBody>
      </p:sp>
    </p:spTree>
    <p:extLst>
      <p:ext uri="{BB962C8B-B14F-4D97-AF65-F5344CB8AC3E}">
        <p14:creationId xmlns:p14="http://schemas.microsoft.com/office/powerpoint/2010/main" val="23432375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F4190-A4A0-4213-80BC-852B60854662}"/>
              </a:ext>
            </a:extLst>
          </p:cNvPr>
          <p:cNvSpPr>
            <a:spLocks noGrp="1"/>
          </p:cNvSpPr>
          <p:nvPr>
            <p:ph type="title"/>
          </p:nvPr>
        </p:nvSpPr>
        <p:spPr/>
        <p:txBody>
          <a:bodyPr>
            <a:normAutofit fontScale="90000"/>
          </a:bodyPr>
          <a:lstStyle/>
          <a:p>
            <a:r>
              <a:rPr lang="en-US" dirty="0"/>
              <a:t>Common Mistakes When Writing a Brochure</a:t>
            </a:r>
            <a:endParaRPr lang="en-PK" dirty="0"/>
          </a:p>
        </p:txBody>
      </p:sp>
      <p:sp>
        <p:nvSpPr>
          <p:cNvPr id="3" name="Content Placeholder 2">
            <a:extLst>
              <a:ext uri="{FF2B5EF4-FFF2-40B4-BE49-F238E27FC236}">
                <a16:creationId xmlns:a16="http://schemas.microsoft.com/office/drawing/2014/main" id="{725460D3-5EED-4D64-933C-552B557724AC}"/>
              </a:ext>
            </a:extLst>
          </p:cNvPr>
          <p:cNvSpPr>
            <a:spLocks noGrp="1"/>
          </p:cNvSpPr>
          <p:nvPr>
            <p:ph idx="1"/>
          </p:nvPr>
        </p:nvSpPr>
        <p:spPr/>
        <p:txBody>
          <a:bodyPr/>
          <a:lstStyle/>
          <a:p>
            <a:r>
              <a:rPr lang="en-US" b="0" dirty="0">
                <a:solidFill>
                  <a:schemeClr val="tx1"/>
                </a:solidFill>
              </a:rPr>
              <a:t>Printing a black and white brochure because it is cheaper.</a:t>
            </a:r>
          </a:p>
          <a:p>
            <a:r>
              <a:rPr lang="en-US" b="0" dirty="0">
                <a:solidFill>
                  <a:schemeClr val="tx1"/>
                </a:solidFill>
              </a:rPr>
              <a:t>Ignoring the importance of “white space.” </a:t>
            </a:r>
          </a:p>
          <a:p>
            <a:r>
              <a:rPr lang="en-US" b="0" dirty="0">
                <a:solidFill>
                  <a:schemeClr val="tx1"/>
                </a:solidFill>
              </a:rPr>
              <a:t> Including too much information or too many design elements.</a:t>
            </a:r>
          </a:p>
          <a:p>
            <a:r>
              <a:rPr lang="en-US" b="0" dirty="0">
                <a:solidFill>
                  <a:schemeClr val="tx1"/>
                </a:solidFill>
              </a:rPr>
              <a:t>Using stock images. Your brochure should be unique </a:t>
            </a:r>
          </a:p>
          <a:p>
            <a:pPr marL="0" indent="0">
              <a:buNone/>
            </a:pPr>
            <a:r>
              <a:rPr lang="en-US" b="0" dirty="0">
                <a:solidFill>
                  <a:schemeClr val="tx1"/>
                </a:solidFill>
              </a:rPr>
              <a:t>and use custom illustrations, not generic ones.</a:t>
            </a:r>
          </a:p>
          <a:p>
            <a:pPr marL="0" indent="0">
              <a:buNone/>
            </a:pPr>
            <a:endParaRPr lang="en-PK" dirty="0"/>
          </a:p>
        </p:txBody>
      </p:sp>
    </p:spTree>
    <p:extLst>
      <p:ext uri="{BB962C8B-B14F-4D97-AF65-F5344CB8AC3E}">
        <p14:creationId xmlns:p14="http://schemas.microsoft.com/office/powerpoint/2010/main" val="33160324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13FA1-26BC-4434-B71C-2D8D95138B43}"/>
              </a:ext>
            </a:extLst>
          </p:cNvPr>
          <p:cNvSpPr>
            <a:spLocks noGrp="1"/>
          </p:cNvSpPr>
          <p:nvPr>
            <p:ph type="title"/>
          </p:nvPr>
        </p:nvSpPr>
        <p:spPr/>
        <p:txBody>
          <a:bodyPr/>
          <a:lstStyle/>
          <a:p>
            <a:r>
              <a:rPr lang="en-US" dirty="0"/>
              <a:t>Activity: Brochures</a:t>
            </a:r>
            <a:endParaRPr lang="en-PK" dirty="0"/>
          </a:p>
        </p:txBody>
      </p:sp>
      <p:sp>
        <p:nvSpPr>
          <p:cNvPr id="3" name="Content Placeholder 2">
            <a:extLst>
              <a:ext uri="{FF2B5EF4-FFF2-40B4-BE49-F238E27FC236}">
                <a16:creationId xmlns:a16="http://schemas.microsoft.com/office/drawing/2014/main" id="{626E8CC6-1CED-4F02-BBB5-10D53CE3FB5E}"/>
              </a:ext>
            </a:extLst>
          </p:cNvPr>
          <p:cNvSpPr>
            <a:spLocks noGrp="1"/>
          </p:cNvSpPr>
          <p:nvPr>
            <p:ph idx="1"/>
          </p:nvPr>
        </p:nvSpPr>
        <p:spPr/>
        <p:txBody>
          <a:bodyPr>
            <a:normAutofit/>
          </a:bodyPr>
          <a:lstStyle/>
          <a:p>
            <a:pPr marL="0" indent="0" algn="just">
              <a:lnSpc>
                <a:spcPct val="107000"/>
              </a:lnSpc>
              <a:spcAft>
                <a:spcPts val="800"/>
              </a:spcAft>
              <a:buNone/>
            </a:pPr>
            <a:r>
              <a:rPr lang="en-US" b="0" dirty="0">
                <a:solidFill>
                  <a:schemeClr val="tx1"/>
                </a:solidFill>
                <a:effectLst/>
                <a:latin typeface="Times New Roman" panose="02020603050405020304" pitchFamily="18" charset="0"/>
                <a:ea typeface="SimSun" panose="02010600030101010101" pitchFamily="2" charset="-122"/>
                <a:cs typeface="Arial" panose="020B0604020202020204" pitchFamily="34" charset="0"/>
              </a:rPr>
              <a:t>Instructions: Look at the sample brochure and then design your own product brochure keeping in mind these three aspects:</a:t>
            </a:r>
            <a:endParaRPr lang="en-PK" b="0" dirty="0">
              <a:solidFill>
                <a:schemeClr val="tx1"/>
              </a:solidFill>
              <a:effectLst/>
              <a:latin typeface="Calibri" panose="020F0502020204030204" pitchFamily="34" charset="0"/>
              <a:ea typeface="SimSun" panose="02010600030101010101" pitchFamily="2" charset="-122"/>
              <a:cs typeface="Arial" panose="020B0604020202020204" pitchFamily="34" charset="0"/>
            </a:endParaRPr>
          </a:p>
          <a:p>
            <a:pPr algn="just">
              <a:lnSpc>
                <a:spcPct val="107000"/>
              </a:lnSpc>
              <a:spcAft>
                <a:spcPts val="800"/>
              </a:spcAft>
            </a:pPr>
            <a:r>
              <a:rPr lang="en-US" b="0" dirty="0">
                <a:solidFill>
                  <a:schemeClr val="tx1"/>
                </a:solidFill>
                <a:effectLst/>
                <a:latin typeface="Times New Roman" panose="02020603050405020304" pitchFamily="18" charset="0"/>
                <a:ea typeface="SimSun" panose="02010600030101010101" pitchFamily="2" charset="-122"/>
                <a:cs typeface="Arial" panose="020B0604020202020204" pitchFamily="34" charset="0"/>
              </a:rPr>
              <a:t>What is this product? What would you like to call it? And what will it do?</a:t>
            </a:r>
            <a:endParaRPr lang="en-PK" b="0" dirty="0">
              <a:solidFill>
                <a:schemeClr val="tx1"/>
              </a:solidFill>
              <a:effectLst/>
              <a:latin typeface="Calibri" panose="020F0502020204030204" pitchFamily="34" charset="0"/>
              <a:ea typeface="SimSun" panose="02010600030101010101" pitchFamily="2" charset="-122"/>
              <a:cs typeface="Arial" panose="020B0604020202020204" pitchFamily="34" charset="0"/>
            </a:endParaRPr>
          </a:p>
          <a:p>
            <a:pPr algn="just">
              <a:lnSpc>
                <a:spcPct val="107000"/>
              </a:lnSpc>
              <a:spcAft>
                <a:spcPts val="800"/>
              </a:spcAft>
            </a:pPr>
            <a:r>
              <a:rPr lang="en-US" b="0" dirty="0">
                <a:solidFill>
                  <a:schemeClr val="tx1"/>
                </a:solidFill>
                <a:effectLst/>
                <a:latin typeface="Times New Roman" panose="02020603050405020304" pitchFamily="18" charset="0"/>
                <a:ea typeface="SimSun" panose="02010600030101010101" pitchFamily="2" charset="-122"/>
                <a:cs typeface="Arial" panose="020B0604020202020204" pitchFamily="34" charset="0"/>
              </a:rPr>
              <a:t>What are the three significant benefits that people will get out of its function?</a:t>
            </a:r>
            <a:endParaRPr lang="en-PK" b="0" dirty="0">
              <a:solidFill>
                <a:schemeClr val="tx1"/>
              </a:solidFill>
              <a:effectLst/>
              <a:latin typeface="Calibri" panose="020F0502020204030204" pitchFamily="34" charset="0"/>
              <a:ea typeface="SimSun" panose="02010600030101010101" pitchFamily="2" charset="-122"/>
              <a:cs typeface="Arial" panose="020B0604020202020204" pitchFamily="34" charset="0"/>
            </a:endParaRPr>
          </a:p>
          <a:p>
            <a:pPr algn="just">
              <a:lnSpc>
                <a:spcPct val="107000"/>
              </a:lnSpc>
              <a:spcAft>
                <a:spcPts val="800"/>
              </a:spcAft>
            </a:pPr>
            <a:r>
              <a:rPr lang="en-US" b="0" dirty="0">
                <a:solidFill>
                  <a:schemeClr val="tx1"/>
                </a:solidFill>
                <a:effectLst/>
                <a:latin typeface="Times New Roman" panose="02020603050405020304" pitchFamily="18" charset="0"/>
                <a:ea typeface="SimSun" panose="02010600030101010101" pitchFamily="2" charset="-122"/>
                <a:cs typeface="Arial" panose="020B0604020202020204" pitchFamily="34" charset="0"/>
              </a:rPr>
              <a:t>What would you like people to remember about it?</a:t>
            </a:r>
            <a:endParaRPr lang="en-PK" b="0" dirty="0">
              <a:solidFill>
                <a:schemeClr val="tx1"/>
              </a:solidFill>
              <a:effectLst/>
              <a:latin typeface="Calibri" panose="020F0502020204030204" pitchFamily="34" charset="0"/>
              <a:ea typeface="SimSun" panose="02010600030101010101" pitchFamily="2" charset="-122"/>
              <a:cs typeface="Arial" panose="020B0604020202020204" pitchFamily="34" charset="0"/>
            </a:endParaRPr>
          </a:p>
          <a:p>
            <a:pPr algn="just">
              <a:lnSpc>
                <a:spcPct val="107000"/>
              </a:lnSpc>
              <a:spcAft>
                <a:spcPts val="800"/>
              </a:spcAft>
            </a:pPr>
            <a:r>
              <a:rPr lang="en-US" b="0" dirty="0">
                <a:solidFill>
                  <a:schemeClr val="tx1"/>
                </a:solidFill>
                <a:effectLst/>
                <a:latin typeface="Times New Roman" panose="02020603050405020304" pitchFamily="18" charset="0"/>
                <a:ea typeface="SimSun" panose="02010600030101010101" pitchFamily="2" charset="-122"/>
                <a:cs typeface="Arial" panose="020B0604020202020204" pitchFamily="34" charset="0"/>
              </a:rPr>
              <a:t>(Include a picture of the product.)</a:t>
            </a:r>
            <a:endParaRPr lang="en-PK" b="0" dirty="0">
              <a:solidFill>
                <a:schemeClr val="tx1"/>
              </a:solidFill>
              <a:effectLst/>
              <a:latin typeface="Calibri" panose="020F0502020204030204" pitchFamily="34" charset="0"/>
              <a:ea typeface="SimSun" panose="02010600030101010101" pitchFamily="2" charset="-122"/>
              <a:cs typeface="Arial" panose="020B0604020202020204" pitchFamily="34" charset="0"/>
            </a:endParaRPr>
          </a:p>
          <a:p>
            <a:pPr marL="0" indent="0">
              <a:buNone/>
            </a:pPr>
            <a:endParaRPr lang="en-PK" dirty="0"/>
          </a:p>
        </p:txBody>
      </p:sp>
    </p:spTree>
    <p:extLst>
      <p:ext uri="{BB962C8B-B14F-4D97-AF65-F5344CB8AC3E}">
        <p14:creationId xmlns:p14="http://schemas.microsoft.com/office/powerpoint/2010/main" val="10030043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29D55-FEC2-4FAB-85A7-B76F646C7E86}"/>
              </a:ext>
            </a:extLst>
          </p:cNvPr>
          <p:cNvSpPr>
            <a:spLocks noGrp="1"/>
          </p:cNvSpPr>
          <p:nvPr>
            <p:ph type="title"/>
          </p:nvPr>
        </p:nvSpPr>
        <p:spPr/>
        <p:txBody>
          <a:bodyPr/>
          <a:lstStyle/>
          <a:p>
            <a:r>
              <a:rPr lang="en-US" dirty="0"/>
              <a:t>References</a:t>
            </a:r>
            <a:endParaRPr lang="en-PK" dirty="0"/>
          </a:p>
        </p:txBody>
      </p:sp>
      <p:sp>
        <p:nvSpPr>
          <p:cNvPr id="3" name="Content Placeholder 2">
            <a:extLst>
              <a:ext uri="{FF2B5EF4-FFF2-40B4-BE49-F238E27FC236}">
                <a16:creationId xmlns:a16="http://schemas.microsoft.com/office/drawing/2014/main" id="{99B27FB9-5C4C-419A-BFE2-F1EEE0DC2BA1}"/>
              </a:ext>
            </a:extLst>
          </p:cNvPr>
          <p:cNvSpPr>
            <a:spLocks noGrp="1"/>
          </p:cNvSpPr>
          <p:nvPr>
            <p:ph idx="1"/>
          </p:nvPr>
        </p:nvSpPr>
        <p:spPr/>
        <p:txBody>
          <a:bodyPr/>
          <a:lstStyle/>
          <a:p>
            <a:r>
              <a:rPr lang="en-US" dirty="0">
                <a:hlinkClick r:id="rId2"/>
              </a:rPr>
              <a:t>https://extensionpublications.unl.edu/assets/pdf/g2028.pdf</a:t>
            </a:r>
            <a:endParaRPr lang="en-US" dirty="0"/>
          </a:p>
          <a:p>
            <a:r>
              <a:rPr lang="en-US" dirty="0">
                <a:hlinkClick r:id="rId3"/>
              </a:rPr>
              <a:t>https://www.corpwriting.com/Brochure-Content-Writing/</a:t>
            </a:r>
            <a:endParaRPr lang="en-US" dirty="0"/>
          </a:p>
          <a:p>
            <a:pPr marL="0" indent="0">
              <a:buNone/>
            </a:pPr>
            <a:endParaRPr lang="en-PK" dirty="0"/>
          </a:p>
        </p:txBody>
      </p:sp>
    </p:spTree>
    <p:extLst>
      <p:ext uri="{BB962C8B-B14F-4D97-AF65-F5344CB8AC3E}">
        <p14:creationId xmlns:p14="http://schemas.microsoft.com/office/powerpoint/2010/main" val="512162186"/>
      </p:ext>
    </p:extLst>
  </p:cSld>
  <p:clrMapOvr>
    <a:masterClrMapping/>
  </p:clrMapOvr>
</p:sld>
</file>

<file path=ppt/theme/theme1.xml><?xml version="1.0" encoding="utf-8"?>
<a:theme xmlns:a="http://schemas.openxmlformats.org/drawingml/2006/main" name="Wisp">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Custom 2">
      <a:majorFont>
        <a:latin typeface="Times New Roman"/>
        <a:ea typeface=""/>
        <a:cs typeface=""/>
      </a:majorFont>
      <a:minorFont>
        <a:latin typeface="Times New Roman"/>
        <a:ea typeface=""/>
        <a:cs typeface=""/>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4A56B41DD4F394292ED9BFB76E74855" ma:contentTypeVersion="4" ma:contentTypeDescription="Create a new document." ma:contentTypeScope="" ma:versionID="b52eef6fa577da25efa210a2de8c1591">
  <xsd:schema xmlns:xsd="http://www.w3.org/2001/XMLSchema" xmlns:xs="http://www.w3.org/2001/XMLSchema" xmlns:p="http://schemas.microsoft.com/office/2006/metadata/properties" xmlns:ns2="0e58b041-2247-4096-8347-170c2f854b47" targetNamespace="http://schemas.microsoft.com/office/2006/metadata/properties" ma:root="true" ma:fieldsID="93608008e9de9279433939524fd2bd4e" ns2:_="">
    <xsd:import namespace="0e58b041-2247-4096-8347-170c2f854b47"/>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e58b041-2247-4096-8347-170c2f854b4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6B687E2-A4BA-4EF0-8910-C3F25FE381AA}"/>
</file>

<file path=customXml/itemProps2.xml><?xml version="1.0" encoding="utf-8"?>
<ds:datastoreItem xmlns:ds="http://schemas.openxmlformats.org/officeDocument/2006/customXml" ds:itemID="{5AA27683-73BB-4B6C-8EF1-072CFDF409BB}"/>
</file>

<file path=customXml/itemProps3.xml><?xml version="1.0" encoding="utf-8"?>
<ds:datastoreItem xmlns:ds="http://schemas.openxmlformats.org/officeDocument/2006/customXml" ds:itemID="{D83CB53D-9529-43BF-B9D6-40548B02C626}"/>
</file>

<file path=docProps/app.xml><?xml version="1.0" encoding="utf-8"?>
<Properties xmlns="http://schemas.openxmlformats.org/officeDocument/2006/extended-properties" xmlns:vt="http://schemas.openxmlformats.org/officeDocument/2006/docPropsVTypes">
  <Template/>
  <TotalTime>300</TotalTime>
  <Words>1150</Words>
  <Application>Microsoft Office PowerPoint</Application>
  <PresentationFormat>Widescreen</PresentationFormat>
  <Paragraphs>94</Paragraphs>
  <Slides>18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Symbol</vt:lpstr>
      <vt:lpstr>Times New Roman</vt:lpstr>
      <vt:lpstr>Wingdings 3</vt:lpstr>
      <vt:lpstr>Wisp</vt:lpstr>
      <vt:lpstr>Technical Writing: Brochures</vt:lpstr>
      <vt:lpstr>What is a Brochure?</vt:lpstr>
      <vt:lpstr>Example of a Brochure</vt:lpstr>
      <vt:lpstr>Steps for Writing a Brochure</vt:lpstr>
      <vt:lpstr>Steps for Writing a Brochure Cont.</vt:lpstr>
      <vt:lpstr>Steps for Writing a Brochure Cont.</vt:lpstr>
      <vt:lpstr>Steps for Writing a Brochure Cont.</vt:lpstr>
      <vt:lpstr>Criteria for Brochures: Title Page (Front Panel)</vt:lpstr>
      <vt:lpstr>Criteria for Brochures: Body Panels (Fold-in and Inside)</vt:lpstr>
      <vt:lpstr>Criteria for Brochures: Body Panels (Fold-in and Inside) Cont.</vt:lpstr>
      <vt:lpstr>Criteria for Brochures: Back Panel</vt:lpstr>
      <vt:lpstr>Topic Selection (Common Purposes of Brochures)</vt:lpstr>
      <vt:lpstr>Key Points to Consider</vt:lpstr>
      <vt:lpstr>Dos of Brochure Writing</vt:lpstr>
      <vt:lpstr>Don’ts of Brochure Writing</vt:lpstr>
      <vt:lpstr>Common Mistakes When Writing a Brochure</vt:lpstr>
      <vt:lpstr>Activity: Brochures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nargis.nadeem</dc:creator>
  <cp:lastModifiedBy>Maryam Javed</cp:lastModifiedBy>
  <cp:revision>22</cp:revision>
  <dcterms:created xsi:type="dcterms:W3CDTF">2020-09-30T05:56:14Z</dcterms:created>
  <dcterms:modified xsi:type="dcterms:W3CDTF">2020-10-04T15:01:50Z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0x010100C4A56B41DD4F394292ED9BFB76E74855</vt:lpwstr>
  </property>
</Properties>
</file>