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charts/chart2.xml" ContentType="application/vnd.openxmlformats-officedocument.drawingml.chart+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317"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754"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Useful CPU utilization</c:v>
          </c:tx>
          <c:spPr>
            <a:solidFill>
              <a:srgbClr val="156FAD"/>
            </a:solidFill>
          </c:spPr>
          <c:invertIfNegative val="1"/>
          <c:dLbls>
            <c:spPr>
              <a:noFill/>
              <a:ln>
                <a:noFill/>
              </a:ln>
              <a:effectLst/>
            </c:spPr>
            <c:txPr>
              <a:bodyPr anchorCtr="1"/>
              <a:lstStyle/>
              <a:p>
                <a:pPr>
                  <a:defRPr sz="1875" b="1">
                    <a:solidFill>
                      <a:srgbClr val="132C43"/>
                    </a:solidFill>
                    <a:latin typeface="DejaVu Sans"/>
                    <a:ea typeface="DejaVu Sans"/>
                    <a:cs typeface="DejaVu Sans"/>
                  </a:defRPr>
                </a:pPr>
                <a:endParaRPr lang="en-PK"/>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Serial execution</c:v>
                </c:pt>
                <c:pt idx="1">
                  <c:v>Multiprogramming</c:v>
                </c:pt>
              </c:strCache>
            </c:strRef>
          </c:cat>
          <c:val>
            <c:numRef>
              <c:f>'Chart Data'!$B$2:$B$3</c:f>
              <c:numCache>
                <c:formatCode>0.00%</c:formatCode>
                <c:ptCount val="2"/>
                <c:pt idx="0">
                  <c:v>0.66669999999999996</c:v>
                </c:pt>
                <c:pt idx="1">
                  <c:v>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26A5-47CB-9A17-C0D9B12907DD}"/>
            </c:ext>
          </c:extLst>
        </c:ser>
        <c:dLbls>
          <c:dLblPos val="outEnd"/>
          <c:showLegendKey val="0"/>
          <c:showVal val="1"/>
          <c:showCatName val="0"/>
          <c:showSerName val="0"/>
          <c:showPercent val="0"/>
          <c:showBubbleSize val="0"/>
        </c:dLbls>
        <c:gapWidth val="13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800">
                <a:solidFill>
                  <a:srgbClr val="132C43"/>
                </a:solidFill>
                <a:latin typeface="DejaVu Sans"/>
                <a:ea typeface="DejaVu Sans"/>
                <a:cs typeface="DejaVu Sans"/>
              </a:defRPr>
            </a:pPr>
            <a:endParaRPr lang="en-PK"/>
          </a:p>
        </c:txPr>
        <c:crossAx val="48672768"/>
        <c:crosses val="autoZero"/>
        <c:auto val="1"/>
        <c:lblAlgn val="ctr"/>
        <c:lblOffset val="100"/>
        <c:noMultiLvlLbl val="1"/>
      </c:catAx>
      <c:valAx>
        <c:axId val="48672768"/>
        <c:scaling>
          <c:orientation val="minMax"/>
          <c:max val="1"/>
          <c:min val="0"/>
        </c:scaling>
        <c:delete val="0"/>
        <c:axPos val="l"/>
        <c:majorGridlines>
          <c:spPr>
            <a:ln w="9525">
              <a:solidFill>
                <a:srgbClr val="D7E2EA"/>
              </a:solidFill>
            </a:ln>
          </c:spPr>
        </c:majorGridlines>
        <c:numFmt formatCode="0.00%" sourceLinked="1"/>
        <c:majorTickMark val="none"/>
        <c:minorTickMark val="none"/>
        <c:tickLblPos val="nextTo"/>
        <c:spPr>
          <a:ln w="9525">
            <a:solidFill>
              <a:srgbClr val="D4D4D4"/>
            </a:solidFill>
            <a:prstDash val="solid"/>
          </a:ln>
        </c:spPr>
        <c:txPr>
          <a:bodyPr anchorCtr="1"/>
          <a:lstStyle/>
          <a:p>
            <a:pPr>
              <a:defRPr sz="1650">
                <a:solidFill>
                  <a:srgbClr val="53687A"/>
                </a:solidFill>
                <a:latin typeface="DejaVu Sans"/>
                <a:ea typeface="DejaVu Sans"/>
                <a:cs typeface="DejaVu Sans"/>
              </a:defRPr>
            </a:pPr>
            <a:endParaRPr lang="en-PK"/>
          </a:p>
        </c:txPr>
        <c:crossAx val="48650112"/>
        <c:crosses val="autoZero"/>
        <c:crossBetween val="between"/>
      </c:valAx>
    </c:plotArea>
    <c:plotVisOnly val="1"/>
    <c:dispBlanksAs val="zero"/>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Direct switch overhead</c:v>
          </c:tx>
          <c:spPr>
            <a:solidFill>
              <a:srgbClr val="156FAD"/>
            </a:solidFill>
          </c:spPr>
          <c:invertIfNegative val="1"/>
          <c:dLbls>
            <c:spPr>
              <a:noFill/>
              <a:ln>
                <a:noFill/>
              </a:ln>
              <a:effectLst/>
            </c:spPr>
            <c:txPr>
              <a:bodyPr anchorCtr="1"/>
              <a:lstStyle/>
              <a:p>
                <a:pPr>
                  <a:defRPr sz="1875" b="1">
                    <a:solidFill>
                      <a:srgbClr val="132C43"/>
                    </a:solidFill>
                    <a:latin typeface="DejaVu Sans"/>
                    <a:ea typeface="DejaVu Sans"/>
                    <a:cs typeface="DejaVu Sans"/>
                  </a:defRPr>
                </a:pPr>
                <a:endParaRPr lang="en-PK"/>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q = 1 ms</c:v>
                </c:pt>
                <c:pt idx="1">
                  <c:v>q = 5 ms</c:v>
                </c:pt>
                <c:pt idx="2">
                  <c:v>q = 10 ms</c:v>
                </c:pt>
              </c:strCache>
            </c:strRef>
          </c:cat>
          <c:val>
            <c:numRef>
              <c:f>'Chart Data'!$B$2:$B$4</c:f>
              <c:numCache>
                <c:formatCode>0.00%</c:formatCode>
                <c:ptCount val="3"/>
                <c:pt idx="0">
                  <c:v>9.0899999999999995E-2</c:v>
                </c:pt>
                <c:pt idx="1">
                  <c:v>1.9599999999999999E-2</c:v>
                </c:pt>
                <c:pt idx="2">
                  <c:v>9.9000000000000008E-3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D35E-42EC-A0DD-78A0D67FB0A1}"/>
            </c:ext>
          </c:extLst>
        </c:ser>
        <c:dLbls>
          <c:dLblPos val="outEnd"/>
          <c:showLegendKey val="0"/>
          <c:showVal val="1"/>
          <c:showCatName val="0"/>
          <c:showSerName val="0"/>
          <c:showPercent val="0"/>
          <c:showBubbleSize val="0"/>
        </c:dLbls>
        <c:gapWidth val="13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800">
                <a:solidFill>
                  <a:srgbClr val="132C43"/>
                </a:solidFill>
                <a:latin typeface="DejaVu Sans"/>
                <a:ea typeface="DejaVu Sans"/>
                <a:cs typeface="DejaVu Sans"/>
              </a:defRPr>
            </a:pPr>
            <a:endParaRPr lang="en-PK"/>
          </a:p>
        </c:txPr>
        <c:crossAx val="48672768"/>
        <c:crosses val="autoZero"/>
        <c:auto val="1"/>
        <c:lblAlgn val="ctr"/>
        <c:lblOffset val="100"/>
        <c:noMultiLvlLbl val="1"/>
      </c:catAx>
      <c:valAx>
        <c:axId val="48672768"/>
        <c:scaling>
          <c:orientation val="minMax"/>
          <c:max val="0.1"/>
          <c:min val="0"/>
        </c:scaling>
        <c:delete val="0"/>
        <c:axPos val="l"/>
        <c:majorGridlines>
          <c:spPr>
            <a:ln w="9525">
              <a:solidFill>
                <a:srgbClr val="D7E2EA"/>
              </a:solidFill>
            </a:ln>
          </c:spPr>
        </c:majorGridlines>
        <c:numFmt formatCode="0.00%" sourceLinked="1"/>
        <c:majorTickMark val="none"/>
        <c:minorTickMark val="none"/>
        <c:tickLblPos val="nextTo"/>
        <c:spPr>
          <a:ln w="9525">
            <a:solidFill>
              <a:srgbClr val="D4D4D4"/>
            </a:solidFill>
            <a:prstDash val="solid"/>
          </a:ln>
        </c:spPr>
        <c:txPr>
          <a:bodyPr anchorCtr="1"/>
          <a:lstStyle/>
          <a:p>
            <a:pPr>
              <a:defRPr sz="1650">
                <a:solidFill>
                  <a:srgbClr val="53687A"/>
                </a:solidFill>
                <a:latin typeface="DejaVu Sans"/>
                <a:ea typeface="DejaVu Sans"/>
                <a:cs typeface="DejaVu Sans"/>
              </a:defRPr>
            </a:pPr>
            <a:endParaRPr lang="en-PK"/>
          </a:p>
        </c:txPr>
        <c:crossAx val="48650112"/>
        <c:crosses val="autoZero"/>
        <c:crossBetween val="between"/>
      </c:valAx>
    </c:plotArea>
    <c:plotVisOnly val="1"/>
    <c:dispBlanksAs val="zero"/>
    <c:showDLblsOverMax val="1"/>
  </c:chart>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NOTES</a:t>
            </a:r>
          </a:p>
          <a:p>
            <a:r>
              <a:t>Teaching pack aligned with the uploaded course outline. Use the recap only as needed. Five proposed remaining 60-minute sessions cover Week 1 continuation, Week 2 A/B and Week 3 A/B. All examples assume one execution thread per process unless stated otherwise.</a:t>
            </a:r>
          </a:p>
          <a:p>
            <a:endParaRPr/>
          </a:p>
          <a:p>
            <a:r>
              <a:t>SOURCES</a:t>
            </a:r>
          </a:p>
          <a:p>
            <a:r>
              <a:t>https://os-book.com/OS9/slide-dir/index.html</a:t>
            </a:r>
          </a:p>
          <a:p>
            <a:r>
              <a:t>https://www.cs.uic.edu/~jbell/CourseNotes/OperatingSystems/images/Chapter1/1_1_SystemComponents.jpg</a:t>
            </a:r>
          </a:p>
          <a:p>
            <a:endParaRPr/>
          </a:p>
          <a:p>
            <a:r>
              <a:t>Original classroom explanations and exercises by this teaching adaptation. Source figures retained with acknowledgement. Charts show hypothetical examples, not measured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NOTES</a:t>
            </a:r>
          </a:p>
          <a:p>
            <a:r>
              <a:t>Learning outcomes map to CLO1: explain OS structure, characteristics and core functions. The outline lists two Week 1 entries and two Week 2 entries. Treat them as two teaching blocks per week. Week 3 divides naturally into process basics and scheduling mechanisms. Detailed scheduling algorithms belong to Week 7.</a:t>
            </a:r>
          </a:p>
          <a:p>
            <a:endParaRPr/>
          </a:p>
          <a:p>
            <a:r>
              <a:t>SOURCES</a:t>
            </a:r>
          </a:p>
          <a:p>
            <a:r>
              <a:t>https://os-book.com/OS9/slide-dir/index.html</a:t>
            </a:r>
          </a:p>
          <a:p>
            <a:endParaRPr/>
          </a:p>
          <a:p>
            <a:r>
              <a:t>Original classroom explanations and exercises by this teaching adaptation. Source figures retained with acknowledgement. Charts show hypothetical examples, not measured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NOTES</a:t>
            </a:r>
          </a:p>
          <a:p>
            <a:r>
              <a:t>Ask: two applications want the same printer. Who decides the order? The OS and its services coordinate access. Distinguish the kernel, which executes privileged core functions, from the broader OS including tools and services. Spend no more than two minutes here if already taught.</a:t>
            </a:r>
          </a:p>
          <a:p>
            <a:endParaRPr/>
          </a:p>
          <a:p>
            <a:r>
              <a:t>SOURCES</a:t>
            </a:r>
          </a:p>
          <a:p>
            <a:r>
              <a:t>https://os-book.com/OS9/slide-dir/index.html</a:t>
            </a:r>
          </a:p>
          <a:p>
            <a:endParaRPr/>
          </a:p>
          <a:p>
            <a:r>
              <a:t>Original classroom explanations and exercises by this teaching adaptation. Source figures retained with acknowledgement. Charts show hypothetical examples, not measured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NOTES</a:t>
            </a:r>
          </a:p>
          <a:p>
            <a:r>
              <a:t>Explain a typical PC/Linux boot: firmware, boot manager or bootloader, kernel, optional initramfs, then init/systemd and services. Exact stages differ by platform. Firmware exists before the disk OS runs. Ask whether the kernel can load itself before any code is running. Answer: earlier boot code performs that work.</a:t>
            </a:r>
          </a:p>
          <a:p>
            <a:endParaRPr/>
          </a:p>
          <a:p>
            <a:r>
              <a:t>SOURCES</a:t>
            </a:r>
          </a:p>
          <a:p>
            <a:r>
              <a:t>https://os-book.com/OS9/slide-dir/index.html</a:t>
            </a:r>
          </a:p>
          <a:p>
            <a:endParaRPr/>
          </a:p>
          <a:p>
            <a:r>
              <a:t>Original classroom explanations and exercises by this teaching adaptation. Source figures retained with acknowledgement. Charts show hypothetical examples, not measured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NOTES</a:t>
            </a:r>
          </a:p>
          <a:p>
            <a:r>
              <a:t>Walk through a disk read without diving into device protocols. A driver issues a command. The controller handles the device operation and later reports completion. CPU and device work can overlap even on a single-core computer. The illustration is a conceptual bus-based system, not a claim that every modern machine has one physical bus.</a:t>
            </a:r>
          </a:p>
          <a:p>
            <a:endParaRPr/>
          </a:p>
          <a:p>
            <a:r>
              <a:t>SOURCES</a:t>
            </a:r>
          </a:p>
          <a:p>
            <a:r>
              <a:t>https://os-book.com/OS9/slide-dir/index.html</a:t>
            </a:r>
          </a:p>
          <a:p>
            <a:r>
              <a:t>https://www.cs.uic.edu/~jbell/CourseNotes/OperatingSystems/images/Chapter1/1_2_ModernSystem.jpg</a:t>
            </a:r>
          </a:p>
          <a:p>
            <a:endParaRPr/>
          </a:p>
          <a:p>
            <a:r>
              <a:t>Original classroom explanations and exercises by this teaching adaptation. Source figures retained with acknowledgement. Charts show hypothetical examples, not measured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NOTES</a:t>
            </a:r>
          </a:p>
          <a:p>
            <a:r>
              <a:t>Distinguish CPU package, core and logical processor. In the introductory model, each execution unit runs one thread at a time. SMT adds logical processors and complicates the physical-core picture. Do not present multiprocessing as a mandatory stage after multitasking. They describe different properties.</a:t>
            </a:r>
          </a:p>
          <a:p>
            <a:endParaRPr/>
          </a:p>
          <a:p>
            <a:r>
              <a:t>SOURCES</a:t>
            </a:r>
          </a:p>
          <a:p>
            <a:r>
              <a:t>https://os-book.com/OS9/slide-dir/index.html</a:t>
            </a:r>
          </a:p>
          <a:p>
            <a:r>
              <a:t>https://www.cs.uic.edu/~jbell/CourseNotes/OperatingSystems/images/Chapter1/1_7_DualCore.jpg</a:t>
            </a:r>
          </a:p>
          <a:p>
            <a:endParaRPr/>
          </a:p>
          <a:p>
            <a:r>
              <a:t>Original classroom explanations and exercises by this teaching adaptation. Source figures retained with acknowledgement. Charts show hypothetical examples, not measured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NOTES</a:t>
            </a:r>
          </a:p>
          <a:p>
            <a:r>
              <a:t>Proposed session: 5 minutes recap, 15 minutes sharing and worked example, 15 minutes interrupts, 15 minutes protection, 10 minutes retrieval practice. Start here if Week 1 introduction is complete.</a:t>
            </a:r>
          </a:p>
          <a:p>
            <a:endParaRPr/>
          </a:p>
          <a:p>
            <a:r>
              <a:t>SOURCES</a:t>
            </a:r>
          </a:p>
          <a:p>
            <a:r>
              <a:t>https://os-book.com/OS9/slide-dir/index.html</a:t>
            </a:r>
          </a:p>
          <a:p>
            <a:endParaRPr/>
          </a:p>
          <a:p>
            <a:r>
              <a:t>Original classroom explanations and exercises by this teaching adaptation. Source figures retained with acknowledgement. Charts show hypothetical examples, not measured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NOTES</a:t>
            </a:r>
          </a:p>
          <a:p>
            <a:r>
              <a:t>Use a teacher analogy: while one student solves a calculation, the teacher helps another. Avoid defining multiprogramming as inherently non-preemptive. Early batch implementations often switched on blocking, but the concept does not prohibit preemption. With virtual memory, available processes need not have every byte resident in RAM.</a:t>
            </a:r>
          </a:p>
          <a:p>
            <a:endParaRPr/>
          </a:p>
          <a:p>
            <a:r>
              <a:t>SOURCES</a:t>
            </a:r>
          </a:p>
          <a:p>
            <a:r>
              <a:t>https://os-book.com/OS9/slide-dir/index.html</a:t>
            </a:r>
          </a:p>
          <a:p>
            <a:r>
              <a:t>https://www.cs.uic.edu/~jbell/CourseNotes/OperatingSystems/images/Chapter1/1_9_MemoryLayout.jpg</a:t>
            </a:r>
          </a:p>
          <a:p>
            <a:endParaRPr/>
          </a:p>
          <a:p>
            <a:r>
              <a:t>Original classroom explanations and exercises by this teaching adaptation. Source figures retained with acknowledgement. Charts show hypothetical examples, not measured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NOTES</a:t>
            </a:r>
          </a:p>
          <a:p>
            <a:r>
              <a:t>Serial baseline: A runs 0–4, CPU idles 4–10, A runs 10–12, B runs 12–18. Useful CPU work is 12/18 = 66.7%. Multiprogramming: A runs 0–4, B runs 4–10 during A I/O, A runs 10–12. Useful work is 12/12 = 100%. This is an illustrative workload, not a measured benchmark. Both processes arrive at 0 and the baseline deliberately admits one at a time.</a:t>
            </a:r>
          </a:p>
          <a:p>
            <a:endParaRPr/>
          </a:p>
          <a:p>
            <a:r>
              <a:t>SOURCES</a:t>
            </a:r>
          </a:p>
          <a:p>
            <a:r>
              <a:t>https://os-book.com/OS9/slide-dir/index.html</a:t>
            </a:r>
          </a:p>
          <a:p>
            <a:endParaRPr/>
          </a:p>
          <a:p>
            <a:r>
              <a:t>Original classroom explanations and exercises by this teaching adaptation. Source figures retained with acknowledgement. Charts show hypothetical examples, not measured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NOTES</a:t>
            </a:r>
          </a:p>
          <a:p>
            <a:r>
              <a:t>Reveal after students calculate. Useful CPU utilization is useful CPU time divided by elapsed completion time. Actual systems incur scheduler and context-switch costs. The chart values come entirely from the preceding example.</a:t>
            </a:r>
          </a:p>
          <a:p>
            <a:endParaRPr/>
          </a:p>
          <a:p>
            <a:r>
              <a:t>SOURCES</a:t>
            </a:r>
          </a:p>
          <a:p>
            <a:r>
              <a:t>https://os-book.com/OS9/slide-dir/index.html</a:t>
            </a:r>
          </a:p>
          <a:p>
            <a:endParaRPr/>
          </a:p>
          <a:p>
            <a:r>
              <a:t>Original classroom explanations and exercises by this teaching adaptation. Source figures retained with acknowledgement. Charts show hypothetical examples, not measured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NOTES</a:t>
            </a:r>
          </a:p>
          <a:p>
            <a:r>
              <a:t>Illustrate A runs 0–10 ms, B 10–20 ms, A 20–30 ms. These are arbitrary teaching time slices. Time-sharing systems commonly support interactive users. A task can block before its quantum ends. A timer interrupt does not necessarily force a process change every time. Multitasking is broader than fixed round-robin scheduling.</a:t>
            </a:r>
          </a:p>
          <a:p>
            <a:endParaRPr/>
          </a:p>
          <a:p>
            <a:r>
              <a:t>SOURCES</a:t>
            </a:r>
          </a:p>
          <a:p>
            <a:r>
              <a:t>https://os-book.com/OS9/slide-dir/index.html</a:t>
            </a:r>
          </a:p>
          <a:p>
            <a:endParaRPr/>
          </a:p>
          <a:p>
            <a:r>
              <a:t>Original classroom explanations and exercises by this teaching adaptation. Source figures retained with acknowledgement. Charts show hypothetical examples, not measured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NOTES</a:t>
            </a:r>
          </a:p>
          <a:p>
            <a:r>
              <a:t>Example: a four-core laptop keeps many processes available, interleaves more runnable tasks than cores, and executes several tasks in parallel. Ask: does music plus a browser prove the machine has two cores? No. Concurrent progress is possible on one core.</a:t>
            </a:r>
          </a:p>
          <a:p>
            <a:endParaRPr/>
          </a:p>
          <a:p>
            <a:r>
              <a:t>SOURCES</a:t>
            </a:r>
          </a:p>
          <a:p>
            <a:r>
              <a:t>https://os-book.com/OS9/slide-dir/index.html</a:t>
            </a:r>
          </a:p>
          <a:p>
            <a:endParaRPr/>
          </a:p>
          <a:p>
            <a:r>
              <a:t>Original classroom explanations and exercises by this teaching adaptation. Source figures retained with acknowledgement. Charts show hypothetical examples, not measured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NOTES</a:t>
            </a:r>
          </a:p>
          <a:p>
            <a:r>
              <a:t>Asynchronous means independent of the current instruction, not that interrupts have no timing. Synchronous means tied to execution of an instruction. Introductory OS texts sometimes use trap broadly for software-caused entry. Intel uses more specific fault/trap/abort exception classes. A Linux signal is an OS notification mechanism, not a hardware interrupt.</a:t>
            </a:r>
          </a:p>
          <a:p>
            <a:endParaRPr/>
          </a:p>
          <a:p>
            <a:r>
              <a:t>SOURCES</a:t>
            </a:r>
          </a:p>
          <a:p>
            <a:r>
              <a:t>https://os-book.com/OS9/slide-dir/index.html</a:t>
            </a:r>
          </a:p>
          <a:p>
            <a:endParaRPr/>
          </a:p>
          <a:p>
            <a:r>
              <a:t>Original classroom explanations and exercises by this teaching adaptation. Source figures retained with acknowledgement. Charts show hypothetical examples, not measured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NOTES</a:t>
            </a:r>
          </a:p>
          <a:p>
            <a:r>
              <a:t>Use Intel x86 meanings in the table. A fault saves a restart point at the faulting instruction. A trap reports after the trapping instruction. INT3 is a trap-class exception. A system call is an intentional synchronous kernel request, but SYSCALL is not an Intel trap-class exception. Aborts may prevent reliable restart. Intentional versus accidental is not the precise trap/fault definition.</a:t>
            </a:r>
          </a:p>
          <a:p>
            <a:endParaRPr/>
          </a:p>
          <a:p>
            <a:r>
              <a:t>SOURCES</a:t>
            </a:r>
          </a:p>
          <a:p>
            <a:r>
              <a:t>https://os-book.com/OS9/slide-dir/index.html</a:t>
            </a:r>
          </a:p>
          <a:p>
            <a:r>
              <a:t>https://cdrdv2-public.intel.com/868137/325462-089-sdm-vol-1-2abcd-3abcd-4.pdf (Vol. 3A, exception classifications)</a:t>
            </a:r>
          </a:p>
          <a:p>
            <a:endParaRPr/>
          </a:p>
          <a:p>
            <a:r>
              <a:t>Original classroom explanations and exercises by this teaching adaptation. Source figures retained with acknowledgement. Charts show hypothetical examples, not measured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NOTES</a:t>
            </a:r>
          </a:p>
          <a:p>
            <a:r>
              <a:t>Hardware saves some state and entry code saves other registers. The exact division depends on architecture and OS. Explain vector or descriptor tables conceptually. Device-specific work may be deferred. Return may resume the original process or the scheduler may select another. Avoid saying every interrupt saves an entire PCB in hardware.</a:t>
            </a:r>
          </a:p>
          <a:p>
            <a:endParaRPr/>
          </a:p>
          <a:p>
            <a:r>
              <a:t>SOURCES</a:t>
            </a:r>
          </a:p>
          <a:p>
            <a:r>
              <a:t>https://os-book.com/OS9/slide-dir/index.html</a:t>
            </a:r>
          </a:p>
          <a:p>
            <a:r>
              <a:t>https://www.cs.uic.edu/~jbell/CourseNotes/OperatingSystems/images/Chapter1/1_3_InterruptTimeLine.jpg</a:t>
            </a:r>
          </a:p>
          <a:p>
            <a:endParaRPr/>
          </a:p>
          <a:p>
            <a:r>
              <a:t>Original classroom explanations and exercises by this teaching adaptation. Source figures retained with acknowledgement. Charts show hypothetical examples, not measured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NOTES</a:t>
            </a:r>
          </a:p>
          <a:p>
            <a:r>
              <a:t>Conceptual instruction: load value at virtual address 0x5000. A valid nonresident page may require disk I/O, zero allocation or another action. An illegal access can also cause a page fault and may lead to process termination. A page fault is not always an error in the program and not always a disk read. Detailed paging belongs to Weeks 12–14.</a:t>
            </a:r>
          </a:p>
          <a:p>
            <a:endParaRPr/>
          </a:p>
          <a:p>
            <a:r>
              <a:t>SOURCES</a:t>
            </a:r>
          </a:p>
          <a:p>
            <a:r>
              <a:t>https://os-book.com/OS9/slide-dir/index.html</a:t>
            </a:r>
          </a:p>
          <a:p>
            <a:r>
              <a:t>https://cdrdv2-public.intel.com/868137/325462-089-sdm-vol-1-2abcd-3abcd-4.pdf (Vol. 3A, exception classifications)</a:t>
            </a:r>
          </a:p>
          <a:p>
            <a:endParaRPr/>
          </a:p>
          <a:p>
            <a:r>
              <a:t>Original classroom explanations and exercises by this teaching adaptation. Source figures retained with acknowledgement. Charts show hypothetical examples, not measured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NOTES</a:t>
            </a:r>
          </a:p>
          <a:p>
            <a:r>
              <a:t>The mode distinction is enforced by CPU hardware. A process can execute both user and kernel code over its lifetime. A mode switch does not necessarily change the running process. Administrator/root identity is a different concept from CPU kernel mode. The source diagram uses a simplified one-bit model.</a:t>
            </a:r>
          </a:p>
          <a:p>
            <a:endParaRPr/>
          </a:p>
          <a:p>
            <a:r>
              <a:t>SOURCES</a:t>
            </a:r>
          </a:p>
          <a:p>
            <a:r>
              <a:t>https://os-book.com/OS9/slide-dir/index.html</a:t>
            </a:r>
          </a:p>
          <a:p>
            <a:r>
              <a:t>https://www.cs.uic.edu/~jbell/CourseNotes/OperatingSystems/images/Chapter1/1_10_UserToKernelMode.jpg</a:t>
            </a:r>
          </a:p>
          <a:p>
            <a:endParaRPr/>
          </a:p>
          <a:p>
            <a:r>
              <a:t>Original classroom explanations and exercises by this teaching adaptation. Source figures retained with acknowledgement. Charts show hypothetical examples, not measured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NOTES</a:t>
            </a:r>
          </a:p>
          <a:p>
            <a:r>
              <a:t>Memory protection uses hardware mappings and permissions in modern systems. Base/limit registers provide a useful introductory model. Privileged I/O controls prevent arbitrary device manipulation. Some systems grant restricted user-space I/O access. Timer control is privileged so applications cannot turn off preemption.</a:t>
            </a:r>
          </a:p>
          <a:p>
            <a:endParaRPr/>
          </a:p>
          <a:p>
            <a:r>
              <a:t>SOURCES</a:t>
            </a:r>
          </a:p>
          <a:p>
            <a:r>
              <a:t>https://os-book.com/OS9/slide-dir/index.html</a:t>
            </a:r>
          </a:p>
          <a:p>
            <a:endParaRPr/>
          </a:p>
          <a:p>
            <a:r>
              <a:t>Original classroom explanations and exercises by this teaching adaptation. Source figures retained with acknowledgement. Charts show hypothetical examples, not measured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NOTES</a:t>
            </a:r>
          </a:p>
          <a:p>
            <a:r>
              <a:t>Answers: logical 0 maps to physical 4000. Logical 999 maps to physical 4999. Logical 1000 is invalid and raises a protection exception. The valid physical interval is 4000 through 4999 inclusive. Explain why using ≤ limit would allow one extra byte. Loading protection registers must require privileged control.</a:t>
            </a:r>
          </a:p>
          <a:p>
            <a:endParaRPr/>
          </a:p>
          <a:p>
            <a:r>
              <a:t>SOURCES</a:t>
            </a:r>
          </a:p>
          <a:p>
            <a:r>
              <a:t>https://os-book.com/OS9/slide-dir/index.html</a:t>
            </a:r>
          </a:p>
          <a:p>
            <a:endParaRPr/>
          </a:p>
          <a:p>
            <a:r>
              <a:t>Original classroom explanations and exercises by this teaching adaptation. Source figures retained with acknowledgement. Charts show hypothetical examples, not measured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NOTES</a:t>
            </a:r>
          </a:p>
          <a:p>
            <a:r>
              <a:t>Allow two minutes in pairs, then discuss. Answers: hardware interrupt, page fault, trap-class exception, system call, and no. A system call can execute for the same process then return. A timer interrupt can run without a context switch. Ask one student to explain each answer using its cause and return behavior.</a:t>
            </a:r>
          </a:p>
          <a:p>
            <a:endParaRPr/>
          </a:p>
          <a:p>
            <a:r>
              <a:t>SOURCES</a:t>
            </a:r>
          </a:p>
          <a:p>
            <a:r>
              <a:t>https://os-book.com/OS9/slide-dir/index.html</a:t>
            </a:r>
          </a:p>
          <a:p>
            <a:endParaRPr/>
          </a:p>
          <a:p>
            <a:r>
              <a:t>Original classroom explanations and exercises by this teaching adaptation. Source figures retained with acknowledgement. Charts show hypothetical examples, not measured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NOTES</a:t>
            </a:r>
          </a:p>
          <a:p>
            <a:r>
              <a:t>Proposed Week 2 A: 5 minutes recap, 10 minutes services, 10 minutes CLI/GUI, 15 minutes API/system call, 10 minutes file-copy trace, 10 minutes demo and checkpoint. These are proposed 60-minute blocks, not contact-hour requirements.</a:t>
            </a:r>
          </a:p>
          <a:p>
            <a:endParaRPr/>
          </a:p>
          <a:p>
            <a:r>
              <a:t>SOURCES</a:t>
            </a:r>
          </a:p>
          <a:p>
            <a:r>
              <a:t>https://www.man7.org/linux/man-pages/man2/syscalls.2.html</a:t>
            </a:r>
          </a:p>
          <a:p>
            <a:endParaRPr/>
          </a:p>
          <a:p>
            <a:r>
              <a:t>Original classroom explanations and exercises by this teaching adaptation. Source figures retained with acknowledgement. Charts show hypothetical examples, not measured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NOTES</a:t>
            </a:r>
          </a:p>
          <a:p>
            <a:r>
              <a:t>For saving a report: program execution runs the editor, file services organize persistent data, I/O transfers bytes, protection checks permissions, and resource allocation shares CPU and buffers. Add error detection and accounting as system-oriented services. Ask students which services a browser download uses. Original lecture explanation, source figure credited separately.</a:t>
            </a:r>
          </a:p>
          <a:p>
            <a:endParaRPr/>
          </a:p>
          <a:p>
            <a:r>
              <a:t>SOURCES</a:t>
            </a:r>
          </a:p>
          <a:p>
            <a:r>
              <a:t>https://www.man7.org/linux/man-pages/man2/syscalls.2.html</a:t>
            </a:r>
          </a:p>
          <a:p>
            <a:r>
              <a:t>https://www.cs.uic.edu/~jbell/CourseNotes/OperatingSystems/images/Chapter2/2_01_OS_Services.jpg</a:t>
            </a:r>
          </a:p>
          <a:p>
            <a:endParaRPr/>
          </a:p>
          <a:p>
            <a:r>
              <a:t>Original classroom explanations and exercises by this teaching adaptation. Source figures retained with acknowledgement. Charts show hypothetical examples, not measured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NOTES</a:t>
            </a:r>
          </a:p>
          <a:p>
            <a:r>
              <a:t>Demonstrate ls or dir beside a file manager. Both request file information through OS interfaces. A CLI is not automatically more privileged. A GUI is not the kernel. A shell may execute built-ins itself and launch external programs for other commands. Examples are illustrative and platform dependent.</a:t>
            </a:r>
          </a:p>
          <a:p>
            <a:endParaRPr/>
          </a:p>
          <a:p>
            <a:r>
              <a:t>SOURCES</a:t>
            </a:r>
          </a:p>
          <a:p>
            <a:r>
              <a:t>https://www.man7.org/linux/man-pages/man2/syscalls.2.html</a:t>
            </a:r>
          </a:p>
          <a:p>
            <a:r>
              <a:t>https://www.cs.uic.edu/~jbell/CourseNotes/OperatingSystems/images/Chapter2/2_02_BourneShell.jpg</a:t>
            </a:r>
          </a:p>
          <a:p>
            <a:endParaRPr/>
          </a:p>
          <a:p>
            <a:r>
              <a:t>Original classroom explanations and exercises by this teaching adaptation. Source figures retained with acknowledgement. Charts show hypothetical examples, not measured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NOTES</a:t>
            </a:r>
          </a:p>
          <a:p>
            <a:r>
              <a:t>Use strlen as a user-space function and write as a library interface that typically invokes a kernel write request on Linux. printf is buffered and does not necessarily invoke a syscall on every call. POSIX specifies APIs rather than one universal machine instruction sequence. Linux system-call conventions depend on the architecture.</a:t>
            </a:r>
          </a:p>
          <a:p>
            <a:endParaRPr/>
          </a:p>
          <a:p>
            <a:r>
              <a:t>SOURCES</a:t>
            </a:r>
          </a:p>
          <a:p>
            <a:r>
              <a:t>https://www.man7.org/linux/man-pages/man2/syscalls.2.html</a:t>
            </a:r>
          </a:p>
          <a:p>
            <a:endParaRPr/>
          </a:p>
          <a:p>
            <a:r>
              <a:t>Original classroom explanations and exercises by this teaching adaptation. Source figures retained with acknowledgement. Charts show hypothetical examples, not measured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NOTES</a:t>
            </a:r>
          </a:p>
          <a:p>
            <a:r>
              <a:t>Explain API, ABI and dispatch without memorizing syscall numbers. The source illustration uses open as its example. On contemporary Linux a library implementation may use openat or other related calls underneath. The teaching point is the boundary, not an exact one-to-one name mapping.</a:t>
            </a:r>
          </a:p>
          <a:p>
            <a:endParaRPr/>
          </a:p>
          <a:p>
            <a:r>
              <a:t>SOURCES</a:t>
            </a:r>
          </a:p>
          <a:p>
            <a:r>
              <a:t>https://www.man7.org/linux/man-pages/man2/syscalls.2.html</a:t>
            </a:r>
          </a:p>
          <a:p>
            <a:r>
              <a:t>https://www.cs.uic.edu/~jbell/CourseNotes/OperatingSystems/images/Chapter2/2_06_Open.jpg</a:t>
            </a:r>
          </a:p>
          <a:p>
            <a:endParaRPr/>
          </a:p>
          <a:p>
            <a:r>
              <a:t>Original classroom explanations and exercises by this teaching adaptation. Source figures retained with acknowledgement. Charts show hypothetical examples, not measured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NOTES</a:t>
            </a:r>
          </a:p>
          <a:p>
            <a:r>
              <a:t>Different architectures and ABIs use different conventions. Modern Linux on x86-64 normally passes syscall arguments in registers. A pointer is an address, not proof that the buffer exists or is accessible. A write request includes a descriptor, pointer and count. Kernel validation is essential.</a:t>
            </a:r>
          </a:p>
          <a:p>
            <a:endParaRPr/>
          </a:p>
          <a:p>
            <a:r>
              <a:t>SOURCES</a:t>
            </a:r>
          </a:p>
          <a:p>
            <a:r>
              <a:t>https://www.man7.org/linux/man-pages/man2/syscalls.2.html</a:t>
            </a:r>
          </a:p>
          <a:p>
            <a:r>
              <a:t>https://www.cs.uic.edu/~jbell/CourseNotes/OperatingSystems/images/Chapter2/2_07_Passing.jpg</a:t>
            </a:r>
          </a:p>
          <a:p>
            <a:endParaRPr/>
          </a:p>
          <a:p>
            <a:r>
              <a:t>Original classroom explanations and exercises by this teaching adaptation. Source figures retained with acknowledgement. Charts show hypothetical examples, not measured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NOTES</a:t>
            </a:r>
          </a:p>
          <a:p>
            <a:r>
              <a:t>Avoid requiring memorization of every syscall. Ask students to map operations to categories. Linux examples are given through commonly used C interfaces. Some interface names are wrappers or families. Process creation calls are only previewed here because the outline teaches fork and exec in Week 4.</a:t>
            </a:r>
          </a:p>
          <a:p>
            <a:endParaRPr/>
          </a:p>
          <a:p>
            <a:r>
              <a:t>SOURCES</a:t>
            </a:r>
          </a:p>
          <a:p>
            <a:r>
              <a:t>https://www.man7.org/linux/man-pages/man2/syscalls.2.html</a:t>
            </a:r>
          </a:p>
          <a:p>
            <a:endParaRPr/>
          </a:p>
          <a:p>
            <a:r>
              <a:t>Original classroom explanations and exercises by this teaching adaptation. Source figures retained with acknowledgement. Charts show hypothetical examples, not measured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NOTES</a:t>
            </a:r>
          </a:p>
          <a:p>
            <a:r>
              <a:t>Ask where the OS may reject the request: missing source, denied permission, insufficient space, invalid buffer or device error. Production code must handle partial writes and interrupted calls. This slide is a conceptual trace, not a complete file-copy program. Link each stage to the service category and privilege boundary.</a:t>
            </a:r>
          </a:p>
          <a:p>
            <a:endParaRPr/>
          </a:p>
          <a:p>
            <a:r>
              <a:t>SOURCES</a:t>
            </a:r>
          </a:p>
          <a:p>
            <a:r>
              <a:t>https://www.man7.org/linux/man-pages/man2/syscalls.2.html</a:t>
            </a:r>
          </a:p>
          <a:p>
            <a:endParaRPr/>
          </a:p>
          <a:p>
            <a:r>
              <a:t>Original classroom explanations and exercises by this teaching adaptation. Source figures retained with acknowledgement. Charts show hypothetical examples, not measured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NOTES</a:t>
            </a:r>
          </a:p>
          <a:p>
            <a:r>
              <a:t>Create a small sample.txt before class. strace must be installed and tracing must be permitted. Dynamic loader activity causes extra file calls. Filter output, then locate the read of sample.txt and write to descriptor 1. Output varies by system. Use a prepared screenshot or verbal trace if the classroom has Windows without Linux/WSL. Do not promise identical syscall names everywhere.</a:t>
            </a:r>
          </a:p>
          <a:p>
            <a:endParaRPr/>
          </a:p>
          <a:p>
            <a:r>
              <a:t>SOURCES</a:t>
            </a:r>
          </a:p>
          <a:p>
            <a:r>
              <a:t>https://www.man7.org/linux/man-pages/man2/syscalls.2.html</a:t>
            </a:r>
          </a:p>
          <a:p>
            <a:endParaRPr/>
          </a:p>
          <a:p>
            <a:r>
              <a:t>Original classroom explanations and exercises by this teaching adaptation. Source figures retained with acknowledgement. Charts show hypothetical examples, not measured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NOTES</a:t>
            </a:r>
          </a:p>
          <a:p>
            <a:r>
              <a:t>Answers: normally no, no, because user input may refer to invalid or unauthorized memory, and file/I/O/protection/resource services. Ask students to describe the boundary in their own words rather than repeat terminology.</a:t>
            </a:r>
          </a:p>
          <a:p>
            <a:endParaRPr/>
          </a:p>
          <a:p>
            <a:r>
              <a:t>SOURCES</a:t>
            </a:r>
          </a:p>
          <a:p>
            <a:r>
              <a:t>https://www.man7.org/linux/man-pages/man2/syscalls.2.html</a:t>
            </a:r>
          </a:p>
          <a:p>
            <a:endParaRPr/>
          </a:p>
          <a:p>
            <a:r>
              <a:t>Original classroom explanations and exercises by this teaching adaptation. Source figures retained with acknowledgement. Charts show hypothetical examples, not measured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NOTES</a:t>
            </a:r>
          </a:p>
          <a:p>
            <a:r>
              <a:t>Proposed Week 2 B: 5 minutes retrieval, 5 minutes design goals, 20 minutes structures, 10 minutes Apple/Android, 10 minutes design scenario, 10 minutes comparison and checkpoint. Explain the categories as design models. Real systems combine several features.</a:t>
            </a:r>
          </a:p>
          <a:p>
            <a:endParaRPr/>
          </a:p>
          <a:p>
            <a:r>
              <a:t>SOURCES</a:t>
            </a:r>
          </a:p>
          <a:p>
            <a:r>
              <a:t>https://www.man7.org/linux/man-pages/man2/syscalls.2.html</a:t>
            </a:r>
          </a:p>
          <a:p>
            <a:endParaRPr/>
          </a:p>
          <a:p>
            <a:r>
              <a:t>Original classroom explanations and exercises by this teaching adaptation. Source figures retained with acknowledgement. Charts show hypothetical examples, not measured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NOTES</a:t>
            </a:r>
          </a:p>
          <a:p>
            <a:r>
              <a:t>Example: a scheduler policy chooses the next process. A context-switch mechanism saves and restores state. Other design goals include maintainability, security and portability. Goals can conflict. A smaller privileged core may improve fault isolation while adding communication cost. The separation is an engineering principle, not an absolute requirement.</a:t>
            </a:r>
          </a:p>
          <a:p>
            <a:endParaRPr/>
          </a:p>
          <a:p>
            <a:r>
              <a:t>SOURCES</a:t>
            </a:r>
          </a:p>
          <a:p>
            <a:r>
              <a:t>https://www.man7.org/linux/man-pages/man2/syscalls.2.html</a:t>
            </a:r>
          </a:p>
          <a:p>
            <a:r>
              <a:t>https://pages.cs.wisc.edu/~remzi/OSTEP/cpu-mechanisms.pdf</a:t>
            </a:r>
          </a:p>
          <a:p>
            <a:endParaRPr/>
          </a:p>
          <a:p>
            <a:r>
              <a:t>Original classroom explanations and exercises by this teaching adaptation. Source figures retained with acknowledgement. Charts show hypothetical examples, not measured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NOTES</a:t>
            </a:r>
          </a:p>
          <a:p>
            <a:r>
              <a:t>MS-DOS is a historical teaching example of limited structural separation. Explain the diagram in context of early hardware and constraints rather than presenting it as a modern protected kernel design. The categories simple and monolithic overlap historically. Focus on which boundaries can be bypassed.</a:t>
            </a:r>
          </a:p>
          <a:p>
            <a:endParaRPr/>
          </a:p>
          <a:p>
            <a:r>
              <a:t>SOURCES</a:t>
            </a:r>
          </a:p>
          <a:p>
            <a:r>
              <a:t>https://www.man7.org/linux/man-pages/man2/syscalls.2.html</a:t>
            </a:r>
          </a:p>
          <a:p>
            <a:r>
              <a:t>https://www.cs.uic.edu/~jbell/CourseNotes/OperatingSystems/images/Chapter2/2_11_DOS_Structure.jpg</a:t>
            </a:r>
          </a:p>
          <a:p>
            <a:endParaRPr/>
          </a:p>
          <a:p>
            <a:r>
              <a:t>Original classroom explanations and exercises by this teaching adaptation. Source figures retained with acknowledgement. Charts show hypothetical examples, not measured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NOTES</a:t>
            </a:r>
          </a:p>
          <a:p>
            <a:r>
              <a:t>The figure illustrates historical UNIX organization. Do not infer that a monolithic kernel has no internal organization. It can use clean subsystems and loadable modules. Sharing privileged space makes calls efficient but reduces isolation between kernel components. Avoid universal performance rankings.</a:t>
            </a:r>
          </a:p>
          <a:p>
            <a:endParaRPr/>
          </a:p>
          <a:p>
            <a:r>
              <a:t>SOURCES</a:t>
            </a:r>
          </a:p>
          <a:p>
            <a:r>
              <a:t>https://www.man7.org/linux/man-pages/man2/syscalls.2.html</a:t>
            </a:r>
          </a:p>
          <a:p>
            <a:r>
              <a:t>https://www.cs.uic.edu/~jbell/CourseNotes/OperatingSystems/images/Chapter2/2_12_UNIX_Structure.jpg</a:t>
            </a:r>
          </a:p>
          <a:p>
            <a:r>
              <a:t>https://www.kernel.org/doc/html/latest/admin-guide/module-signing.html</a:t>
            </a:r>
          </a:p>
          <a:p>
            <a:endParaRPr/>
          </a:p>
          <a:p>
            <a:r>
              <a:t>Original classroom explanations and exercises by this teaching adaptation. Source figures retained with acknowledgement. Charts show hypothetical examples, not measured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NOTES</a:t>
            </a:r>
          </a:p>
          <a:p>
            <a:r>
              <a:t>The figure is a conceptual layered model. Higher layers provide abstractions and lower layers handle hardware-facing details. Ask: where should memory allocation sit if several layers need it? Strict layering may be inconvenient, so real systems often use partial layering.</a:t>
            </a:r>
          </a:p>
          <a:p>
            <a:endParaRPr/>
          </a:p>
          <a:p>
            <a:r>
              <a:t>SOURCES</a:t>
            </a:r>
          </a:p>
          <a:p>
            <a:r>
              <a:t>https://www.man7.org/linux/man-pages/man2/syscalls.2.html</a:t>
            </a:r>
          </a:p>
          <a:p>
            <a:r>
              <a:t>https://www.cs.uic.edu/~jbell/CourseNotes/OperatingSystems/images/Chapter2/2_13_Laered_OS.jpg</a:t>
            </a:r>
          </a:p>
          <a:p>
            <a:endParaRPr/>
          </a:p>
          <a:p>
            <a:r>
              <a:t>Original classroom explanations and exercises by this teaching adaptation. Source figures retained with acknowledgement. Charts show hypothetical examples, not measured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NOTES</a:t>
            </a:r>
          </a:p>
          <a:p>
            <a:r>
              <a:t>The diagram shows application requests routed to services using a microkernel. Typical essential mechanisms include IPC, low-level address-space management and scheduling. Exact membership differs by design. A user-space driver failure may be contained, but successful recovery requires appropriate supervision and service design. Message and mode-crossing overhead varies.</a:t>
            </a:r>
          </a:p>
          <a:p>
            <a:endParaRPr/>
          </a:p>
          <a:p>
            <a:r>
              <a:t>SOURCES</a:t>
            </a:r>
          </a:p>
          <a:p>
            <a:r>
              <a:t>https://www.man7.org/linux/man-pages/man2/syscalls.2.html</a:t>
            </a:r>
          </a:p>
          <a:p>
            <a:r>
              <a:t>https://www.cs.uic.edu/~jbell/CourseNotes/OperatingSystems/images/Chapter2/2_14_microkernelArchitecture.jpg</a:t>
            </a:r>
          </a:p>
          <a:p>
            <a:endParaRPr/>
          </a:p>
          <a:p>
            <a:r>
              <a:t>Original classroom explanations and exercises by this teaching adaptation. Source figures retained with acknowledgement. Charts show hypothetical examples, not measured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NOTES</a:t>
            </a:r>
          </a:p>
          <a:p>
            <a:r>
              <a:t>Solaris provides the source illustration, while Linux is another example. A loadable driver in kernel space can still corrupt privileged state. Distinguish a kernel module from a user-space service in a microkernel. Read-only demo: lsmod on Linux, if available.</a:t>
            </a:r>
          </a:p>
          <a:p>
            <a:endParaRPr/>
          </a:p>
          <a:p>
            <a:r>
              <a:t>SOURCES</a:t>
            </a:r>
          </a:p>
          <a:p>
            <a:r>
              <a:t>https://www.man7.org/linux/man-pages/man2/syscalls.2.html</a:t>
            </a:r>
          </a:p>
          <a:p>
            <a:r>
              <a:t>https://www.cs.uic.edu/~jbell/CourseNotes/OperatingSystems/images/Chapter2/2_15_Solaris_Modules.jpg</a:t>
            </a:r>
          </a:p>
          <a:p>
            <a:r>
              <a:t>https://www.kernel.org/doc/html/latest/admin-guide/module-signing.html</a:t>
            </a:r>
          </a:p>
          <a:p>
            <a:endParaRPr/>
          </a:p>
          <a:p>
            <a:r>
              <a:t>Original classroom explanations and exercises by this teaching adaptation. Source figures retained with acknowledgement. Charts show hypothetical examples, not measured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NOTES</a:t>
            </a:r>
          </a:p>
          <a:p>
            <a:r>
              <a:t>Apple documents a kernel environment containing Mach, BSD, I/O Kit, networking and file systems. iOS also uses XNU. Historical figures are conceptual, not exact current implementation maps. Some modern drivers run in user space. Avoid saying that all Mach-derived services live outside the XNU kernel.</a:t>
            </a:r>
          </a:p>
          <a:p>
            <a:endParaRPr/>
          </a:p>
          <a:p>
            <a:r>
              <a:t>SOURCES</a:t>
            </a:r>
          </a:p>
          <a:p>
            <a:r>
              <a:t>https://www.man7.org/linux/man-pages/man2/syscalls.2.html</a:t>
            </a:r>
          </a:p>
          <a:p>
            <a:r>
              <a:t>https://www.cs.uic.edu/~jbell/CourseNotes/OperatingSystems/images/Chapter2/2_16_Mac_OSX_Structure.jpg</a:t>
            </a:r>
          </a:p>
          <a:p>
            <a:r>
              <a:t>https://developer.apple.com/library/archive/documentation/Darwin/Conceptual/KernelProgramming/Architecture/Architecture.html</a:t>
            </a:r>
          </a:p>
          <a:p>
            <a:endParaRPr/>
          </a:p>
          <a:p>
            <a:r>
              <a:t>Original classroom explanations and exercises by this teaching adaptation. Source figures retained with acknowledgement. Charts show hypothetical examples, not measured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NOTES</a:t>
            </a:r>
          </a:p>
          <a:p>
            <a:r>
              <a:t>Android is a layered platform stack with a Linux-based, modular monolithic kernel. It is not a microkernel because it has frameworks above Linux. The outline groups Android under hybrid systems, so explicitly distinguish whole-platform composition from kernel classification. ART is the runtime used in contemporary Android. This slide omits the old Dalvik-labelled textbook figure.</a:t>
            </a:r>
          </a:p>
          <a:p>
            <a:endParaRPr/>
          </a:p>
          <a:p>
            <a:r>
              <a:t>SOURCES</a:t>
            </a:r>
          </a:p>
          <a:p>
            <a:r>
              <a:t>https://www.man7.org/linux/man-pages/man2/syscalls.2.html</a:t>
            </a:r>
          </a:p>
          <a:p>
            <a:r>
              <a:t>https://developer.android.com/guide/platform</a:t>
            </a:r>
          </a:p>
          <a:p>
            <a:endParaRPr/>
          </a:p>
          <a:p>
            <a:r>
              <a:t>Original classroom explanations and exercises by this teaching adaptation. Source figures retained with acknowledgement. Charts show hypothetical examples, not measured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NOTES</a:t>
            </a:r>
          </a:p>
          <a:p>
            <a:r>
              <a:t>Use this table as synthesis. Categories overlap and are not mutually exclusive. A monolithic kernel can be modular. A hybrid design can be layered internally. Performance depends on implementation and workload. Do not rank structures using invented benchmark numbers.</a:t>
            </a:r>
          </a:p>
          <a:p>
            <a:endParaRPr/>
          </a:p>
          <a:p>
            <a:r>
              <a:t>SOURCES</a:t>
            </a:r>
          </a:p>
          <a:p>
            <a:r>
              <a:t>https://www.man7.org/linux/man-pages/man2/syscalls.2.html</a:t>
            </a:r>
          </a:p>
          <a:p>
            <a:endParaRPr/>
          </a:p>
          <a:p>
            <a:r>
              <a:t>Original classroom explanations and exercises by this teaching adaptation. Source figures retained with acknowledgement. Charts show hypothetical examples, not measured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NOTES</a:t>
            </a:r>
          </a:p>
          <a:p>
            <a:r>
              <a:t>Give pairs three minutes. Expected answer: B can contain the crash more easily if its memory and authority are isolated. Recovery also needs a supervisor, state restoration and a plan for interrupted requests. A cannot guarantee safe continuation after kernel memory corruption. Do not assume every microkernel recovers automatically.</a:t>
            </a:r>
          </a:p>
          <a:p>
            <a:endParaRPr/>
          </a:p>
          <a:p>
            <a:r>
              <a:t>SOURCES</a:t>
            </a:r>
          </a:p>
          <a:p>
            <a:r>
              <a:t>https://www.man7.org/linux/man-pages/man2/syscalls.2.html</a:t>
            </a:r>
          </a:p>
          <a:p>
            <a:endParaRPr/>
          </a:p>
          <a:p>
            <a:r>
              <a:t>Original classroom explanations and exercises by this teaching adaptation. Source figures retained with acknowledgement. Charts show hypothetical examples, not measured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NOTES</a:t>
            </a:r>
          </a:p>
          <a:p>
            <a:r>
              <a:t>Proposed Week 3 A covers program/process, memory, states, PCB and tracing. Week 3 B covers scheduling, queues, scheduler roles, context switching and overhead. Both map to CLO1. Quiz 1 in the outline covers Lectures 1–4, so scope its assessed content to Weeks 1–2 unless local lecture numbering differs.</a:t>
            </a:r>
          </a:p>
          <a:p>
            <a:endParaRPr/>
          </a:p>
          <a:p>
            <a:r>
              <a:t>SOURCES</a:t>
            </a:r>
          </a:p>
          <a:p>
            <a:r>
              <a:t>https://pages.cs.wisc.edu/~remzi/OSTEP/cpu-intro.pdf</a:t>
            </a:r>
          </a:p>
          <a:p>
            <a:endParaRPr/>
          </a:p>
          <a:p>
            <a:r>
              <a:t>Original classroom explanations and exercises by this teaching adaptation. Source figures retained with acknowledgement. Charts show hypothetical examples, not measured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NOTES</a:t>
            </a:r>
          </a:p>
          <a:p>
            <a:r>
              <a:t>Use a text editor launched twice. Both instances may share executable code pages but have different execution states and private writable data. A real application may use multiple processes and threads. Here we begin with one thread per process. A process remains a process while it waits and is not executing instructions.</a:t>
            </a:r>
          </a:p>
          <a:p>
            <a:endParaRPr/>
          </a:p>
          <a:p>
            <a:r>
              <a:t>SOURCES</a:t>
            </a:r>
          </a:p>
          <a:p>
            <a:r>
              <a:t>https://pages.cs.wisc.edu/~remzi/OSTEP/cpu-intro.pdf</a:t>
            </a:r>
          </a:p>
          <a:p>
            <a:endParaRPr/>
          </a:p>
          <a:p>
            <a:r>
              <a:t>Original classroom explanations and exercises by this teaching adaptation. Source figures retained with acknowledgement. Charts show hypothetical examples, not measured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NOTES</a:t>
            </a:r>
          </a:p>
          <a:p>
            <a:r>
              <a:t>Identify an int global in the data region, malloc storage in the heap and a typical function-local variable in the stack. Modern address spaces also contain mappings and libraries. Growth direction and contiguous layout are schematic and depend on ABI and OS. Compiler optimization can keep locals in registers.</a:t>
            </a:r>
          </a:p>
          <a:p>
            <a:endParaRPr/>
          </a:p>
          <a:p>
            <a:r>
              <a:t>SOURCES</a:t>
            </a:r>
          </a:p>
          <a:p>
            <a:r>
              <a:t>https://pages.cs.wisc.edu/~remzi/OSTEP/cpu-intro.pdf</a:t>
            </a:r>
          </a:p>
          <a:p>
            <a:r>
              <a:t>https://www.cs.uic.edu/~jbell/CourseNotes/OperatingSystems/images/Chapter3/3_01_Process_Memory.jpg</a:t>
            </a:r>
          </a:p>
          <a:p>
            <a:endParaRPr/>
          </a:p>
          <a:p>
            <a:r>
              <a:t>Original classroom explanations and exercises by this teaching adaptation. Source figures retained with acknowledgement. Charts show hypothetical examples, not measured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NOTES</a:t>
            </a:r>
          </a:p>
          <a:p>
            <a:r>
              <a:t>Use one-core, one-thread-per-process assumptions. Ready means it can run when selected. Waiting means a needed event has not happened. Terminated means execution is finished, though bookkeeping may remain. Linux has richer state codes and these do not map one-to-one onto this model.</a:t>
            </a:r>
          </a:p>
          <a:p>
            <a:endParaRPr/>
          </a:p>
          <a:p>
            <a:r>
              <a:t>SOURCES</a:t>
            </a:r>
          </a:p>
          <a:p>
            <a:r>
              <a:t>https://pages.cs.wisc.edu/~remzi/OSTEP/cpu-intro.pdf</a:t>
            </a:r>
          </a:p>
          <a:p>
            <a:endParaRPr/>
          </a:p>
          <a:p>
            <a:r>
              <a:t>Original classroom explanations and exercises by this teaching adaptation. Source figures retained with acknowledgement. Charts show hypothetical examples, not measured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NOTES</a:t>
            </a:r>
          </a:p>
          <a:p>
            <a:r>
              <a:t>Walk through every labelled edge in the source diagram. Under the basic model, waiting does not move straight to running. It becomes ready and then the scheduler dispatches it. Ready does not normally move to waiting without first executing a blocking action. Termination can also arise from external actions in richer models.</a:t>
            </a:r>
          </a:p>
          <a:p>
            <a:endParaRPr/>
          </a:p>
          <a:p>
            <a:r>
              <a:t>SOURCES</a:t>
            </a:r>
          </a:p>
          <a:p>
            <a:r>
              <a:t>https://pages.cs.wisc.edu/~remzi/OSTEP/cpu-intro.pdf</a:t>
            </a:r>
          </a:p>
          <a:p>
            <a:r>
              <a:t>https://www.cs.uic.edu/~jbell/CourseNotes/OperatingSystems/images/Chapter3/3_02_ProcessState.jpg</a:t>
            </a:r>
          </a:p>
          <a:p>
            <a:endParaRPr/>
          </a:p>
          <a:p>
            <a:r>
              <a:t>Original classroom explanations and exercises by this teaching adaptation. Source figures retained with acknowledgement. Charts show hypothetical examples, not measured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NOTES</a:t>
            </a:r>
          </a:p>
          <a:p>
            <a:r>
              <a:t>Ask students to write the state after each event. Answer: running, waiting, editor remains waiting while another runs, ready, running. Completion of disk I/O does not guarantee immediate CPU time. The trace assumes a genuinely blocking request, because buffered file operations may return earlier.</a:t>
            </a:r>
          </a:p>
          <a:p>
            <a:endParaRPr/>
          </a:p>
          <a:p>
            <a:r>
              <a:t>SOURCES</a:t>
            </a:r>
          </a:p>
          <a:p>
            <a:r>
              <a:t>https://pages.cs.wisc.edu/~remzi/OSTEP/cpu-intro.pdf</a:t>
            </a:r>
          </a:p>
          <a:p>
            <a:endParaRPr/>
          </a:p>
          <a:p>
            <a:r>
              <a:t>Original classroom explanations and exercises by this teaching adaptation. Source figures retained with acknowledgement. Charts show hypothetical examples, not measured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NOTES</a:t>
            </a:r>
          </a:p>
          <a:p>
            <a:r>
              <a:t>Use the PCB as an organized record rather than a magic box. Discuss PID, state, saved PC/registers, scheduling metadata, memory-management references, accounting and I/O information. Actual kernels spread information across related structures. Linux task_struct is a useful implementation analogy, not an exact match to a textbook PCB.</a:t>
            </a:r>
          </a:p>
          <a:p>
            <a:endParaRPr/>
          </a:p>
          <a:p>
            <a:r>
              <a:t>SOURCES</a:t>
            </a:r>
          </a:p>
          <a:p>
            <a:r>
              <a:t>https://pages.cs.wisc.edu/~remzi/OSTEP/cpu-intro.pdf</a:t>
            </a:r>
          </a:p>
          <a:p>
            <a:r>
              <a:t>https://www.cs.uic.edu/~jbell/CourseNotes/OperatingSystems/images/Chapter3/3_03_PCB.jpg</a:t>
            </a:r>
          </a:p>
          <a:p>
            <a:endParaRPr/>
          </a:p>
          <a:p>
            <a:r>
              <a:t>Original classroom explanations and exercises by this teaching adaptation. Source figures retained with acknowledgement. Charts show hypothetical examples, not measured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NOTES</a:t>
            </a:r>
          </a:p>
          <a:p>
            <a:r>
              <a:t>Answer: P1 execution context including its correct PC, R1 and other required registers, stack pointer and processor state. Its memory mapping or address-space context must also be selected as necessary. The OS restores P1 state, not the register values P2 left behind. Illustrative values are arbitrary. Saving only the PC is insufficient.</a:t>
            </a:r>
          </a:p>
          <a:p>
            <a:endParaRPr/>
          </a:p>
          <a:p>
            <a:r>
              <a:t>SOURCES</a:t>
            </a:r>
          </a:p>
          <a:p>
            <a:r>
              <a:t>https://pages.cs.wisc.edu/~remzi/OSTEP/cpu-intro.pdf</a:t>
            </a:r>
          </a:p>
          <a:p>
            <a:endParaRPr/>
          </a:p>
          <a:p>
            <a:r>
              <a:t>Original classroom explanations and exercises by this teaching adaptation. Source figures retained with acknowledgement. Charts show hypothetical examples, not measured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NOTES</a:t>
            </a:r>
          </a:p>
          <a:p>
            <a:r>
              <a:t>Textbook diagrams often show one CPU and one ready queue. Modern kernels may have per-CPU run queues and other arrangements. A ready queue need not be FIFO. Device and event queues are a conceptual way to group waits. CPU-bound and I/O-bound behavior influences scheduling goals.</a:t>
            </a:r>
          </a:p>
          <a:p>
            <a:endParaRPr/>
          </a:p>
          <a:p>
            <a:r>
              <a:t>SOURCES</a:t>
            </a:r>
          </a:p>
          <a:p>
            <a:r>
              <a:t>https://pages.cs.wisc.edu/~remzi/OSTEP/cpu-intro.pdf</a:t>
            </a:r>
          </a:p>
          <a:p>
            <a:r>
              <a:t>https://www.cs.uic.edu/~jbell/CourseNotes/OperatingSystems/images/Chapter3/3_05_Queues.jpg</a:t>
            </a:r>
          </a:p>
          <a:p>
            <a:endParaRPr/>
          </a:p>
          <a:p>
            <a:r>
              <a:t>Original classroom explanations and exercises by this teaching adaptation. Source figures retained with acknowledgement. Charts show hypothetical examples, not measured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NOTES</a:t>
            </a:r>
          </a:p>
          <a:p>
            <a:r>
              <a:t>Track one process around the queueing diagram with a pointer. Ask a student to identify the path for a timer expiry and another for disk I/O. Queue changes correspond to process-state changes. In later lectures students will compare algorithms for selecting an item from runnable work.</a:t>
            </a:r>
          </a:p>
          <a:p>
            <a:endParaRPr/>
          </a:p>
          <a:p>
            <a:r>
              <a:t>SOURCES</a:t>
            </a:r>
          </a:p>
          <a:p>
            <a:r>
              <a:t>https://pages.cs.wisc.edu/~remzi/OSTEP/cpu-intro.pdf</a:t>
            </a:r>
          </a:p>
          <a:p>
            <a:r>
              <a:t>https://www.cs.uic.edu/~jbell/CourseNotes/OperatingSystems/images/Chapter3/3_06_QueueingDiagram.jpg</a:t>
            </a:r>
          </a:p>
          <a:p>
            <a:endParaRPr/>
          </a:p>
          <a:p>
            <a:r>
              <a:t>Original classroom explanations and exercises by this teaching adaptation. Source figures retained with acknowledgement. Charts show hypothetical examples, not measured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NOTES</a:t>
            </a:r>
          </a:p>
          <a:p>
            <a:r>
              <a:t>Long-term admission selects work to enter the active workload, common in batch descriptions. Medium-term scheduling concerns suspension or swapping and active-set size. Short-term scheduling selects runnable work for CPU execution. Modern desktop/server OSes may not have separately named components for all three roles.</a:t>
            </a:r>
          </a:p>
          <a:p>
            <a:endParaRPr/>
          </a:p>
          <a:p>
            <a:r>
              <a:t>SOURCES</a:t>
            </a:r>
          </a:p>
          <a:p>
            <a:r>
              <a:t>https://pages.cs.wisc.edu/~remzi/OSTEP/cpu-intro.pdf</a:t>
            </a:r>
          </a:p>
          <a:p>
            <a:endParaRPr/>
          </a:p>
          <a:p>
            <a:r>
              <a:t>Original classroom explanations and exercises by this teaching adaptation. Source figures retained with acknowledgement. Charts show hypothetical examples, not measured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NOTES</a:t>
            </a:r>
          </a:p>
          <a:p>
            <a:r>
              <a:t>Introduce suspension only to explain the medium-term scheduler. Traditional swapping can move process memory out of RAM. Modern virtual-memory systems often page individual regions rather than swap entire processes. A wait condition can finish while the process remains suspended. Avoid expanding into a full seven-state model unless time permits.</a:t>
            </a:r>
          </a:p>
          <a:p>
            <a:endParaRPr/>
          </a:p>
          <a:p>
            <a:r>
              <a:t>SOURCES</a:t>
            </a:r>
          </a:p>
          <a:p>
            <a:r>
              <a:t>https://pages.cs.wisc.edu/~remzi/OSTEP/cpu-intro.pdf</a:t>
            </a:r>
          </a:p>
          <a:p>
            <a:endParaRPr/>
          </a:p>
          <a:p>
            <a:r>
              <a:t>Original classroom explanations and exercises by this teaching adaptation. Source figures retained with acknowledgement. Charts show hypothetical examples, not measured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NOTES</a:t>
            </a:r>
          </a:p>
          <a:p>
            <a:r>
              <a:t>The source diagram shows P0 and P1 alternating with operating-system work between them. A full context switch involves scheduler/dispatcher work as well as architecture-specific state handling. Not all switches require the same address-space changes. Cache and TLB effects can add indirect costs.</a:t>
            </a:r>
          </a:p>
          <a:p>
            <a:endParaRPr/>
          </a:p>
          <a:p>
            <a:r>
              <a:t>SOURCES</a:t>
            </a:r>
          </a:p>
          <a:p>
            <a:r>
              <a:t>https://pages.cs.wisc.edu/~remzi/OSTEP/cpu-intro.pdf</a:t>
            </a:r>
          </a:p>
          <a:p>
            <a:r>
              <a:t>https://www.cs.uic.edu/~jbell/CourseNotes/OperatingSystems/images/Chapter3/3_04_ProcessSwitch.jpg</a:t>
            </a:r>
          </a:p>
          <a:p>
            <a:r>
              <a:t>https://pages.cs.wisc.edu/~remzi/OSTEP/cpu-mechanisms.pdf</a:t>
            </a:r>
          </a:p>
          <a:p>
            <a:endParaRPr/>
          </a:p>
          <a:p>
            <a:r>
              <a:t>Original classroom explanations and exercises by this teaching adaptation. Source figures retained with acknowledgement. Charts show hypothetical examples, not measured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NOTES</a:t>
            </a:r>
          </a:p>
          <a:p>
            <a:r>
              <a:t>Example 1: getpid enters kernel execution and returns for the same task. Example 2: a blocking read enters the kernel and the scheduler runs another task. Example 3: an interrupt handler returns without rescheduling. A mode transition and a task change may occur together but neither term is a synonym for the other.</a:t>
            </a:r>
          </a:p>
          <a:p>
            <a:endParaRPr/>
          </a:p>
          <a:p>
            <a:r>
              <a:t>SOURCES</a:t>
            </a:r>
          </a:p>
          <a:p>
            <a:r>
              <a:t>https://pages.cs.wisc.edu/~remzi/OSTEP/cpu-intro.pdf</a:t>
            </a:r>
          </a:p>
          <a:p>
            <a:r>
              <a:t>https://pages.cs.wisc.edu/~remzi/OSTEP/cpu-mechanisms.pdf</a:t>
            </a:r>
          </a:p>
          <a:p>
            <a:endParaRPr/>
          </a:p>
          <a:p>
            <a:r>
              <a:t>Original classroom explanations and exercises by this teaching adaptation. Source figures retained with acknowledgement. Charts show hypothetical examples, not measured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NOTES</a:t>
            </a:r>
          </a:p>
          <a:p>
            <a:r>
              <a:t>Student calculation: q=1 gives 0.1/1.1 = 9.09%, q=5 gives 0.1/5.1 = 1.96%, q=10 gives 0.1/10.1 = 0.99%. These are hypothetical direct costs with one switch per cycle. They exclude other kernel work and indirect cache/TLB effects. Some schedulers may avoid a switch if the same task continues.</a:t>
            </a:r>
          </a:p>
          <a:p>
            <a:endParaRPr/>
          </a:p>
          <a:p>
            <a:r>
              <a:t>SOURCES</a:t>
            </a:r>
          </a:p>
          <a:p>
            <a:r>
              <a:t>https://pages.cs.wisc.edu/~remzi/OSTEP/cpu-intro.pdf</a:t>
            </a:r>
          </a:p>
          <a:p>
            <a:r>
              <a:t>https://pages.cs.wisc.edu/~remzi/OSTEP/cpu-mechanisms.pdf</a:t>
            </a:r>
          </a:p>
          <a:p>
            <a:endParaRPr/>
          </a:p>
          <a:p>
            <a:r>
              <a:t>Original classroom explanations and exercises by this teaching adaptation. Source figures retained with acknowledgement. Charts show hypothetical examples, not measured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NOTES</a:t>
            </a:r>
          </a:p>
          <a:p>
            <a:r>
              <a:t>Reveal calculated values after the exercise. Avoid claiming that the graph identifies an optimal quantum. Response depends on workload, number of runnable tasks, scheduling policy and other costs. Full round-robin evaluation is reserved for Week 7.</a:t>
            </a:r>
          </a:p>
          <a:p>
            <a:endParaRPr/>
          </a:p>
          <a:p>
            <a:r>
              <a:t>SOURCES</a:t>
            </a:r>
          </a:p>
          <a:p>
            <a:r>
              <a:t>https://pages.cs.wisc.edu/~remzi/OSTEP/cpu-intro.pdf</a:t>
            </a:r>
          </a:p>
          <a:p>
            <a:endParaRPr/>
          </a:p>
          <a:p>
            <a:r>
              <a:t>Original classroom explanations and exercises by this teaching adaptation. Source figures retained with acknowledgement. Charts show hypothetical examples, not measured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NOTES</a:t>
            </a:r>
          </a:p>
          <a:p>
            <a:r>
              <a:t>Linux R means running or runnable, S interruptible sleep, D uninterruptible sleep, T stopped and Z zombie. These do not map one-to-one to the five-state diagram. The ps process itself may appear R. sleep waits for a timer, so waiting is broader than disk I/O. Zombie handling is preview only and belongs with Week 4 process creation.</a:t>
            </a:r>
          </a:p>
          <a:p>
            <a:endParaRPr/>
          </a:p>
          <a:p>
            <a:r>
              <a:t>SOURCES</a:t>
            </a:r>
          </a:p>
          <a:p>
            <a:r>
              <a:t>https://pages.cs.wisc.edu/~remzi/OSTEP/cpu-intro.pdf</a:t>
            </a:r>
          </a:p>
          <a:p>
            <a:r>
              <a:t>https://www.man7.org/linux/man-pages/man1/ps.1.html</a:t>
            </a:r>
          </a:p>
          <a:p>
            <a:endParaRPr/>
          </a:p>
          <a:p>
            <a:r>
              <a:t>Original classroom explanations and exercises by this teaching adaptation. Source figures retained with acknowledgement. Charts show hypothetical examples, not measured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NOTES</a:t>
            </a:r>
          </a:p>
          <a:p>
            <a:r>
              <a:t>Answers: ready lacks CPU selection, waiting lacks its required event. No, completion usually makes the task runnable. Register state is needed to continue the computation correctly. The short-term scheduler chooses next runnable work. Yes, the same task can return from a syscall. Ask students to explain the connection between all five answers.</a:t>
            </a:r>
          </a:p>
          <a:p>
            <a:endParaRPr/>
          </a:p>
          <a:p>
            <a:r>
              <a:t>SOURCES</a:t>
            </a:r>
          </a:p>
          <a:p>
            <a:r>
              <a:t>https://pages.cs.wisc.edu/~remzi/OSTEP/cpu-intro.pdf</a:t>
            </a:r>
          </a:p>
          <a:p>
            <a:endParaRPr/>
          </a:p>
          <a:p>
            <a:r>
              <a:t>Original classroom explanations and exercises by this teaching adaptation. Source figures retained with acknowledgement. Charts show hypothetical examples, not measured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NOTES</a:t>
            </a:r>
          </a:p>
          <a:p>
            <a:r>
              <a:t>Expected narrative: editor running becomes waiting on blocking I/O. The compiler can run. Timer interrupt triggers handler/kernel execution. If music is selected, compiler running becomes ready and music ready becomes running. Save compiler context and restore music context. Editor I/O completion later makes editor ready. Several tasks make concurrent progress without parallel CPU execution.</a:t>
            </a:r>
          </a:p>
          <a:p>
            <a:endParaRPr/>
          </a:p>
          <a:p>
            <a:r>
              <a:t>SOURCES</a:t>
            </a:r>
          </a:p>
          <a:p>
            <a:r>
              <a:t>https://pages.cs.wisc.edu/~remzi/OSTEP/cpu-intro.pdf</a:t>
            </a:r>
          </a:p>
          <a:p>
            <a:endParaRPr/>
          </a:p>
          <a:p>
            <a:r>
              <a:t>Original classroom explanations and exercises by this teaching adaptation. Source figures retained with acknowledgement. Charts show hypothetical examples, not measured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NOTES</a:t>
            </a:r>
          </a:p>
          <a:p>
            <a:r>
              <a:t>Figures: Silberschatz, Galvin and Gagne, Operating System Concepts, 9th ed., ©2013, retrieved from John Bell’s UIC course-note pages. Educational teaching adaptation with added explanations and exercises. The prescribed textbook in the uploaded outline satisfies the publisher’s classroom-slide use condition. Full source URLs appear in relevant slide notes and the accompanying guide. Charts use explicitly hypothetical teaching data. Sources accessed 5 October 2026.</a:t>
            </a:r>
          </a:p>
          <a:p>
            <a:endParaRPr/>
          </a:p>
          <a:p>
            <a:r>
              <a:t>SOURCES</a:t>
            </a:r>
          </a:p>
          <a:p>
            <a:r>
              <a:t>https://os-book.com/OS9/slide-dir/index.html</a:t>
            </a:r>
          </a:p>
          <a:p>
            <a:endParaRPr/>
          </a:p>
          <a:p>
            <a:r>
              <a:t>Original classroom explanations and exercises by this teaching adaptation. Source figures retained with acknowledgement. Charts show hypothetical examples, not measured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E6C056EF-B4CD-4E95-B737-5C3EC2192809}"/>
              </a:ext>
            </a:extLst>
          </p:cNvPr>
          <p:cNvSpPr>
            <a:spLocks noGrp="1"/>
          </p:cNvSpPr>
          <p:nvPr/>
        </p:nvSpPr>
        <p:spPr>
          <a:xfrm>
            <a:off x="5791200" y="22098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D6151547-C918-49C3-BBC3-90A4675A0965}"/>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Subtitle">
            <a:extLst>
              <a:ext uri="{FF2B5EF4-FFF2-40B4-BE49-F238E27FC236}">
                <a16:creationId xmlns:a16="http://schemas.microsoft.com/office/drawing/2014/main" id="{34B22044-C022-4202-AB85-8A231E94E237}"/>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3" name="Accent rule">
            <a:extLst>
              <a:ext uri="{FF2B5EF4-FFF2-40B4-BE49-F238E27FC236}">
                <a16:creationId xmlns:a16="http://schemas.microsoft.com/office/drawing/2014/main" id="{2D129708-C5E0-4E2B-9DEC-4C032668B30D}"/>
              </a:ext>
            </a:extLst>
          </p:cNvPr>
          <p:cNvSpPr>
            <a:spLocks noGrp="1"/>
          </p:cNvSpPr>
          <p:nvPr/>
        </p:nvSpPr>
        <p:spPr>
          <a:xfrm>
            <a:off x="5791200" y="2476500"/>
            <a:ext cx="609600" cy="38100"/>
          </a:xfrm>
          <a:prstGeom prst="rect">
            <a:avLst/>
          </a:prstGeom>
          <a:solidFill>
            <a:schemeClr val="accent1"/>
          </a:solidFill>
          <a:ln>
            <a:noFill/>
            <a:prstDash val="solid"/>
          </a:ln>
        </p:spPr>
      </p:sp>
      <p:sp>
        <p:nvSpPr>
          <p:cNvPr id="2" name="Section title">
            <a:extLst>
              <a:ext uri="{FF2B5EF4-FFF2-40B4-BE49-F238E27FC236}">
                <a16:creationId xmlns:a16="http://schemas.microsoft.com/office/drawing/2014/main" id="{D07C0D36-BA40-4F2A-9346-846097E410B4}"/>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4DEFEF55-F04B-4B1B-9F22-C9DB3670C3EC}"/>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83987EDC-62C6-4F30-BB2F-36A6F3D95FA9}"/>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Body">
            <a:extLst>
              <a:ext uri="{FF2B5EF4-FFF2-40B4-BE49-F238E27FC236}">
                <a16:creationId xmlns:a16="http://schemas.microsoft.com/office/drawing/2014/main" id="{85F7BDAB-BC3C-4177-999F-2D4467211ABA}"/>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5" name="Accent rule">
            <a:extLst>
              <a:ext uri="{FF2B5EF4-FFF2-40B4-BE49-F238E27FC236}">
                <a16:creationId xmlns:a16="http://schemas.microsoft.com/office/drawing/2014/main" id="{1E8095AA-0545-41EB-8718-585E1D2DA26B}"/>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3799A691-9682-497C-9A4E-6746292EE711}"/>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Left column">
            <a:extLst>
              <a:ext uri="{FF2B5EF4-FFF2-40B4-BE49-F238E27FC236}">
                <a16:creationId xmlns:a16="http://schemas.microsoft.com/office/drawing/2014/main" id="{14E7838F-3F46-415A-A0DD-9C4C8BFE2158}"/>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4" name="Right column">
            <a:extLst>
              <a:ext uri="{FF2B5EF4-FFF2-40B4-BE49-F238E27FC236}">
                <a16:creationId xmlns:a16="http://schemas.microsoft.com/office/drawing/2014/main" id="{18584272-AD3E-48C6-86C2-5EE4160293EC}"/>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B322E0CA-BA79-4016-806C-02BF6C9F51BD}"/>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D69F9D40-4B80-4E1E-9BB1-42B4380A7D83}"/>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Left column">
            <a:extLst>
              <a:ext uri="{FF2B5EF4-FFF2-40B4-BE49-F238E27FC236}">
                <a16:creationId xmlns:a16="http://schemas.microsoft.com/office/drawing/2014/main" id="{3C9D6687-9867-4252-9843-470A880D0F14}"/>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54.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7.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EE43E4C-8421-48F4-858F-A943019C19AF}"/>
              </a:ext>
            </a:extLst>
          </p:cNvPr>
          <p:cNvSpPr>
            <a:spLocks noGrp="1"/>
          </p:cNvSpPr>
          <p:nvPr/>
        </p:nvSpPr>
        <p:spPr>
          <a:xfrm>
            <a:off x="685800" y="1285875"/>
            <a:ext cx="6048375" cy="1619250"/>
          </a:xfrm>
          <a:prstGeom prst="rect">
            <a:avLst/>
          </a:prstGeom>
          <a:noFill/>
          <a:ln w="0">
            <a:noFill/>
          </a:ln>
        </p:spPr>
        <p:txBody>
          <a:bodyPr anchor="t">
            <a:noAutofit/>
          </a:bodyPr>
          <a:lstStyle/>
          <a:p>
            <a:pPr>
              <a:defRPr sz="4950" b="1">
                <a:solidFill>
                  <a:srgbClr val="132C43"/>
                </a:solidFill>
                <a:latin typeface="DejaVu Sans"/>
                <a:ea typeface="DejaVu Sans"/>
                <a:cs typeface="DejaVu Sans"/>
              </a:defRPr>
            </a:pPr>
            <a:r>
              <a:rPr sz="4950" b="1">
                <a:solidFill>
                  <a:srgbClr val="132C43"/>
                </a:solidFill>
                <a:latin typeface="DejaVu Sans"/>
                <a:ea typeface="DejaVu Sans"/>
                <a:cs typeface="DejaVu Sans"/>
              </a:rPr>
              <a:t>Operating Systems</a:t>
            </a:r>
          </a:p>
        </p:txBody>
      </p:sp>
      <p:sp>
        <p:nvSpPr>
          <p:cNvPr id="2" name="Rectangle 1">
            <a:extLst>
              <a:ext uri="{FF2B5EF4-FFF2-40B4-BE49-F238E27FC236}">
                <a16:creationId xmlns:a16="http://schemas.microsoft.com/office/drawing/2014/main" id="{89EEB5F6-279D-4656-BD95-7A5D7ECE4191}"/>
              </a:ext>
            </a:extLst>
          </p:cNvPr>
          <p:cNvSpPr>
            <a:spLocks noGrp="1"/>
          </p:cNvSpPr>
          <p:nvPr/>
        </p:nvSpPr>
        <p:spPr>
          <a:xfrm>
            <a:off x="685800" y="3238500"/>
            <a:ext cx="5238750" cy="2143125"/>
          </a:xfrm>
          <a:prstGeom prst="rect">
            <a:avLst/>
          </a:prstGeom>
          <a:noFill/>
          <a:ln w="0">
            <a:noFill/>
          </a:ln>
        </p:spPr>
        <p:txBody>
          <a:bodyPr anchor="t">
            <a:noAutofit/>
          </a:bodyPr>
          <a:lstStyle/>
          <a:p>
            <a:pPr>
              <a:defRPr sz="2100" b="0">
                <a:solidFill>
                  <a:srgbClr val="53687A"/>
                </a:solidFill>
                <a:latin typeface="DejaVu Sans"/>
                <a:ea typeface="DejaVu Sans"/>
                <a:cs typeface="DejaVu Sans"/>
              </a:defRPr>
            </a:pPr>
            <a:r>
              <a:rPr sz="2100" b="0">
                <a:solidFill>
                  <a:srgbClr val="53687A"/>
                </a:solidFill>
                <a:latin typeface="DejaVu Sans"/>
                <a:ea typeface="DejaVu Sans"/>
                <a:cs typeface="DejaVu Sans"/>
              </a:rPr>
              <a:t>Weeks 1–3</a:t>
            </a:r>
          </a:p>
          <a:p>
            <a:pPr>
              <a:defRPr sz="2100" b="0">
                <a:solidFill>
                  <a:srgbClr val="53687A"/>
                </a:solidFill>
                <a:latin typeface="DejaVu Sans"/>
                <a:ea typeface="DejaVu Sans"/>
                <a:cs typeface="DejaVu Sans"/>
              </a:defRPr>
            </a:pPr>
            <a:r>
              <a:rPr sz="2100" b="0">
                <a:solidFill>
                  <a:srgbClr val="53687A"/>
                </a:solidFill>
                <a:latin typeface="DejaVu Sans"/>
                <a:ea typeface="DejaVu Sans"/>
                <a:cs typeface="DejaVu Sans"/>
              </a:rPr>
              <a:t>AR332 • Theory</a:t>
            </a:r>
          </a:p>
          <a:p>
            <a:pPr>
              <a:defRPr sz="2100" b="0">
                <a:solidFill>
                  <a:srgbClr val="53687A"/>
                </a:solidFill>
                <a:latin typeface="DejaVu Sans"/>
                <a:ea typeface="DejaVu Sans"/>
                <a:cs typeface="DejaVu Sans"/>
              </a:defRPr>
            </a:pPr>
            <a:r>
              <a:rPr sz="2100" b="0">
                <a:solidFill>
                  <a:srgbClr val="53687A"/>
                </a:solidFill>
                <a:latin typeface="DejaVu Sans"/>
                <a:ea typeface="DejaVu Sans"/>
                <a:cs typeface="DejaVu Sans"/>
              </a:rPr>
              <a:t>Syed Nisar Ali</a:t>
            </a:r>
          </a:p>
          <a:p>
            <a:pPr>
              <a:defRPr sz="2100" b="0">
                <a:solidFill>
                  <a:srgbClr val="53687A"/>
                </a:solidFill>
                <a:latin typeface="DejaVu Sans"/>
                <a:ea typeface="DejaVu Sans"/>
                <a:cs typeface="DejaVu Sans"/>
              </a:defRPr>
            </a:pPr>
            <a:r>
              <a:rPr sz="2100" b="0">
                <a:solidFill>
                  <a:srgbClr val="53687A"/>
                </a:solidFill>
                <a:latin typeface="DejaVu Sans"/>
                <a:ea typeface="DejaVu Sans"/>
                <a:cs typeface="DejaVu Sans"/>
              </a:rPr>
              <a:t>Principal Lecturer, UCP</a:t>
            </a:r>
          </a:p>
        </p:txBody>
      </p:sp>
      <p:pic>
        <p:nvPicPr>
          <p:cNvPr id="7" name="Picture 6"/>
          <p:cNvPicPr>
            <a:picLocks noChangeAspect="1"/>
          </p:cNvPicPr>
          <p:nvPr/>
        </p:nvPicPr>
        <p:blipFill>
          <a:blip r:embed="rId3"/>
          <a:stretch/>
        </p:blipFill>
        <p:spPr>
          <a:xfrm>
            <a:off x="7096125" y="1658478"/>
            <a:ext cx="4095750" cy="3350543"/>
          </a:xfrm>
          <a:prstGeom prst="rect">
            <a:avLst/>
          </a:prstGeom>
        </p:spPr>
      </p:pic>
      <p:sp>
        <p:nvSpPr>
          <p:cNvPr id="4" name="Rectangle 3">
            <a:extLst>
              <a:ext uri="{FF2B5EF4-FFF2-40B4-BE49-F238E27FC236}">
                <a16:creationId xmlns:a16="http://schemas.microsoft.com/office/drawing/2014/main" id="{4E115735-4083-45CA-8CBF-6E5285428484}"/>
              </a:ext>
            </a:extLst>
          </p:cNvPr>
          <p:cNvSpPr>
            <a:spLocks noGrp="1"/>
          </p:cNvSpPr>
          <p:nvPr/>
        </p:nvSpPr>
        <p:spPr>
          <a:xfrm>
            <a:off x="685800" y="6381750"/>
            <a:ext cx="10820400" cy="238125"/>
          </a:xfrm>
          <a:prstGeom prst="rect">
            <a:avLst/>
          </a:prstGeom>
          <a:noFill/>
          <a:ln w="0">
            <a:noFill/>
          </a:ln>
        </p:spPr>
        <p:txBody>
          <a:bodyPr anchor="t">
            <a:noAutofit/>
          </a:bodyPr>
          <a:lstStyle/>
          <a:p>
            <a:pPr>
              <a:defRPr sz="1275" b="0">
                <a:solidFill>
                  <a:srgbClr val="53687A"/>
                </a:solidFill>
                <a:latin typeface="DejaVu Sans"/>
                <a:ea typeface="DejaVu Sans"/>
                <a:cs typeface="DejaVu Sans"/>
              </a:defRPr>
            </a:pPr>
            <a:r>
              <a:rPr sz="1275" b="0">
                <a:solidFill>
                  <a:srgbClr val="53687A"/>
                </a:solidFill>
                <a:latin typeface="DejaVu Sans"/>
                <a:ea typeface="DejaVu Sans"/>
                <a:cs typeface="DejaVu Sans"/>
              </a:rPr>
              <a:t>AR332     01</a:t>
            </a:r>
          </a:p>
        </p:txBody>
      </p:sp>
    </p:spTree>
    <p:extLst>
      <p:ext uri="{BB962C8B-B14F-4D97-AF65-F5344CB8AC3E}">
        <p14:creationId xmlns:p14="http://schemas.microsoft.com/office/powerpoint/2010/main" val="1165080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95CC4D3-5D9A-48A9-B3C6-BC4201764EF4}"/>
              </a:ext>
            </a:extLst>
          </p:cNvPr>
          <p:cNvSpPr>
            <a:spLocks noGrp="1"/>
          </p:cNvSpPr>
          <p:nvPr/>
        </p:nvSpPr>
        <p:spPr>
          <a:xfrm>
            <a:off x="685800" y="495300"/>
            <a:ext cx="10858500" cy="857250"/>
          </a:xfrm>
          <a:prstGeom prst="rect">
            <a:avLst/>
          </a:prstGeom>
          <a:noFill/>
          <a:ln w="0">
            <a:noFill/>
          </a:ln>
        </p:spPr>
        <p:txBody>
          <a:bodyPr anchor="t">
            <a:noAutofit/>
          </a:bodyPr>
          <a:lstStyle/>
          <a:p>
            <a:pPr>
              <a:defRPr sz="3300" b="1">
                <a:solidFill>
                  <a:srgbClr val="132C43"/>
                </a:solidFill>
                <a:latin typeface="DejaVu Sans"/>
                <a:ea typeface="DejaVu Sans"/>
                <a:cs typeface="DejaVu Sans"/>
              </a:defRPr>
            </a:pPr>
            <a:r>
              <a:rPr sz="3300" b="1">
                <a:solidFill>
                  <a:srgbClr val="132C43"/>
                </a:solidFill>
                <a:latin typeface="DejaVu Sans"/>
                <a:ea typeface="DejaVu Sans"/>
                <a:cs typeface="DejaVu Sans"/>
              </a:rPr>
              <a:t>Lecture route</a:t>
            </a:r>
          </a:p>
        </p:txBody>
      </p:sp>
      <p:sp>
        <p:nvSpPr>
          <p:cNvPr id="2" name="Rectangle 1">
            <a:extLst>
              <a:ext uri="{FF2B5EF4-FFF2-40B4-BE49-F238E27FC236}">
                <a16:creationId xmlns:a16="http://schemas.microsoft.com/office/drawing/2014/main" id="{4B5817EC-FA1C-4404-9860-506137C5E854}"/>
              </a:ext>
            </a:extLst>
          </p:cNvPr>
          <p:cNvSpPr>
            <a:spLocks noGrp="1"/>
          </p:cNvSpPr>
          <p:nvPr/>
        </p:nvSpPr>
        <p:spPr>
          <a:xfrm>
            <a:off x="685800" y="1666875"/>
            <a:ext cx="10820400" cy="3905250"/>
          </a:xfrm>
          <a:prstGeom prst="rect">
            <a:avLst/>
          </a:prstGeom>
          <a:noFill/>
          <a:ln w="0">
            <a:noFill/>
          </a:ln>
        </p:spPr>
        <p:txBody>
          <a:bodyPr anchor="t">
            <a:noAutofit/>
          </a:bodyPr>
          <a:lstStyle/>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Week 1 recap: OS role, boot and architecture</a:t>
            </a:r>
          </a:p>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Week 1 continuation: sharing, interrupts and protection</a:t>
            </a:r>
          </a:p>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Week 2: services, interfaces and kernel design</a:t>
            </a:r>
          </a:p>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Week 3: processes, queues and context switching</a:t>
            </a:r>
          </a:p>
        </p:txBody>
      </p:sp>
      <p:sp>
        <p:nvSpPr>
          <p:cNvPr id="3" name="Rectangle 2">
            <a:extLst>
              <a:ext uri="{FF2B5EF4-FFF2-40B4-BE49-F238E27FC236}">
                <a16:creationId xmlns:a16="http://schemas.microsoft.com/office/drawing/2014/main" id="{8990760A-D45E-4DE0-88D9-6F4644DBFF33}"/>
              </a:ext>
            </a:extLst>
          </p:cNvPr>
          <p:cNvSpPr>
            <a:spLocks noGrp="1"/>
          </p:cNvSpPr>
          <p:nvPr/>
        </p:nvSpPr>
        <p:spPr>
          <a:xfrm>
            <a:off x="685800" y="6381750"/>
            <a:ext cx="10820400" cy="238125"/>
          </a:xfrm>
          <a:prstGeom prst="rect">
            <a:avLst/>
          </a:prstGeom>
          <a:noFill/>
          <a:ln w="0">
            <a:noFill/>
          </a:ln>
        </p:spPr>
        <p:txBody>
          <a:bodyPr anchor="t">
            <a:noAutofit/>
          </a:bodyPr>
          <a:lstStyle/>
          <a:p>
            <a:pPr>
              <a:defRPr sz="1275" b="0">
                <a:solidFill>
                  <a:srgbClr val="53687A"/>
                </a:solidFill>
                <a:latin typeface="DejaVu Sans"/>
                <a:ea typeface="DejaVu Sans"/>
                <a:cs typeface="DejaVu Sans"/>
              </a:defRPr>
            </a:pPr>
            <a:r>
              <a:rPr sz="1275" b="0">
                <a:solidFill>
                  <a:srgbClr val="53687A"/>
                </a:solidFill>
                <a:latin typeface="DejaVu Sans"/>
                <a:ea typeface="DejaVu Sans"/>
                <a:cs typeface="DejaVu Sans"/>
              </a:rPr>
              <a:t>AR332     02</a:t>
            </a:r>
          </a:p>
        </p:txBody>
      </p:sp>
    </p:spTree>
    <p:extLst>
      <p:ext uri="{BB962C8B-B14F-4D97-AF65-F5344CB8AC3E}">
        <p14:creationId xmlns:p14="http://schemas.microsoft.com/office/powerpoint/2010/main" val="17417063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013A3B9-0510-4925-9328-394F637C7E8A}"/>
              </a:ext>
            </a:extLst>
          </p:cNvPr>
          <p:cNvSpPr>
            <a:spLocks noGrp="1"/>
          </p:cNvSpPr>
          <p:nvPr/>
        </p:nvSpPr>
        <p:spPr>
          <a:xfrm>
            <a:off x="685800" y="495300"/>
            <a:ext cx="10858500" cy="857250"/>
          </a:xfrm>
          <a:prstGeom prst="rect">
            <a:avLst/>
          </a:prstGeom>
          <a:noFill/>
          <a:ln w="0">
            <a:noFill/>
          </a:ln>
        </p:spPr>
        <p:txBody>
          <a:bodyPr anchor="t">
            <a:noAutofit/>
          </a:bodyPr>
          <a:lstStyle/>
          <a:p>
            <a:pPr>
              <a:defRPr sz="3300" b="1">
                <a:solidFill>
                  <a:srgbClr val="132C43"/>
                </a:solidFill>
                <a:latin typeface="DejaVu Sans"/>
                <a:ea typeface="DejaVu Sans"/>
                <a:cs typeface="DejaVu Sans"/>
              </a:defRPr>
            </a:pPr>
            <a:r>
              <a:rPr sz="3300" b="1">
                <a:solidFill>
                  <a:srgbClr val="132C43"/>
                </a:solidFill>
                <a:latin typeface="DejaVu Sans"/>
                <a:ea typeface="DejaVu Sans"/>
                <a:cs typeface="DejaVu Sans"/>
              </a:rPr>
              <a:t>Recap: why an operating system?</a:t>
            </a:r>
          </a:p>
        </p:txBody>
      </p:sp>
      <p:sp>
        <p:nvSpPr>
          <p:cNvPr id="2" name="Rectangle 1">
            <a:extLst>
              <a:ext uri="{FF2B5EF4-FFF2-40B4-BE49-F238E27FC236}">
                <a16:creationId xmlns:a16="http://schemas.microsoft.com/office/drawing/2014/main" id="{C5A31C33-29BC-4761-B620-8FC2F572C897}"/>
              </a:ext>
            </a:extLst>
          </p:cNvPr>
          <p:cNvSpPr>
            <a:spLocks noGrp="1"/>
          </p:cNvSpPr>
          <p:nvPr/>
        </p:nvSpPr>
        <p:spPr>
          <a:xfrm>
            <a:off x="685800" y="1666875"/>
            <a:ext cx="10820400" cy="3905250"/>
          </a:xfrm>
          <a:prstGeom prst="rect">
            <a:avLst/>
          </a:prstGeom>
          <a:noFill/>
          <a:ln w="0">
            <a:noFill/>
          </a:ln>
        </p:spPr>
        <p:txBody>
          <a:bodyPr anchor="t">
            <a:noAutofit/>
          </a:bodyPr>
          <a:lstStyle/>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Applications compete for limited resources.</a:t>
            </a:r>
          </a:p>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The OS allocates CPU time and memory.</a:t>
            </a:r>
          </a:p>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It offers useful abstractions such as files.</a:t>
            </a:r>
          </a:p>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It controls access to shared hardware.</a:t>
            </a:r>
          </a:p>
        </p:txBody>
      </p:sp>
      <p:sp>
        <p:nvSpPr>
          <p:cNvPr id="3" name="Rectangle 2">
            <a:extLst>
              <a:ext uri="{FF2B5EF4-FFF2-40B4-BE49-F238E27FC236}">
                <a16:creationId xmlns:a16="http://schemas.microsoft.com/office/drawing/2014/main" id="{F93D2258-10A6-4FBE-8956-E7994E96AA5B}"/>
              </a:ext>
            </a:extLst>
          </p:cNvPr>
          <p:cNvSpPr>
            <a:spLocks noGrp="1"/>
          </p:cNvSpPr>
          <p:nvPr/>
        </p:nvSpPr>
        <p:spPr>
          <a:xfrm>
            <a:off x="685800" y="6381750"/>
            <a:ext cx="10820400" cy="238125"/>
          </a:xfrm>
          <a:prstGeom prst="rect">
            <a:avLst/>
          </a:prstGeom>
          <a:noFill/>
          <a:ln w="0">
            <a:noFill/>
          </a:ln>
        </p:spPr>
        <p:txBody>
          <a:bodyPr anchor="t">
            <a:noAutofit/>
          </a:bodyPr>
          <a:lstStyle/>
          <a:p>
            <a:pPr>
              <a:defRPr sz="1275" b="0">
                <a:solidFill>
                  <a:srgbClr val="53687A"/>
                </a:solidFill>
                <a:latin typeface="DejaVu Sans"/>
                <a:ea typeface="DejaVu Sans"/>
                <a:cs typeface="DejaVu Sans"/>
              </a:defRPr>
            </a:pPr>
            <a:r>
              <a:rPr sz="1275" b="0">
                <a:solidFill>
                  <a:srgbClr val="53687A"/>
                </a:solidFill>
                <a:latin typeface="DejaVu Sans"/>
                <a:ea typeface="DejaVu Sans"/>
                <a:cs typeface="DejaVu Sans"/>
              </a:rPr>
              <a:t>Week 1     03</a:t>
            </a:r>
          </a:p>
        </p:txBody>
      </p:sp>
    </p:spTree>
    <p:extLst>
      <p:ext uri="{BB962C8B-B14F-4D97-AF65-F5344CB8AC3E}">
        <p14:creationId xmlns:p14="http://schemas.microsoft.com/office/powerpoint/2010/main" val="18849147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C94748E-13EF-498B-A7FE-44895B616C94}"/>
              </a:ext>
            </a:extLst>
          </p:cNvPr>
          <p:cNvSpPr>
            <a:spLocks noGrp="1"/>
          </p:cNvSpPr>
          <p:nvPr/>
        </p:nvSpPr>
        <p:spPr>
          <a:xfrm>
            <a:off x="685800" y="495300"/>
            <a:ext cx="10858500" cy="857250"/>
          </a:xfrm>
          <a:prstGeom prst="rect">
            <a:avLst/>
          </a:prstGeom>
          <a:noFill/>
          <a:ln w="0">
            <a:noFill/>
          </a:ln>
        </p:spPr>
        <p:txBody>
          <a:bodyPr anchor="t">
            <a:noAutofit/>
          </a:bodyPr>
          <a:lstStyle/>
          <a:p>
            <a:pPr>
              <a:defRPr sz="3300" b="1">
                <a:solidFill>
                  <a:srgbClr val="132C43"/>
                </a:solidFill>
                <a:latin typeface="DejaVu Sans"/>
                <a:ea typeface="DejaVu Sans"/>
                <a:cs typeface="DejaVu Sans"/>
              </a:defRPr>
            </a:pPr>
            <a:r>
              <a:rPr sz="3300" b="1">
                <a:solidFill>
                  <a:srgbClr val="132C43"/>
                </a:solidFill>
                <a:latin typeface="DejaVu Sans"/>
                <a:ea typeface="DejaVu Sans"/>
                <a:cs typeface="DejaVu Sans"/>
              </a:rPr>
              <a:t>Recap: system boot</a:t>
            </a:r>
          </a:p>
        </p:txBody>
      </p:sp>
      <p:sp>
        <p:nvSpPr>
          <p:cNvPr id="2" name="Rectangle 1">
            <a:extLst>
              <a:ext uri="{FF2B5EF4-FFF2-40B4-BE49-F238E27FC236}">
                <a16:creationId xmlns:a16="http://schemas.microsoft.com/office/drawing/2014/main" id="{843A9157-236D-44E9-93E4-E6FE187A3FE3}"/>
              </a:ext>
            </a:extLst>
          </p:cNvPr>
          <p:cNvSpPr>
            <a:spLocks noGrp="1"/>
          </p:cNvSpPr>
          <p:nvPr/>
        </p:nvSpPr>
        <p:spPr>
          <a:xfrm>
            <a:off x="685800" y="1666875"/>
            <a:ext cx="10820400" cy="3905250"/>
          </a:xfrm>
          <a:prstGeom prst="rect">
            <a:avLst/>
          </a:prstGeom>
          <a:noFill/>
          <a:ln w="0">
            <a:noFill/>
          </a:ln>
        </p:spPr>
        <p:txBody>
          <a:bodyPr anchor="t">
            <a:noAutofit/>
          </a:bodyPr>
          <a:lstStyle/>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Firmware starts after power-on.</a:t>
            </a:r>
          </a:p>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A boot path locates and loads the kernel.</a:t>
            </a:r>
          </a:p>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The kernel initializes memory and devices.</a:t>
            </a:r>
          </a:p>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An initial user-space process starts services.</a:t>
            </a:r>
          </a:p>
        </p:txBody>
      </p:sp>
      <p:sp>
        <p:nvSpPr>
          <p:cNvPr id="3" name="Rectangle 2">
            <a:extLst>
              <a:ext uri="{FF2B5EF4-FFF2-40B4-BE49-F238E27FC236}">
                <a16:creationId xmlns:a16="http://schemas.microsoft.com/office/drawing/2014/main" id="{D0A18B27-3DF6-424C-8391-26E8F55B9B1E}"/>
              </a:ext>
            </a:extLst>
          </p:cNvPr>
          <p:cNvSpPr>
            <a:spLocks noGrp="1"/>
          </p:cNvSpPr>
          <p:nvPr/>
        </p:nvSpPr>
        <p:spPr>
          <a:xfrm>
            <a:off x="685800" y="6381750"/>
            <a:ext cx="10820400" cy="238125"/>
          </a:xfrm>
          <a:prstGeom prst="rect">
            <a:avLst/>
          </a:prstGeom>
          <a:noFill/>
          <a:ln w="0">
            <a:noFill/>
          </a:ln>
        </p:spPr>
        <p:txBody>
          <a:bodyPr anchor="t">
            <a:noAutofit/>
          </a:bodyPr>
          <a:lstStyle/>
          <a:p>
            <a:pPr>
              <a:defRPr sz="1275" b="0">
                <a:solidFill>
                  <a:srgbClr val="53687A"/>
                </a:solidFill>
                <a:latin typeface="DejaVu Sans"/>
                <a:ea typeface="DejaVu Sans"/>
                <a:cs typeface="DejaVu Sans"/>
              </a:defRPr>
            </a:pPr>
            <a:r>
              <a:rPr sz="1275" b="0">
                <a:solidFill>
                  <a:srgbClr val="53687A"/>
                </a:solidFill>
                <a:latin typeface="DejaVu Sans"/>
                <a:ea typeface="DejaVu Sans"/>
                <a:cs typeface="DejaVu Sans"/>
              </a:rPr>
              <a:t>Week 1     04</a:t>
            </a:r>
          </a:p>
        </p:txBody>
      </p:sp>
    </p:spTree>
    <p:extLst>
      <p:ext uri="{BB962C8B-B14F-4D97-AF65-F5344CB8AC3E}">
        <p14:creationId xmlns:p14="http://schemas.microsoft.com/office/powerpoint/2010/main" val="1955960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60DE16E-E58A-45A2-A377-F101568CA515}"/>
              </a:ext>
            </a:extLst>
          </p:cNvPr>
          <p:cNvSpPr>
            <a:spLocks noGrp="1"/>
          </p:cNvSpPr>
          <p:nvPr/>
        </p:nvSpPr>
        <p:spPr>
          <a:xfrm>
            <a:off x="685800" y="495300"/>
            <a:ext cx="10858500" cy="857250"/>
          </a:xfrm>
          <a:prstGeom prst="rect">
            <a:avLst/>
          </a:prstGeom>
          <a:noFill/>
          <a:ln w="0">
            <a:noFill/>
          </a:ln>
        </p:spPr>
        <p:txBody>
          <a:bodyPr anchor="t">
            <a:noAutofit/>
          </a:bodyPr>
          <a:lstStyle/>
          <a:p>
            <a:pPr>
              <a:defRPr sz="3300" b="1">
                <a:solidFill>
                  <a:srgbClr val="132C43"/>
                </a:solidFill>
                <a:latin typeface="DejaVu Sans"/>
                <a:ea typeface="DejaVu Sans"/>
                <a:cs typeface="DejaVu Sans"/>
              </a:defRPr>
            </a:pPr>
            <a:r>
              <a:rPr sz="3300" b="1">
                <a:solidFill>
                  <a:srgbClr val="132C43"/>
                </a:solidFill>
                <a:latin typeface="DejaVu Sans"/>
                <a:ea typeface="DejaVu Sans"/>
                <a:cs typeface="DejaVu Sans"/>
              </a:rPr>
              <a:t>Recap: CPU, memory and devices</a:t>
            </a:r>
          </a:p>
        </p:txBody>
      </p:sp>
      <p:sp>
        <p:nvSpPr>
          <p:cNvPr id="2" name="Rectangle 1">
            <a:extLst>
              <a:ext uri="{FF2B5EF4-FFF2-40B4-BE49-F238E27FC236}">
                <a16:creationId xmlns:a16="http://schemas.microsoft.com/office/drawing/2014/main" id="{61F81FF5-2972-4566-971B-C7394C0CA0ED}"/>
              </a:ext>
            </a:extLst>
          </p:cNvPr>
          <p:cNvSpPr>
            <a:spLocks noGrp="1"/>
          </p:cNvSpPr>
          <p:nvPr/>
        </p:nvSpPr>
        <p:spPr>
          <a:xfrm>
            <a:off x="685800" y="1438275"/>
            <a:ext cx="10820400" cy="1190625"/>
          </a:xfrm>
          <a:prstGeom prst="rect">
            <a:avLst/>
          </a:prstGeom>
          <a:noFill/>
          <a:ln w="0">
            <a:noFill/>
          </a:ln>
        </p:spPr>
        <p:txBody>
          <a:bodyPr anchor="t">
            <a:noAutofit/>
          </a:bodyPr>
          <a:lstStyle/>
          <a:p>
            <a:pPr>
              <a:defRPr sz="1950" b="0">
                <a:solidFill>
                  <a:srgbClr val="132C43"/>
                </a:solidFill>
                <a:latin typeface="DejaVu Sans"/>
                <a:ea typeface="DejaVu Sans"/>
                <a:cs typeface="DejaVu Sans"/>
              </a:defRPr>
            </a:pPr>
            <a:r>
              <a:rPr sz="1950" b="0">
                <a:solidFill>
                  <a:srgbClr val="132C43"/>
                </a:solidFill>
                <a:latin typeface="DejaVu Sans"/>
                <a:ea typeface="DejaVu Sans"/>
                <a:cs typeface="DejaVu Sans"/>
              </a:rPr>
              <a:t>Device controllers operate alongside the CPU.</a:t>
            </a:r>
          </a:p>
          <a:p>
            <a:pPr>
              <a:defRPr sz="1950" b="0">
                <a:solidFill>
                  <a:srgbClr val="132C43"/>
                </a:solidFill>
                <a:latin typeface="DejaVu Sans"/>
                <a:ea typeface="DejaVu Sans"/>
                <a:cs typeface="DejaVu Sans"/>
              </a:defRPr>
            </a:pPr>
            <a:r>
              <a:rPr sz="1950" b="0">
                <a:solidFill>
                  <a:srgbClr val="132C43"/>
                </a:solidFill>
                <a:latin typeface="DejaVu Sans"/>
                <a:ea typeface="DejaVu Sans"/>
                <a:cs typeface="DejaVu Sans"/>
              </a:rPr>
              <a:t>Controllers report events through interrupts.</a:t>
            </a:r>
          </a:p>
          <a:p>
            <a:pPr>
              <a:defRPr sz="1950" b="0">
                <a:solidFill>
                  <a:srgbClr val="132C43"/>
                </a:solidFill>
                <a:latin typeface="DejaVu Sans"/>
                <a:ea typeface="DejaVu Sans"/>
                <a:cs typeface="DejaVu Sans"/>
              </a:defRPr>
            </a:pPr>
            <a:r>
              <a:rPr sz="1950" b="0">
                <a:solidFill>
                  <a:srgbClr val="132C43"/>
                </a:solidFill>
                <a:latin typeface="DejaVu Sans"/>
                <a:ea typeface="DejaVu Sans"/>
                <a:cs typeface="DejaVu Sans"/>
              </a:rPr>
              <a:t>Drivers provide software control of devices.</a:t>
            </a:r>
          </a:p>
        </p:txBody>
      </p:sp>
      <p:pic>
        <p:nvPicPr>
          <p:cNvPr id="8" name="Picture 7"/>
          <p:cNvPicPr>
            <a:picLocks noChangeAspect="1"/>
          </p:cNvPicPr>
          <p:nvPr/>
        </p:nvPicPr>
        <p:blipFill>
          <a:blip r:embed="rId3"/>
          <a:stretch/>
        </p:blipFill>
        <p:spPr>
          <a:xfrm>
            <a:off x="3323617" y="2952750"/>
            <a:ext cx="5544766" cy="2714625"/>
          </a:xfrm>
          <a:prstGeom prst="rect">
            <a:avLst/>
          </a:prstGeom>
        </p:spPr>
      </p:pic>
      <p:sp>
        <p:nvSpPr>
          <p:cNvPr id="4" name="Rectangle 3">
            <a:extLst>
              <a:ext uri="{FF2B5EF4-FFF2-40B4-BE49-F238E27FC236}">
                <a16:creationId xmlns:a16="http://schemas.microsoft.com/office/drawing/2014/main" id="{B6F5ADED-B966-4F03-85D9-22B1149BBEE5}"/>
              </a:ext>
            </a:extLst>
          </p:cNvPr>
          <p:cNvSpPr>
            <a:spLocks noGrp="1"/>
          </p:cNvSpPr>
          <p:nvPr/>
        </p:nvSpPr>
        <p:spPr>
          <a:xfrm>
            <a:off x="685800" y="5924550"/>
            <a:ext cx="10572750" cy="247650"/>
          </a:xfrm>
          <a:prstGeom prst="rect">
            <a:avLst/>
          </a:prstGeom>
          <a:noFill/>
          <a:ln w="0">
            <a:noFill/>
          </a:ln>
        </p:spPr>
        <p:txBody>
          <a:bodyPr anchor="t">
            <a:noAutofit/>
          </a:bodyPr>
          <a:lstStyle/>
          <a:p>
            <a:pPr>
              <a:defRPr sz="1200" b="0">
                <a:solidFill>
                  <a:srgbClr val="53687A"/>
                </a:solidFill>
                <a:latin typeface="DejaVu Sans"/>
                <a:ea typeface="DejaVu Sans"/>
                <a:cs typeface="DejaVu Sans"/>
              </a:defRPr>
            </a:pPr>
            <a:r>
              <a:rPr sz="1200" b="0">
                <a:solidFill>
                  <a:srgbClr val="53687A"/>
                </a:solidFill>
                <a:latin typeface="DejaVu Sans"/>
                <a:ea typeface="DejaVu Sans"/>
                <a:cs typeface="DejaVu Sans"/>
              </a:rPr>
              <a:t>Figure: Operating System Concepts, 9th ed., ©2013, via UIC course notes</a:t>
            </a:r>
          </a:p>
        </p:txBody>
      </p:sp>
      <p:sp>
        <p:nvSpPr>
          <p:cNvPr id="5" name="Rectangle 4">
            <a:extLst>
              <a:ext uri="{FF2B5EF4-FFF2-40B4-BE49-F238E27FC236}">
                <a16:creationId xmlns:a16="http://schemas.microsoft.com/office/drawing/2014/main" id="{1877563D-AF3C-4E2F-A63D-D74065536FD2}"/>
              </a:ext>
            </a:extLst>
          </p:cNvPr>
          <p:cNvSpPr>
            <a:spLocks noGrp="1"/>
          </p:cNvSpPr>
          <p:nvPr/>
        </p:nvSpPr>
        <p:spPr>
          <a:xfrm>
            <a:off x="685800" y="6381750"/>
            <a:ext cx="10820400" cy="238125"/>
          </a:xfrm>
          <a:prstGeom prst="rect">
            <a:avLst/>
          </a:prstGeom>
          <a:noFill/>
          <a:ln w="0">
            <a:noFill/>
          </a:ln>
        </p:spPr>
        <p:txBody>
          <a:bodyPr anchor="t">
            <a:noAutofit/>
          </a:bodyPr>
          <a:lstStyle/>
          <a:p>
            <a:pPr>
              <a:defRPr sz="1275" b="0">
                <a:solidFill>
                  <a:srgbClr val="53687A"/>
                </a:solidFill>
                <a:latin typeface="DejaVu Sans"/>
                <a:ea typeface="DejaVu Sans"/>
                <a:cs typeface="DejaVu Sans"/>
              </a:defRPr>
            </a:pPr>
            <a:r>
              <a:rPr sz="1275" b="0">
                <a:solidFill>
                  <a:srgbClr val="53687A"/>
                </a:solidFill>
                <a:latin typeface="DejaVu Sans"/>
                <a:ea typeface="DejaVu Sans"/>
                <a:cs typeface="DejaVu Sans"/>
              </a:rPr>
              <a:t>Week 1     05</a:t>
            </a:r>
          </a:p>
        </p:txBody>
      </p:sp>
    </p:spTree>
    <p:extLst>
      <p:ext uri="{BB962C8B-B14F-4D97-AF65-F5344CB8AC3E}">
        <p14:creationId xmlns:p14="http://schemas.microsoft.com/office/powerpoint/2010/main" val="1404228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AF42377-1804-475D-9C0F-4F5FFE527EB3}"/>
              </a:ext>
            </a:extLst>
          </p:cNvPr>
          <p:cNvSpPr>
            <a:spLocks noGrp="1"/>
          </p:cNvSpPr>
          <p:nvPr/>
        </p:nvSpPr>
        <p:spPr>
          <a:xfrm>
            <a:off x="685800" y="495300"/>
            <a:ext cx="10858500" cy="857250"/>
          </a:xfrm>
          <a:prstGeom prst="rect">
            <a:avLst/>
          </a:prstGeom>
          <a:noFill/>
          <a:ln w="0">
            <a:noFill/>
          </a:ln>
        </p:spPr>
        <p:txBody>
          <a:bodyPr anchor="t">
            <a:noAutofit/>
          </a:bodyPr>
          <a:lstStyle/>
          <a:p>
            <a:pPr>
              <a:defRPr sz="3300" b="1">
                <a:solidFill>
                  <a:srgbClr val="132C43"/>
                </a:solidFill>
                <a:latin typeface="DejaVu Sans"/>
                <a:ea typeface="DejaVu Sans"/>
                <a:cs typeface="DejaVu Sans"/>
              </a:defRPr>
            </a:pPr>
            <a:r>
              <a:rPr sz="3300" b="1">
                <a:solidFill>
                  <a:srgbClr val="132C43"/>
                </a:solidFill>
                <a:latin typeface="DejaVu Sans"/>
                <a:ea typeface="DejaVu Sans"/>
                <a:cs typeface="DejaVu Sans"/>
              </a:rPr>
              <a:t>Recap: processor architecture</a:t>
            </a:r>
          </a:p>
        </p:txBody>
      </p:sp>
      <p:sp>
        <p:nvSpPr>
          <p:cNvPr id="2" name="Rectangle 1">
            <a:extLst>
              <a:ext uri="{FF2B5EF4-FFF2-40B4-BE49-F238E27FC236}">
                <a16:creationId xmlns:a16="http://schemas.microsoft.com/office/drawing/2014/main" id="{ECCC756F-3BA7-4578-BC47-63B18746F332}"/>
              </a:ext>
            </a:extLst>
          </p:cNvPr>
          <p:cNvSpPr>
            <a:spLocks noGrp="1"/>
          </p:cNvSpPr>
          <p:nvPr/>
        </p:nvSpPr>
        <p:spPr>
          <a:xfrm>
            <a:off x="685800" y="1619250"/>
            <a:ext cx="4476750" cy="3762375"/>
          </a:xfrm>
          <a:prstGeom prst="rect">
            <a:avLst/>
          </a:prstGeom>
          <a:noFill/>
          <a:ln w="0">
            <a:noFill/>
          </a:ln>
        </p:spPr>
        <p:txBody>
          <a:bodyPr anchor="t">
            <a:noAutofit/>
          </a:bodyPr>
          <a:lstStyle/>
          <a:p>
            <a:pPr>
              <a:defRPr sz="2100" b="0">
                <a:solidFill>
                  <a:srgbClr val="132C43"/>
                </a:solidFill>
                <a:latin typeface="DejaVu Sans"/>
                <a:ea typeface="DejaVu Sans"/>
                <a:cs typeface="DejaVu Sans"/>
              </a:defRPr>
            </a:pPr>
            <a:r>
              <a:rPr sz="2100" b="0">
                <a:solidFill>
                  <a:srgbClr val="132C43"/>
                </a:solidFill>
                <a:latin typeface="DejaVu Sans"/>
                <a:ea typeface="DejaVu Sans"/>
                <a:cs typeface="DejaVu Sans"/>
              </a:rPr>
              <a:t>One core can interleave several tasks.</a:t>
            </a:r>
          </a:p>
          <a:p>
            <a:pPr>
              <a:defRPr sz="2100" b="0">
                <a:solidFill>
                  <a:srgbClr val="132C43"/>
                </a:solidFill>
                <a:latin typeface="DejaVu Sans"/>
                <a:ea typeface="DejaVu Sans"/>
                <a:cs typeface="DejaVu Sans"/>
              </a:defRPr>
            </a:pPr>
            <a:r>
              <a:rPr sz="2100" b="0">
                <a:solidFill>
                  <a:srgbClr val="132C43"/>
                </a:solidFill>
                <a:latin typeface="DejaVu Sans"/>
                <a:ea typeface="DejaVu Sans"/>
                <a:cs typeface="DejaVu Sans"/>
              </a:rPr>
              <a:t>Several cores can execute tasks in parallel.</a:t>
            </a:r>
          </a:p>
          <a:p>
            <a:pPr>
              <a:defRPr sz="2100" b="0">
                <a:solidFill>
                  <a:srgbClr val="132C43"/>
                </a:solidFill>
                <a:latin typeface="DejaVu Sans"/>
                <a:ea typeface="DejaVu Sans"/>
                <a:cs typeface="DejaVu Sans"/>
              </a:defRPr>
            </a:pPr>
            <a:r>
              <a:rPr sz="2100" b="0">
                <a:solidFill>
                  <a:srgbClr val="132C43"/>
                </a:solidFill>
                <a:latin typeface="DejaVu Sans"/>
                <a:ea typeface="DejaVu Sans"/>
                <a:cs typeface="DejaVu Sans"/>
              </a:rPr>
              <a:t>Shared-memory multiprocessors share RAM.</a:t>
            </a:r>
          </a:p>
        </p:txBody>
      </p:sp>
      <p:pic>
        <p:nvPicPr>
          <p:cNvPr id="8" name="Picture 7"/>
          <p:cNvPicPr>
            <a:picLocks noChangeAspect="1"/>
          </p:cNvPicPr>
          <p:nvPr/>
        </p:nvPicPr>
        <p:blipFill>
          <a:blip r:embed="rId3"/>
          <a:stretch/>
        </p:blipFill>
        <p:spPr>
          <a:xfrm>
            <a:off x="5892779" y="1524000"/>
            <a:ext cx="5549941" cy="4095750"/>
          </a:xfrm>
          <a:prstGeom prst="rect">
            <a:avLst/>
          </a:prstGeom>
        </p:spPr>
      </p:pic>
      <p:sp>
        <p:nvSpPr>
          <p:cNvPr id="4" name="Rectangle 3">
            <a:extLst>
              <a:ext uri="{FF2B5EF4-FFF2-40B4-BE49-F238E27FC236}">
                <a16:creationId xmlns:a16="http://schemas.microsoft.com/office/drawing/2014/main" id="{71237DEC-5200-4BD2-9D39-8682A1068F19}"/>
              </a:ext>
            </a:extLst>
          </p:cNvPr>
          <p:cNvSpPr>
            <a:spLocks noGrp="1"/>
          </p:cNvSpPr>
          <p:nvPr/>
        </p:nvSpPr>
        <p:spPr>
          <a:xfrm>
            <a:off x="685800" y="5924550"/>
            <a:ext cx="10572750" cy="247650"/>
          </a:xfrm>
          <a:prstGeom prst="rect">
            <a:avLst/>
          </a:prstGeom>
          <a:noFill/>
          <a:ln w="0">
            <a:noFill/>
          </a:ln>
        </p:spPr>
        <p:txBody>
          <a:bodyPr anchor="t">
            <a:noAutofit/>
          </a:bodyPr>
          <a:lstStyle/>
          <a:p>
            <a:pPr>
              <a:defRPr sz="1200" b="0">
                <a:solidFill>
                  <a:srgbClr val="53687A"/>
                </a:solidFill>
                <a:latin typeface="DejaVu Sans"/>
                <a:ea typeface="DejaVu Sans"/>
                <a:cs typeface="DejaVu Sans"/>
              </a:defRPr>
            </a:pPr>
            <a:r>
              <a:rPr sz="1200" b="0">
                <a:solidFill>
                  <a:srgbClr val="53687A"/>
                </a:solidFill>
                <a:latin typeface="DejaVu Sans"/>
                <a:ea typeface="DejaVu Sans"/>
                <a:cs typeface="DejaVu Sans"/>
              </a:rPr>
              <a:t>Figure: Operating System Concepts, 9th ed., ©2013, via UIC course notes</a:t>
            </a:r>
          </a:p>
        </p:txBody>
      </p:sp>
      <p:sp>
        <p:nvSpPr>
          <p:cNvPr id="5" name="Rectangle 4">
            <a:extLst>
              <a:ext uri="{FF2B5EF4-FFF2-40B4-BE49-F238E27FC236}">
                <a16:creationId xmlns:a16="http://schemas.microsoft.com/office/drawing/2014/main" id="{177D815A-BF93-4F3A-A480-E45C66F0CF02}"/>
              </a:ext>
            </a:extLst>
          </p:cNvPr>
          <p:cNvSpPr>
            <a:spLocks noGrp="1"/>
          </p:cNvSpPr>
          <p:nvPr/>
        </p:nvSpPr>
        <p:spPr>
          <a:xfrm>
            <a:off x="685800" y="6381750"/>
            <a:ext cx="10820400" cy="238125"/>
          </a:xfrm>
          <a:prstGeom prst="rect">
            <a:avLst/>
          </a:prstGeom>
          <a:noFill/>
          <a:ln w="0">
            <a:noFill/>
          </a:ln>
        </p:spPr>
        <p:txBody>
          <a:bodyPr anchor="t">
            <a:noAutofit/>
          </a:bodyPr>
          <a:lstStyle/>
          <a:p>
            <a:pPr>
              <a:defRPr sz="1275" b="0">
                <a:solidFill>
                  <a:srgbClr val="53687A"/>
                </a:solidFill>
                <a:latin typeface="DejaVu Sans"/>
                <a:ea typeface="DejaVu Sans"/>
                <a:cs typeface="DejaVu Sans"/>
              </a:defRPr>
            </a:pPr>
            <a:r>
              <a:rPr sz="1275" b="0">
                <a:solidFill>
                  <a:srgbClr val="53687A"/>
                </a:solidFill>
                <a:latin typeface="DejaVu Sans"/>
                <a:ea typeface="DejaVu Sans"/>
                <a:cs typeface="DejaVu Sans"/>
              </a:rPr>
              <a:t>Week 1     06</a:t>
            </a:r>
          </a:p>
        </p:txBody>
      </p:sp>
    </p:spTree>
    <p:extLst>
      <p:ext uri="{BB962C8B-B14F-4D97-AF65-F5344CB8AC3E}">
        <p14:creationId xmlns:p14="http://schemas.microsoft.com/office/powerpoint/2010/main" val="2521047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32C43"/>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A71A57D-AC60-4362-BEBF-7EE9C26FE91B}"/>
              </a:ext>
            </a:extLst>
          </p:cNvPr>
          <p:cNvSpPr>
            <a:spLocks noGrp="1"/>
          </p:cNvSpPr>
          <p:nvPr/>
        </p:nvSpPr>
        <p:spPr>
          <a:xfrm>
            <a:off x="685800" y="647700"/>
            <a:ext cx="10820400" cy="381000"/>
          </a:xfrm>
          <a:prstGeom prst="rect">
            <a:avLst/>
          </a:prstGeom>
          <a:noFill/>
          <a:ln w="0">
            <a:noFill/>
          </a:ln>
        </p:spPr>
        <p:txBody>
          <a:bodyPr anchor="t">
            <a:noAutofit/>
          </a:bodyPr>
          <a:lstStyle/>
          <a:p>
            <a:pPr>
              <a:defRPr sz="1800" b="1">
                <a:solidFill>
                  <a:srgbClr val="70D0D3"/>
                </a:solidFill>
                <a:latin typeface="DejaVu Sans"/>
                <a:ea typeface="DejaVu Sans"/>
                <a:cs typeface="DejaVu Sans"/>
              </a:defRPr>
            </a:pPr>
            <a:r>
              <a:rPr sz="1800" b="1">
                <a:solidFill>
                  <a:srgbClr val="70D0D3"/>
                </a:solidFill>
                <a:latin typeface="DejaVu Sans"/>
                <a:ea typeface="DejaVu Sans"/>
                <a:cs typeface="DejaVu Sans"/>
              </a:rPr>
              <a:t>WEEK 1</a:t>
            </a:r>
          </a:p>
        </p:txBody>
      </p:sp>
      <p:sp>
        <p:nvSpPr>
          <p:cNvPr id="2" name="Rectangle 1">
            <a:extLst>
              <a:ext uri="{FF2B5EF4-FFF2-40B4-BE49-F238E27FC236}">
                <a16:creationId xmlns:a16="http://schemas.microsoft.com/office/drawing/2014/main" id="{92619588-B688-41BB-B7CF-A8773FE405B1}"/>
              </a:ext>
            </a:extLst>
          </p:cNvPr>
          <p:cNvSpPr>
            <a:spLocks noGrp="1"/>
          </p:cNvSpPr>
          <p:nvPr/>
        </p:nvSpPr>
        <p:spPr>
          <a:xfrm>
            <a:off x="685800" y="1524000"/>
            <a:ext cx="10477500" cy="1333500"/>
          </a:xfrm>
          <a:prstGeom prst="rect">
            <a:avLst/>
          </a:prstGeom>
          <a:noFill/>
          <a:ln w="0">
            <a:noFill/>
          </a:ln>
        </p:spPr>
        <p:txBody>
          <a:bodyPr anchor="t">
            <a:noAutofit/>
          </a:bodyPr>
          <a:lstStyle/>
          <a:p>
            <a:pPr>
              <a:defRPr sz="4500" b="1">
                <a:solidFill>
                  <a:srgbClr val="FFFFFF"/>
                </a:solidFill>
                <a:latin typeface="DejaVu Sans"/>
                <a:ea typeface="DejaVu Sans"/>
                <a:cs typeface="DejaVu Sans"/>
              </a:defRPr>
            </a:pPr>
            <a:r>
              <a:rPr sz="4500" b="1">
                <a:solidFill>
                  <a:srgbClr val="FFFFFF"/>
                </a:solidFill>
                <a:latin typeface="DejaVu Sans"/>
                <a:ea typeface="DejaVu Sans"/>
                <a:cs typeface="DejaVu Sans"/>
              </a:rPr>
              <a:t>Week 1: sharing and protection</a:t>
            </a:r>
          </a:p>
        </p:txBody>
      </p:sp>
      <p:sp>
        <p:nvSpPr>
          <p:cNvPr id="3" name="Rectangle 2">
            <a:extLst>
              <a:ext uri="{FF2B5EF4-FFF2-40B4-BE49-F238E27FC236}">
                <a16:creationId xmlns:a16="http://schemas.microsoft.com/office/drawing/2014/main" id="{907DF30B-E7A4-444F-A505-12FB81820DA1}"/>
              </a:ext>
            </a:extLst>
          </p:cNvPr>
          <p:cNvSpPr>
            <a:spLocks noGrp="1"/>
          </p:cNvSpPr>
          <p:nvPr/>
        </p:nvSpPr>
        <p:spPr>
          <a:xfrm>
            <a:off x="685800" y="3286125"/>
            <a:ext cx="10668000" cy="2095500"/>
          </a:xfrm>
          <a:prstGeom prst="rect">
            <a:avLst/>
          </a:prstGeom>
          <a:noFill/>
          <a:ln w="0">
            <a:noFill/>
          </a:ln>
        </p:spPr>
        <p:txBody>
          <a:bodyPr anchor="t">
            <a:noAutofit/>
          </a:bodyPr>
          <a:lstStyle/>
          <a:p>
            <a:pPr>
              <a:defRPr sz="2400" b="0">
                <a:solidFill>
                  <a:srgbClr val="EAF3F8"/>
                </a:solidFill>
                <a:latin typeface="DejaVu Sans"/>
                <a:ea typeface="DejaVu Sans"/>
                <a:cs typeface="DejaVu Sans"/>
              </a:defRPr>
            </a:pPr>
            <a:r>
              <a:rPr sz="2400" b="0">
                <a:solidFill>
                  <a:srgbClr val="EAF3F8"/>
                </a:solidFill>
                <a:latin typeface="DejaVu Sans"/>
                <a:ea typeface="DejaVu Sans"/>
                <a:cs typeface="DejaVu Sans"/>
              </a:rPr>
              <a:t>Explain three ways programs make progress.</a:t>
            </a:r>
          </a:p>
          <a:p>
            <a:pPr>
              <a:defRPr sz="2400" b="0">
                <a:solidFill>
                  <a:srgbClr val="EAF3F8"/>
                </a:solidFill>
                <a:latin typeface="DejaVu Sans"/>
                <a:ea typeface="DejaVu Sans"/>
                <a:cs typeface="DejaVu Sans"/>
              </a:defRPr>
            </a:pPr>
            <a:r>
              <a:rPr sz="2400" b="0">
                <a:solidFill>
                  <a:srgbClr val="EAF3F8"/>
                </a:solidFill>
                <a:latin typeface="DejaVu Sans"/>
                <a:ea typeface="DejaVu Sans"/>
                <a:cs typeface="DejaVu Sans"/>
              </a:rPr>
              <a:t>Classify interrupts and exceptions.</a:t>
            </a:r>
          </a:p>
          <a:p>
            <a:pPr>
              <a:defRPr sz="2400" b="0">
                <a:solidFill>
                  <a:srgbClr val="EAF3F8"/>
                </a:solidFill>
                <a:latin typeface="DejaVu Sans"/>
                <a:ea typeface="DejaVu Sans"/>
                <a:cs typeface="DejaVu Sans"/>
              </a:defRPr>
            </a:pPr>
            <a:r>
              <a:rPr sz="2400" b="0">
                <a:solidFill>
                  <a:srgbClr val="EAF3F8"/>
                </a:solidFill>
                <a:latin typeface="DejaVu Sans"/>
                <a:ea typeface="DejaVu Sans"/>
                <a:cs typeface="DejaVu Sans"/>
              </a:rPr>
              <a:t>Trace interrupt handling.</a:t>
            </a:r>
          </a:p>
          <a:p>
            <a:pPr>
              <a:defRPr sz="2400" b="0">
                <a:solidFill>
                  <a:srgbClr val="EAF3F8"/>
                </a:solidFill>
                <a:latin typeface="DejaVu Sans"/>
                <a:ea typeface="DejaVu Sans"/>
                <a:cs typeface="DejaVu Sans"/>
              </a:defRPr>
            </a:pPr>
            <a:r>
              <a:rPr sz="2400" b="0">
                <a:solidFill>
                  <a:srgbClr val="EAF3F8"/>
                </a:solidFill>
                <a:latin typeface="DejaVu Sans"/>
                <a:ea typeface="DejaVu Sans"/>
                <a:cs typeface="DejaVu Sans"/>
              </a:rPr>
              <a:t>Explain memory, I/O and CPU protection.</a:t>
            </a:r>
          </a:p>
        </p:txBody>
      </p:sp>
      <p:sp>
        <p:nvSpPr>
          <p:cNvPr id="4" name="Rectangle 3">
            <a:extLst>
              <a:ext uri="{FF2B5EF4-FFF2-40B4-BE49-F238E27FC236}">
                <a16:creationId xmlns:a16="http://schemas.microsoft.com/office/drawing/2014/main" id="{9FD367EC-1E47-4200-B12B-4A7DD0903C5A}"/>
              </a:ext>
            </a:extLst>
          </p:cNvPr>
          <p:cNvSpPr>
            <a:spLocks noGrp="1"/>
          </p:cNvSpPr>
          <p:nvPr/>
        </p:nvSpPr>
        <p:spPr>
          <a:xfrm>
            <a:off x="685800" y="6381750"/>
            <a:ext cx="10820400" cy="238125"/>
          </a:xfrm>
          <a:prstGeom prst="rect">
            <a:avLst/>
          </a:prstGeom>
          <a:noFill/>
          <a:ln w="0">
            <a:noFill/>
          </a:ln>
        </p:spPr>
        <p:txBody>
          <a:bodyPr anchor="t">
            <a:noAutofit/>
          </a:bodyPr>
          <a:lstStyle/>
          <a:p>
            <a:pPr>
              <a:defRPr sz="1275" b="0">
                <a:solidFill>
                  <a:srgbClr val="BED2E0"/>
                </a:solidFill>
                <a:latin typeface="DejaVu Sans"/>
                <a:ea typeface="DejaVu Sans"/>
                <a:cs typeface="DejaVu Sans"/>
              </a:defRPr>
            </a:pPr>
            <a:r>
              <a:rPr sz="1275" b="0">
                <a:solidFill>
                  <a:srgbClr val="BED2E0"/>
                </a:solidFill>
                <a:latin typeface="DejaVu Sans"/>
                <a:ea typeface="DejaVu Sans"/>
                <a:cs typeface="DejaVu Sans"/>
              </a:rPr>
              <a:t>Week 1     07</a:t>
            </a:r>
          </a:p>
        </p:txBody>
      </p:sp>
    </p:spTree>
    <p:extLst>
      <p:ext uri="{BB962C8B-B14F-4D97-AF65-F5344CB8AC3E}">
        <p14:creationId xmlns:p14="http://schemas.microsoft.com/office/powerpoint/2010/main" val="4433334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7368E81-1F31-4902-AB4D-3E43EE292D31}"/>
              </a:ext>
            </a:extLst>
          </p:cNvPr>
          <p:cNvSpPr>
            <a:spLocks noGrp="1"/>
          </p:cNvSpPr>
          <p:nvPr/>
        </p:nvSpPr>
        <p:spPr>
          <a:xfrm>
            <a:off x="685800" y="495300"/>
            <a:ext cx="10858500" cy="857250"/>
          </a:xfrm>
          <a:prstGeom prst="rect">
            <a:avLst/>
          </a:prstGeom>
          <a:noFill/>
          <a:ln w="0">
            <a:noFill/>
          </a:ln>
        </p:spPr>
        <p:txBody>
          <a:bodyPr anchor="t">
            <a:noAutofit/>
          </a:bodyPr>
          <a:lstStyle/>
          <a:p>
            <a:pPr>
              <a:defRPr sz="3300" b="1">
                <a:solidFill>
                  <a:srgbClr val="132C43"/>
                </a:solidFill>
                <a:latin typeface="DejaVu Sans"/>
                <a:ea typeface="DejaVu Sans"/>
                <a:cs typeface="DejaVu Sans"/>
              </a:defRPr>
            </a:pPr>
            <a:r>
              <a:rPr sz="3300" b="1">
                <a:solidFill>
                  <a:srgbClr val="132C43"/>
                </a:solidFill>
                <a:latin typeface="DejaVu Sans"/>
                <a:ea typeface="DejaVu Sans"/>
                <a:cs typeface="DejaVu Sans"/>
              </a:rPr>
              <a:t>Multiprogramming</a:t>
            </a:r>
          </a:p>
        </p:txBody>
      </p:sp>
      <p:sp>
        <p:nvSpPr>
          <p:cNvPr id="2" name="Rectangle 1">
            <a:extLst>
              <a:ext uri="{FF2B5EF4-FFF2-40B4-BE49-F238E27FC236}">
                <a16:creationId xmlns:a16="http://schemas.microsoft.com/office/drawing/2014/main" id="{521144B3-E78C-4979-85FA-2C184FB7365B}"/>
              </a:ext>
            </a:extLst>
          </p:cNvPr>
          <p:cNvSpPr>
            <a:spLocks noGrp="1"/>
          </p:cNvSpPr>
          <p:nvPr/>
        </p:nvSpPr>
        <p:spPr>
          <a:xfrm>
            <a:off x="685800" y="1619250"/>
            <a:ext cx="4476750" cy="3762375"/>
          </a:xfrm>
          <a:prstGeom prst="rect">
            <a:avLst/>
          </a:prstGeom>
          <a:noFill/>
          <a:ln w="0">
            <a:noFill/>
          </a:ln>
        </p:spPr>
        <p:txBody>
          <a:bodyPr anchor="t">
            <a:noAutofit/>
          </a:bodyPr>
          <a:lstStyle/>
          <a:p>
            <a:pPr>
              <a:defRPr sz="2100" b="0">
                <a:solidFill>
                  <a:srgbClr val="132C43"/>
                </a:solidFill>
                <a:latin typeface="DejaVu Sans"/>
                <a:ea typeface="DejaVu Sans"/>
                <a:cs typeface="DejaVu Sans"/>
              </a:defRPr>
            </a:pPr>
            <a:r>
              <a:rPr sz="2100" b="0" dirty="0">
                <a:solidFill>
                  <a:srgbClr val="132C43"/>
                </a:solidFill>
                <a:latin typeface="DejaVu Sans"/>
                <a:ea typeface="DejaVu Sans"/>
                <a:cs typeface="DejaVu Sans"/>
              </a:rPr>
              <a:t>Several jobs are available to run.</a:t>
            </a:r>
          </a:p>
          <a:p>
            <a:pPr>
              <a:defRPr sz="2100" b="0">
                <a:solidFill>
                  <a:srgbClr val="132C43"/>
                </a:solidFill>
                <a:latin typeface="DejaVu Sans"/>
                <a:ea typeface="DejaVu Sans"/>
                <a:cs typeface="DejaVu Sans"/>
              </a:defRPr>
            </a:pPr>
            <a:r>
              <a:rPr sz="2100" b="0" dirty="0">
                <a:solidFill>
                  <a:srgbClr val="132C43"/>
                </a:solidFill>
                <a:latin typeface="DejaVu Sans"/>
                <a:ea typeface="DejaVu Sans"/>
                <a:cs typeface="DejaVu Sans"/>
              </a:rPr>
              <a:t>When one waits for I/O, another uses the CPU.</a:t>
            </a:r>
          </a:p>
          <a:p>
            <a:pPr>
              <a:defRPr sz="2100" b="0">
                <a:solidFill>
                  <a:srgbClr val="132C43"/>
                </a:solidFill>
                <a:latin typeface="DejaVu Sans"/>
                <a:ea typeface="DejaVu Sans"/>
                <a:cs typeface="DejaVu Sans"/>
              </a:defRPr>
            </a:pPr>
            <a:r>
              <a:rPr sz="2100" b="0" dirty="0">
                <a:solidFill>
                  <a:srgbClr val="132C43"/>
                </a:solidFill>
                <a:latin typeface="DejaVu Sans"/>
                <a:ea typeface="DejaVu Sans"/>
                <a:cs typeface="DejaVu Sans"/>
              </a:rPr>
              <a:t>The main aim is to reduce CPU idle time.</a:t>
            </a:r>
          </a:p>
        </p:txBody>
      </p:sp>
      <p:pic>
        <p:nvPicPr>
          <p:cNvPr id="8" name="Picture 7"/>
          <p:cNvPicPr>
            <a:picLocks noChangeAspect="1"/>
          </p:cNvPicPr>
          <p:nvPr/>
        </p:nvPicPr>
        <p:blipFill>
          <a:blip r:embed="rId3"/>
          <a:stretch/>
        </p:blipFill>
        <p:spPr>
          <a:xfrm>
            <a:off x="7437881" y="1524000"/>
            <a:ext cx="2459738" cy="4095750"/>
          </a:xfrm>
          <a:prstGeom prst="rect">
            <a:avLst/>
          </a:prstGeom>
        </p:spPr>
      </p:pic>
      <p:sp>
        <p:nvSpPr>
          <p:cNvPr id="4" name="Rectangle 3">
            <a:extLst>
              <a:ext uri="{FF2B5EF4-FFF2-40B4-BE49-F238E27FC236}">
                <a16:creationId xmlns:a16="http://schemas.microsoft.com/office/drawing/2014/main" id="{37E1C737-A1DE-43FE-A998-EB891EF30EA1}"/>
              </a:ext>
            </a:extLst>
          </p:cNvPr>
          <p:cNvSpPr>
            <a:spLocks noGrp="1"/>
          </p:cNvSpPr>
          <p:nvPr/>
        </p:nvSpPr>
        <p:spPr>
          <a:xfrm>
            <a:off x="685800" y="5924550"/>
            <a:ext cx="10572750" cy="247650"/>
          </a:xfrm>
          <a:prstGeom prst="rect">
            <a:avLst/>
          </a:prstGeom>
          <a:noFill/>
          <a:ln w="0">
            <a:noFill/>
          </a:ln>
        </p:spPr>
        <p:txBody>
          <a:bodyPr anchor="t">
            <a:noAutofit/>
          </a:bodyPr>
          <a:lstStyle/>
          <a:p>
            <a:pPr>
              <a:defRPr sz="1200" b="0">
                <a:solidFill>
                  <a:srgbClr val="53687A"/>
                </a:solidFill>
                <a:latin typeface="DejaVu Sans"/>
                <a:ea typeface="DejaVu Sans"/>
                <a:cs typeface="DejaVu Sans"/>
              </a:defRPr>
            </a:pPr>
            <a:r>
              <a:rPr sz="1200" b="0">
                <a:solidFill>
                  <a:srgbClr val="53687A"/>
                </a:solidFill>
                <a:latin typeface="DejaVu Sans"/>
                <a:ea typeface="DejaVu Sans"/>
                <a:cs typeface="DejaVu Sans"/>
              </a:rPr>
              <a:t>Figure: Operating System Concepts, 9th ed., ©2013, via UIC course notes</a:t>
            </a:r>
          </a:p>
        </p:txBody>
      </p:sp>
      <p:sp>
        <p:nvSpPr>
          <p:cNvPr id="5" name="Rectangle 4">
            <a:extLst>
              <a:ext uri="{FF2B5EF4-FFF2-40B4-BE49-F238E27FC236}">
                <a16:creationId xmlns:a16="http://schemas.microsoft.com/office/drawing/2014/main" id="{36809781-CB00-4248-9B8A-B7D3A8A92A05}"/>
              </a:ext>
            </a:extLst>
          </p:cNvPr>
          <p:cNvSpPr>
            <a:spLocks noGrp="1"/>
          </p:cNvSpPr>
          <p:nvPr/>
        </p:nvSpPr>
        <p:spPr>
          <a:xfrm>
            <a:off x="685800" y="6381750"/>
            <a:ext cx="10820400" cy="238125"/>
          </a:xfrm>
          <a:prstGeom prst="rect">
            <a:avLst/>
          </a:prstGeom>
          <a:noFill/>
          <a:ln w="0">
            <a:noFill/>
          </a:ln>
        </p:spPr>
        <p:txBody>
          <a:bodyPr anchor="t">
            <a:noAutofit/>
          </a:bodyPr>
          <a:lstStyle/>
          <a:p>
            <a:pPr>
              <a:defRPr sz="1275" b="0">
                <a:solidFill>
                  <a:srgbClr val="53687A"/>
                </a:solidFill>
                <a:latin typeface="DejaVu Sans"/>
                <a:ea typeface="DejaVu Sans"/>
                <a:cs typeface="DejaVu Sans"/>
              </a:defRPr>
            </a:pPr>
            <a:r>
              <a:rPr sz="1275" b="0">
                <a:solidFill>
                  <a:srgbClr val="53687A"/>
                </a:solidFill>
                <a:latin typeface="DejaVu Sans"/>
                <a:ea typeface="DejaVu Sans"/>
                <a:cs typeface="DejaVu Sans"/>
              </a:rPr>
              <a:t>Week 1     08</a:t>
            </a:r>
          </a:p>
        </p:txBody>
      </p:sp>
    </p:spTree>
    <p:extLst>
      <p:ext uri="{BB962C8B-B14F-4D97-AF65-F5344CB8AC3E}">
        <p14:creationId xmlns:p14="http://schemas.microsoft.com/office/powerpoint/2010/main" val="10866945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AB60CBA-45CE-4142-8067-4237F129687F}"/>
              </a:ext>
            </a:extLst>
          </p:cNvPr>
          <p:cNvSpPr>
            <a:spLocks noGrp="1"/>
          </p:cNvSpPr>
          <p:nvPr/>
        </p:nvSpPr>
        <p:spPr>
          <a:xfrm>
            <a:off x="685800" y="495300"/>
            <a:ext cx="10858500" cy="857250"/>
          </a:xfrm>
          <a:prstGeom prst="rect">
            <a:avLst/>
          </a:prstGeom>
          <a:noFill/>
          <a:ln w="0">
            <a:noFill/>
          </a:ln>
        </p:spPr>
        <p:txBody>
          <a:bodyPr anchor="t">
            <a:noAutofit/>
          </a:bodyPr>
          <a:lstStyle/>
          <a:p>
            <a:pPr>
              <a:defRPr sz="3300" b="1">
                <a:solidFill>
                  <a:srgbClr val="132C43"/>
                </a:solidFill>
                <a:latin typeface="DejaVu Sans"/>
                <a:ea typeface="DejaVu Sans"/>
                <a:cs typeface="DejaVu Sans"/>
              </a:defRPr>
            </a:pPr>
            <a:r>
              <a:rPr sz="3300" b="1">
                <a:solidFill>
                  <a:srgbClr val="132C43"/>
                </a:solidFill>
                <a:latin typeface="DejaVu Sans"/>
                <a:ea typeface="DejaVu Sans"/>
                <a:cs typeface="DejaVu Sans"/>
              </a:rPr>
              <a:t>Worked example: CPU utilization</a:t>
            </a:r>
          </a:p>
        </p:txBody>
      </p:sp>
      <p:sp>
        <p:nvSpPr>
          <p:cNvPr id="2" name="Rectangle 1">
            <a:extLst>
              <a:ext uri="{FF2B5EF4-FFF2-40B4-BE49-F238E27FC236}">
                <a16:creationId xmlns:a16="http://schemas.microsoft.com/office/drawing/2014/main" id="{8DD8FD4D-CFD7-44FF-A661-A5AE21283B77}"/>
              </a:ext>
            </a:extLst>
          </p:cNvPr>
          <p:cNvSpPr>
            <a:spLocks noGrp="1"/>
          </p:cNvSpPr>
          <p:nvPr/>
        </p:nvSpPr>
        <p:spPr>
          <a:xfrm>
            <a:off x="685800" y="1428750"/>
            <a:ext cx="10820400" cy="1600200"/>
          </a:xfrm>
          <a:prstGeom prst="rect">
            <a:avLst/>
          </a:prstGeom>
          <a:noFill/>
          <a:ln w="0">
            <a:noFill/>
          </a:ln>
        </p:spPr>
        <p:txBody>
          <a:bodyPr anchor="t">
            <a:noAutofit/>
          </a:bodyPr>
          <a:lstStyle/>
          <a:p>
            <a:pPr>
              <a:defRPr sz="1950" b="0">
                <a:solidFill>
                  <a:srgbClr val="53687A"/>
                </a:solidFill>
                <a:latin typeface="DejaVu Sans"/>
                <a:ea typeface="DejaVu Sans"/>
                <a:cs typeface="DejaVu Sans"/>
              </a:defRPr>
            </a:pPr>
            <a:r>
              <a:rPr sz="1950" b="0">
                <a:solidFill>
                  <a:srgbClr val="53687A"/>
                </a:solidFill>
                <a:latin typeface="DejaVu Sans"/>
                <a:ea typeface="DejaVu Sans"/>
                <a:cs typeface="DejaVu Sans"/>
              </a:rPr>
              <a:t>A needs 4 ms CPU, 6 ms I/O, then 2 ms CPU.</a:t>
            </a:r>
          </a:p>
          <a:p>
            <a:pPr>
              <a:defRPr sz="1950" b="0">
                <a:solidFill>
                  <a:srgbClr val="53687A"/>
                </a:solidFill>
                <a:latin typeface="DejaVu Sans"/>
                <a:ea typeface="DejaVu Sans"/>
                <a:cs typeface="DejaVu Sans"/>
              </a:defRPr>
            </a:pPr>
            <a:r>
              <a:rPr sz="1950" b="0">
                <a:solidFill>
                  <a:srgbClr val="53687A"/>
                </a:solidFill>
                <a:latin typeface="DejaVu Sans"/>
                <a:ea typeface="DejaVu Sans"/>
                <a:cs typeface="DejaVu Sans"/>
              </a:rPr>
              <a:t>B needs 6 ms CPU and is ready at time 0.</a:t>
            </a:r>
          </a:p>
          <a:p>
            <a:pPr>
              <a:defRPr sz="1950" b="0">
                <a:solidFill>
                  <a:srgbClr val="53687A"/>
                </a:solidFill>
                <a:latin typeface="DejaVu Sans"/>
                <a:ea typeface="DejaVu Sans"/>
                <a:cs typeface="DejaVu Sans"/>
              </a:defRPr>
            </a:pPr>
            <a:r>
              <a:rPr sz="1950" b="0">
                <a:solidFill>
                  <a:srgbClr val="53687A"/>
                </a:solidFill>
                <a:latin typeface="DejaVu Sans"/>
                <a:ea typeface="DejaVu Sans"/>
                <a:cs typeface="DejaVu Sans"/>
              </a:rPr>
              <a:t>One core. Ignore switch overhead.</a:t>
            </a:r>
          </a:p>
          <a:p>
            <a:pPr>
              <a:defRPr sz="1950" b="0">
                <a:solidFill>
                  <a:srgbClr val="53687A"/>
                </a:solidFill>
                <a:latin typeface="DejaVu Sans"/>
                <a:ea typeface="DejaVu Sans"/>
                <a:cs typeface="DejaVu Sans"/>
              </a:defRPr>
            </a:pPr>
            <a:r>
              <a:rPr sz="1950" b="0">
                <a:solidFill>
                  <a:srgbClr val="53687A"/>
                </a:solidFill>
                <a:latin typeface="DejaVu Sans"/>
                <a:ea typeface="DejaVu Sans"/>
                <a:cs typeface="DejaVu Sans"/>
              </a:rPr>
              <a:t>How much CPU time becomes useful work?</a:t>
            </a:r>
          </a:p>
        </p:txBody>
      </p:sp>
      <p:graphicFrame>
        <p:nvGraphicFramePr>
          <p:cNvPr id="7" name="Table 6"/>
          <p:cNvGraphicFramePr/>
          <p:nvPr/>
        </p:nvGraphicFramePr>
        <p:xfrm>
          <a:off x="685800" y="3219450"/>
          <a:ext cx="10820400" cy="2638425"/>
        </p:xfrm>
        <a:graphic>
          <a:graphicData uri="http://schemas.openxmlformats.org/drawingml/2006/table">
            <a:tbl>
              <a:tblPr/>
              <a:tblGrid>
                <a:gridCol w="2762250">
                  <a:extLst>
                    <a:ext uri="{9D8B030D-6E8A-4147-A177-3AD203B41FA5}">
                      <a16:colId xmlns:a16="http://schemas.microsoft.com/office/drawing/2014/main" val="20000"/>
                    </a:ext>
                  </a:extLst>
                </a:gridCol>
                <a:gridCol w="4095750">
                  <a:extLst>
                    <a:ext uri="{9D8B030D-6E8A-4147-A177-3AD203B41FA5}">
                      <a16:colId xmlns:a16="http://schemas.microsoft.com/office/drawing/2014/main" val="20001"/>
                    </a:ext>
                  </a:extLst>
                </a:gridCol>
                <a:gridCol w="3962400">
                  <a:extLst>
                    <a:ext uri="{9D8B030D-6E8A-4147-A177-3AD203B41FA5}">
                      <a16:colId xmlns:a16="http://schemas.microsoft.com/office/drawing/2014/main" val="20002"/>
                    </a:ext>
                  </a:extLst>
                </a:gridCol>
              </a:tblGrid>
              <a:tr h="527685">
                <a:tc>
                  <a:txBody>
                    <a:bodyPr/>
                    <a:lstStyle/>
                    <a:p>
                      <a:r>
                        <a:rPr sz="1725" b="1">
                          <a:solidFill>
                            <a:srgbClr val="FFFFFF"/>
                          </a:solidFill>
                          <a:latin typeface="DejaVu Sans"/>
                          <a:ea typeface="DejaVu Sans"/>
                          <a:cs typeface="DejaVu Sans"/>
                        </a:rPr>
                        <a:t>Interval</a:t>
                      </a:r>
                    </a:p>
                  </a:txBody>
                  <a:tcPr marL="114300" marR="114300" marT="95250" marB="76200">
                    <a:solidFill>
                      <a:srgbClr val="132C43"/>
                    </a:solidFill>
                  </a:tcPr>
                </a:tc>
                <a:tc>
                  <a:txBody>
                    <a:bodyPr/>
                    <a:lstStyle/>
                    <a:p>
                      <a:r>
                        <a:rPr sz="1725" b="1">
                          <a:solidFill>
                            <a:srgbClr val="FFFFFF"/>
                          </a:solidFill>
                          <a:latin typeface="DejaVu Sans"/>
                          <a:ea typeface="DejaVu Sans"/>
                          <a:cs typeface="DejaVu Sans"/>
                        </a:rPr>
                        <a:t>One job at a time</a:t>
                      </a:r>
                    </a:p>
                  </a:txBody>
                  <a:tcPr marL="114300" marR="114300" marT="95250" marB="76200">
                    <a:solidFill>
                      <a:srgbClr val="132C43"/>
                    </a:solidFill>
                  </a:tcPr>
                </a:tc>
                <a:tc>
                  <a:txBody>
                    <a:bodyPr/>
                    <a:lstStyle/>
                    <a:p>
                      <a:r>
                        <a:rPr sz="1725" b="1">
                          <a:solidFill>
                            <a:srgbClr val="FFFFFF"/>
                          </a:solidFill>
                          <a:latin typeface="DejaVu Sans"/>
                          <a:ea typeface="DejaVu Sans"/>
                          <a:cs typeface="DejaVu Sans"/>
                        </a:rPr>
                        <a:t>Both jobs available</a:t>
                      </a:r>
                    </a:p>
                  </a:txBody>
                  <a:tcPr marL="114300" marR="114300" marT="95250" marB="76200">
                    <a:solidFill>
                      <a:srgbClr val="132C43"/>
                    </a:solidFill>
                  </a:tcPr>
                </a:tc>
                <a:extLst>
                  <a:ext uri="{0D108BD9-81ED-4DB2-BD59-A6C34878D82A}">
                    <a16:rowId xmlns:a16="http://schemas.microsoft.com/office/drawing/2014/main" val="10000"/>
                  </a:ext>
                </a:extLst>
              </a:tr>
              <a:tr h="527685">
                <a:tc>
                  <a:txBody>
                    <a:bodyPr/>
                    <a:lstStyle/>
                    <a:p>
                      <a:r>
                        <a:rPr sz="1725">
                          <a:solidFill>
                            <a:srgbClr val="132C43"/>
                          </a:solidFill>
                          <a:latin typeface="DejaVu Sans"/>
                          <a:ea typeface="DejaVu Sans"/>
                          <a:cs typeface="DejaVu Sans"/>
                        </a:rPr>
                        <a:t>0–4 ms</a:t>
                      </a:r>
                    </a:p>
                  </a:txBody>
                  <a:tcPr marL="114300" marR="114300" marT="95250" marB="76200">
                    <a:solidFill>
                      <a:srgbClr val="F0F6FA"/>
                    </a:solidFill>
                  </a:tcPr>
                </a:tc>
                <a:tc>
                  <a:txBody>
                    <a:bodyPr/>
                    <a:lstStyle/>
                    <a:p>
                      <a:r>
                        <a:rPr sz="1725">
                          <a:solidFill>
                            <a:srgbClr val="132C43"/>
                          </a:solidFill>
                          <a:latin typeface="DejaVu Sans"/>
                          <a:ea typeface="DejaVu Sans"/>
                          <a:cs typeface="DejaVu Sans"/>
                        </a:rPr>
                        <a:t>A</a:t>
                      </a:r>
                    </a:p>
                  </a:txBody>
                  <a:tcPr marL="114300" marR="114300" marT="95250" marB="76200">
                    <a:solidFill>
                      <a:srgbClr val="F0F6FA"/>
                    </a:solidFill>
                  </a:tcPr>
                </a:tc>
                <a:tc>
                  <a:txBody>
                    <a:bodyPr/>
                    <a:lstStyle/>
                    <a:p>
                      <a:r>
                        <a:rPr sz="1725">
                          <a:solidFill>
                            <a:srgbClr val="132C43"/>
                          </a:solidFill>
                          <a:latin typeface="DejaVu Sans"/>
                          <a:ea typeface="DejaVu Sans"/>
                          <a:cs typeface="DejaVu Sans"/>
                        </a:rPr>
                        <a:t>A</a:t>
                      </a:r>
                    </a:p>
                  </a:txBody>
                  <a:tcPr marL="114300" marR="114300" marT="95250" marB="76200">
                    <a:solidFill>
                      <a:srgbClr val="F0F6FA"/>
                    </a:solidFill>
                  </a:tcPr>
                </a:tc>
                <a:extLst>
                  <a:ext uri="{0D108BD9-81ED-4DB2-BD59-A6C34878D82A}">
                    <a16:rowId xmlns:a16="http://schemas.microsoft.com/office/drawing/2014/main" val="10001"/>
                  </a:ext>
                </a:extLst>
              </a:tr>
              <a:tr h="527685">
                <a:tc>
                  <a:txBody>
                    <a:bodyPr/>
                    <a:lstStyle/>
                    <a:p>
                      <a:r>
                        <a:rPr sz="1725">
                          <a:solidFill>
                            <a:srgbClr val="132C43"/>
                          </a:solidFill>
                          <a:latin typeface="DejaVu Sans"/>
                          <a:ea typeface="DejaVu Sans"/>
                          <a:cs typeface="DejaVu Sans"/>
                        </a:rPr>
                        <a:t>4–10 ms</a:t>
                      </a:r>
                    </a:p>
                  </a:txBody>
                  <a:tcPr marL="114300" marR="114300" marT="95250" marB="76200">
                    <a:solidFill>
                      <a:srgbClr val="FFFFFF"/>
                    </a:solidFill>
                  </a:tcPr>
                </a:tc>
                <a:tc>
                  <a:txBody>
                    <a:bodyPr/>
                    <a:lstStyle/>
                    <a:p>
                      <a:r>
                        <a:rPr sz="1725">
                          <a:solidFill>
                            <a:srgbClr val="132C43"/>
                          </a:solidFill>
                          <a:latin typeface="DejaVu Sans"/>
                          <a:ea typeface="DejaVu Sans"/>
                          <a:cs typeface="DejaVu Sans"/>
                        </a:rPr>
                        <a:t>CPU idle, A in I/O</a:t>
                      </a:r>
                    </a:p>
                  </a:txBody>
                  <a:tcPr marL="114300" marR="114300" marT="95250" marB="76200">
                    <a:solidFill>
                      <a:srgbClr val="FFFFFF"/>
                    </a:solidFill>
                  </a:tcPr>
                </a:tc>
                <a:tc>
                  <a:txBody>
                    <a:bodyPr/>
                    <a:lstStyle/>
                    <a:p>
                      <a:r>
                        <a:rPr sz="1725">
                          <a:solidFill>
                            <a:srgbClr val="132C43"/>
                          </a:solidFill>
                          <a:latin typeface="DejaVu Sans"/>
                          <a:ea typeface="DejaVu Sans"/>
                          <a:cs typeface="DejaVu Sans"/>
                        </a:rPr>
                        <a:t>B, A in I/O</a:t>
                      </a:r>
                    </a:p>
                  </a:txBody>
                  <a:tcPr marL="114300" marR="114300" marT="95250" marB="76200">
                    <a:solidFill>
                      <a:srgbClr val="FFFFFF"/>
                    </a:solidFill>
                  </a:tcPr>
                </a:tc>
                <a:extLst>
                  <a:ext uri="{0D108BD9-81ED-4DB2-BD59-A6C34878D82A}">
                    <a16:rowId xmlns:a16="http://schemas.microsoft.com/office/drawing/2014/main" val="10002"/>
                  </a:ext>
                </a:extLst>
              </a:tr>
              <a:tr h="527685">
                <a:tc>
                  <a:txBody>
                    <a:bodyPr/>
                    <a:lstStyle/>
                    <a:p>
                      <a:r>
                        <a:rPr sz="1725">
                          <a:solidFill>
                            <a:srgbClr val="132C43"/>
                          </a:solidFill>
                          <a:latin typeface="DejaVu Sans"/>
                          <a:ea typeface="DejaVu Sans"/>
                          <a:cs typeface="DejaVu Sans"/>
                        </a:rPr>
                        <a:t>10–12 ms</a:t>
                      </a:r>
                    </a:p>
                  </a:txBody>
                  <a:tcPr marL="114300" marR="114300" marT="95250" marB="76200">
                    <a:solidFill>
                      <a:srgbClr val="F0F6FA"/>
                    </a:solidFill>
                  </a:tcPr>
                </a:tc>
                <a:tc>
                  <a:txBody>
                    <a:bodyPr/>
                    <a:lstStyle/>
                    <a:p>
                      <a:r>
                        <a:rPr sz="1725">
                          <a:solidFill>
                            <a:srgbClr val="132C43"/>
                          </a:solidFill>
                          <a:latin typeface="DejaVu Sans"/>
                          <a:ea typeface="DejaVu Sans"/>
                          <a:cs typeface="DejaVu Sans"/>
                        </a:rPr>
                        <a:t>A</a:t>
                      </a:r>
                    </a:p>
                  </a:txBody>
                  <a:tcPr marL="114300" marR="114300" marT="95250" marB="76200">
                    <a:solidFill>
                      <a:srgbClr val="F0F6FA"/>
                    </a:solidFill>
                  </a:tcPr>
                </a:tc>
                <a:tc>
                  <a:txBody>
                    <a:bodyPr/>
                    <a:lstStyle/>
                    <a:p>
                      <a:r>
                        <a:rPr sz="1725">
                          <a:solidFill>
                            <a:srgbClr val="132C43"/>
                          </a:solidFill>
                          <a:latin typeface="DejaVu Sans"/>
                          <a:ea typeface="DejaVu Sans"/>
                          <a:cs typeface="DejaVu Sans"/>
                        </a:rPr>
                        <a:t>A</a:t>
                      </a:r>
                    </a:p>
                  </a:txBody>
                  <a:tcPr marL="114300" marR="114300" marT="95250" marB="76200">
                    <a:solidFill>
                      <a:srgbClr val="F0F6FA"/>
                    </a:solidFill>
                  </a:tcPr>
                </a:tc>
                <a:extLst>
                  <a:ext uri="{0D108BD9-81ED-4DB2-BD59-A6C34878D82A}">
                    <a16:rowId xmlns:a16="http://schemas.microsoft.com/office/drawing/2014/main" val="10003"/>
                  </a:ext>
                </a:extLst>
              </a:tr>
              <a:tr h="527685">
                <a:tc>
                  <a:txBody>
                    <a:bodyPr/>
                    <a:lstStyle/>
                    <a:p>
                      <a:r>
                        <a:rPr sz="1725">
                          <a:solidFill>
                            <a:srgbClr val="132C43"/>
                          </a:solidFill>
                          <a:latin typeface="DejaVu Sans"/>
                          <a:ea typeface="DejaVu Sans"/>
                          <a:cs typeface="DejaVu Sans"/>
                        </a:rPr>
                        <a:t>12–18 ms</a:t>
                      </a:r>
                    </a:p>
                  </a:txBody>
                  <a:tcPr marL="114300" marR="114300" marT="95250" marB="76200">
                    <a:solidFill>
                      <a:srgbClr val="FFFFFF"/>
                    </a:solidFill>
                  </a:tcPr>
                </a:tc>
                <a:tc>
                  <a:txBody>
                    <a:bodyPr/>
                    <a:lstStyle/>
                    <a:p>
                      <a:r>
                        <a:rPr sz="1725">
                          <a:solidFill>
                            <a:srgbClr val="132C43"/>
                          </a:solidFill>
                          <a:latin typeface="DejaVu Sans"/>
                          <a:ea typeface="DejaVu Sans"/>
                          <a:cs typeface="DejaVu Sans"/>
                        </a:rPr>
                        <a:t>B</a:t>
                      </a:r>
                    </a:p>
                  </a:txBody>
                  <a:tcPr marL="114300" marR="114300" marT="95250" marB="76200">
                    <a:solidFill>
                      <a:srgbClr val="FFFFFF"/>
                    </a:solidFill>
                  </a:tcPr>
                </a:tc>
                <a:tc>
                  <a:txBody>
                    <a:bodyPr/>
                    <a:lstStyle/>
                    <a:p>
                      <a:r>
                        <a:rPr sz="1725">
                          <a:solidFill>
                            <a:srgbClr val="132C43"/>
                          </a:solidFill>
                          <a:latin typeface="DejaVu Sans"/>
                          <a:ea typeface="DejaVu Sans"/>
                          <a:cs typeface="DejaVu Sans"/>
                        </a:rPr>
                        <a:t>All work complete</a:t>
                      </a:r>
                    </a:p>
                  </a:txBody>
                  <a:tcPr marL="114300" marR="114300" marT="95250" marB="76200">
                    <a:solidFill>
                      <a:srgbClr val="FFFFFF"/>
                    </a:solidFill>
                  </a:tcPr>
                </a:tc>
                <a:extLst>
                  <a:ext uri="{0D108BD9-81ED-4DB2-BD59-A6C34878D82A}">
                    <a16:rowId xmlns:a16="http://schemas.microsoft.com/office/drawing/2014/main" val="10004"/>
                  </a:ext>
                </a:extLst>
              </a:tr>
            </a:tbl>
          </a:graphicData>
        </a:graphic>
      </p:graphicFrame>
      <p:sp>
        <p:nvSpPr>
          <p:cNvPr id="4" name="Rectangle 3">
            <a:extLst>
              <a:ext uri="{FF2B5EF4-FFF2-40B4-BE49-F238E27FC236}">
                <a16:creationId xmlns:a16="http://schemas.microsoft.com/office/drawing/2014/main" id="{11DFB6EC-135D-47C8-A1CE-DE59CAF300B3}"/>
              </a:ext>
            </a:extLst>
          </p:cNvPr>
          <p:cNvSpPr>
            <a:spLocks noGrp="1"/>
          </p:cNvSpPr>
          <p:nvPr/>
        </p:nvSpPr>
        <p:spPr>
          <a:xfrm>
            <a:off x="685800" y="6381750"/>
            <a:ext cx="10820400" cy="238125"/>
          </a:xfrm>
          <a:prstGeom prst="rect">
            <a:avLst/>
          </a:prstGeom>
          <a:noFill/>
          <a:ln w="0">
            <a:noFill/>
          </a:ln>
        </p:spPr>
        <p:txBody>
          <a:bodyPr anchor="t">
            <a:noAutofit/>
          </a:bodyPr>
          <a:lstStyle/>
          <a:p>
            <a:pPr>
              <a:defRPr sz="1275" b="0">
                <a:solidFill>
                  <a:srgbClr val="53687A"/>
                </a:solidFill>
                <a:latin typeface="DejaVu Sans"/>
                <a:ea typeface="DejaVu Sans"/>
                <a:cs typeface="DejaVu Sans"/>
              </a:defRPr>
            </a:pPr>
            <a:r>
              <a:rPr sz="1275" b="0">
                <a:solidFill>
                  <a:srgbClr val="53687A"/>
                </a:solidFill>
                <a:latin typeface="DejaVu Sans"/>
                <a:ea typeface="DejaVu Sans"/>
                <a:cs typeface="DejaVu Sans"/>
              </a:rPr>
              <a:t>Week 1     09</a:t>
            </a:r>
          </a:p>
        </p:txBody>
      </p:sp>
    </p:spTree>
    <p:extLst>
      <p:ext uri="{BB962C8B-B14F-4D97-AF65-F5344CB8AC3E}">
        <p14:creationId xmlns:p14="http://schemas.microsoft.com/office/powerpoint/2010/main" val="16311461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F3EB2A9-EAC2-4DD8-9D21-8D6A947C5BCD}"/>
              </a:ext>
            </a:extLst>
          </p:cNvPr>
          <p:cNvSpPr>
            <a:spLocks noGrp="1"/>
          </p:cNvSpPr>
          <p:nvPr/>
        </p:nvSpPr>
        <p:spPr>
          <a:xfrm>
            <a:off x="685800" y="495300"/>
            <a:ext cx="10858500" cy="857250"/>
          </a:xfrm>
          <a:prstGeom prst="rect">
            <a:avLst/>
          </a:prstGeom>
          <a:noFill/>
          <a:ln w="0">
            <a:noFill/>
          </a:ln>
        </p:spPr>
        <p:txBody>
          <a:bodyPr anchor="t">
            <a:noAutofit/>
          </a:bodyPr>
          <a:lstStyle/>
          <a:p>
            <a:pPr>
              <a:defRPr sz="3300" b="1">
                <a:solidFill>
                  <a:srgbClr val="132C43"/>
                </a:solidFill>
                <a:latin typeface="DejaVu Sans"/>
                <a:ea typeface="DejaVu Sans"/>
                <a:cs typeface="DejaVu Sans"/>
              </a:defRPr>
            </a:pPr>
            <a:r>
              <a:rPr sz="3300" b="1">
                <a:solidFill>
                  <a:srgbClr val="132C43"/>
                </a:solidFill>
                <a:latin typeface="DejaVu Sans"/>
                <a:ea typeface="DejaVu Sans"/>
                <a:cs typeface="DejaVu Sans"/>
              </a:rPr>
              <a:t>Worked example: utilization result</a:t>
            </a:r>
          </a:p>
        </p:txBody>
      </p:sp>
      <p:sp>
        <p:nvSpPr>
          <p:cNvPr id="2" name="Rectangle 1">
            <a:extLst>
              <a:ext uri="{FF2B5EF4-FFF2-40B4-BE49-F238E27FC236}">
                <a16:creationId xmlns:a16="http://schemas.microsoft.com/office/drawing/2014/main" id="{071D7BBB-B099-495A-8109-EF2118ECDC6A}"/>
              </a:ext>
            </a:extLst>
          </p:cNvPr>
          <p:cNvSpPr>
            <a:spLocks noGrp="1"/>
          </p:cNvSpPr>
          <p:nvPr/>
        </p:nvSpPr>
        <p:spPr>
          <a:xfrm>
            <a:off x="685800" y="1428750"/>
            <a:ext cx="10820400" cy="857250"/>
          </a:xfrm>
          <a:prstGeom prst="rect">
            <a:avLst/>
          </a:prstGeom>
          <a:noFill/>
          <a:ln w="0">
            <a:noFill/>
          </a:ln>
        </p:spPr>
        <p:txBody>
          <a:bodyPr anchor="t">
            <a:noAutofit/>
          </a:bodyPr>
          <a:lstStyle/>
          <a:p>
            <a:pPr>
              <a:defRPr sz="2025" b="0">
                <a:solidFill>
                  <a:srgbClr val="53687A"/>
                </a:solidFill>
                <a:latin typeface="DejaVu Sans"/>
                <a:ea typeface="DejaVu Sans"/>
                <a:cs typeface="DejaVu Sans"/>
              </a:defRPr>
            </a:pPr>
            <a:r>
              <a:rPr sz="2025" b="0">
                <a:solidFill>
                  <a:srgbClr val="53687A"/>
                </a:solidFill>
                <a:latin typeface="DejaVu Sans"/>
                <a:ea typeface="DejaVu Sans"/>
                <a:cs typeface="DejaVu Sans"/>
              </a:rPr>
              <a:t>The same 12 ms of CPU work finishes sooner.</a:t>
            </a:r>
          </a:p>
          <a:p>
            <a:pPr>
              <a:defRPr sz="2025" b="0">
                <a:solidFill>
                  <a:srgbClr val="53687A"/>
                </a:solidFill>
                <a:latin typeface="DejaVu Sans"/>
                <a:ea typeface="DejaVu Sans"/>
                <a:cs typeface="DejaVu Sans"/>
              </a:defRPr>
            </a:pPr>
            <a:r>
              <a:rPr sz="2025" b="0">
                <a:solidFill>
                  <a:srgbClr val="53687A"/>
                </a:solidFill>
                <a:latin typeface="DejaVu Sans"/>
                <a:ea typeface="DejaVu Sans"/>
                <a:cs typeface="DejaVu Sans"/>
              </a:rPr>
              <a:t>Overlapping B with A’s I/O removes 6 ms idle time.</a:t>
            </a:r>
          </a:p>
        </p:txBody>
      </p:sp>
      <p:graphicFrame>
        <p:nvGraphicFramePr>
          <p:cNvPr id="8" name="Chart"/>
          <p:cNvGraphicFramePr/>
          <p:nvPr/>
        </p:nvGraphicFramePr>
        <p:xfrm>
          <a:off x="1047750" y="2619375"/>
          <a:ext cx="10096500" cy="2952750"/>
        </p:xfrm>
        <a:graphic>
          <a:graphicData uri="http://schemas.openxmlformats.org/drawingml/2006/chart">
            <c:chart xmlns:c="http://schemas.openxmlformats.org/drawingml/2006/chart" xmlns:r="http://schemas.openxmlformats.org/officeDocument/2006/relationships" r:id="rId3"/>
          </a:graphicData>
        </a:graphic>
      </p:graphicFrame>
      <p:sp>
        <p:nvSpPr>
          <p:cNvPr id="4" name="Rectangle 3">
            <a:extLst>
              <a:ext uri="{FF2B5EF4-FFF2-40B4-BE49-F238E27FC236}">
                <a16:creationId xmlns:a16="http://schemas.microsoft.com/office/drawing/2014/main" id="{D1F3B8BD-53F4-4B6E-8EDB-98F5597D7BB5}"/>
              </a:ext>
            </a:extLst>
          </p:cNvPr>
          <p:cNvSpPr>
            <a:spLocks noGrp="1"/>
          </p:cNvSpPr>
          <p:nvPr/>
        </p:nvSpPr>
        <p:spPr>
          <a:xfrm>
            <a:off x="685800" y="5924550"/>
            <a:ext cx="10820400" cy="266700"/>
          </a:xfrm>
          <a:prstGeom prst="rect">
            <a:avLst/>
          </a:prstGeom>
          <a:noFill/>
          <a:ln w="0">
            <a:noFill/>
          </a:ln>
        </p:spPr>
        <p:txBody>
          <a:bodyPr anchor="t">
            <a:noAutofit/>
          </a:bodyPr>
          <a:lstStyle/>
          <a:p>
            <a:pPr>
              <a:defRPr sz="1425" b="0">
                <a:solidFill>
                  <a:srgbClr val="53687A"/>
                </a:solidFill>
                <a:latin typeface="DejaVu Sans"/>
                <a:ea typeface="DejaVu Sans"/>
                <a:cs typeface="DejaVu Sans"/>
              </a:defRPr>
            </a:pPr>
            <a:r>
              <a:rPr sz="1425" b="0">
                <a:solidFill>
                  <a:srgbClr val="53687A"/>
                </a:solidFill>
                <a:latin typeface="DejaVu Sans"/>
                <a:ea typeface="DejaVu Sans"/>
                <a:cs typeface="DejaVu Sans"/>
              </a:rPr>
              <a:t>Illustrative workload: 12 ms useful CPU work, with switch overhead ignored</a:t>
            </a:r>
          </a:p>
        </p:txBody>
      </p:sp>
      <p:sp>
        <p:nvSpPr>
          <p:cNvPr id="5" name="Rectangle 4">
            <a:extLst>
              <a:ext uri="{FF2B5EF4-FFF2-40B4-BE49-F238E27FC236}">
                <a16:creationId xmlns:a16="http://schemas.microsoft.com/office/drawing/2014/main" id="{CDCD9511-B2CF-4B5A-9315-1BB715215746}"/>
              </a:ext>
            </a:extLst>
          </p:cNvPr>
          <p:cNvSpPr>
            <a:spLocks noGrp="1"/>
          </p:cNvSpPr>
          <p:nvPr/>
        </p:nvSpPr>
        <p:spPr>
          <a:xfrm>
            <a:off x="685800" y="6381750"/>
            <a:ext cx="10820400" cy="238125"/>
          </a:xfrm>
          <a:prstGeom prst="rect">
            <a:avLst/>
          </a:prstGeom>
          <a:noFill/>
          <a:ln w="0">
            <a:noFill/>
          </a:ln>
        </p:spPr>
        <p:txBody>
          <a:bodyPr anchor="t">
            <a:noAutofit/>
          </a:bodyPr>
          <a:lstStyle/>
          <a:p>
            <a:pPr>
              <a:defRPr sz="1275" b="0">
                <a:solidFill>
                  <a:srgbClr val="53687A"/>
                </a:solidFill>
                <a:latin typeface="DejaVu Sans"/>
                <a:ea typeface="DejaVu Sans"/>
                <a:cs typeface="DejaVu Sans"/>
              </a:defRPr>
            </a:pPr>
            <a:r>
              <a:rPr sz="1275" b="0">
                <a:solidFill>
                  <a:srgbClr val="53687A"/>
                </a:solidFill>
                <a:latin typeface="DejaVu Sans"/>
                <a:ea typeface="DejaVu Sans"/>
                <a:cs typeface="DejaVu Sans"/>
              </a:rPr>
              <a:t>Week 1     10</a:t>
            </a:r>
          </a:p>
        </p:txBody>
      </p:sp>
    </p:spTree>
    <p:extLst>
      <p:ext uri="{BB962C8B-B14F-4D97-AF65-F5344CB8AC3E}">
        <p14:creationId xmlns:p14="http://schemas.microsoft.com/office/powerpoint/2010/main" val="10600302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55DA35A-E0A9-47B2-9E3B-11421F8CCEE1}"/>
              </a:ext>
            </a:extLst>
          </p:cNvPr>
          <p:cNvSpPr>
            <a:spLocks noGrp="1"/>
          </p:cNvSpPr>
          <p:nvPr/>
        </p:nvSpPr>
        <p:spPr>
          <a:xfrm>
            <a:off x="685800" y="495300"/>
            <a:ext cx="10858500" cy="857250"/>
          </a:xfrm>
          <a:prstGeom prst="rect">
            <a:avLst/>
          </a:prstGeom>
          <a:noFill/>
          <a:ln w="0">
            <a:noFill/>
          </a:ln>
        </p:spPr>
        <p:txBody>
          <a:bodyPr anchor="t">
            <a:noAutofit/>
          </a:bodyPr>
          <a:lstStyle/>
          <a:p>
            <a:pPr>
              <a:defRPr sz="3300" b="1">
                <a:solidFill>
                  <a:srgbClr val="132C43"/>
                </a:solidFill>
                <a:latin typeface="DejaVu Sans"/>
                <a:ea typeface="DejaVu Sans"/>
                <a:cs typeface="DejaVu Sans"/>
              </a:defRPr>
            </a:pPr>
            <a:r>
              <a:rPr sz="3300" b="1">
                <a:solidFill>
                  <a:srgbClr val="132C43"/>
                </a:solidFill>
                <a:latin typeface="DejaVu Sans"/>
                <a:ea typeface="DejaVu Sans"/>
                <a:cs typeface="DejaVu Sans"/>
              </a:rPr>
              <a:t>Multitasking and time sharing</a:t>
            </a:r>
          </a:p>
        </p:txBody>
      </p:sp>
      <p:sp>
        <p:nvSpPr>
          <p:cNvPr id="2" name="Rectangle 1">
            <a:extLst>
              <a:ext uri="{FF2B5EF4-FFF2-40B4-BE49-F238E27FC236}">
                <a16:creationId xmlns:a16="http://schemas.microsoft.com/office/drawing/2014/main" id="{4320CC24-A4F4-4A43-9333-28249A82ECA2}"/>
              </a:ext>
            </a:extLst>
          </p:cNvPr>
          <p:cNvSpPr>
            <a:spLocks noGrp="1"/>
          </p:cNvSpPr>
          <p:nvPr/>
        </p:nvSpPr>
        <p:spPr>
          <a:xfrm>
            <a:off x="685800" y="1666875"/>
            <a:ext cx="10820400" cy="3905250"/>
          </a:xfrm>
          <a:prstGeom prst="rect">
            <a:avLst/>
          </a:prstGeom>
          <a:noFill/>
          <a:ln w="0">
            <a:noFill/>
          </a:ln>
        </p:spPr>
        <p:txBody>
          <a:bodyPr anchor="t">
            <a:noAutofit/>
          </a:bodyPr>
          <a:lstStyle/>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The OS interleaves tasks for responsiveness.</a:t>
            </a:r>
          </a:p>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Preemptive systems can stop a runnable task.</a:t>
            </a:r>
          </a:p>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Timer interrupts let the OS regain control.</a:t>
            </a:r>
          </a:p>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Cooperative systems rely on tasks yielding.</a:t>
            </a:r>
          </a:p>
        </p:txBody>
      </p:sp>
      <p:sp>
        <p:nvSpPr>
          <p:cNvPr id="3" name="Rectangle 2">
            <a:extLst>
              <a:ext uri="{FF2B5EF4-FFF2-40B4-BE49-F238E27FC236}">
                <a16:creationId xmlns:a16="http://schemas.microsoft.com/office/drawing/2014/main" id="{1881B08B-33BA-44AE-B502-CCDCA502AAA1}"/>
              </a:ext>
            </a:extLst>
          </p:cNvPr>
          <p:cNvSpPr>
            <a:spLocks noGrp="1"/>
          </p:cNvSpPr>
          <p:nvPr/>
        </p:nvSpPr>
        <p:spPr>
          <a:xfrm>
            <a:off x="685800" y="6381750"/>
            <a:ext cx="10820400" cy="238125"/>
          </a:xfrm>
          <a:prstGeom prst="rect">
            <a:avLst/>
          </a:prstGeom>
          <a:noFill/>
          <a:ln w="0">
            <a:noFill/>
          </a:ln>
        </p:spPr>
        <p:txBody>
          <a:bodyPr anchor="t">
            <a:noAutofit/>
          </a:bodyPr>
          <a:lstStyle/>
          <a:p>
            <a:pPr>
              <a:defRPr sz="1275" b="0">
                <a:solidFill>
                  <a:srgbClr val="53687A"/>
                </a:solidFill>
                <a:latin typeface="DejaVu Sans"/>
                <a:ea typeface="DejaVu Sans"/>
                <a:cs typeface="DejaVu Sans"/>
              </a:defRPr>
            </a:pPr>
            <a:r>
              <a:rPr sz="1275" b="0">
                <a:solidFill>
                  <a:srgbClr val="53687A"/>
                </a:solidFill>
                <a:latin typeface="DejaVu Sans"/>
                <a:ea typeface="DejaVu Sans"/>
                <a:cs typeface="DejaVu Sans"/>
              </a:rPr>
              <a:t>Week 1     11</a:t>
            </a:r>
          </a:p>
        </p:txBody>
      </p:sp>
    </p:spTree>
    <p:extLst>
      <p:ext uri="{BB962C8B-B14F-4D97-AF65-F5344CB8AC3E}">
        <p14:creationId xmlns:p14="http://schemas.microsoft.com/office/powerpoint/2010/main" val="1726266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8728D38-5F52-4971-A7A4-EDF19E74B255}"/>
              </a:ext>
            </a:extLst>
          </p:cNvPr>
          <p:cNvSpPr>
            <a:spLocks noGrp="1"/>
          </p:cNvSpPr>
          <p:nvPr/>
        </p:nvSpPr>
        <p:spPr>
          <a:xfrm>
            <a:off x="685800" y="495300"/>
            <a:ext cx="10858500" cy="857250"/>
          </a:xfrm>
          <a:prstGeom prst="rect">
            <a:avLst/>
          </a:prstGeom>
          <a:noFill/>
          <a:ln w="0">
            <a:noFill/>
          </a:ln>
        </p:spPr>
        <p:txBody>
          <a:bodyPr anchor="t">
            <a:noAutofit/>
          </a:bodyPr>
          <a:lstStyle/>
          <a:p>
            <a:pPr>
              <a:defRPr sz="3300" b="1">
                <a:solidFill>
                  <a:srgbClr val="132C43"/>
                </a:solidFill>
                <a:latin typeface="DejaVu Sans"/>
                <a:ea typeface="DejaVu Sans"/>
                <a:cs typeface="DejaVu Sans"/>
              </a:defRPr>
            </a:pPr>
            <a:r>
              <a:rPr sz="3300" b="1">
                <a:solidFill>
                  <a:srgbClr val="132C43"/>
                </a:solidFill>
                <a:latin typeface="DejaVu Sans"/>
                <a:ea typeface="DejaVu Sans"/>
                <a:cs typeface="DejaVu Sans"/>
              </a:rPr>
              <a:t>Three related concepts</a:t>
            </a:r>
          </a:p>
        </p:txBody>
      </p:sp>
      <p:sp>
        <p:nvSpPr>
          <p:cNvPr id="2" name="Rectangle 1">
            <a:extLst>
              <a:ext uri="{FF2B5EF4-FFF2-40B4-BE49-F238E27FC236}">
                <a16:creationId xmlns:a16="http://schemas.microsoft.com/office/drawing/2014/main" id="{D85281E8-34E8-4E6C-97E2-9FD76C320153}"/>
              </a:ext>
            </a:extLst>
          </p:cNvPr>
          <p:cNvSpPr>
            <a:spLocks noGrp="1"/>
          </p:cNvSpPr>
          <p:nvPr/>
        </p:nvSpPr>
        <p:spPr>
          <a:xfrm>
            <a:off x="685800" y="1428750"/>
            <a:ext cx="10820400" cy="457200"/>
          </a:xfrm>
          <a:prstGeom prst="rect">
            <a:avLst/>
          </a:prstGeom>
          <a:noFill/>
          <a:ln w="0">
            <a:noFill/>
          </a:ln>
        </p:spPr>
        <p:txBody>
          <a:bodyPr anchor="t">
            <a:noAutofit/>
          </a:bodyPr>
          <a:lstStyle/>
          <a:p>
            <a:pPr>
              <a:defRPr sz="1950" b="0">
                <a:solidFill>
                  <a:srgbClr val="53687A"/>
                </a:solidFill>
                <a:latin typeface="DejaVu Sans"/>
                <a:ea typeface="DejaVu Sans"/>
                <a:cs typeface="DejaVu Sans"/>
              </a:defRPr>
            </a:pPr>
            <a:r>
              <a:rPr sz="1950" b="0">
                <a:solidFill>
                  <a:srgbClr val="53687A"/>
                </a:solidFill>
                <a:latin typeface="DejaVu Sans"/>
                <a:ea typeface="DejaVu Sans"/>
                <a:cs typeface="DejaVu Sans"/>
              </a:rPr>
              <a:t>The properties can coexist in one OS.</a:t>
            </a:r>
          </a:p>
        </p:txBody>
      </p:sp>
      <p:graphicFrame>
        <p:nvGraphicFramePr>
          <p:cNvPr id="7" name="Table 6"/>
          <p:cNvGraphicFramePr/>
          <p:nvPr/>
        </p:nvGraphicFramePr>
        <p:xfrm>
          <a:off x="685800" y="2076450"/>
          <a:ext cx="10820400" cy="3781424"/>
        </p:xfrm>
        <a:graphic>
          <a:graphicData uri="http://schemas.openxmlformats.org/drawingml/2006/table">
            <a:tbl>
              <a:tblPr/>
              <a:tblGrid>
                <a:gridCol w="2762250">
                  <a:extLst>
                    <a:ext uri="{9D8B030D-6E8A-4147-A177-3AD203B41FA5}">
                      <a16:colId xmlns:a16="http://schemas.microsoft.com/office/drawing/2014/main" val="20000"/>
                    </a:ext>
                  </a:extLst>
                </a:gridCol>
                <a:gridCol w="4095750">
                  <a:extLst>
                    <a:ext uri="{9D8B030D-6E8A-4147-A177-3AD203B41FA5}">
                      <a16:colId xmlns:a16="http://schemas.microsoft.com/office/drawing/2014/main" val="20001"/>
                    </a:ext>
                  </a:extLst>
                </a:gridCol>
                <a:gridCol w="3962400">
                  <a:extLst>
                    <a:ext uri="{9D8B030D-6E8A-4147-A177-3AD203B41FA5}">
                      <a16:colId xmlns:a16="http://schemas.microsoft.com/office/drawing/2014/main" val="20002"/>
                    </a:ext>
                  </a:extLst>
                </a:gridCol>
              </a:tblGrid>
              <a:tr h="945356">
                <a:tc>
                  <a:txBody>
                    <a:bodyPr/>
                    <a:lstStyle/>
                    <a:p>
                      <a:r>
                        <a:rPr sz="1725" b="1">
                          <a:solidFill>
                            <a:srgbClr val="FFFFFF"/>
                          </a:solidFill>
                          <a:latin typeface="DejaVu Sans"/>
                          <a:ea typeface="DejaVu Sans"/>
                          <a:cs typeface="DejaVu Sans"/>
                        </a:rPr>
                        <a:t>Concept</a:t>
                      </a:r>
                    </a:p>
                  </a:txBody>
                  <a:tcPr marL="114300" marR="114300" marT="95250" marB="76200">
                    <a:solidFill>
                      <a:srgbClr val="132C43"/>
                    </a:solidFill>
                  </a:tcPr>
                </a:tc>
                <a:tc>
                  <a:txBody>
                    <a:bodyPr/>
                    <a:lstStyle/>
                    <a:p>
                      <a:r>
                        <a:rPr sz="1725" b="1">
                          <a:solidFill>
                            <a:srgbClr val="FFFFFF"/>
                          </a:solidFill>
                          <a:latin typeface="DejaVu Sans"/>
                          <a:ea typeface="DejaVu Sans"/>
                          <a:cs typeface="DejaVu Sans"/>
                        </a:rPr>
                        <a:t>Primary idea</a:t>
                      </a:r>
                    </a:p>
                  </a:txBody>
                  <a:tcPr marL="114300" marR="114300" marT="95250" marB="76200">
                    <a:solidFill>
                      <a:srgbClr val="132C43"/>
                    </a:solidFill>
                  </a:tcPr>
                </a:tc>
                <a:tc>
                  <a:txBody>
                    <a:bodyPr/>
                    <a:lstStyle/>
                    <a:p>
                      <a:r>
                        <a:rPr sz="1725" b="1">
                          <a:solidFill>
                            <a:srgbClr val="FFFFFF"/>
                          </a:solidFill>
                          <a:latin typeface="DejaVu Sans"/>
                          <a:ea typeface="DejaVu Sans"/>
                          <a:cs typeface="DejaVu Sans"/>
                        </a:rPr>
                        <a:t>Needs multiple cores?</a:t>
                      </a:r>
                    </a:p>
                  </a:txBody>
                  <a:tcPr marL="114300" marR="114300" marT="95250" marB="76200">
                    <a:solidFill>
                      <a:srgbClr val="132C43"/>
                    </a:solidFill>
                  </a:tcPr>
                </a:tc>
                <a:extLst>
                  <a:ext uri="{0D108BD9-81ED-4DB2-BD59-A6C34878D82A}">
                    <a16:rowId xmlns:a16="http://schemas.microsoft.com/office/drawing/2014/main" val="10000"/>
                  </a:ext>
                </a:extLst>
              </a:tr>
              <a:tr h="945356">
                <a:tc>
                  <a:txBody>
                    <a:bodyPr/>
                    <a:lstStyle/>
                    <a:p>
                      <a:r>
                        <a:rPr sz="1725">
                          <a:solidFill>
                            <a:srgbClr val="132C43"/>
                          </a:solidFill>
                          <a:latin typeface="DejaVu Sans"/>
                          <a:ea typeface="DejaVu Sans"/>
                          <a:cs typeface="DejaVu Sans"/>
                        </a:rPr>
                        <a:t>Multiprogramming</a:t>
                      </a:r>
                    </a:p>
                  </a:txBody>
                  <a:tcPr marL="114300" marR="114300" marT="95250" marB="76200">
                    <a:solidFill>
                      <a:srgbClr val="F0F6FA"/>
                    </a:solidFill>
                  </a:tcPr>
                </a:tc>
                <a:tc>
                  <a:txBody>
                    <a:bodyPr/>
                    <a:lstStyle/>
                    <a:p>
                      <a:r>
                        <a:rPr sz="1725">
                          <a:solidFill>
                            <a:srgbClr val="132C43"/>
                          </a:solidFill>
                          <a:latin typeface="DejaVu Sans"/>
                          <a:ea typeface="DejaVu Sans"/>
                          <a:cs typeface="DejaVu Sans"/>
                        </a:rPr>
                        <a:t>Keep work available during waits</a:t>
                      </a:r>
                    </a:p>
                  </a:txBody>
                  <a:tcPr marL="114300" marR="114300" marT="95250" marB="76200">
                    <a:solidFill>
                      <a:srgbClr val="F0F6FA"/>
                    </a:solidFill>
                  </a:tcPr>
                </a:tc>
                <a:tc>
                  <a:txBody>
                    <a:bodyPr/>
                    <a:lstStyle/>
                    <a:p>
                      <a:r>
                        <a:rPr sz="1725">
                          <a:solidFill>
                            <a:srgbClr val="132C43"/>
                          </a:solidFill>
                          <a:latin typeface="DejaVu Sans"/>
                          <a:ea typeface="DejaVu Sans"/>
                          <a:cs typeface="DejaVu Sans"/>
                        </a:rPr>
                        <a:t>No</a:t>
                      </a:r>
                    </a:p>
                  </a:txBody>
                  <a:tcPr marL="114300" marR="114300" marT="95250" marB="76200">
                    <a:solidFill>
                      <a:srgbClr val="F0F6FA"/>
                    </a:solidFill>
                  </a:tcPr>
                </a:tc>
                <a:extLst>
                  <a:ext uri="{0D108BD9-81ED-4DB2-BD59-A6C34878D82A}">
                    <a16:rowId xmlns:a16="http://schemas.microsoft.com/office/drawing/2014/main" val="10001"/>
                  </a:ext>
                </a:extLst>
              </a:tr>
              <a:tr h="945356">
                <a:tc>
                  <a:txBody>
                    <a:bodyPr/>
                    <a:lstStyle/>
                    <a:p>
                      <a:r>
                        <a:rPr sz="1725">
                          <a:solidFill>
                            <a:srgbClr val="132C43"/>
                          </a:solidFill>
                          <a:latin typeface="DejaVu Sans"/>
                          <a:ea typeface="DejaVu Sans"/>
                          <a:cs typeface="DejaVu Sans"/>
                        </a:rPr>
                        <a:t>Multitasking</a:t>
                      </a:r>
                    </a:p>
                  </a:txBody>
                  <a:tcPr marL="114300" marR="114300" marT="95250" marB="76200">
                    <a:solidFill>
                      <a:srgbClr val="FFFFFF"/>
                    </a:solidFill>
                  </a:tcPr>
                </a:tc>
                <a:tc>
                  <a:txBody>
                    <a:bodyPr/>
                    <a:lstStyle/>
                    <a:p>
                      <a:r>
                        <a:rPr sz="1725">
                          <a:solidFill>
                            <a:srgbClr val="132C43"/>
                          </a:solidFill>
                          <a:latin typeface="DejaVu Sans"/>
                          <a:ea typeface="DejaVu Sans"/>
                          <a:cs typeface="DejaVu Sans"/>
                        </a:rPr>
                        <a:t>Interleave tasks to share CPU time</a:t>
                      </a:r>
                    </a:p>
                  </a:txBody>
                  <a:tcPr marL="114300" marR="114300" marT="95250" marB="76200">
                    <a:solidFill>
                      <a:srgbClr val="FFFFFF"/>
                    </a:solidFill>
                  </a:tcPr>
                </a:tc>
                <a:tc>
                  <a:txBody>
                    <a:bodyPr/>
                    <a:lstStyle/>
                    <a:p>
                      <a:r>
                        <a:rPr sz="1725">
                          <a:solidFill>
                            <a:srgbClr val="132C43"/>
                          </a:solidFill>
                          <a:latin typeface="DejaVu Sans"/>
                          <a:ea typeface="DejaVu Sans"/>
                          <a:cs typeface="DejaVu Sans"/>
                        </a:rPr>
                        <a:t>No</a:t>
                      </a:r>
                    </a:p>
                  </a:txBody>
                  <a:tcPr marL="114300" marR="114300" marT="95250" marB="76200">
                    <a:solidFill>
                      <a:srgbClr val="FFFFFF"/>
                    </a:solidFill>
                  </a:tcPr>
                </a:tc>
                <a:extLst>
                  <a:ext uri="{0D108BD9-81ED-4DB2-BD59-A6C34878D82A}">
                    <a16:rowId xmlns:a16="http://schemas.microsoft.com/office/drawing/2014/main" val="10002"/>
                  </a:ext>
                </a:extLst>
              </a:tr>
              <a:tr h="945356">
                <a:tc>
                  <a:txBody>
                    <a:bodyPr/>
                    <a:lstStyle/>
                    <a:p>
                      <a:r>
                        <a:rPr sz="1725">
                          <a:solidFill>
                            <a:srgbClr val="132C43"/>
                          </a:solidFill>
                          <a:latin typeface="DejaVu Sans"/>
                          <a:ea typeface="DejaVu Sans"/>
                          <a:cs typeface="DejaVu Sans"/>
                        </a:rPr>
                        <a:t>Multiprocessing</a:t>
                      </a:r>
                    </a:p>
                  </a:txBody>
                  <a:tcPr marL="114300" marR="114300" marT="95250" marB="76200">
                    <a:solidFill>
                      <a:srgbClr val="F0F6FA"/>
                    </a:solidFill>
                  </a:tcPr>
                </a:tc>
                <a:tc>
                  <a:txBody>
                    <a:bodyPr/>
                    <a:lstStyle/>
                    <a:p>
                      <a:r>
                        <a:rPr sz="1725">
                          <a:solidFill>
                            <a:srgbClr val="132C43"/>
                          </a:solidFill>
                          <a:latin typeface="DejaVu Sans"/>
                          <a:ea typeface="DejaVu Sans"/>
                          <a:cs typeface="DejaVu Sans"/>
                        </a:rPr>
                        <a:t>Use multiple execution units</a:t>
                      </a:r>
                    </a:p>
                  </a:txBody>
                  <a:tcPr marL="114300" marR="114300" marT="95250" marB="76200">
                    <a:solidFill>
                      <a:srgbClr val="F0F6FA"/>
                    </a:solidFill>
                  </a:tcPr>
                </a:tc>
                <a:tc>
                  <a:txBody>
                    <a:bodyPr/>
                    <a:lstStyle/>
                    <a:p>
                      <a:r>
                        <a:rPr sz="1725">
                          <a:solidFill>
                            <a:srgbClr val="132C43"/>
                          </a:solidFill>
                          <a:latin typeface="DejaVu Sans"/>
                          <a:ea typeface="DejaVu Sans"/>
                          <a:cs typeface="DejaVu Sans"/>
                        </a:rPr>
                        <a:t>Yes, in this teaching model</a:t>
                      </a:r>
                    </a:p>
                  </a:txBody>
                  <a:tcPr marL="114300" marR="114300" marT="95250" marB="76200">
                    <a:solidFill>
                      <a:srgbClr val="F0F6FA"/>
                    </a:solidFill>
                  </a:tcPr>
                </a:tc>
                <a:extLst>
                  <a:ext uri="{0D108BD9-81ED-4DB2-BD59-A6C34878D82A}">
                    <a16:rowId xmlns:a16="http://schemas.microsoft.com/office/drawing/2014/main" val="10003"/>
                  </a:ext>
                </a:extLst>
              </a:tr>
            </a:tbl>
          </a:graphicData>
        </a:graphic>
      </p:graphicFrame>
      <p:sp>
        <p:nvSpPr>
          <p:cNvPr id="4" name="Rectangle 3">
            <a:extLst>
              <a:ext uri="{FF2B5EF4-FFF2-40B4-BE49-F238E27FC236}">
                <a16:creationId xmlns:a16="http://schemas.microsoft.com/office/drawing/2014/main" id="{163DBA08-1D6F-4BD1-97DA-E0F85EE262C0}"/>
              </a:ext>
            </a:extLst>
          </p:cNvPr>
          <p:cNvSpPr>
            <a:spLocks noGrp="1"/>
          </p:cNvSpPr>
          <p:nvPr/>
        </p:nvSpPr>
        <p:spPr>
          <a:xfrm>
            <a:off x="685800" y="6381750"/>
            <a:ext cx="10820400" cy="238125"/>
          </a:xfrm>
          <a:prstGeom prst="rect">
            <a:avLst/>
          </a:prstGeom>
          <a:noFill/>
          <a:ln w="0">
            <a:noFill/>
          </a:ln>
        </p:spPr>
        <p:txBody>
          <a:bodyPr anchor="t">
            <a:noAutofit/>
          </a:bodyPr>
          <a:lstStyle/>
          <a:p>
            <a:pPr>
              <a:defRPr sz="1275" b="0">
                <a:solidFill>
                  <a:srgbClr val="53687A"/>
                </a:solidFill>
                <a:latin typeface="DejaVu Sans"/>
                <a:ea typeface="DejaVu Sans"/>
                <a:cs typeface="DejaVu Sans"/>
              </a:defRPr>
            </a:pPr>
            <a:r>
              <a:rPr sz="1275" b="0">
                <a:solidFill>
                  <a:srgbClr val="53687A"/>
                </a:solidFill>
                <a:latin typeface="DejaVu Sans"/>
                <a:ea typeface="DejaVu Sans"/>
                <a:cs typeface="DejaVu Sans"/>
              </a:rPr>
              <a:t>Week 1     12</a:t>
            </a:r>
          </a:p>
        </p:txBody>
      </p:sp>
    </p:spTree>
    <p:extLst>
      <p:ext uri="{BB962C8B-B14F-4D97-AF65-F5344CB8AC3E}">
        <p14:creationId xmlns:p14="http://schemas.microsoft.com/office/powerpoint/2010/main" val="10861480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700E6D1-8E17-415E-A908-04A81E141E6C}"/>
              </a:ext>
            </a:extLst>
          </p:cNvPr>
          <p:cNvSpPr>
            <a:spLocks noGrp="1"/>
          </p:cNvSpPr>
          <p:nvPr/>
        </p:nvSpPr>
        <p:spPr>
          <a:xfrm>
            <a:off x="685800" y="495300"/>
            <a:ext cx="10858500" cy="857250"/>
          </a:xfrm>
          <a:prstGeom prst="rect">
            <a:avLst/>
          </a:prstGeom>
          <a:noFill/>
          <a:ln w="0">
            <a:noFill/>
          </a:ln>
        </p:spPr>
        <p:txBody>
          <a:bodyPr anchor="t">
            <a:noAutofit/>
          </a:bodyPr>
          <a:lstStyle/>
          <a:p>
            <a:pPr>
              <a:defRPr sz="3300" b="1">
                <a:solidFill>
                  <a:srgbClr val="132C43"/>
                </a:solidFill>
                <a:latin typeface="DejaVu Sans"/>
                <a:ea typeface="DejaVu Sans"/>
                <a:cs typeface="DejaVu Sans"/>
              </a:defRPr>
            </a:pPr>
            <a:r>
              <a:rPr sz="3300" b="1">
                <a:solidFill>
                  <a:srgbClr val="132C43"/>
                </a:solidFill>
                <a:latin typeface="DejaVu Sans"/>
                <a:ea typeface="DejaVu Sans"/>
                <a:cs typeface="DejaVu Sans"/>
              </a:rPr>
              <a:t>Interrupts and exceptions</a:t>
            </a:r>
          </a:p>
        </p:txBody>
      </p:sp>
      <p:sp>
        <p:nvSpPr>
          <p:cNvPr id="2" name="Rectangle 1">
            <a:extLst>
              <a:ext uri="{FF2B5EF4-FFF2-40B4-BE49-F238E27FC236}">
                <a16:creationId xmlns:a16="http://schemas.microsoft.com/office/drawing/2014/main" id="{16FF23F5-B1FA-4305-A582-70E24DA32067}"/>
              </a:ext>
            </a:extLst>
          </p:cNvPr>
          <p:cNvSpPr>
            <a:spLocks noGrp="1"/>
          </p:cNvSpPr>
          <p:nvPr/>
        </p:nvSpPr>
        <p:spPr>
          <a:xfrm>
            <a:off x="685800" y="1666875"/>
            <a:ext cx="10820400" cy="3905250"/>
          </a:xfrm>
          <a:prstGeom prst="rect">
            <a:avLst/>
          </a:prstGeom>
          <a:noFill/>
          <a:ln w="0">
            <a:noFill/>
          </a:ln>
        </p:spPr>
        <p:txBody>
          <a:bodyPr anchor="t">
            <a:noAutofit/>
          </a:bodyPr>
          <a:lstStyle/>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Hardware interrupts usually arrive asynchronously.</a:t>
            </a:r>
          </a:p>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Instruction-caused exceptions are synchronous.</a:t>
            </a:r>
          </a:p>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Software instructions can request kernel entry.</a:t>
            </a:r>
          </a:p>
        </p:txBody>
      </p:sp>
      <p:sp>
        <p:nvSpPr>
          <p:cNvPr id="3" name="Rectangle 2">
            <a:extLst>
              <a:ext uri="{FF2B5EF4-FFF2-40B4-BE49-F238E27FC236}">
                <a16:creationId xmlns:a16="http://schemas.microsoft.com/office/drawing/2014/main" id="{ADFF0C29-05AF-43A7-8829-7813441BF3BA}"/>
              </a:ext>
            </a:extLst>
          </p:cNvPr>
          <p:cNvSpPr>
            <a:spLocks noGrp="1"/>
          </p:cNvSpPr>
          <p:nvPr/>
        </p:nvSpPr>
        <p:spPr>
          <a:xfrm>
            <a:off x="685800" y="6381750"/>
            <a:ext cx="10820400" cy="238125"/>
          </a:xfrm>
          <a:prstGeom prst="rect">
            <a:avLst/>
          </a:prstGeom>
          <a:noFill/>
          <a:ln w="0">
            <a:noFill/>
          </a:ln>
        </p:spPr>
        <p:txBody>
          <a:bodyPr anchor="t">
            <a:noAutofit/>
          </a:bodyPr>
          <a:lstStyle/>
          <a:p>
            <a:pPr>
              <a:defRPr sz="1275" b="0">
                <a:solidFill>
                  <a:srgbClr val="53687A"/>
                </a:solidFill>
                <a:latin typeface="DejaVu Sans"/>
                <a:ea typeface="DejaVu Sans"/>
                <a:cs typeface="DejaVu Sans"/>
              </a:defRPr>
            </a:pPr>
            <a:r>
              <a:rPr sz="1275" b="0">
                <a:solidFill>
                  <a:srgbClr val="53687A"/>
                </a:solidFill>
                <a:latin typeface="DejaVu Sans"/>
                <a:ea typeface="DejaVu Sans"/>
                <a:cs typeface="DejaVu Sans"/>
              </a:rPr>
              <a:t>Week 1     13</a:t>
            </a:r>
          </a:p>
        </p:txBody>
      </p:sp>
    </p:spTree>
    <p:extLst>
      <p:ext uri="{BB962C8B-B14F-4D97-AF65-F5344CB8AC3E}">
        <p14:creationId xmlns:p14="http://schemas.microsoft.com/office/powerpoint/2010/main" val="1255059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07B7E6E-029C-4659-993C-74B029B37634}"/>
              </a:ext>
            </a:extLst>
          </p:cNvPr>
          <p:cNvSpPr>
            <a:spLocks noGrp="1"/>
          </p:cNvSpPr>
          <p:nvPr/>
        </p:nvSpPr>
        <p:spPr>
          <a:xfrm>
            <a:off x="685800" y="495300"/>
            <a:ext cx="10858500" cy="857250"/>
          </a:xfrm>
          <a:prstGeom prst="rect">
            <a:avLst/>
          </a:prstGeom>
          <a:noFill/>
          <a:ln w="0">
            <a:noFill/>
          </a:ln>
        </p:spPr>
        <p:txBody>
          <a:bodyPr anchor="t">
            <a:noAutofit/>
          </a:bodyPr>
          <a:lstStyle/>
          <a:p>
            <a:pPr>
              <a:defRPr sz="3300" b="1">
                <a:solidFill>
                  <a:srgbClr val="132C43"/>
                </a:solidFill>
                <a:latin typeface="DejaVu Sans"/>
                <a:ea typeface="DejaVu Sans"/>
                <a:cs typeface="DejaVu Sans"/>
              </a:defRPr>
            </a:pPr>
            <a:r>
              <a:rPr sz="3300" b="1">
                <a:solidFill>
                  <a:srgbClr val="132C43"/>
                </a:solidFill>
                <a:latin typeface="DejaVu Sans"/>
                <a:ea typeface="DejaVu Sans"/>
                <a:cs typeface="DejaVu Sans"/>
              </a:rPr>
              <a:t>Interrupt, trap and fault</a:t>
            </a:r>
          </a:p>
        </p:txBody>
      </p:sp>
      <p:sp>
        <p:nvSpPr>
          <p:cNvPr id="2" name="Rectangle 1">
            <a:extLst>
              <a:ext uri="{FF2B5EF4-FFF2-40B4-BE49-F238E27FC236}">
                <a16:creationId xmlns:a16="http://schemas.microsoft.com/office/drawing/2014/main" id="{94670C0E-5FD8-4067-8B2D-1FA5084A4243}"/>
              </a:ext>
            </a:extLst>
          </p:cNvPr>
          <p:cNvSpPr>
            <a:spLocks noGrp="1"/>
          </p:cNvSpPr>
          <p:nvPr/>
        </p:nvSpPr>
        <p:spPr>
          <a:xfrm>
            <a:off x="685800" y="1428750"/>
            <a:ext cx="10820400" cy="457200"/>
          </a:xfrm>
          <a:prstGeom prst="rect">
            <a:avLst/>
          </a:prstGeom>
          <a:noFill/>
          <a:ln w="0">
            <a:noFill/>
          </a:ln>
        </p:spPr>
        <p:txBody>
          <a:bodyPr anchor="t">
            <a:noAutofit/>
          </a:bodyPr>
          <a:lstStyle/>
          <a:p>
            <a:pPr>
              <a:defRPr sz="1950" b="0">
                <a:solidFill>
                  <a:srgbClr val="53687A"/>
                </a:solidFill>
                <a:latin typeface="DejaVu Sans"/>
                <a:ea typeface="DejaVu Sans"/>
                <a:cs typeface="DejaVu Sans"/>
              </a:defRPr>
            </a:pPr>
            <a:r>
              <a:rPr sz="1950" b="0">
                <a:solidFill>
                  <a:srgbClr val="53687A"/>
                </a:solidFill>
                <a:latin typeface="DejaVu Sans"/>
                <a:ea typeface="DejaVu Sans"/>
                <a:cs typeface="DejaVu Sans"/>
              </a:rPr>
              <a:t>Terminology depends on the architecture.</a:t>
            </a:r>
          </a:p>
        </p:txBody>
      </p:sp>
      <p:graphicFrame>
        <p:nvGraphicFramePr>
          <p:cNvPr id="7" name="Table 6"/>
          <p:cNvGraphicFramePr/>
          <p:nvPr/>
        </p:nvGraphicFramePr>
        <p:xfrm>
          <a:off x="685800" y="2076450"/>
          <a:ext cx="10820400" cy="3781424"/>
        </p:xfrm>
        <a:graphic>
          <a:graphicData uri="http://schemas.openxmlformats.org/drawingml/2006/table">
            <a:tbl>
              <a:tblPr/>
              <a:tblGrid>
                <a:gridCol w="2762250">
                  <a:extLst>
                    <a:ext uri="{9D8B030D-6E8A-4147-A177-3AD203B41FA5}">
                      <a16:colId xmlns:a16="http://schemas.microsoft.com/office/drawing/2014/main" val="20000"/>
                    </a:ext>
                  </a:extLst>
                </a:gridCol>
                <a:gridCol w="4095750">
                  <a:extLst>
                    <a:ext uri="{9D8B030D-6E8A-4147-A177-3AD203B41FA5}">
                      <a16:colId xmlns:a16="http://schemas.microsoft.com/office/drawing/2014/main" val="20001"/>
                    </a:ext>
                  </a:extLst>
                </a:gridCol>
                <a:gridCol w="3962400">
                  <a:extLst>
                    <a:ext uri="{9D8B030D-6E8A-4147-A177-3AD203B41FA5}">
                      <a16:colId xmlns:a16="http://schemas.microsoft.com/office/drawing/2014/main" val="20002"/>
                    </a:ext>
                  </a:extLst>
                </a:gridCol>
              </a:tblGrid>
              <a:tr h="945356">
                <a:tc>
                  <a:txBody>
                    <a:bodyPr/>
                    <a:lstStyle/>
                    <a:p>
                      <a:r>
                        <a:rPr sz="1725" b="1">
                          <a:solidFill>
                            <a:srgbClr val="FFFFFF"/>
                          </a:solidFill>
                          <a:latin typeface="DejaVu Sans"/>
                          <a:ea typeface="DejaVu Sans"/>
                          <a:cs typeface="DejaVu Sans"/>
                        </a:rPr>
                        <a:t>Event</a:t>
                      </a:r>
                    </a:p>
                  </a:txBody>
                  <a:tcPr marL="114300" marR="114300" marT="95250" marB="76200">
                    <a:solidFill>
                      <a:srgbClr val="132C43"/>
                    </a:solidFill>
                  </a:tcPr>
                </a:tc>
                <a:tc>
                  <a:txBody>
                    <a:bodyPr/>
                    <a:lstStyle/>
                    <a:p>
                      <a:r>
                        <a:rPr sz="1725" b="1">
                          <a:solidFill>
                            <a:srgbClr val="FFFFFF"/>
                          </a:solidFill>
                          <a:latin typeface="DejaVu Sans"/>
                          <a:ea typeface="DejaVu Sans"/>
                          <a:cs typeface="DejaVu Sans"/>
                        </a:rPr>
                        <a:t>Example</a:t>
                      </a:r>
                    </a:p>
                  </a:txBody>
                  <a:tcPr marL="114300" marR="114300" marT="95250" marB="76200">
                    <a:solidFill>
                      <a:srgbClr val="132C43"/>
                    </a:solidFill>
                  </a:tcPr>
                </a:tc>
                <a:tc>
                  <a:txBody>
                    <a:bodyPr/>
                    <a:lstStyle/>
                    <a:p>
                      <a:r>
                        <a:rPr sz="1725" b="1">
                          <a:solidFill>
                            <a:srgbClr val="FFFFFF"/>
                          </a:solidFill>
                          <a:latin typeface="DejaVu Sans"/>
                          <a:ea typeface="DejaVu Sans"/>
                          <a:cs typeface="DejaVu Sans"/>
                        </a:rPr>
                        <a:t>Normal return point</a:t>
                      </a:r>
                    </a:p>
                  </a:txBody>
                  <a:tcPr marL="114300" marR="114300" marT="95250" marB="76200">
                    <a:solidFill>
                      <a:srgbClr val="132C43"/>
                    </a:solidFill>
                  </a:tcPr>
                </a:tc>
                <a:extLst>
                  <a:ext uri="{0D108BD9-81ED-4DB2-BD59-A6C34878D82A}">
                    <a16:rowId xmlns:a16="http://schemas.microsoft.com/office/drawing/2014/main" val="10000"/>
                  </a:ext>
                </a:extLst>
              </a:tr>
              <a:tr h="945356">
                <a:tc>
                  <a:txBody>
                    <a:bodyPr/>
                    <a:lstStyle/>
                    <a:p>
                      <a:r>
                        <a:rPr sz="1725">
                          <a:solidFill>
                            <a:srgbClr val="132C43"/>
                          </a:solidFill>
                          <a:latin typeface="DejaVu Sans"/>
                          <a:ea typeface="DejaVu Sans"/>
                          <a:cs typeface="DejaVu Sans"/>
                        </a:rPr>
                        <a:t>Hardware interrupt</a:t>
                      </a:r>
                    </a:p>
                  </a:txBody>
                  <a:tcPr marL="114300" marR="114300" marT="95250" marB="76200">
                    <a:solidFill>
                      <a:srgbClr val="F0F6FA"/>
                    </a:solidFill>
                  </a:tcPr>
                </a:tc>
                <a:tc>
                  <a:txBody>
                    <a:bodyPr/>
                    <a:lstStyle/>
                    <a:p>
                      <a:r>
                        <a:rPr sz="1725">
                          <a:solidFill>
                            <a:srgbClr val="132C43"/>
                          </a:solidFill>
                          <a:latin typeface="DejaVu Sans"/>
                          <a:ea typeface="DejaVu Sans"/>
                          <a:cs typeface="DejaVu Sans"/>
                        </a:rPr>
                        <a:t>Timer or device completion</a:t>
                      </a:r>
                    </a:p>
                  </a:txBody>
                  <a:tcPr marL="114300" marR="114300" marT="95250" marB="76200">
                    <a:solidFill>
                      <a:srgbClr val="F0F6FA"/>
                    </a:solidFill>
                  </a:tcPr>
                </a:tc>
                <a:tc>
                  <a:txBody>
                    <a:bodyPr/>
                    <a:lstStyle/>
                    <a:p>
                      <a:r>
                        <a:rPr sz="1725">
                          <a:solidFill>
                            <a:srgbClr val="132C43"/>
                          </a:solidFill>
                          <a:latin typeface="DejaVu Sans"/>
                          <a:ea typeface="DejaVu Sans"/>
                          <a:cs typeface="DejaVu Sans"/>
                        </a:rPr>
                        <a:t>Resume interrupted execution</a:t>
                      </a:r>
                    </a:p>
                  </a:txBody>
                  <a:tcPr marL="114300" marR="114300" marT="95250" marB="76200">
                    <a:solidFill>
                      <a:srgbClr val="F0F6FA"/>
                    </a:solidFill>
                  </a:tcPr>
                </a:tc>
                <a:extLst>
                  <a:ext uri="{0D108BD9-81ED-4DB2-BD59-A6C34878D82A}">
                    <a16:rowId xmlns:a16="http://schemas.microsoft.com/office/drawing/2014/main" val="10001"/>
                  </a:ext>
                </a:extLst>
              </a:tr>
              <a:tr h="945356">
                <a:tc>
                  <a:txBody>
                    <a:bodyPr/>
                    <a:lstStyle/>
                    <a:p>
                      <a:r>
                        <a:rPr sz="1725">
                          <a:solidFill>
                            <a:srgbClr val="132C43"/>
                          </a:solidFill>
                          <a:latin typeface="DejaVu Sans"/>
                          <a:ea typeface="DejaVu Sans"/>
                          <a:cs typeface="DejaVu Sans"/>
                        </a:rPr>
                        <a:t>Trap-class exception (x86)</a:t>
                      </a:r>
                    </a:p>
                  </a:txBody>
                  <a:tcPr marL="114300" marR="114300" marT="95250" marB="76200">
                    <a:solidFill>
                      <a:srgbClr val="FFFFFF"/>
                    </a:solidFill>
                  </a:tcPr>
                </a:tc>
                <a:tc>
                  <a:txBody>
                    <a:bodyPr/>
                    <a:lstStyle/>
                    <a:p>
                      <a:r>
                        <a:rPr sz="1725">
                          <a:solidFill>
                            <a:srgbClr val="132C43"/>
                          </a:solidFill>
                          <a:latin typeface="DejaVu Sans"/>
                          <a:ea typeface="DejaVu Sans"/>
                          <a:cs typeface="DejaVu Sans"/>
                        </a:rPr>
                        <a:t>INT3 breakpoint</a:t>
                      </a:r>
                    </a:p>
                  </a:txBody>
                  <a:tcPr marL="114300" marR="114300" marT="95250" marB="76200">
                    <a:solidFill>
                      <a:srgbClr val="FFFFFF"/>
                    </a:solidFill>
                  </a:tcPr>
                </a:tc>
                <a:tc>
                  <a:txBody>
                    <a:bodyPr/>
                    <a:lstStyle/>
                    <a:p>
                      <a:r>
                        <a:rPr sz="1725">
                          <a:solidFill>
                            <a:srgbClr val="132C43"/>
                          </a:solidFill>
                          <a:latin typeface="DejaVu Sans"/>
                          <a:ea typeface="DejaVu Sans"/>
                          <a:cs typeface="DejaVu Sans"/>
                        </a:rPr>
                        <a:t>After trapping instruction</a:t>
                      </a:r>
                    </a:p>
                  </a:txBody>
                  <a:tcPr marL="114300" marR="114300" marT="95250" marB="76200">
                    <a:solidFill>
                      <a:srgbClr val="FFFFFF"/>
                    </a:solidFill>
                  </a:tcPr>
                </a:tc>
                <a:extLst>
                  <a:ext uri="{0D108BD9-81ED-4DB2-BD59-A6C34878D82A}">
                    <a16:rowId xmlns:a16="http://schemas.microsoft.com/office/drawing/2014/main" val="10002"/>
                  </a:ext>
                </a:extLst>
              </a:tr>
              <a:tr h="945356">
                <a:tc>
                  <a:txBody>
                    <a:bodyPr/>
                    <a:lstStyle/>
                    <a:p>
                      <a:r>
                        <a:rPr sz="1725">
                          <a:solidFill>
                            <a:srgbClr val="132C43"/>
                          </a:solidFill>
                          <a:latin typeface="DejaVu Sans"/>
                          <a:ea typeface="DejaVu Sans"/>
                          <a:cs typeface="DejaVu Sans"/>
                        </a:rPr>
                        <a:t>Fault-class exception (x86)</a:t>
                      </a:r>
                    </a:p>
                  </a:txBody>
                  <a:tcPr marL="114300" marR="114300" marT="95250" marB="76200">
                    <a:solidFill>
                      <a:srgbClr val="F0F6FA"/>
                    </a:solidFill>
                  </a:tcPr>
                </a:tc>
                <a:tc>
                  <a:txBody>
                    <a:bodyPr/>
                    <a:lstStyle/>
                    <a:p>
                      <a:r>
                        <a:rPr sz="1725">
                          <a:solidFill>
                            <a:srgbClr val="132C43"/>
                          </a:solidFill>
                          <a:latin typeface="DejaVu Sans"/>
                          <a:ea typeface="DejaVu Sans"/>
                          <a:cs typeface="DejaVu Sans"/>
                        </a:rPr>
                        <a:t>Page fault</a:t>
                      </a:r>
                    </a:p>
                  </a:txBody>
                  <a:tcPr marL="114300" marR="114300" marT="95250" marB="76200">
                    <a:solidFill>
                      <a:srgbClr val="F0F6FA"/>
                    </a:solidFill>
                  </a:tcPr>
                </a:tc>
                <a:tc>
                  <a:txBody>
                    <a:bodyPr/>
                    <a:lstStyle/>
                    <a:p>
                      <a:r>
                        <a:rPr sz="1725">
                          <a:solidFill>
                            <a:srgbClr val="132C43"/>
                          </a:solidFill>
                          <a:latin typeface="DejaVu Sans"/>
                          <a:ea typeface="DejaVu Sans"/>
                          <a:cs typeface="DejaVu Sans"/>
                        </a:rPr>
                        <a:t>Retry faulting instruction if fixed</a:t>
                      </a:r>
                    </a:p>
                  </a:txBody>
                  <a:tcPr marL="114300" marR="114300" marT="95250" marB="76200">
                    <a:solidFill>
                      <a:srgbClr val="F0F6FA"/>
                    </a:solidFill>
                  </a:tcPr>
                </a:tc>
                <a:extLst>
                  <a:ext uri="{0D108BD9-81ED-4DB2-BD59-A6C34878D82A}">
                    <a16:rowId xmlns:a16="http://schemas.microsoft.com/office/drawing/2014/main" val="10003"/>
                  </a:ext>
                </a:extLst>
              </a:tr>
            </a:tbl>
          </a:graphicData>
        </a:graphic>
      </p:graphicFrame>
      <p:sp>
        <p:nvSpPr>
          <p:cNvPr id="4" name="Rectangle 3">
            <a:extLst>
              <a:ext uri="{FF2B5EF4-FFF2-40B4-BE49-F238E27FC236}">
                <a16:creationId xmlns:a16="http://schemas.microsoft.com/office/drawing/2014/main" id="{9120A1D7-BD51-426E-A81C-0D52978B5EE5}"/>
              </a:ext>
            </a:extLst>
          </p:cNvPr>
          <p:cNvSpPr>
            <a:spLocks noGrp="1"/>
          </p:cNvSpPr>
          <p:nvPr/>
        </p:nvSpPr>
        <p:spPr>
          <a:xfrm>
            <a:off x="685800" y="6381750"/>
            <a:ext cx="10820400" cy="238125"/>
          </a:xfrm>
          <a:prstGeom prst="rect">
            <a:avLst/>
          </a:prstGeom>
          <a:noFill/>
          <a:ln w="0">
            <a:noFill/>
          </a:ln>
        </p:spPr>
        <p:txBody>
          <a:bodyPr anchor="t">
            <a:noAutofit/>
          </a:bodyPr>
          <a:lstStyle/>
          <a:p>
            <a:pPr>
              <a:defRPr sz="1275" b="0">
                <a:solidFill>
                  <a:srgbClr val="53687A"/>
                </a:solidFill>
                <a:latin typeface="DejaVu Sans"/>
                <a:ea typeface="DejaVu Sans"/>
                <a:cs typeface="DejaVu Sans"/>
              </a:defRPr>
            </a:pPr>
            <a:r>
              <a:rPr sz="1275" b="0">
                <a:solidFill>
                  <a:srgbClr val="53687A"/>
                </a:solidFill>
                <a:latin typeface="DejaVu Sans"/>
                <a:ea typeface="DejaVu Sans"/>
                <a:cs typeface="DejaVu Sans"/>
              </a:rPr>
              <a:t>Week 1     14</a:t>
            </a:r>
          </a:p>
        </p:txBody>
      </p:sp>
    </p:spTree>
    <p:extLst>
      <p:ext uri="{BB962C8B-B14F-4D97-AF65-F5344CB8AC3E}">
        <p14:creationId xmlns:p14="http://schemas.microsoft.com/office/powerpoint/2010/main" val="16255918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31D23E7-722A-46D6-8112-FFF4757F917C}"/>
              </a:ext>
            </a:extLst>
          </p:cNvPr>
          <p:cNvSpPr>
            <a:spLocks noGrp="1"/>
          </p:cNvSpPr>
          <p:nvPr/>
        </p:nvSpPr>
        <p:spPr>
          <a:xfrm>
            <a:off x="685800" y="495300"/>
            <a:ext cx="10858500" cy="857250"/>
          </a:xfrm>
          <a:prstGeom prst="rect">
            <a:avLst/>
          </a:prstGeom>
          <a:noFill/>
          <a:ln w="0">
            <a:noFill/>
          </a:ln>
        </p:spPr>
        <p:txBody>
          <a:bodyPr anchor="t">
            <a:noAutofit/>
          </a:bodyPr>
          <a:lstStyle/>
          <a:p>
            <a:pPr>
              <a:defRPr sz="3300" b="1">
                <a:solidFill>
                  <a:srgbClr val="132C43"/>
                </a:solidFill>
                <a:latin typeface="DejaVu Sans"/>
                <a:ea typeface="DejaVu Sans"/>
                <a:cs typeface="DejaVu Sans"/>
              </a:defRPr>
            </a:pPr>
            <a:r>
              <a:rPr sz="3300" b="1">
                <a:solidFill>
                  <a:srgbClr val="132C43"/>
                </a:solidFill>
                <a:latin typeface="DejaVu Sans"/>
                <a:ea typeface="DejaVu Sans"/>
                <a:cs typeface="DejaVu Sans"/>
              </a:rPr>
              <a:t>Interrupt service mechanism</a:t>
            </a:r>
          </a:p>
        </p:txBody>
      </p:sp>
      <p:sp>
        <p:nvSpPr>
          <p:cNvPr id="2" name="Rectangle 1">
            <a:extLst>
              <a:ext uri="{FF2B5EF4-FFF2-40B4-BE49-F238E27FC236}">
                <a16:creationId xmlns:a16="http://schemas.microsoft.com/office/drawing/2014/main" id="{8E41C77A-053B-4CC1-936A-E30DE9FE1C5D}"/>
              </a:ext>
            </a:extLst>
          </p:cNvPr>
          <p:cNvSpPr>
            <a:spLocks noGrp="1"/>
          </p:cNvSpPr>
          <p:nvPr/>
        </p:nvSpPr>
        <p:spPr>
          <a:xfrm>
            <a:off x="685800" y="1438275"/>
            <a:ext cx="10820400" cy="1190625"/>
          </a:xfrm>
          <a:prstGeom prst="rect">
            <a:avLst/>
          </a:prstGeom>
          <a:noFill/>
          <a:ln w="0">
            <a:noFill/>
          </a:ln>
        </p:spPr>
        <p:txBody>
          <a:bodyPr anchor="t">
            <a:noAutofit/>
          </a:bodyPr>
          <a:lstStyle/>
          <a:p>
            <a:pPr>
              <a:defRPr sz="1950" b="0">
                <a:solidFill>
                  <a:srgbClr val="132C43"/>
                </a:solidFill>
                <a:latin typeface="DejaVu Sans"/>
                <a:ea typeface="DejaVu Sans"/>
                <a:cs typeface="DejaVu Sans"/>
              </a:defRPr>
            </a:pPr>
            <a:r>
              <a:rPr sz="1950" b="0">
                <a:solidFill>
                  <a:srgbClr val="132C43"/>
                </a:solidFill>
                <a:latin typeface="DejaVu Sans"/>
                <a:ea typeface="DejaVu Sans"/>
                <a:cs typeface="DejaVu Sans"/>
              </a:rPr>
              <a:t>Hardware identifies an event.</a:t>
            </a:r>
          </a:p>
          <a:p>
            <a:pPr>
              <a:defRPr sz="1950" b="0">
                <a:solidFill>
                  <a:srgbClr val="132C43"/>
                </a:solidFill>
                <a:latin typeface="DejaVu Sans"/>
                <a:ea typeface="DejaVu Sans"/>
                <a:cs typeface="DejaVu Sans"/>
              </a:defRPr>
            </a:pPr>
            <a:r>
              <a:rPr sz="1950" b="0">
                <a:solidFill>
                  <a:srgbClr val="132C43"/>
                </a:solidFill>
                <a:latin typeface="DejaVu Sans"/>
                <a:ea typeface="DejaVu Sans"/>
                <a:cs typeface="DejaVu Sans"/>
              </a:rPr>
              <a:t>The CPU saves architectural state and enters a handler.</a:t>
            </a:r>
          </a:p>
          <a:p>
            <a:pPr>
              <a:defRPr sz="1950" b="0">
                <a:solidFill>
                  <a:srgbClr val="132C43"/>
                </a:solidFill>
                <a:latin typeface="DejaVu Sans"/>
                <a:ea typeface="DejaVu Sans"/>
                <a:cs typeface="DejaVu Sans"/>
              </a:defRPr>
            </a:pPr>
            <a:r>
              <a:rPr sz="1950" b="0">
                <a:solidFill>
                  <a:srgbClr val="132C43"/>
                </a:solidFill>
                <a:latin typeface="DejaVu Sans"/>
                <a:ea typeface="DejaVu Sans"/>
                <a:cs typeface="DejaVu Sans"/>
              </a:rPr>
              <a:t>The handler services or acknowledges the source.</a:t>
            </a:r>
          </a:p>
          <a:p>
            <a:pPr>
              <a:defRPr sz="1950" b="0">
                <a:solidFill>
                  <a:srgbClr val="132C43"/>
                </a:solidFill>
                <a:latin typeface="DejaVu Sans"/>
                <a:ea typeface="DejaVu Sans"/>
                <a:cs typeface="DejaVu Sans"/>
              </a:defRPr>
            </a:pPr>
            <a:r>
              <a:rPr sz="1950" b="0">
                <a:solidFill>
                  <a:srgbClr val="132C43"/>
                </a:solidFill>
                <a:latin typeface="DejaVu Sans"/>
                <a:ea typeface="DejaVu Sans"/>
                <a:cs typeface="DejaVu Sans"/>
              </a:rPr>
              <a:t>Return restores execution state.</a:t>
            </a:r>
          </a:p>
        </p:txBody>
      </p:sp>
      <p:pic>
        <p:nvPicPr>
          <p:cNvPr id="8" name="Picture 7"/>
          <p:cNvPicPr>
            <a:picLocks noChangeAspect="1"/>
          </p:cNvPicPr>
          <p:nvPr/>
        </p:nvPicPr>
        <p:blipFill>
          <a:blip r:embed="rId3"/>
          <a:stretch/>
        </p:blipFill>
        <p:spPr>
          <a:xfrm>
            <a:off x="3265167" y="2952750"/>
            <a:ext cx="5661667" cy="2714625"/>
          </a:xfrm>
          <a:prstGeom prst="rect">
            <a:avLst/>
          </a:prstGeom>
        </p:spPr>
      </p:pic>
      <p:sp>
        <p:nvSpPr>
          <p:cNvPr id="4" name="Rectangle 3">
            <a:extLst>
              <a:ext uri="{FF2B5EF4-FFF2-40B4-BE49-F238E27FC236}">
                <a16:creationId xmlns:a16="http://schemas.microsoft.com/office/drawing/2014/main" id="{99683EC7-005B-472F-928A-6277EF1FEA41}"/>
              </a:ext>
            </a:extLst>
          </p:cNvPr>
          <p:cNvSpPr>
            <a:spLocks noGrp="1"/>
          </p:cNvSpPr>
          <p:nvPr/>
        </p:nvSpPr>
        <p:spPr>
          <a:xfrm>
            <a:off x="685800" y="5924550"/>
            <a:ext cx="10572750" cy="247650"/>
          </a:xfrm>
          <a:prstGeom prst="rect">
            <a:avLst/>
          </a:prstGeom>
          <a:noFill/>
          <a:ln w="0">
            <a:noFill/>
          </a:ln>
        </p:spPr>
        <p:txBody>
          <a:bodyPr anchor="t">
            <a:noAutofit/>
          </a:bodyPr>
          <a:lstStyle/>
          <a:p>
            <a:pPr>
              <a:defRPr sz="1200" b="0">
                <a:solidFill>
                  <a:srgbClr val="53687A"/>
                </a:solidFill>
                <a:latin typeface="DejaVu Sans"/>
                <a:ea typeface="DejaVu Sans"/>
                <a:cs typeface="DejaVu Sans"/>
              </a:defRPr>
            </a:pPr>
            <a:r>
              <a:rPr sz="1200" b="0">
                <a:solidFill>
                  <a:srgbClr val="53687A"/>
                </a:solidFill>
                <a:latin typeface="DejaVu Sans"/>
                <a:ea typeface="DejaVu Sans"/>
                <a:cs typeface="DejaVu Sans"/>
              </a:rPr>
              <a:t>Figure: Operating System Concepts, 9th ed., ©2013, via UIC course notes</a:t>
            </a:r>
          </a:p>
        </p:txBody>
      </p:sp>
      <p:sp>
        <p:nvSpPr>
          <p:cNvPr id="5" name="Rectangle 4">
            <a:extLst>
              <a:ext uri="{FF2B5EF4-FFF2-40B4-BE49-F238E27FC236}">
                <a16:creationId xmlns:a16="http://schemas.microsoft.com/office/drawing/2014/main" id="{1564F331-80BF-45A2-918E-77CA88981D80}"/>
              </a:ext>
            </a:extLst>
          </p:cNvPr>
          <p:cNvSpPr>
            <a:spLocks noGrp="1"/>
          </p:cNvSpPr>
          <p:nvPr/>
        </p:nvSpPr>
        <p:spPr>
          <a:xfrm>
            <a:off x="685800" y="6381750"/>
            <a:ext cx="10820400" cy="238125"/>
          </a:xfrm>
          <a:prstGeom prst="rect">
            <a:avLst/>
          </a:prstGeom>
          <a:noFill/>
          <a:ln w="0">
            <a:noFill/>
          </a:ln>
        </p:spPr>
        <p:txBody>
          <a:bodyPr anchor="t">
            <a:noAutofit/>
          </a:bodyPr>
          <a:lstStyle/>
          <a:p>
            <a:pPr>
              <a:defRPr sz="1275" b="0">
                <a:solidFill>
                  <a:srgbClr val="53687A"/>
                </a:solidFill>
                <a:latin typeface="DejaVu Sans"/>
                <a:ea typeface="DejaVu Sans"/>
                <a:cs typeface="DejaVu Sans"/>
              </a:defRPr>
            </a:pPr>
            <a:r>
              <a:rPr sz="1275" b="0">
                <a:solidFill>
                  <a:srgbClr val="53687A"/>
                </a:solidFill>
                <a:latin typeface="DejaVu Sans"/>
                <a:ea typeface="DejaVu Sans"/>
                <a:cs typeface="DejaVu Sans"/>
              </a:rPr>
              <a:t>Week 1     15</a:t>
            </a:r>
          </a:p>
        </p:txBody>
      </p:sp>
    </p:spTree>
    <p:extLst>
      <p:ext uri="{BB962C8B-B14F-4D97-AF65-F5344CB8AC3E}">
        <p14:creationId xmlns:p14="http://schemas.microsoft.com/office/powerpoint/2010/main" val="381513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B97BD3F-2062-41C5-8855-78CDC6294F7E}"/>
              </a:ext>
            </a:extLst>
          </p:cNvPr>
          <p:cNvSpPr>
            <a:spLocks noGrp="1"/>
          </p:cNvSpPr>
          <p:nvPr/>
        </p:nvSpPr>
        <p:spPr>
          <a:xfrm>
            <a:off x="685800" y="495300"/>
            <a:ext cx="10858500" cy="857250"/>
          </a:xfrm>
          <a:prstGeom prst="rect">
            <a:avLst/>
          </a:prstGeom>
          <a:noFill/>
          <a:ln w="0">
            <a:noFill/>
          </a:ln>
        </p:spPr>
        <p:txBody>
          <a:bodyPr anchor="t">
            <a:noAutofit/>
          </a:bodyPr>
          <a:lstStyle/>
          <a:p>
            <a:pPr>
              <a:defRPr sz="3300" b="1">
                <a:solidFill>
                  <a:srgbClr val="132C43"/>
                </a:solidFill>
                <a:latin typeface="DejaVu Sans"/>
                <a:ea typeface="DejaVu Sans"/>
                <a:cs typeface="DejaVu Sans"/>
              </a:defRPr>
            </a:pPr>
            <a:r>
              <a:rPr sz="3300" b="1">
                <a:solidFill>
                  <a:srgbClr val="132C43"/>
                </a:solidFill>
                <a:latin typeface="DejaVu Sans"/>
                <a:ea typeface="DejaVu Sans"/>
                <a:cs typeface="DejaVu Sans"/>
              </a:rPr>
              <a:t>A recoverable page fault</a:t>
            </a:r>
          </a:p>
        </p:txBody>
      </p:sp>
      <p:sp>
        <p:nvSpPr>
          <p:cNvPr id="2" name="Rectangle 1">
            <a:extLst>
              <a:ext uri="{FF2B5EF4-FFF2-40B4-BE49-F238E27FC236}">
                <a16:creationId xmlns:a16="http://schemas.microsoft.com/office/drawing/2014/main" id="{8DBF391B-091C-4C6D-8894-D8B6166BE8D8}"/>
              </a:ext>
            </a:extLst>
          </p:cNvPr>
          <p:cNvSpPr>
            <a:spLocks noGrp="1"/>
          </p:cNvSpPr>
          <p:nvPr/>
        </p:nvSpPr>
        <p:spPr>
          <a:xfrm>
            <a:off x="685800" y="1666875"/>
            <a:ext cx="10820400" cy="3905250"/>
          </a:xfrm>
          <a:prstGeom prst="rect">
            <a:avLst/>
          </a:prstGeom>
          <a:noFill/>
          <a:ln w="0">
            <a:noFill/>
          </a:ln>
        </p:spPr>
        <p:txBody>
          <a:bodyPr anchor="t">
            <a:noAutofit/>
          </a:bodyPr>
          <a:lstStyle/>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A load accesses a valid page absent from RAM.</a:t>
            </a:r>
          </a:p>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The CPU raises a page-fault exception.</a:t>
            </a:r>
          </a:p>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The OS makes the page available and updates mapping.</a:t>
            </a:r>
          </a:p>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The CPU retries the same load.</a:t>
            </a:r>
          </a:p>
        </p:txBody>
      </p:sp>
      <p:sp>
        <p:nvSpPr>
          <p:cNvPr id="3" name="Rectangle 2">
            <a:extLst>
              <a:ext uri="{FF2B5EF4-FFF2-40B4-BE49-F238E27FC236}">
                <a16:creationId xmlns:a16="http://schemas.microsoft.com/office/drawing/2014/main" id="{22DA1FCD-8F13-4020-8DD1-29D24956CE56}"/>
              </a:ext>
            </a:extLst>
          </p:cNvPr>
          <p:cNvSpPr>
            <a:spLocks noGrp="1"/>
          </p:cNvSpPr>
          <p:nvPr/>
        </p:nvSpPr>
        <p:spPr>
          <a:xfrm>
            <a:off x="685800" y="6381750"/>
            <a:ext cx="10820400" cy="238125"/>
          </a:xfrm>
          <a:prstGeom prst="rect">
            <a:avLst/>
          </a:prstGeom>
          <a:noFill/>
          <a:ln w="0">
            <a:noFill/>
          </a:ln>
        </p:spPr>
        <p:txBody>
          <a:bodyPr anchor="t">
            <a:noAutofit/>
          </a:bodyPr>
          <a:lstStyle/>
          <a:p>
            <a:pPr>
              <a:defRPr sz="1275" b="0">
                <a:solidFill>
                  <a:srgbClr val="53687A"/>
                </a:solidFill>
                <a:latin typeface="DejaVu Sans"/>
                <a:ea typeface="DejaVu Sans"/>
                <a:cs typeface="DejaVu Sans"/>
              </a:defRPr>
            </a:pPr>
            <a:r>
              <a:rPr sz="1275" b="0">
                <a:solidFill>
                  <a:srgbClr val="53687A"/>
                </a:solidFill>
                <a:latin typeface="DejaVu Sans"/>
                <a:ea typeface="DejaVu Sans"/>
                <a:cs typeface="DejaVu Sans"/>
              </a:rPr>
              <a:t>Week 1     16</a:t>
            </a:r>
          </a:p>
        </p:txBody>
      </p:sp>
    </p:spTree>
    <p:extLst>
      <p:ext uri="{BB962C8B-B14F-4D97-AF65-F5344CB8AC3E}">
        <p14:creationId xmlns:p14="http://schemas.microsoft.com/office/powerpoint/2010/main" val="14929971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08DFA51-481D-463A-A9F7-BEBB0424DC98}"/>
              </a:ext>
            </a:extLst>
          </p:cNvPr>
          <p:cNvSpPr>
            <a:spLocks noGrp="1"/>
          </p:cNvSpPr>
          <p:nvPr/>
        </p:nvSpPr>
        <p:spPr>
          <a:xfrm>
            <a:off x="685800" y="495300"/>
            <a:ext cx="10858500" cy="857250"/>
          </a:xfrm>
          <a:prstGeom prst="rect">
            <a:avLst/>
          </a:prstGeom>
          <a:noFill/>
          <a:ln w="0">
            <a:noFill/>
          </a:ln>
        </p:spPr>
        <p:txBody>
          <a:bodyPr anchor="t">
            <a:noAutofit/>
          </a:bodyPr>
          <a:lstStyle/>
          <a:p>
            <a:pPr>
              <a:defRPr sz="3300" b="1">
                <a:solidFill>
                  <a:srgbClr val="132C43"/>
                </a:solidFill>
                <a:latin typeface="DejaVu Sans"/>
                <a:ea typeface="DejaVu Sans"/>
                <a:cs typeface="DejaVu Sans"/>
              </a:defRPr>
            </a:pPr>
            <a:r>
              <a:rPr sz="3300" b="1">
                <a:solidFill>
                  <a:srgbClr val="132C43"/>
                </a:solidFill>
                <a:latin typeface="DejaVu Sans"/>
                <a:ea typeface="DejaVu Sans"/>
                <a:cs typeface="DejaVu Sans"/>
              </a:rPr>
              <a:t>User mode and kernel mode</a:t>
            </a:r>
          </a:p>
        </p:txBody>
      </p:sp>
      <p:sp>
        <p:nvSpPr>
          <p:cNvPr id="2" name="Rectangle 1">
            <a:extLst>
              <a:ext uri="{FF2B5EF4-FFF2-40B4-BE49-F238E27FC236}">
                <a16:creationId xmlns:a16="http://schemas.microsoft.com/office/drawing/2014/main" id="{5D9ABA46-9AFA-4BAA-BD42-BE3BF56DCA6C}"/>
              </a:ext>
            </a:extLst>
          </p:cNvPr>
          <p:cNvSpPr>
            <a:spLocks noGrp="1"/>
          </p:cNvSpPr>
          <p:nvPr/>
        </p:nvSpPr>
        <p:spPr>
          <a:xfrm>
            <a:off x="685800" y="1438275"/>
            <a:ext cx="10820400" cy="1190625"/>
          </a:xfrm>
          <a:prstGeom prst="rect">
            <a:avLst/>
          </a:prstGeom>
          <a:noFill/>
          <a:ln w="0">
            <a:noFill/>
          </a:ln>
        </p:spPr>
        <p:txBody>
          <a:bodyPr anchor="t">
            <a:noAutofit/>
          </a:bodyPr>
          <a:lstStyle/>
          <a:p>
            <a:pPr>
              <a:defRPr sz="1950" b="0">
                <a:solidFill>
                  <a:srgbClr val="132C43"/>
                </a:solidFill>
                <a:latin typeface="DejaVu Sans"/>
                <a:ea typeface="DejaVu Sans"/>
                <a:cs typeface="DejaVu Sans"/>
              </a:defRPr>
            </a:pPr>
            <a:r>
              <a:rPr sz="1950" b="0">
                <a:solidFill>
                  <a:srgbClr val="132C43"/>
                </a:solidFill>
                <a:latin typeface="DejaVu Sans"/>
                <a:ea typeface="DejaVu Sans"/>
                <a:cs typeface="DejaVu Sans"/>
              </a:rPr>
              <a:t>User code runs with restricted privilege.</a:t>
            </a:r>
          </a:p>
          <a:p>
            <a:pPr>
              <a:defRPr sz="1950" b="0">
                <a:solidFill>
                  <a:srgbClr val="132C43"/>
                </a:solidFill>
                <a:latin typeface="DejaVu Sans"/>
                <a:ea typeface="DejaVu Sans"/>
                <a:cs typeface="DejaVu Sans"/>
              </a:defRPr>
            </a:pPr>
            <a:r>
              <a:rPr sz="1950" b="0">
                <a:solidFill>
                  <a:srgbClr val="132C43"/>
                </a:solidFill>
                <a:latin typeface="DejaVu Sans"/>
                <a:ea typeface="DejaVu Sans"/>
                <a:cs typeface="DejaVu Sans"/>
              </a:rPr>
              <a:t>A controlled entry transfers execution to the kernel.</a:t>
            </a:r>
          </a:p>
          <a:p>
            <a:pPr>
              <a:defRPr sz="1950" b="0">
                <a:solidFill>
                  <a:srgbClr val="132C43"/>
                </a:solidFill>
                <a:latin typeface="DejaVu Sans"/>
                <a:ea typeface="DejaVu Sans"/>
                <a:cs typeface="DejaVu Sans"/>
              </a:defRPr>
            </a:pPr>
            <a:r>
              <a:rPr sz="1950" b="0">
                <a:solidFill>
                  <a:srgbClr val="132C43"/>
                </a:solidFill>
                <a:latin typeface="DejaVu Sans"/>
                <a:ea typeface="DejaVu Sans"/>
                <a:cs typeface="DejaVu Sans"/>
              </a:rPr>
              <a:t>The kernel checks requests and returns safely.</a:t>
            </a:r>
          </a:p>
        </p:txBody>
      </p:sp>
      <p:pic>
        <p:nvPicPr>
          <p:cNvPr id="8" name="Picture 7"/>
          <p:cNvPicPr>
            <a:picLocks noChangeAspect="1"/>
          </p:cNvPicPr>
          <p:nvPr/>
        </p:nvPicPr>
        <p:blipFill>
          <a:blip r:embed="rId3"/>
          <a:stretch/>
        </p:blipFill>
        <p:spPr>
          <a:xfrm>
            <a:off x="1552773" y="2952750"/>
            <a:ext cx="9086453" cy="2714625"/>
          </a:xfrm>
          <a:prstGeom prst="rect">
            <a:avLst/>
          </a:prstGeom>
        </p:spPr>
      </p:pic>
      <p:sp>
        <p:nvSpPr>
          <p:cNvPr id="4" name="Rectangle 3">
            <a:extLst>
              <a:ext uri="{FF2B5EF4-FFF2-40B4-BE49-F238E27FC236}">
                <a16:creationId xmlns:a16="http://schemas.microsoft.com/office/drawing/2014/main" id="{3CE18FE0-A7AD-44B2-8492-3E5556FF0E78}"/>
              </a:ext>
            </a:extLst>
          </p:cNvPr>
          <p:cNvSpPr>
            <a:spLocks noGrp="1"/>
          </p:cNvSpPr>
          <p:nvPr/>
        </p:nvSpPr>
        <p:spPr>
          <a:xfrm>
            <a:off x="685800" y="5924550"/>
            <a:ext cx="10572750" cy="247650"/>
          </a:xfrm>
          <a:prstGeom prst="rect">
            <a:avLst/>
          </a:prstGeom>
          <a:noFill/>
          <a:ln w="0">
            <a:noFill/>
          </a:ln>
        </p:spPr>
        <p:txBody>
          <a:bodyPr anchor="t">
            <a:noAutofit/>
          </a:bodyPr>
          <a:lstStyle/>
          <a:p>
            <a:pPr>
              <a:defRPr sz="1200" b="0">
                <a:solidFill>
                  <a:srgbClr val="53687A"/>
                </a:solidFill>
                <a:latin typeface="DejaVu Sans"/>
                <a:ea typeface="DejaVu Sans"/>
                <a:cs typeface="DejaVu Sans"/>
              </a:defRPr>
            </a:pPr>
            <a:r>
              <a:rPr sz="1200" b="0">
                <a:solidFill>
                  <a:srgbClr val="53687A"/>
                </a:solidFill>
                <a:latin typeface="DejaVu Sans"/>
                <a:ea typeface="DejaVu Sans"/>
                <a:cs typeface="DejaVu Sans"/>
              </a:rPr>
              <a:t>Figure: Operating System Concepts, 9th ed., ©2013, via UIC course notes</a:t>
            </a:r>
          </a:p>
        </p:txBody>
      </p:sp>
      <p:sp>
        <p:nvSpPr>
          <p:cNvPr id="5" name="Rectangle 4">
            <a:extLst>
              <a:ext uri="{FF2B5EF4-FFF2-40B4-BE49-F238E27FC236}">
                <a16:creationId xmlns:a16="http://schemas.microsoft.com/office/drawing/2014/main" id="{BBAE0888-4771-4C8D-B944-AC3BC5337882}"/>
              </a:ext>
            </a:extLst>
          </p:cNvPr>
          <p:cNvSpPr>
            <a:spLocks noGrp="1"/>
          </p:cNvSpPr>
          <p:nvPr/>
        </p:nvSpPr>
        <p:spPr>
          <a:xfrm>
            <a:off x="685800" y="6381750"/>
            <a:ext cx="10820400" cy="238125"/>
          </a:xfrm>
          <a:prstGeom prst="rect">
            <a:avLst/>
          </a:prstGeom>
          <a:noFill/>
          <a:ln w="0">
            <a:noFill/>
          </a:ln>
        </p:spPr>
        <p:txBody>
          <a:bodyPr anchor="t">
            <a:noAutofit/>
          </a:bodyPr>
          <a:lstStyle/>
          <a:p>
            <a:pPr>
              <a:defRPr sz="1275" b="0">
                <a:solidFill>
                  <a:srgbClr val="53687A"/>
                </a:solidFill>
                <a:latin typeface="DejaVu Sans"/>
                <a:ea typeface="DejaVu Sans"/>
                <a:cs typeface="DejaVu Sans"/>
              </a:defRPr>
            </a:pPr>
            <a:r>
              <a:rPr sz="1275" b="0">
                <a:solidFill>
                  <a:srgbClr val="53687A"/>
                </a:solidFill>
                <a:latin typeface="DejaVu Sans"/>
                <a:ea typeface="DejaVu Sans"/>
                <a:cs typeface="DejaVu Sans"/>
              </a:rPr>
              <a:t>Week 1     17</a:t>
            </a:r>
          </a:p>
        </p:txBody>
      </p:sp>
    </p:spTree>
    <p:extLst>
      <p:ext uri="{BB962C8B-B14F-4D97-AF65-F5344CB8AC3E}">
        <p14:creationId xmlns:p14="http://schemas.microsoft.com/office/powerpoint/2010/main" val="3138884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203279F-7595-47E8-98DE-ADA9EC848430}"/>
              </a:ext>
            </a:extLst>
          </p:cNvPr>
          <p:cNvSpPr>
            <a:spLocks noGrp="1"/>
          </p:cNvSpPr>
          <p:nvPr/>
        </p:nvSpPr>
        <p:spPr>
          <a:xfrm>
            <a:off x="685800" y="495300"/>
            <a:ext cx="10858500" cy="857250"/>
          </a:xfrm>
          <a:prstGeom prst="rect">
            <a:avLst/>
          </a:prstGeom>
          <a:noFill/>
          <a:ln w="0">
            <a:noFill/>
          </a:ln>
        </p:spPr>
        <p:txBody>
          <a:bodyPr anchor="t">
            <a:noAutofit/>
          </a:bodyPr>
          <a:lstStyle/>
          <a:p>
            <a:pPr>
              <a:defRPr sz="3300" b="1">
                <a:solidFill>
                  <a:srgbClr val="132C43"/>
                </a:solidFill>
                <a:latin typeface="DejaVu Sans"/>
                <a:ea typeface="DejaVu Sans"/>
                <a:cs typeface="DejaVu Sans"/>
              </a:defRPr>
            </a:pPr>
            <a:r>
              <a:rPr sz="3300" b="1">
                <a:solidFill>
                  <a:srgbClr val="132C43"/>
                </a:solidFill>
                <a:latin typeface="DejaVu Sans"/>
                <a:ea typeface="DejaVu Sans"/>
                <a:cs typeface="DejaVu Sans"/>
              </a:rPr>
              <a:t>Protection mechanisms</a:t>
            </a:r>
          </a:p>
        </p:txBody>
      </p:sp>
      <p:sp>
        <p:nvSpPr>
          <p:cNvPr id="2" name="Rectangle 1">
            <a:extLst>
              <a:ext uri="{FF2B5EF4-FFF2-40B4-BE49-F238E27FC236}">
                <a16:creationId xmlns:a16="http://schemas.microsoft.com/office/drawing/2014/main" id="{D9B89F35-D573-46AF-B48D-CD14E3FCE0EF}"/>
              </a:ext>
            </a:extLst>
          </p:cNvPr>
          <p:cNvSpPr>
            <a:spLocks noGrp="1"/>
          </p:cNvSpPr>
          <p:nvPr/>
        </p:nvSpPr>
        <p:spPr>
          <a:xfrm>
            <a:off x="685800" y="1428750"/>
            <a:ext cx="10820400" cy="457200"/>
          </a:xfrm>
          <a:prstGeom prst="rect">
            <a:avLst/>
          </a:prstGeom>
          <a:noFill/>
          <a:ln w="0">
            <a:noFill/>
          </a:ln>
        </p:spPr>
        <p:txBody>
          <a:bodyPr anchor="t">
            <a:noAutofit/>
          </a:bodyPr>
          <a:lstStyle/>
          <a:p>
            <a:pPr>
              <a:defRPr sz="1950" b="0">
                <a:solidFill>
                  <a:srgbClr val="53687A"/>
                </a:solidFill>
                <a:latin typeface="DejaVu Sans"/>
                <a:ea typeface="DejaVu Sans"/>
                <a:cs typeface="DejaVu Sans"/>
              </a:defRPr>
            </a:pPr>
            <a:r>
              <a:rPr sz="1950" b="0">
                <a:solidFill>
                  <a:srgbClr val="53687A"/>
                </a:solidFill>
                <a:latin typeface="DejaVu Sans"/>
                <a:ea typeface="DejaVu Sans"/>
                <a:cs typeface="DejaVu Sans"/>
              </a:rPr>
              <a:t>Each mechanism stops a different kind of damage.</a:t>
            </a:r>
          </a:p>
        </p:txBody>
      </p:sp>
      <p:graphicFrame>
        <p:nvGraphicFramePr>
          <p:cNvPr id="7" name="Table 6"/>
          <p:cNvGraphicFramePr/>
          <p:nvPr/>
        </p:nvGraphicFramePr>
        <p:xfrm>
          <a:off x="685800" y="2076450"/>
          <a:ext cx="10820400" cy="3781424"/>
        </p:xfrm>
        <a:graphic>
          <a:graphicData uri="http://schemas.openxmlformats.org/drawingml/2006/table">
            <a:tbl>
              <a:tblPr/>
              <a:tblGrid>
                <a:gridCol w="2762250">
                  <a:extLst>
                    <a:ext uri="{9D8B030D-6E8A-4147-A177-3AD203B41FA5}">
                      <a16:colId xmlns:a16="http://schemas.microsoft.com/office/drawing/2014/main" val="20000"/>
                    </a:ext>
                  </a:extLst>
                </a:gridCol>
                <a:gridCol w="4095750">
                  <a:extLst>
                    <a:ext uri="{9D8B030D-6E8A-4147-A177-3AD203B41FA5}">
                      <a16:colId xmlns:a16="http://schemas.microsoft.com/office/drawing/2014/main" val="20001"/>
                    </a:ext>
                  </a:extLst>
                </a:gridCol>
                <a:gridCol w="3962400">
                  <a:extLst>
                    <a:ext uri="{9D8B030D-6E8A-4147-A177-3AD203B41FA5}">
                      <a16:colId xmlns:a16="http://schemas.microsoft.com/office/drawing/2014/main" val="20002"/>
                    </a:ext>
                  </a:extLst>
                </a:gridCol>
              </a:tblGrid>
              <a:tr h="945356">
                <a:tc>
                  <a:txBody>
                    <a:bodyPr/>
                    <a:lstStyle/>
                    <a:p>
                      <a:r>
                        <a:rPr sz="1725" b="1">
                          <a:solidFill>
                            <a:srgbClr val="FFFFFF"/>
                          </a:solidFill>
                          <a:latin typeface="DejaVu Sans"/>
                          <a:ea typeface="DejaVu Sans"/>
                          <a:cs typeface="DejaVu Sans"/>
                        </a:rPr>
                        <a:t>Resource</a:t>
                      </a:r>
                    </a:p>
                  </a:txBody>
                  <a:tcPr marL="114300" marR="114300" marT="95250" marB="76200">
                    <a:solidFill>
                      <a:srgbClr val="132C43"/>
                    </a:solidFill>
                  </a:tcPr>
                </a:tc>
                <a:tc>
                  <a:txBody>
                    <a:bodyPr/>
                    <a:lstStyle/>
                    <a:p>
                      <a:r>
                        <a:rPr sz="1725" b="1">
                          <a:solidFill>
                            <a:srgbClr val="FFFFFF"/>
                          </a:solidFill>
                          <a:latin typeface="DejaVu Sans"/>
                          <a:ea typeface="DejaVu Sans"/>
                          <a:cs typeface="DejaVu Sans"/>
                        </a:rPr>
                        <a:t>Risk</a:t>
                      </a:r>
                    </a:p>
                  </a:txBody>
                  <a:tcPr marL="114300" marR="114300" marT="95250" marB="76200">
                    <a:solidFill>
                      <a:srgbClr val="132C43"/>
                    </a:solidFill>
                  </a:tcPr>
                </a:tc>
                <a:tc>
                  <a:txBody>
                    <a:bodyPr/>
                    <a:lstStyle/>
                    <a:p>
                      <a:r>
                        <a:rPr sz="1725" b="1">
                          <a:solidFill>
                            <a:srgbClr val="FFFFFF"/>
                          </a:solidFill>
                          <a:latin typeface="DejaVu Sans"/>
                          <a:ea typeface="DejaVu Sans"/>
                          <a:cs typeface="DejaVu Sans"/>
                        </a:rPr>
                        <a:t>Typical mechanism</a:t>
                      </a:r>
                    </a:p>
                  </a:txBody>
                  <a:tcPr marL="114300" marR="114300" marT="95250" marB="76200">
                    <a:solidFill>
                      <a:srgbClr val="132C43"/>
                    </a:solidFill>
                  </a:tcPr>
                </a:tc>
                <a:extLst>
                  <a:ext uri="{0D108BD9-81ED-4DB2-BD59-A6C34878D82A}">
                    <a16:rowId xmlns:a16="http://schemas.microsoft.com/office/drawing/2014/main" val="10000"/>
                  </a:ext>
                </a:extLst>
              </a:tr>
              <a:tr h="945356">
                <a:tc>
                  <a:txBody>
                    <a:bodyPr/>
                    <a:lstStyle/>
                    <a:p>
                      <a:r>
                        <a:rPr sz="1725">
                          <a:solidFill>
                            <a:srgbClr val="132C43"/>
                          </a:solidFill>
                          <a:latin typeface="DejaVu Sans"/>
                          <a:ea typeface="DejaVu Sans"/>
                          <a:cs typeface="DejaVu Sans"/>
                        </a:rPr>
                        <a:t>Memory</a:t>
                      </a:r>
                    </a:p>
                  </a:txBody>
                  <a:tcPr marL="114300" marR="114300" marT="95250" marB="76200">
                    <a:solidFill>
                      <a:srgbClr val="F0F6FA"/>
                    </a:solidFill>
                  </a:tcPr>
                </a:tc>
                <a:tc>
                  <a:txBody>
                    <a:bodyPr/>
                    <a:lstStyle/>
                    <a:p>
                      <a:r>
                        <a:rPr sz="1725">
                          <a:solidFill>
                            <a:srgbClr val="132C43"/>
                          </a:solidFill>
                          <a:latin typeface="DejaVu Sans"/>
                          <a:ea typeface="DejaVu Sans"/>
                          <a:cs typeface="DejaVu Sans"/>
                        </a:rPr>
                        <a:t>Overwrite another process or kernel</a:t>
                      </a:r>
                    </a:p>
                  </a:txBody>
                  <a:tcPr marL="114300" marR="114300" marT="95250" marB="76200">
                    <a:solidFill>
                      <a:srgbClr val="F0F6FA"/>
                    </a:solidFill>
                  </a:tcPr>
                </a:tc>
                <a:tc>
                  <a:txBody>
                    <a:bodyPr/>
                    <a:lstStyle/>
                    <a:p>
                      <a:r>
                        <a:rPr sz="1725">
                          <a:solidFill>
                            <a:srgbClr val="132C43"/>
                          </a:solidFill>
                          <a:latin typeface="DejaVu Sans"/>
                          <a:ea typeface="DejaVu Sans"/>
                          <a:cs typeface="DejaVu Sans"/>
                        </a:rPr>
                        <a:t>MMU permissions, protected mappings</a:t>
                      </a:r>
                    </a:p>
                  </a:txBody>
                  <a:tcPr marL="114300" marR="114300" marT="95250" marB="76200">
                    <a:solidFill>
                      <a:srgbClr val="F0F6FA"/>
                    </a:solidFill>
                  </a:tcPr>
                </a:tc>
                <a:extLst>
                  <a:ext uri="{0D108BD9-81ED-4DB2-BD59-A6C34878D82A}">
                    <a16:rowId xmlns:a16="http://schemas.microsoft.com/office/drawing/2014/main" val="10001"/>
                  </a:ext>
                </a:extLst>
              </a:tr>
              <a:tr h="945356">
                <a:tc>
                  <a:txBody>
                    <a:bodyPr/>
                    <a:lstStyle/>
                    <a:p>
                      <a:r>
                        <a:rPr sz="1725">
                          <a:solidFill>
                            <a:srgbClr val="132C43"/>
                          </a:solidFill>
                          <a:latin typeface="DejaVu Sans"/>
                          <a:ea typeface="DejaVu Sans"/>
                          <a:cs typeface="DejaVu Sans"/>
                        </a:rPr>
                        <a:t>I/O</a:t>
                      </a:r>
                    </a:p>
                  </a:txBody>
                  <a:tcPr marL="114300" marR="114300" marT="95250" marB="76200">
                    <a:solidFill>
                      <a:srgbClr val="FFFFFF"/>
                    </a:solidFill>
                  </a:tcPr>
                </a:tc>
                <a:tc>
                  <a:txBody>
                    <a:bodyPr/>
                    <a:lstStyle/>
                    <a:p>
                      <a:r>
                        <a:rPr sz="1725">
                          <a:solidFill>
                            <a:srgbClr val="132C43"/>
                          </a:solidFill>
                          <a:latin typeface="DejaVu Sans"/>
                          <a:ea typeface="DejaVu Sans"/>
                          <a:cs typeface="DejaVu Sans"/>
                        </a:rPr>
                        <a:t>Bypass access checks or corrupt a device</a:t>
                      </a:r>
                    </a:p>
                  </a:txBody>
                  <a:tcPr marL="114300" marR="114300" marT="95250" marB="76200">
                    <a:solidFill>
                      <a:srgbClr val="FFFFFF"/>
                    </a:solidFill>
                  </a:tcPr>
                </a:tc>
                <a:tc>
                  <a:txBody>
                    <a:bodyPr/>
                    <a:lstStyle/>
                    <a:p>
                      <a:r>
                        <a:rPr sz="1725">
                          <a:solidFill>
                            <a:srgbClr val="132C43"/>
                          </a:solidFill>
                          <a:latin typeface="DejaVu Sans"/>
                          <a:ea typeface="DejaVu Sans"/>
                          <a:cs typeface="DejaVu Sans"/>
                        </a:rPr>
                        <a:t>Privileged access and checked OS calls</a:t>
                      </a:r>
                    </a:p>
                  </a:txBody>
                  <a:tcPr marL="114300" marR="114300" marT="95250" marB="76200">
                    <a:solidFill>
                      <a:srgbClr val="FFFFFF"/>
                    </a:solidFill>
                  </a:tcPr>
                </a:tc>
                <a:extLst>
                  <a:ext uri="{0D108BD9-81ED-4DB2-BD59-A6C34878D82A}">
                    <a16:rowId xmlns:a16="http://schemas.microsoft.com/office/drawing/2014/main" val="10002"/>
                  </a:ext>
                </a:extLst>
              </a:tr>
              <a:tr h="945356">
                <a:tc>
                  <a:txBody>
                    <a:bodyPr/>
                    <a:lstStyle/>
                    <a:p>
                      <a:r>
                        <a:rPr sz="1725">
                          <a:solidFill>
                            <a:srgbClr val="132C43"/>
                          </a:solidFill>
                          <a:latin typeface="DejaVu Sans"/>
                          <a:ea typeface="DejaVu Sans"/>
                          <a:cs typeface="DejaVu Sans"/>
                        </a:rPr>
                        <a:t>CPU</a:t>
                      </a:r>
                    </a:p>
                  </a:txBody>
                  <a:tcPr marL="114300" marR="114300" marT="95250" marB="76200">
                    <a:solidFill>
                      <a:srgbClr val="F0F6FA"/>
                    </a:solidFill>
                  </a:tcPr>
                </a:tc>
                <a:tc>
                  <a:txBody>
                    <a:bodyPr/>
                    <a:lstStyle/>
                    <a:p>
                      <a:r>
                        <a:rPr sz="1725">
                          <a:solidFill>
                            <a:srgbClr val="132C43"/>
                          </a:solidFill>
                          <a:latin typeface="DejaVu Sans"/>
                          <a:ea typeface="DejaVu Sans"/>
                          <a:cs typeface="DejaVu Sans"/>
                        </a:rPr>
                        <a:t>Keep CPU forever in an infinite loop</a:t>
                      </a:r>
                    </a:p>
                  </a:txBody>
                  <a:tcPr marL="114300" marR="114300" marT="95250" marB="76200">
                    <a:solidFill>
                      <a:srgbClr val="F0F6FA"/>
                    </a:solidFill>
                  </a:tcPr>
                </a:tc>
                <a:tc>
                  <a:txBody>
                    <a:bodyPr/>
                    <a:lstStyle/>
                    <a:p>
                      <a:r>
                        <a:rPr sz="1725">
                          <a:solidFill>
                            <a:srgbClr val="132C43"/>
                          </a:solidFill>
                          <a:latin typeface="DejaVu Sans"/>
                          <a:ea typeface="DejaVu Sans"/>
                          <a:cs typeface="DejaVu Sans"/>
                        </a:rPr>
                        <a:t>Protected timer and preemptive scheduling</a:t>
                      </a:r>
                    </a:p>
                  </a:txBody>
                  <a:tcPr marL="114300" marR="114300" marT="95250" marB="76200">
                    <a:solidFill>
                      <a:srgbClr val="F0F6FA"/>
                    </a:solidFill>
                  </a:tcPr>
                </a:tc>
                <a:extLst>
                  <a:ext uri="{0D108BD9-81ED-4DB2-BD59-A6C34878D82A}">
                    <a16:rowId xmlns:a16="http://schemas.microsoft.com/office/drawing/2014/main" val="10003"/>
                  </a:ext>
                </a:extLst>
              </a:tr>
            </a:tbl>
          </a:graphicData>
        </a:graphic>
      </p:graphicFrame>
      <p:sp>
        <p:nvSpPr>
          <p:cNvPr id="4" name="Rectangle 3">
            <a:extLst>
              <a:ext uri="{FF2B5EF4-FFF2-40B4-BE49-F238E27FC236}">
                <a16:creationId xmlns:a16="http://schemas.microsoft.com/office/drawing/2014/main" id="{DC15813A-66C2-4B88-A1ED-94068BC88E9A}"/>
              </a:ext>
            </a:extLst>
          </p:cNvPr>
          <p:cNvSpPr>
            <a:spLocks noGrp="1"/>
          </p:cNvSpPr>
          <p:nvPr/>
        </p:nvSpPr>
        <p:spPr>
          <a:xfrm>
            <a:off x="685800" y="6381750"/>
            <a:ext cx="10820400" cy="238125"/>
          </a:xfrm>
          <a:prstGeom prst="rect">
            <a:avLst/>
          </a:prstGeom>
          <a:noFill/>
          <a:ln w="0">
            <a:noFill/>
          </a:ln>
        </p:spPr>
        <p:txBody>
          <a:bodyPr anchor="t">
            <a:noAutofit/>
          </a:bodyPr>
          <a:lstStyle/>
          <a:p>
            <a:pPr>
              <a:defRPr sz="1275" b="0">
                <a:solidFill>
                  <a:srgbClr val="53687A"/>
                </a:solidFill>
                <a:latin typeface="DejaVu Sans"/>
                <a:ea typeface="DejaVu Sans"/>
                <a:cs typeface="DejaVu Sans"/>
              </a:defRPr>
            </a:pPr>
            <a:r>
              <a:rPr sz="1275" b="0">
                <a:solidFill>
                  <a:srgbClr val="53687A"/>
                </a:solidFill>
                <a:latin typeface="DejaVu Sans"/>
                <a:ea typeface="DejaVu Sans"/>
                <a:cs typeface="DejaVu Sans"/>
              </a:rPr>
              <a:t>Week 1     18</a:t>
            </a:r>
          </a:p>
        </p:txBody>
      </p:sp>
    </p:spTree>
    <p:extLst>
      <p:ext uri="{BB962C8B-B14F-4D97-AF65-F5344CB8AC3E}">
        <p14:creationId xmlns:p14="http://schemas.microsoft.com/office/powerpoint/2010/main" val="18468063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A3AC413-DED8-460C-9FE5-EE9E334DC16E}"/>
              </a:ext>
            </a:extLst>
          </p:cNvPr>
          <p:cNvSpPr>
            <a:spLocks noGrp="1"/>
          </p:cNvSpPr>
          <p:nvPr/>
        </p:nvSpPr>
        <p:spPr>
          <a:xfrm>
            <a:off x="685800" y="495300"/>
            <a:ext cx="10858500" cy="857250"/>
          </a:xfrm>
          <a:prstGeom prst="rect">
            <a:avLst/>
          </a:prstGeom>
          <a:noFill/>
          <a:ln w="0">
            <a:noFill/>
          </a:ln>
        </p:spPr>
        <p:txBody>
          <a:bodyPr anchor="t">
            <a:noAutofit/>
          </a:bodyPr>
          <a:lstStyle/>
          <a:p>
            <a:pPr>
              <a:defRPr sz="3300" b="1">
                <a:solidFill>
                  <a:srgbClr val="132C43"/>
                </a:solidFill>
                <a:latin typeface="DejaVu Sans"/>
                <a:ea typeface="DejaVu Sans"/>
                <a:cs typeface="DejaVu Sans"/>
              </a:defRPr>
            </a:pPr>
            <a:r>
              <a:rPr sz="3300" b="1">
                <a:solidFill>
                  <a:srgbClr val="132C43"/>
                </a:solidFill>
                <a:latin typeface="DejaVu Sans"/>
                <a:ea typeface="DejaVu Sans"/>
                <a:cs typeface="DejaVu Sans"/>
              </a:rPr>
              <a:t>Worked example: base and limit</a:t>
            </a:r>
          </a:p>
        </p:txBody>
      </p:sp>
      <p:sp>
        <p:nvSpPr>
          <p:cNvPr id="2" name="Rectangle 1">
            <a:extLst>
              <a:ext uri="{FF2B5EF4-FFF2-40B4-BE49-F238E27FC236}">
                <a16:creationId xmlns:a16="http://schemas.microsoft.com/office/drawing/2014/main" id="{0B4FAB9F-1098-4B2B-AE70-5CC14E5FDA4A}"/>
              </a:ext>
            </a:extLst>
          </p:cNvPr>
          <p:cNvSpPr>
            <a:spLocks noGrp="1"/>
          </p:cNvSpPr>
          <p:nvPr/>
        </p:nvSpPr>
        <p:spPr>
          <a:xfrm>
            <a:off x="685800" y="1666875"/>
            <a:ext cx="10820400" cy="3905250"/>
          </a:xfrm>
          <a:prstGeom prst="rect">
            <a:avLst/>
          </a:prstGeom>
          <a:noFill/>
          <a:ln w="0">
            <a:noFill/>
          </a:ln>
        </p:spPr>
        <p:txBody>
          <a:bodyPr anchor="t">
            <a:noAutofit/>
          </a:bodyPr>
          <a:lstStyle/>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Teaching model: base = 4000, limit = 1000 bytes.</a:t>
            </a:r>
          </a:p>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Valid logical addresses satisfy 0 ≤ address &lt; 1000.</a:t>
            </a:r>
          </a:p>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Physical address = base + logical address.</a:t>
            </a:r>
          </a:p>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Which accesses are valid: 0, 999, 1000?</a:t>
            </a:r>
          </a:p>
        </p:txBody>
      </p:sp>
      <p:sp>
        <p:nvSpPr>
          <p:cNvPr id="3" name="Rectangle 2">
            <a:extLst>
              <a:ext uri="{FF2B5EF4-FFF2-40B4-BE49-F238E27FC236}">
                <a16:creationId xmlns:a16="http://schemas.microsoft.com/office/drawing/2014/main" id="{15953211-9743-409C-870E-5B8F6ED7DEC6}"/>
              </a:ext>
            </a:extLst>
          </p:cNvPr>
          <p:cNvSpPr>
            <a:spLocks noGrp="1"/>
          </p:cNvSpPr>
          <p:nvPr/>
        </p:nvSpPr>
        <p:spPr>
          <a:xfrm>
            <a:off x="685800" y="6381750"/>
            <a:ext cx="10820400" cy="238125"/>
          </a:xfrm>
          <a:prstGeom prst="rect">
            <a:avLst/>
          </a:prstGeom>
          <a:noFill/>
          <a:ln w="0">
            <a:noFill/>
          </a:ln>
        </p:spPr>
        <p:txBody>
          <a:bodyPr anchor="t">
            <a:noAutofit/>
          </a:bodyPr>
          <a:lstStyle/>
          <a:p>
            <a:pPr>
              <a:defRPr sz="1275" b="0">
                <a:solidFill>
                  <a:srgbClr val="53687A"/>
                </a:solidFill>
                <a:latin typeface="DejaVu Sans"/>
                <a:ea typeface="DejaVu Sans"/>
                <a:cs typeface="DejaVu Sans"/>
              </a:defRPr>
            </a:pPr>
            <a:r>
              <a:rPr sz="1275" b="0">
                <a:solidFill>
                  <a:srgbClr val="53687A"/>
                </a:solidFill>
                <a:latin typeface="DejaVu Sans"/>
                <a:ea typeface="DejaVu Sans"/>
                <a:cs typeface="DejaVu Sans"/>
              </a:rPr>
              <a:t>Week 1     19</a:t>
            </a:r>
          </a:p>
        </p:txBody>
      </p:sp>
    </p:spTree>
    <p:extLst>
      <p:ext uri="{BB962C8B-B14F-4D97-AF65-F5344CB8AC3E}">
        <p14:creationId xmlns:p14="http://schemas.microsoft.com/office/powerpoint/2010/main" val="19401055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682AE2D-5891-4C62-BDC9-1BB5330A4AB5}"/>
              </a:ext>
            </a:extLst>
          </p:cNvPr>
          <p:cNvSpPr>
            <a:spLocks noGrp="1"/>
          </p:cNvSpPr>
          <p:nvPr/>
        </p:nvSpPr>
        <p:spPr>
          <a:xfrm>
            <a:off x="685800" y="495300"/>
            <a:ext cx="10858500" cy="857250"/>
          </a:xfrm>
          <a:prstGeom prst="rect">
            <a:avLst/>
          </a:prstGeom>
          <a:noFill/>
          <a:ln w="0">
            <a:noFill/>
          </a:ln>
        </p:spPr>
        <p:txBody>
          <a:bodyPr anchor="t">
            <a:noAutofit/>
          </a:bodyPr>
          <a:lstStyle/>
          <a:p>
            <a:pPr>
              <a:defRPr sz="3300" b="1">
                <a:solidFill>
                  <a:srgbClr val="132C43"/>
                </a:solidFill>
                <a:latin typeface="DejaVu Sans"/>
                <a:ea typeface="DejaVu Sans"/>
                <a:cs typeface="DejaVu Sans"/>
              </a:defRPr>
            </a:pPr>
            <a:r>
              <a:rPr sz="3300" b="1">
                <a:solidFill>
                  <a:srgbClr val="132C43"/>
                </a:solidFill>
                <a:latin typeface="DejaVu Sans"/>
                <a:ea typeface="DejaVu Sans"/>
                <a:cs typeface="DejaVu Sans"/>
              </a:rPr>
              <a:t>Week 1 checkpoint</a:t>
            </a:r>
          </a:p>
        </p:txBody>
      </p:sp>
      <p:sp>
        <p:nvSpPr>
          <p:cNvPr id="2" name="Rectangle 1">
            <a:extLst>
              <a:ext uri="{FF2B5EF4-FFF2-40B4-BE49-F238E27FC236}">
                <a16:creationId xmlns:a16="http://schemas.microsoft.com/office/drawing/2014/main" id="{656A7F8A-9124-47EE-ABD7-C01FA47C686C}"/>
              </a:ext>
            </a:extLst>
          </p:cNvPr>
          <p:cNvSpPr>
            <a:spLocks noGrp="1"/>
          </p:cNvSpPr>
          <p:nvPr/>
        </p:nvSpPr>
        <p:spPr>
          <a:xfrm>
            <a:off x="685800" y="1666875"/>
            <a:ext cx="10820400" cy="3905250"/>
          </a:xfrm>
          <a:prstGeom prst="rect">
            <a:avLst/>
          </a:prstGeom>
          <a:noFill/>
          <a:ln w="0">
            <a:noFill/>
          </a:ln>
        </p:spPr>
        <p:txBody>
          <a:bodyPr anchor="t">
            <a:noAutofit/>
          </a:bodyPr>
          <a:lstStyle/>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A timer expires while a loop executes.</a:t>
            </a:r>
          </a:p>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A valid page is absent from RAM.</a:t>
            </a:r>
          </a:p>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A debugger hits an INT3 breakpoint.</a:t>
            </a:r>
          </a:p>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A user asks the OS to write a file.</a:t>
            </a:r>
          </a:p>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Does kernel entry always change the process?</a:t>
            </a:r>
          </a:p>
        </p:txBody>
      </p:sp>
      <p:sp>
        <p:nvSpPr>
          <p:cNvPr id="3" name="Rectangle 2">
            <a:extLst>
              <a:ext uri="{FF2B5EF4-FFF2-40B4-BE49-F238E27FC236}">
                <a16:creationId xmlns:a16="http://schemas.microsoft.com/office/drawing/2014/main" id="{BADBC5E2-3259-4094-8C0B-334025A53871}"/>
              </a:ext>
            </a:extLst>
          </p:cNvPr>
          <p:cNvSpPr>
            <a:spLocks noGrp="1"/>
          </p:cNvSpPr>
          <p:nvPr/>
        </p:nvSpPr>
        <p:spPr>
          <a:xfrm>
            <a:off x="685800" y="6381750"/>
            <a:ext cx="10820400" cy="238125"/>
          </a:xfrm>
          <a:prstGeom prst="rect">
            <a:avLst/>
          </a:prstGeom>
          <a:noFill/>
          <a:ln w="0">
            <a:noFill/>
          </a:ln>
        </p:spPr>
        <p:txBody>
          <a:bodyPr anchor="t">
            <a:noAutofit/>
          </a:bodyPr>
          <a:lstStyle/>
          <a:p>
            <a:pPr>
              <a:defRPr sz="1275" b="0">
                <a:solidFill>
                  <a:srgbClr val="53687A"/>
                </a:solidFill>
                <a:latin typeface="DejaVu Sans"/>
                <a:ea typeface="DejaVu Sans"/>
                <a:cs typeface="DejaVu Sans"/>
              </a:defRPr>
            </a:pPr>
            <a:r>
              <a:rPr sz="1275" b="0">
                <a:solidFill>
                  <a:srgbClr val="53687A"/>
                </a:solidFill>
                <a:latin typeface="DejaVu Sans"/>
                <a:ea typeface="DejaVu Sans"/>
                <a:cs typeface="DejaVu Sans"/>
              </a:rPr>
              <a:t>Week 1     20</a:t>
            </a:r>
          </a:p>
        </p:txBody>
      </p:sp>
    </p:spTree>
    <p:extLst>
      <p:ext uri="{BB962C8B-B14F-4D97-AF65-F5344CB8AC3E}">
        <p14:creationId xmlns:p14="http://schemas.microsoft.com/office/powerpoint/2010/main" val="15417731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32C43"/>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83551EE-B7A5-4C48-B645-F850C451A509}"/>
              </a:ext>
            </a:extLst>
          </p:cNvPr>
          <p:cNvSpPr>
            <a:spLocks noGrp="1"/>
          </p:cNvSpPr>
          <p:nvPr/>
        </p:nvSpPr>
        <p:spPr>
          <a:xfrm>
            <a:off x="685800" y="647700"/>
            <a:ext cx="10820400" cy="381000"/>
          </a:xfrm>
          <a:prstGeom prst="rect">
            <a:avLst/>
          </a:prstGeom>
          <a:noFill/>
          <a:ln w="0">
            <a:noFill/>
          </a:ln>
        </p:spPr>
        <p:txBody>
          <a:bodyPr anchor="t">
            <a:noAutofit/>
          </a:bodyPr>
          <a:lstStyle/>
          <a:p>
            <a:pPr>
              <a:defRPr sz="1800" b="1">
                <a:solidFill>
                  <a:srgbClr val="70D0D3"/>
                </a:solidFill>
                <a:latin typeface="DejaVu Sans"/>
                <a:ea typeface="DejaVu Sans"/>
                <a:cs typeface="DejaVu Sans"/>
              </a:defRPr>
            </a:pPr>
            <a:r>
              <a:rPr sz="1800" b="1">
                <a:solidFill>
                  <a:srgbClr val="70D0D3"/>
                </a:solidFill>
                <a:latin typeface="DejaVu Sans"/>
                <a:ea typeface="DejaVu Sans"/>
                <a:cs typeface="DejaVu Sans"/>
              </a:rPr>
              <a:t>WEEK 2</a:t>
            </a:r>
          </a:p>
        </p:txBody>
      </p:sp>
      <p:sp>
        <p:nvSpPr>
          <p:cNvPr id="2" name="Rectangle 1">
            <a:extLst>
              <a:ext uri="{FF2B5EF4-FFF2-40B4-BE49-F238E27FC236}">
                <a16:creationId xmlns:a16="http://schemas.microsoft.com/office/drawing/2014/main" id="{03DD4510-1453-4B96-911B-7C8F1E679C4E}"/>
              </a:ext>
            </a:extLst>
          </p:cNvPr>
          <p:cNvSpPr>
            <a:spLocks noGrp="1"/>
          </p:cNvSpPr>
          <p:nvPr/>
        </p:nvSpPr>
        <p:spPr>
          <a:xfrm>
            <a:off x="685800" y="1524000"/>
            <a:ext cx="10477500" cy="1333500"/>
          </a:xfrm>
          <a:prstGeom prst="rect">
            <a:avLst/>
          </a:prstGeom>
          <a:noFill/>
          <a:ln w="0">
            <a:noFill/>
          </a:ln>
        </p:spPr>
        <p:txBody>
          <a:bodyPr anchor="t">
            <a:noAutofit/>
          </a:bodyPr>
          <a:lstStyle/>
          <a:p>
            <a:pPr>
              <a:defRPr sz="4500" b="1">
                <a:solidFill>
                  <a:srgbClr val="FFFFFF"/>
                </a:solidFill>
                <a:latin typeface="DejaVu Sans"/>
                <a:ea typeface="DejaVu Sans"/>
                <a:cs typeface="DejaVu Sans"/>
              </a:defRPr>
            </a:pPr>
            <a:r>
              <a:rPr sz="4500" b="1">
                <a:solidFill>
                  <a:srgbClr val="FFFFFF"/>
                </a:solidFill>
                <a:latin typeface="DejaVu Sans"/>
                <a:ea typeface="DejaVu Sans"/>
                <a:cs typeface="DejaVu Sans"/>
              </a:rPr>
              <a:t>Week 2: services and interfaces</a:t>
            </a:r>
          </a:p>
        </p:txBody>
      </p:sp>
      <p:sp>
        <p:nvSpPr>
          <p:cNvPr id="3" name="Rectangle 2">
            <a:extLst>
              <a:ext uri="{FF2B5EF4-FFF2-40B4-BE49-F238E27FC236}">
                <a16:creationId xmlns:a16="http://schemas.microsoft.com/office/drawing/2014/main" id="{B197D76F-7E05-44DB-ABE0-F2D140E0BFBB}"/>
              </a:ext>
            </a:extLst>
          </p:cNvPr>
          <p:cNvSpPr>
            <a:spLocks noGrp="1"/>
          </p:cNvSpPr>
          <p:nvPr/>
        </p:nvSpPr>
        <p:spPr>
          <a:xfrm>
            <a:off x="685800" y="3286125"/>
            <a:ext cx="10668000" cy="2095500"/>
          </a:xfrm>
          <a:prstGeom prst="rect">
            <a:avLst/>
          </a:prstGeom>
          <a:noFill/>
          <a:ln w="0">
            <a:noFill/>
          </a:ln>
        </p:spPr>
        <p:txBody>
          <a:bodyPr anchor="t">
            <a:noAutofit/>
          </a:bodyPr>
          <a:lstStyle/>
          <a:p>
            <a:pPr>
              <a:defRPr sz="2400" b="0">
                <a:solidFill>
                  <a:srgbClr val="EAF3F8"/>
                </a:solidFill>
                <a:latin typeface="DejaVu Sans"/>
                <a:ea typeface="DejaVu Sans"/>
                <a:cs typeface="DejaVu Sans"/>
              </a:defRPr>
            </a:pPr>
            <a:r>
              <a:rPr sz="2400" b="0">
                <a:solidFill>
                  <a:srgbClr val="EAF3F8"/>
                </a:solidFill>
                <a:latin typeface="DejaVu Sans"/>
                <a:ea typeface="DejaVu Sans"/>
                <a:cs typeface="DejaVu Sans"/>
              </a:rPr>
              <a:t>Connect user actions to OS services.</a:t>
            </a:r>
          </a:p>
          <a:p>
            <a:pPr>
              <a:defRPr sz="2400" b="0">
                <a:solidFill>
                  <a:srgbClr val="EAF3F8"/>
                </a:solidFill>
                <a:latin typeface="DejaVu Sans"/>
                <a:ea typeface="DejaVu Sans"/>
                <a:cs typeface="DejaVu Sans"/>
              </a:defRPr>
            </a:pPr>
            <a:r>
              <a:rPr sz="2400" b="0">
                <a:solidFill>
                  <a:srgbClr val="EAF3F8"/>
                </a:solidFill>
                <a:latin typeface="DejaVu Sans"/>
                <a:ea typeface="DejaVu Sans"/>
                <a:cs typeface="DejaVu Sans"/>
              </a:rPr>
              <a:t>Distinguish CLI, GUI, API and system call.</a:t>
            </a:r>
          </a:p>
          <a:p>
            <a:pPr>
              <a:defRPr sz="2400" b="0">
                <a:solidFill>
                  <a:srgbClr val="EAF3F8"/>
                </a:solidFill>
                <a:latin typeface="DejaVu Sans"/>
                <a:ea typeface="DejaVu Sans"/>
                <a:cs typeface="DejaVu Sans"/>
              </a:defRPr>
            </a:pPr>
            <a:r>
              <a:rPr sz="2400" b="0">
                <a:solidFill>
                  <a:srgbClr val="EAF3F8"/>
                </a:solidFill>
                <a:latin typeface="DejaVu Sans"/>
                <a:ea typeface="DejaVu Sans"/>
                <a:cs typeface="DejaVu Sans"/>
              </a:rPr>
              <a:t>Trace a request across the privilege boundary.</a:t>
            </a:r>
          </a:p>
        </p:txBody>
      </p:sp>
      <p:sp>
        <p:nvSpPr>
          <p:cNvPr id="4" name="Rectangle 3">
            <a:extLst>
              <a:ext uri="{FF2B5EF4-FFF2-40B4-BE49-F238E27FC236}">
                <a16:creationId xmlns:a16="http://schemas.microsoft.com/office/drawing/2014/main" id="{47412DF8-1F03-4AA7-B809-245A09DF43BD}"/>
              </a:ext>
            </a:extLst>
          </p:cNvPr>
          <p:cNvSpPr>
            <a:spLocks noGrp="1"/>
          </p:cNvSpPr>
          <p:nvPr/>
        </p:nvSpPr>
        <p:spPr>
          <a:xfrm>
            <a:off x="685800" y="6381750"/>
            <a:ext cx="10820400" cy="238125"/>
          </a:xfrm>
          <a:prstGeom prst="rect">
            <a:avLst/>
          </a:prstGeom>
          <a:noFill/>
          <a:ln w="0">
            <a:noFill/>
          </a:ln>
        </p:spPr>
        <p:txBody>
          <a:bodyPr anchor="t">
            <a:noAutofit/>
          </a:bodyPr>
          <a:lstStyle/>
          <a:p>
            <a:pPr>
              <a:defRPr sz="1275" b="0">
                <a:solidFill>
                  <a:srgbClr val="BED2E0"/>
                </a:solidFill>
                <a:latin typeface="DejaVu Sans"/>
                <a:ea typeface="DejaVu Sans"/>
                <a:cs typeface="DejaVu Sans"/>
              </a:defRPr>
            </a:pPr>
            <a:r>
              <a:rPr sz="1275" b="0">
                <a:solidFill>
                  <a:srgbClr val="BED2E0"/>
                </a:solidFill>
                <a:latin typeface="DejaVu Sans"/>
                <a:ea typeface="DejaVu Sans"/>
                <a:cs typeface="DejaVu Sans"/>
              </a:rPr>
              <a:t>Week 2     21</a:t>
            </a:r>
          </a:p>
        </p:txBody>
      </p:sp>
    </p:spTree>
    <p:extLst>
      <p:ext uri="{BB962C8B-B14F-4D97-AF65-F5344CB8AC3E}">
        <p14:creationId xmlns:p14="http://schemas.microsoft.com/office/powerpoint/2010/main" val="2469540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3BD709B-BD2E-4508-9E99-475B879A57D6}"/>
              </a:ext>
            </a:extLst>
          </p:cNvPr>
          <p:cNvSpPr>
            <a:spLocks noGrp="1"/>
          </p:cNvSpPr>
          <p:nvPr/>
        </p:nvSpPr>
        <p:spPr>
          <a:xfrm>
            <a:off x="685800" y="495300"/>
            <a:ext cx="10858500" cy="857250"/>
          </a:xfrm>
          <a:prstGeom prst="rect">
            <a:avLst/>
          </a:prstGeom>
          <a:noFill/>
          <a:ln w="0">
            <a:noFill/>
          </a:ln>
        </p:spPr>
        <p:txBody>
          <a:bodyPr anchor="t">
            <a:noAutofit/>
          </a:bodyPr>
          <a:lstStyle/>
          <a:p>
            <a:pPr>
              <a:defRPr sz="3300" b="1">
                <a:solidFill>
                  <a:srgbClr val="132C43"/>
                </a:solidFill>
                <a:latin typeface="DejaVu Sans"/>
                <a:ea typeface="DejaVu Sans"/>
                <a:cs typeface="DejaVu Sans"/>
              </a:defRPr>
            </a:pPr>
            <a:r>
              <a:rPr sz="3300" b="1">
                <a:solidFill>
                  <a:srgbClr val="132C43"/>
                </a:solidFill>
                <a:latin typeface="DejaVu Sans"/>
                <a:ea typeface="DejaVu Sans"/>
                <a:cs typeface="DejaVu Sans"/>
              </a:rPr>
              <a:t>Operating-system services</a:t>
            </a:r>
          </a:p>
        </p:txBody>
      </p:sp>
      <p:sp>
        <p:nvSpPr>
          <p:cNvPr id="2" name="Rectangle 1">
            <a:extLst>
              <a:ext uri="{FF2B5EF4-FFF2-40B4-BE49-F238E27FC236}">
                <a16:creationId xmlns:a16="http://schemas.microsoft.com/office/drawing/2014/main" id="{8EAF850A-D33B-4050-A2C7-B6F1459945CC}"/>
              </a:ext>
            </a:extLst>
          </p:cNvPr>
          <p:cNvSpPr>
            <a:spLocks noGrp="1"/>
          </p:cNvSpPr>
          <p:nvPr/>
        </p:nvSpPr>
        <p:spPr>
          <a:xfrm>
            <a:off x="685800" y="1438275"/>
            <a:ext cx="10820400" cy="1190625"/>
          </a:xfrm>
          <a:prstGeom prst="rect">
            <a:avLst/>
          </a:prstGeom>
          <a:noFill/>
          <a:ln w="0">
            <a:noFill/>
          </a:ln>
        </p:spPr>
        <p:txBody>
          <a:bodyPr anchor="t">
            <a:noAutofit/>
          </a:bodyPr>
          <a:lstStyle/>
          <a:p>
            <a:pPr>
              <a:defRPr sz="1950" b="0">
                <a:solidFill>
                  <a:srgbClr val="132C43"/>
                </a:solidFill>
                <a:latin typeface="DejaVu Sans"/>
                <a:ea typeface="DejaVu Sans"/>
                <a:cs typeface="DejaVu Sans"/>
              </a:defRPr>
            </a:pPr>
            <a:r>
              <a:rPr sz="1950" b="0">
                <a:solidFill>
                  <a:srgbClr val="132C43"/>
                </a:solidFill>
                <a:latin typeface="DejaVu Sans"/>
                <a:ea typeface="DejaVu Sans"/>
                <a:cs typeface="DejaVu Sans"/>
              </a:rPr>
              <a:t>A file-save action needs several OS services.</a:t>
            </a:r>
          </a:p>
        </p:txBody>
      </p:sp>
      <p:pic>
        <p:nvPicPr>
          <p:cNvPr id="8" name="Picture 7"/>
          <p:cNvPicPr>
            <a:picLocks noChangeAspect="1"/>
          </p:cNvPicPr>
          <p:nvPr/>
        </p:nvPicPr>
        <p:blipFill>
          <a:blip r:embed="rId3"/>
          <a:stretch/>
        </p:blipFill>
        <p:spPr>
          <a:xfrm>
            <a:off x="3381375" y="2952750"/>
            <a:ext cx="5429250" cy="2714625"/>
          </a:xfrm>
          <a:prstGeom prst="rect">
            <a:avLst/>
          </a:prstGeom>
        </p:spPr>
      </p:pic>
      <p:sp>
        <p:nvSpPr>
          <p:cNvPr id="4" name="Rectangle 3">
            <a:extLst>
              <a:ext uri="{FF2B5EF4-FFF2-40B4-BE49-F238E27FC236}">
                <a16:creationId xmlns:a16="http://schemas.microsoft.com/office/drawing/2014/main" id="{0CDBB31D-26E5-4D46-B2BB-A7B9A2F1C417}"/>
              </a:ext>
            </a:extLst>
          </p:cNvPr>
          <p:cNvSpPr>
            <a:spLocks noGrp="1"/>
          </p:cNvSpPr>
          <p:nvPr/>
        </p:nvSpPr>
        <p:spPr>
          <a:xfrm>
            <a:off x="685800" y="5924550"/>
            <a:ext cx="10572750" cy="247650"/>
          </a:xfrm>
          <a:prstGeom prst="rect">
            <a:avLst/>
          </a:prstGeom>
          <a:noFill/>
          <a:ln w="0">
            <a:noFill/>
          </a:ln>
        </p:spPr>
        <p:txBody>
          <a:bodyPr anchor="t">
            <a:noAutofit/>
          </a:bodyPr>
          <a:lstStyle/>
          <a:p>
            <a:pPr>
              <a:defRPr sz="1200" b="0">
                <a:solidFill>
                  <a:srgbClr val="53687A"/>
                </a:solidFill>
                <a:latin typeface="DejaVu Sans"/>
                <a:ea typeface="DejaVu Sans"/>
                <a:cs typeface="DejaVu Sans"/>
              </a:defRPr>
            </a:pPr>
            <a:r>
              <a:rPr sz="1200" b="0">
                <a:solidFill>
                  <a:srgbClr val="53687A"/>
                </a:solidFill>
                <a:latin typeface="DejaVu Sans"/>
                <a:ea typeface="DejaVu Sans"/>
                <a:cs typeface="DejaVu Sans"/>
              </a:rPr>
              <a:t>Figure: Operating System Concepts, 9th ed., ©2013, via UIC course notes</a:t>
            </a:r>
          </a:p>
        </p:txBody>
      </p:sp>
      <p:sp>
        <p:nvSpPr>
          <p:cNvPr id="5" name="Rectangle 4">
            <a:extLst>
              <a:ext uri="{FF2B5EF4-FFF2-40B4-BE49-F238E27FC236}">
                <a16:creationId xmlns:a16="http://schemas.microsoft.com/office/drawing/2014/main" id="{ED7E0D10-2F58-4B5D-AB6B-1A80AE80E339}"/>
              </a:ext>
            </a:extLst>
          </p:cNvPr>
          <p:cNvSpPr>
            <a:spLocks noGrp="1"/>
          </p:cNvSpPr>
          <p:nvPr/>
        </p:nvSpPr>
        <p:spPr>
          <a:xfrm>
            <a:off x="685800" y="6381750"/>
            <a:ext cx="10820400" cy="238125"/>
          </a:xfrm>
          <a:prstGeom prst="rect">
            <a:avLst/>
          </a:prstGeom>
          <a:noFill/>
          <a:ln w="0">
            <a:noFill/>
          </a:ln>
        </p:spPr>
        <p:txBody>
          <a:bodyPr anchor="t">
            <a:noAutofit/>
          </a:bodyPr>
          <a:lstStyle/>
          <a:p>
            <a:pPr>
              <a:defRPr sz="1275" b="0">
                <a:solidFill>
                  <a:srgbClr val="53687A"/>
                </a:solidFill>
                <a:latin typeface="DejaVu Sans"/>
                <a:ea typeface="DejaVu Sans"/>
                <a:cs typeface="DejaVu Sans"/>
              </a:defRPr>
            </a:pPr>
            <a:r>
              <a:rPr sz="1275" b="0">
                <a:solidFill>
                  <a:srgbClr val="53687A"/>
                </a:solidFill>
                <a:latin typeface="DejaVu Sans"/>
                <a:ea typeface="DejaVu Sans"/>
                <a:cs typeface="DejaVu Sans"/>
              </a:rPr>
              <a:t>Week 2     22</a:t>
            </a:r>
          </a:p>
        </p:txBody>
      </p:sp>
    </p:spTree>
    <p:extLst>
      <p:ext uri="{BB962C8B-B14F-4D97-AF65-F5344CB8AC3E}">
        <p14:creationId xmlns:p14="http://schemas.microsoft.com/office/powerpoint/2010/main" val="4497727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DDB86C0-57EE-4679-9C38-B615864E600D}"/>
              </a:ext>
            </a:extLst>
          </p:cNvPr>
          <p:cNvSpPr>
            <a:spLocks noGrp="1"/>
          </p:cNvSpPr>
          <p:nvPr/>
        </p:nvSpPr>
        <p:spPr>
          <a:xfrm>
            <a:off x="685800" y="495300"/>
            <a:ext cx="10858500" cy="857250"/>
          </a:xfrm>
          <a:prstGeom prst="rect">
            <a:avLst/>
          </a:prstGeom>
          <a:noFill/>
          <a:ln w="0">
            <a:noFill/>
          </a:ln>
        </p:spPr>
        <p:txBody>
          <a:bodyPr anchor="t">
            <a:noAutofit/>
          </a:bodyPr>
          <a:lstStyle/>
          <a:p>
            <a:pPr>
              <a:defRPr sz="3300" b="1">
                <a:solidFill>
                  <a:srgbClr val="132C43"/>
                </a:solidFill>
                <a:latin typeface="DejaVu Sans"/>
                <a:ea typeface="DejaVu Sans"/>
                <a:cs typeface="DejaVu Sans"/>
              </a:defRPr>
            </a:pPr>
            <a:r>
              <a:rPr sz="3300" b="1">
                <a:solidFill>
                  <a:srgbClr val="132C43"/>
                </a:solidFill>
                <a:latin typeface="DejaVu Sans"/>
                <a:ea typeface="DejaVu Sans"/>
                <a:cs typeface="DejaVu Sans"/>
              </a:rPr>
              <a:t>CLI and GUI</a:t>
            </a:r>
          </a:p>
        </p:txBody>
      </p:sp>
      <p:sp>
        <p:nvSpPr>
          <p:cNvPr id="2" name="Rectangle 1">
            <a:extLst>
              <a:ext uri="{FF2B5EF4-FFF2-40B4-BE49-F238E27FC236}">
                <a16:creationId xmlns:a16="http://schemas.microsoft.com/office/drawing/2014/main" id="{BB1751B1-D42C-4602-B13E-191A33340D6B}"/>
              </a:ext>
            </a:extLst>
          </p:cNvPr>
          <p:cNvSpPr>
            <a:spLocks noGrp="1"/>
          </p:cNvSpPr>
          <p:nvPr/>
        </p:nvSpPr>
        <p:spPr>
          <a:xfrm>
            <a:off x="685800" y="1619250"/>
            <a:ext cx="4476750" cy="3762375"/>
          </a:xfrm>
          <a:prstGeom prst="rect">
            <a:avLst/>
          </a:prstGeom>
          <a:noFill/>
          <a:ln w="0">
            <a:noFill/>
          </a:ln>
        </p:spPr>
        <p:txBody>
          <a:bodyPr anchor="t">
            <a:noAutofit/>
          </a:bodyPr>
          <a:lstStyle/>
          <a:p>
            <a:pPr>
              <a:defRPr sz="2100" b="0">
                <a:solidFill>
                  <a:srgbClr val="132C43"/>
                </a:solidFill>
                <a:latin typeface="DejaVu Sans"/>
                <a:ea typeface="DejaVu Sans"/>
                <a:cs typeface="DejaVu Sans"/>
              </a:defRPr>
            </a:pPr>
            <a:r>
              <a:rPr sz="2100" b="0">
                <a:solidFill>
                  <a:srgbClr val="132C43"/>
                </a:solidFill>
                <a:latin typeface="DejaVu Sans"/>
                <a:ea typeface="DejaVu Sans"/>
                <a:cs typeface="DejaVu Sans"/>
              </a:rPr>
              <a:t>CLI: the user enters commands.</a:t>
            </a:r>
          </a:p>
          <a:p>
            <a:pPr>
              <a:defRPr sz="2100" b="0">
                <a:solidFill>
                  <a:srgbClr val="132C43"/>
                </a:solidFill>
                <a:latin typeface="DejaVu Sans"/>
                <a:ea typeface="DejaVu Sans"/>
                <a:cs typeface="DejaVu Sans"/>
              </a:defRPr>
            </a:pPr>
            <a:r>
              <a:rPr sz="2100" b="0">
                <a:solidFill>
                  <a:srgbClr val="132C43"/>
                </a:solidFill>
                <a:latin typeface="DejaVu Sans"/>
                <a:ea typeface="DejaVu Sans"/>
                <a:cs typeface="DejaVu Sans"/>
              </a:rPr>
              <a:t>GUI: the user interacts with visual controls.</a:t>
            </a:r>
          </a:p>
          <a:p>
            <a:pPr>
              <a:defRPr sz="2100" b="0">
                <a:solidFill>
                  <a:srgbClr val="132C43"/>
                </a:solidFill>
                <a:latin typeface="DejaVu Sans"/>
                <a:ea typeface="DejaVu Sans"/>
                <a:cs typeface="DejaVu Sans"/>
              </a:defRPr>
            </a:pPr>
            <a:r>
              <a:rPr sz="2100" b="0">
                <a:solidFill>
                  <a:srgbClr val="132C43"/>
                </a:solidFill>
                <a:latin typeface="DejaVu Sans"/>
                <a:ea typeface="DejaVu Sans"/>
                <a:cs typeface="DejaVu Sans"/>
              </a:rPr>
              <a:t>Both can request the same underlying services.</a:t>
            </a:r>
          </a:p>
          <a:p>
            <a:pPr>
              <a:defRPr sz="2100" b="0">
                <a:solidFill>
                  <a:srgbClr val="132C43"/>
                </a:solidFill>
                <a:latin typeface="DejaVu Sans"/>
                <a:ea typeface="DejaVu Sans"/>
                <a:cs typeface="DejaVu Sans"/>
              </a:defRPr>
            </a:pPr>
            <a:r>
              <a:rPr sz="2100" b="0">
                <a:solidFill>
                  <a:srgbClr val="132C43"/>
                </a:solidFill>
                <a:latin typeface="DejaVu Sans"/>
                <a:ea typeface="DejaVu Sans"/>
                <a:cs typeface="DejaVu Sans"/>
              </a:rPr>
              <a:t>A shell is normally a user-space program.</a:t>
            </a:r>
          </a:p>
        </p:txBody>
      </p:sp>
      <p:pic>
        <p:nvPicPr>
          <p:cNvPr id="8" name="Picture 7"/>
          <p:cNvPicPr>
            <a:picLocks noChangeAspect="1"/>
          </p:cNvPicPr>
          <p:nvPr/>
        </p:nvPicPr>
        <p:blipFill>
          <a:blip r:embed="rId3"/>
          <a:stretch/>
        </p:blipFill>
        <p:spPr>
          <a:xfrm>
            <a:off x="6018004" y="1524000"/>
            <a:ext cx="5299492" cy="4095750"/>
          </a:xfrm>
          <a:prstGeom prst="rect">
            <a:avLst/>
          </a:prstGeom>
        </p:spPr>
      </p:pic>
      <p:sp>
        <p:nvSpPr>
          <p:cNvPr id="4" name="Rectangle 3">
            <a:extLst>
              <a:ext uri="{FF2B5EF4-FFF2-40B4-BE49-F238E27FC236}">
                <a16:creationId xmlns:a16="http://schemas.microsoft.com/office/drawing/2014/main" id="{FC1C42E1-3544-4A17-AA59-90C0BB0F9236}"/>
              </a:ext>
            </a:extLst>
          </p:cNvPr>
          <p:cNvSpPr>
            <a:spLocks noGrp="1"/>
          </p:cNvSpPr>
          <p:nvPr/>
        </p:nvSpPr>
        <p:spPr>
          <a:xfrm>
            <a:off x="685800" y="5924550"/>
            <a:ext cx="10572750" cy="247650"/>
          </a:xfrm>
          <a:prstGeom prst="rect">
            <a:avLst/>
          </a:prstGeom>
          <a:noFill/>
          <a:ln w="0">
            <a:noFill/>
          </a:ln>
        </p:spPr>
        <p:txBody>
          <a:bodyPr anchor="t">
            <a:noAutofit/>
          </a:bodyPr>
          <a:lstStyle/>
          <a:p>
            <a:pPr>
              <a:defRPr sz="1200" b="0">
                <a:solidFill>
                  <a:srgbClr val="53687A"/>
                </a:solidFill>
                <a:latin typeface="DejaVu Sans"/>
                <a:ea typeface="DejaVu Sans"/>
                <a:cs typeface="DejaVu Sans"/>
              </a:defRPr>
            </a:pPr>
            <a:r>
              <a:rPr sz="1200" b="0">
                <a:solidFill>
                  <a:srgbClr val="53687A"/>
                </a:solidFill>
                <a:latin typeface="DejaVu Sans"/>
                <a:ea typeface="DejaVu Sans"/>
                <a:cs typeface="DejaVu Sans"/>
              </a:rPr>
              <a:t>Figure: Operating System Concepts, 9th ed., ©2013, via UIC course notes</a:t>
            </a:r>
          </a:p>
        </p:txBody>
      </p:sp>
      <p:sp>
        <p:nvSpPr>
          <p:cNvPr id="5" name="Rectangle 4">
            <a:extLst>
              <a:ext uri="{FF2B5EF4-FFF2-40B4-BE49-F238E27FC236}">
                <a16:creationId xmlns:a16="http://schemas.microsoft.com/office/drawing/2014/main" id="{E6A23DBF-58AA-4962-8795-E6E0EE935C07}"/>
              </a:ext>
            </a:extLst>
          </p:cNvPr>
          <p:cNvSpPr>
            <a:spLocks noGrp="1"/>
          </p:cNvSpPr>
          <p:nvPr/>
        </p:nvSpPr>
        <p:spPr>
          <a:xfrm>
            <a:off x="685800" y="6381750"/>
            <a:ext cx="10820400" cy="238125"/>
          </a:xfrm>
          <a:prstGeom prst="rect">
            <a:avLst/>
          </a:prstGeom>
          <a:noFill/>
          <a:ln w="0">
            <a:noFill/>
          </a:ln>
        </p:spPr>
        <p:txBody>
          <a:bodyPr anchor="t">
            <a:noAutofit/>
          </a:bodyPr>
          <a:lstStyle/>
          <a:p>
            <a:pPr>
              <a:defRPr sz="1275" b="0">
                <a:solidFill>
                  <a:srgbClr val="53687A"/>
                </a:solidFill>
                <a:latin typeface="DejaVu Sans"/>
                <a:ea typeface="DejaVu Sans"/>
                <a:cs typeface="DejaVu Sans"/>
              </a:defRPr>
            </a:pPr>
            <a:r>
              <a:rPr sz="1275" b="0">
                <a:solidFill>
                  <a:srgbClr val="53687A"/>
                </a:solidFill>
                <a:latin typeface="DejaVu Sans"/>
                <a:ea typeface="DejaVu Sans"/>
                <a:cs typeface="DejaVu Sans"/>
              </a:rPr>
              <a:t>Week 2     23</a:t>
            </a:r>
          </a:p>
        </p:txBody>
      </p:sp>
    </p:spTree>
    <p:extLst>
      <p:ext uri="{BB962C8B-B14F-4D97-AF65-F5344CB8AC3E}">
        <p14:creationId xmlns:p14="http://schemas.microsoft.com/office/powerpoint/2010/main" val="11923132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A537095-E8EC-4F01-8E55-B919F264E03C}"/>
              </a:ext>
            </a:extLst>
          </p:cNvPr>
          <p:cNvSpPr>
            <a:spLocks noGrp="1"/>
          </p:cNvSpPr>
          <p:nvPr/>
        </p:nvSpPr>
        <p:spPr>
          <a:xfrm>
            <a:off x="685800" y="495300"/>
            <a:ext cx="10858500" cy="857250"/>
          </a:xfrm>
          <a:prstGeom prst="rect">
            <a:avLst/>
          </a:prstGeom>
          <a:noFill/>
          <a:ln w="0">
            <a:noFill/>
          </a:ln>
        </p:spPr>
        <p:txBody>
          <a:bodyPr anchor="t">
            <a:noAutofit/>
          </a:bodyPr>
          <a:lstStyle/>
          <a:p>
            <a:pPr>
              <a:defRPr sz="3300" b="1">
                <a:solidFill>
                  <a:srgbClr val="132C43"/>
                </a:solidFill>
                <a:latin typeface="DejaVu Sans"/>
                <a:ea typeface="DejaVu Sans"/>
                <a:cs typeface="DejaVu Sans"/>
              </a:defRPr>
            </a:pPr>
            <a:r>
              <a:rPr sz="3300" b="1">
                <a:solidFill>
                  <a:srgbClr val="132C43"/>
                </a:solidFill>
                <a:latin typeface="DejaVu Sans"/>
                <a:ea typeface="DejaVu Sans"/>
                <a:cs typeface="DejaVu Sans"/>
              </a:rPr>
              <a:t>API and system call</a:t>
            </a:r>
          </a:p>
        </p:txBody>
      </p:sp>
      <p:sp>
        <p:nvSpPr>
          <p:cNvPr id="2" name="Rectangle 1">
            <a:extLst>
              <a:ext uri="{FF2B5EF4-FFF2-40B4-BE49-F238E27FC236}">
                <a16:creationId xmlns:a16="http://schemas.microsoft.com/office/drawing/2014/main" id="{15D6A411-7B6D-44A0-9805-E18804859314}"/>
              </a:ext>
            </a:extLst>
          </p:cNvPr>
          <p:cNvSpPr>
            <a:spLocks noGrp="1"/>
          </p:cNvSpPr>
          <p:nvPr/>
        </p:nvSpPr>
        <p:spPr>
          <a:xfrm>
            <a:off x="685800" y="1666875"/>
            <a:ext cx="10820400" cy="3905250"/>
          </a:xfrm>
          <a:prstGeom prst="rect">
            <a:avLst/>
          </a:prstGeom>
          <a:noFill/>
          <a:ln w="0">
            <a:noFill/>
          </a:ln>
        </p:spPr>
        <p:txBody>
          <a:bodyPr anchor="t">
            <a:noAutofit/>
          </a:bodyPr>
          <a:lstStyle/>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API: the interface a programmer uses.</a:t>
            </a:r>
          </a:p>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System call: a controlled request to the kernel.</a:t>
            </a:r>
          </a:p>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A library wrapper often connects the two.</a:t>
            </a:r>
          </a:p>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Some API calls do all their work in user space.</a:t>
            </a:r>
          </a:p>
        </p:txBody>
      </p:sp>
      <p:sp>
        <p:nvSpPr>
          <p:cNvPr id="3" name="Rectangle 2">
            <a:extLst>
              <a:ext uri="{FF2B5EF4-FFF2-40B4-BE49-F238E27FC236}">
                <a16:creationId xmlns:a16="http://schemas.microsoft.com/office/drawing/2014/main" id="{D5B2884F-63FE-43FC-9FF9-C7F0CC6308CE}"/>
              </a:ext>
            </a:extLst>
          </p:cNvPr>
          <p:cNvSpPr>
            <a:spLocks noGrp="1"/>
          </p:cNvSpPr>
          <p:nvPr/>
        </p:nvSpPr>
        <p:spPr>
          <a:xfrm>
            <a:off x="685800" y="6381750"/>
            <a:ext cx="10820400" cy="238125"/>
          </a:xfrm>
          <a:prstGeom prst="rect">
            <a:avLst/>
          </a:prstGeom>
          <a:noFill/>
          <a:ln w="0">
            <a:noFill/>
          </a:ln>
        </p:spPr>
        <p:txBody>
          <a:bodyPr anchor="t">
            <a:noAutofit/>
          </a:bodyPr>
          <a:lstStyle/>
          <a:p>
            <a:pPr>
              <a:defRPr sz="1275" b="0">
                <a:solidFill>
                  <a:srgbClr val="53687A"/>
                </a:solidFill>
                <a:latin typeface="DejaVu Sans"/>
                <a:ea typeface="DejaVu Sans"/>
                <a:cs typeface="DejaVu Sans"/>
              </a:defRPr>
            </a:pPr>
            <a:r>
              <a:rPr sz="1275" b="0">
                <a:solidFill>
                  <a:srgbClr val="53687A"/>
                </a:solidFill>
                <a:latin typeface="DejaVu Sans"/>
                <a:ea typeface="DejaVu Sans"/>
                <a:cs typeface="DejaVu Sans"/>
              </a:rPr>
              <a:t>Week 2     24</a:t>
            </a:r>
          </a:p>
        </p:txBody>
      </p:sp>
    </p:spTree>
    <p:extLst>
      <p:ext uri="{BB962C8B-B14F-4D97-AF65-F5344CB8AC3E}">
        <p14:creationId xmlns:p14="http://schemas.microsoft.com/office/powerpoint/2010/main" val="945757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82819C9-9DE5-48D8-B0CE-07B81C510DB6}"/>
              </a:ext>
            </a:extLst>
          </p:cNvPr>
          <p:cNvSpPr>
            <a:spLocks noGrp="1"/>
          </p:cNvSpPr>
          <p:nvPr/>
        </p:nvSpPr>
        <p:spPr>
          <a:xfrm>
            <a:off x="685800" y="495300"/>
            <a:ext cx="10858500" cy="857250"/>
          </a:xfrm>
          <a:prstGeom prst="rect">
            <a:avLst/>
          </a:prstGeom>
          <a:noFill/>
          <a:ln w="0">
            <a:noFill/>
          </a:ln>
        </p:spPr>
        <p:txBody>
          <a:bodyPr anchor="t">
            <a:noAutofit/>
          </a:bodyPr>
          <a:lstStyle/>
          <a:p>
            <a:pPr>
              <a:defRPr sz="3300" b="1">
                <a:solidFill>
                  <a:srgbClr val="132C43"/>
                </a:solidFill>
                <a:latin typeface="DejaVu Sans"/>
                <a:ea typeface="DejaVu Sans"/>
                <a:cs typeface="DejaVu Sans"/>
              </a:defRPr>
            </a:pPr>
            <a:r>
              <a:rPr sz="3300" b="1">
                <a:solidFill>
                  <a:srgbClr val="132C43"/>
                </a:solidFill>
                <a:latin typeface="DejaVu Sans"/>
                <a:ea typeface="DejaVu Sans"/>
                <a:cs typeface="DejaVu Sans"/>
              </a:rPr>
              <a:t>A system-call request</a:t>
            </a:r>
          </a:p>
        </p:txBody>
      </p:sp>
      <p:sp>
        <p:nvSpPr>
          <p:cNvPr id="2" name="Rectangle 1">
            <a:extLst>
              <a:ext uri="{FF2B5EF4-FFF2-40B4-BE49-F238E27FC236}">
                <a16:creationId xmlns:a16="http://schemas.microsoft.com/office/drawing/2014/main" id="{B42221C3-7382-40F6-A5AA-F8F3749D0CE3}"/>
              </a:ext>
            </a:extLst>
          </p:cNvPr>
          <p:cNvSpPr>
            <a:spLocks noGrp="1"/>
          </p:cNvSpPr>
          <p:nvPr/>
        </p:nvSpPr>
        <p:spPr>
          <a:xfrm>
            <a:off x="685800" y="1619250"/>
            <a:ext cx="4476750" cy="3762375"/>
          </a:xfrm>
          <a:prstGeom prst="rect">
            <a:avLst/>
          </a:prstGeom>
          <a:noFill/>
          <a:ln w="0">
            <a:noFill/>
          </a:ln>
        </p:spPr>
        <p:txBody>
          <a:bodyPr anchor="t">
            <a:noAutofit/>
          </a:bodyPr>
          <a:lstStyle/>
          <a:p>
            <a:pPr>
              <a:defRPr sz="2100" b="0">
                <a:solidFill>
                  <a:srgbClr val="132C43"/>
                </a:solidFill>
                <a:latin typeface="DejaVu Sans"/>
                <a:ea typeface="DejaVu Sans"/>
                <a:cs typeface="DejaVu Sans"/>
              </a:defRPr>
            </a:pPr>
            <a:r>
              <a:rPr sz="2100" b="0">
                <a:solidFill>
                  <a:srgbClr val="132C43"/>
                </a:solidFill>
                <a:latin typeface="DejaVu Sans"/>
                <a:ea typeface="DejaVu Sans"/>
                <a:cs typeface="DejaVu Sans"/>
              </a:rPr>
              <a:t>Application code supplies parameters.</a:t>
            </a:r>
          </a:p>
          <a:p>
            <a:pPr>
              <a:defRPr sz="2100" b="0">
                <a:solidFill>
                  <a:srgbClr val="132C43"/>
                </a:solidFill>
                <a:latin typeface="DejaVu Sans"/>
                <a:ea typeface="DejaVu Sans"/>
                <a:cs typeface="DejaVu Sans"/>
              </a:defRPr>
            </a:pPr>
            <a:r>
              <a:rPr sz="2100" b="0">
                <a:solidFill>
                  <a:srgbClr val="132C43"/>
                </a:solidFill>
                <a:latin typeface="DejaVu Sans"/>
                <a:ea typeface="DejaVu Sans"/>
                <a:cs typeface="DejaVu Sans"/>
              </a:rPr>
              <a:t>A wrapper enters the kernel through the ABI.</a:t>
            </a:r>
          </a:p>
          <a:p>
            <a:pPr>
              <a:defRPr sz="2100" b="0">
                <a:solidFill>
                  <a:srgbClr val="132C43"/>
                </a:solidFill>
                <a:latin typeface="DejaVu Sans"/>
                <a:ea typeface="DejaVu Sans"/>
                <a:cs typeface="DejaVu Sans"/>
              </a:defRPr>
            </a:pPr>
            <a:r>
              <a:rPr sz="2100" b="0">
                <a:solidFill>
                  <a:srgbClr val="132C43"/>
                </a:solidFill>
                <a:latin typeface="DejaVu Sans"/>
                <a:ea typeface="DejaVu Sans"/>
                <a:cs typeface="DejaVu Sans"/>
              </a:rPr>
              <a:t>The kernel dispatches and validates the request.</a:t>
            </a:r>
          </a:p>
          <a:p>
            <a:pPr>
              <a:defRPr sz="2100" b="0">
                <a:solidFill>
                  <a:srgbClr val="132C43"/>
                </a:solidFill>
                <a:latin typeface="DejaVu Sans"/>
                <a:ea typeface="DejaVu Sans"/>
                <a:cs typeface="DejaVu Sans"/>
              </a:defRPr>
            </a:pPr>
            <a:r>
              <a:rPr sz="2100" b="0">
                <a:solidFill>
                  <a:srgbClr val="132C43"/>
                </a:solidFill>
                <a:latin typeface="DejaVu Sans"/>
                <a:ea typeface="DejaVu Sans"/>
                <a:cs typeface="DejaVu Sans"/>
              </a:rPr>
              <a:t>A result returns to the application.</a:t>
            </a:r>
          </a:p>
        </p:txBody>
      </p:sp>
      <p:pic>
        <p:nvPicPr>
          <p:cNvPr id="8" name="Picture 7"/>
          <p:cNvPicPr>
            <a:picLocks noChangeAspect="1"/>
          </p:cNvPicPr>
          <p:nvPr/>
        </p:nvPicPr>
        <p:blipFill>
          <a:blip r:embed="rId3"/>
          <a:stretch/>
        </p:blipFill>
        <p:spPr>
          <a:xfrm>
            <a:off x="5810250" y="1824741"/>
            <a:ext cx="5715000" cy="3494269"/>
          </a:xfrm>
          <a:prstGeom prst="rect">
            <a:avLst/>
          </a:prstGeom>
        </p:spPr>
      </p:pic>
      <p:sp>
        <p:nvSpPr>
          <p:cNvPr id="4" name="Rectangle 3">
            <a:extLst>
              <a:ext uri="{FF2B5EF4-FFF2-40B4-BE49-F238E27FC236}">
                <a16:creationId xmlns:a16="http://schemas.microsoft.com/office/drawing/2014/main" id="{DA1FDB6D-8285-4496-A0E8-BF9AAEE8474C}"/>
              </a:ext>
            </a:extLst>
          </p:cNvPr>
          <p:cNvSpPr>
            <a:spLocks noGrp="1"/>
          </p:cNvSpPr>
          <p:nvPr/>
        </p:nvSpPr>
        <p:spPr>
          <a:xfrm>
            <a:off x="685800" y="5924550"/>
            <a:ext cx="10572750" cy="247650"/>
          </a:xfrm>
          <a:prstGeom prst="rect">
            <a:avLst/>
          </a:prstGeom>
          <a:noFill/>
          <a:ln w="0">
            <a:noFill/>
          </a:ln>
        </p:spPr>
        <p:txBody>
          <a:bodyPr anchor="t">
            <a:noAutofit/>
          </a:bodyPr>
          <a:lstStyle/>
          <a:p>
            <a:pPr>
              <a:defRPr sz="1200" b="0">
                <a:solidFill>
                  <a:srgbClr val="53687A"/>
                </a:solidFill>
                <a:latin typeface="DejaVu Sans"/>
                <a:ea typeface="DejaVu Sans"/>
                <a:cs typeface="DejaVu Sans"/>
              </a:defRPr>
            </a:pPr>
            <a:r>
              <a:rPr sz="1200" b="0">
                <a:solidFill>
                  <a:srgbClr val="53687A"/>
                </a:solidFill>
                <a:latin typeface="DejaVu Sans"/>
                <a:ea typeface="DejaVu Sans"/>
                <a:cs typeface="DejaVu Sans"/>
              </a:rPr>
              <a:t>Figure: Operating System Concepts, 9th ed., ©2013, via UIC course notes</a:t>
            </a:r>
          </a:p>
        </p:txBody>
      </p:sp>
      <p:sp>
        <p:nvSpPr>
          <p:cNvPr id="5" name="Rectangle 4">
            <a:extLst>
              <a:ext uri="{FF2B5EF4-FFF2-40B4-BE49-F238E27FC236}">
                <a16:creationId xmlns:a16="http://schemas.microsoft.com/office/drawing/2014/main" id="{34D1A7E6-1D4D-471D-9013-ED73EEAA78A6}"/>
              </a:ext>
            </a:extLst>
          </p:cNvPr>
          <p:cNvSpPr>
            <a:spLocks noGrp="1"/>
          </p:cNvSpPr>
          <p:nvPr/>
        </p:nvSpPr>
        <p:spPr>
          <a:xfrm>
            <a:off x="685800" y="6381750"/>
            <a:ext cx="10820400" cy="238125"/>
          </a:xfrm>
          <a:prstGeom prst="rect">
            <a:avLst/>
          </a:prstGeom>
          <a:noFill/>
          <a:ln w="0">
            <a:noFill/>
          </a:ln>
        </p:spPr>
        <p:txBody>
          <a:bodyPr anchor="t">
            <a:noAutofit/>
          </a:bodyPr>
          <a:lstStyle/>
          <a:p>
            <a:pPr>
              <a:defRPr sz="1275" b="0">
                <a:solidFill>
                  <a:srgbClr val="53687A"/>
                </a:solidFill>
                <a:latin typeface="DejaVu Sans"/>
                <a:ea typeface="DejaVu Sans"/>
                <a:cs typeface="DejaVu Sans"/>
              </a:defRPr>
            </a:pPr>
            <a:r>
              <a:rPr sz="1275" b="0">
                <a:solidFill>
                  <a:srgbClr val="53687A"/>
                </a:solidFill>
                <a:latin typeface="DejaVu Sans"/>
                <a:ea typeface="DejaVu Sans"/>
                <a:cs typeface="DejaVu Sans"/>
              </a:rPr>
              <a:t>Week 2     25</a:t>
            </a:r>
          </a:p>
        </p:txBody>
      </p:sp>
    </p:spTree>
    <p:extLst>
      <p:ext uri="{BB962C8B-B14F-4D97-AF65-F5344CB8AC3E}">
        <p14:creationId xmlns:p14="http://schemas.microsoft.com/office/powerpoint/2010/main" val="21139078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748BDCBC-FDAB-4751-9267-8D431DE1E9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8737" y="1033463"/>
            <a:ext cx="9534525" cy="5114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09556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577C0EC-6D20-4457-A3FB-AC06EC357F2F}"/>
              </a:ext>
            </a:extLst>
          </p:cNvPr>
          <p:cNvSpPr>
            <a:spLocks noGrp="1"/>
          </p:cNvSpPr>
          <p:nvPr/>
        </p:nvSpPr>
        <p:spPr>
          <a:xfrm>
            <a:off x="685800" y="495300"/>
            <a:ext cx="10858500" cy="857250"/>
          </a:xfrm>
          <a:prstGeom prst="rect">
            <a:avLst/>
          </a:prstGeom>
          <a:noFill/>
          <a:ln w="0">
            <a:noFill/>
          </a:ln>
        </p:spPr>
        <p:txBody>
          <a:bodyPr anchor="t">
            <a:noAutofit/>
          </a:bodyPr>
          <a:lstStyle/>
          <a:p>
            <a:pPr>
              <a:defRPr sz="3300" b="1">
                <a:solidFill>
                  <a:srgbClr val="132C43"/>
                </a:solidFill>
                <a:latin typeface="DejaVu Sans"/>
                <a:ea typeface="DejaVu Sans"/>
                <a:cs typeface="DejaVu Sans"/>
              </a:defRPr>
            </a:pPr>
            <a:r>
              <a:rPr sz="3300" b="1">
                <a:solidFill>
                  <a:srgbClr val="132C43"/>
                </a:solidFill>
                <a:latin typeface="DejaVu Sans"/>
                <a:ea typeface="DejaVu Sans"/>
                <a:cs typeface="DejaVu Sans"/>
              </a:rPr>
              <a:t>Passing parameters</a:t>
            </a:r>
          </a:p>
        </p:txBody>
      </p:sp>
      <p:sp>
        <p:nvSpPr>
          <p:cNvPr id="2" name="Rectangle 1">
            <a:extLst>
              <a:ext uri="{FF2B5EF4-FFF2-40B4-BE49-F238E27FC236}">
                <a16:creationId xmlns:a16="http://schemas.microsoft.com/office/drawing/2014/main" id="{3C9B26CB-D926-4464-B248-E20E9C28E776}"/>
              </a:ext>
            </a:extLst>
          </p:cNvPr>
          <p:cNvSpPr>
            <a:spLocks noGrp="1"/>
          </p:cNvSpPr>
          <p:nvPr/>
        </p:nvSpPr>
        <p:spPr>
          <a:xfrm>
            <a:off x="685800" y="1619250"/>
            <a:ext cx="4476750" cy="3762375"/>
          </a:xfrm>
          <a:prstGeom prst="rect">
            <a:avLst/>
          </a:prstGeom>
          <a:noFill/>
          <a:ln w="0">
            <a:noFill/>
          </a:ln>
        </p:spPr>
        <p:txBody>
          <a:bodyPr anchor="t">
            <a:noAutofit/>
          </a:bodyPr>
          <a:lstStyle/>
          <a:p>
            <a:pPr>
              <a:defRPr sz="2100" b="0">
                <a:solidFill>
                  <a:srgbClr val="132C43"/>
                </a:solidFill>
                <a:latin typeface="DejaVu Sans"/>
                <a:ea typeface="DejaVu Sans"/>
                <a:cs typeface="DejaVu Sans"/>
              </a:defRPr>
            </a:pPr>
            <a:r>
              <a:rPr sz="2100" b="0">
                <a:solidFill>
                  <a:srgbClr val="132C43"/>
                </a:solidFill>
                <a:latin typeface="DejaVu Sans"/>
                <a:ea typeface="DejaVu Sans"/>
                <a:cs typeface="DejaVu Sans"/>
              </a:rPr>
              <a:t>Registers can carry a small argument set.</a:t>
            </a:r>
          </a:p>
          <a:p>
            <a:pPr>
              <a:defRPr sz="2100" b="0">
                <a:solidFill>
                  <a:srgbClr val="132C43"/>
                </a:solidFill>
                <a:latin typeface="DejaVu Sans"/>
                <a:ea typeface="DejaVu Sans"/>
                <a:cs typeface="DejaVu Sans"/>
              </a:defRPr>
            </a:pPr>
            <a:r>
              <a:rPr sz="2100" b="0">
                <a:solidFill>
                  <a:srgbClr val="132C43"/>
                </a:solidFill>
                <a:latin typeface="DejaVu Sans"/>
                <a:ea typeface="DejaVu Sans"/>
                <a:cs typeface="DejaVu Sans"/>
              </a:rPr>
              <a:t>A register can point to a memory block.</a:t>
            </a:r>
          </a:p>
          <a:p>
            <a:pPr>
              <a:defRPr sz="2100" b="0">
                <a:solidFill>
                  <a:srgbClr val="132C43"/>
                </a:solidFill>
                <a:latin typeface="DejaVu Sans"/>
                <a:ea typeface="DejaVu Sans"/>
                <a:cs typeface="DejaVu Sans"/>
              </a:defRPr>
            </a:pPr>
            <a:r>
              <a:rPr sz="2100" b="0">
                <a:solidFill>
                  <a:srgbClr val="132C43"/>
                </a:solidFill>
                <a:latin typeface="DejaVu Sans"/>
                <a:ea typeface="DejaVu Sans"/>
                <a:cs typeface="DejaVu Sans"/>
              </a:rPr>
              <a:t>Some interfaces use a stack convention.</a:t>
            </a:r>
          </a:p>
          <a:p>
            <a:pPr>
              <a:defRPr sz="2100" b="0">
                <a:solidFill>
                  <a:srgbClr val="132C43"/>
                </a:solidFill>
                <a:latin typeface="DejaVu Sans"/>
                <a:ea typeface="DejaVu Sans"/>
                <a:cs typeface="DejaVu Sans"/>
              </a:defRPr>
            </a:pPr>
            <a:r>
              <a:rPr sz="2100" b="0">
                <a:solidFill>
                  <a:srgbClr val="132C43"/>
                </a:solidFill>
                <a:latin typeface="DejaVu Sans"/>
                <a:ea typeface="DejaVu Sans"/>
                <a:cs typeface="DejaVu Sans"/>
              </a:rPr>
              <a:t>The kernel must validate user-supplied addresses.</a:t>
            </a:r>
          </a:p>
        </p:txBody>
      </p:sp>
      <p:pic>
        <p:nvPicPr>
          <p:cNvPr id="8" name="Picture 7"/>
          <p:cNvPicPr>
            <a:picLocks noChangeAspect="1"/>
          </p:cNvPicPr>
          <p:nvPr/>
        </p:nvPicPr>
        <p:blipFill>
          <a:blip r:embed="rId3"/>
          <a:stretch/>
        </p:blipFill>
        <p:spPr>
          <a:xfrm>
            <a:off x="5810250" y="2074669"/>
            <a:ext cx="5715000" cy="2994413"/>
          </a:xfrm>
          <a:prstGeom prst="rect">
            <a:avLst/>
          </a:prstGeom>
        </p:spPr>
      </p:pic>
      <p:sp>
        <p:nvSpPr>
          <p:cNvPr id="4" name="Rectangle 3">
            <a:extLst>
              <a:ext uri="{FF2B5EF4-FFF2-40B4-BE49-F238E27FC236}">
                <a16:creationId xmlns:a16="http://schemas.microsoft.com/office/drawing/2014/main" id="{CAD6C8EE-C4B3-42CB-985D-384B8BB61873}"/>
              </a:ext>
            </a:extLst>
          </p:cNvPr>
          <p:cNvSpPr>
            <a:spLocks noGrp="1"/>
          </p:cNvSpPr>
          <p:nvPr/>
        </p:nvSpPr>
        <p:spPr>
          <a:xfrm>
            <a:off x="685800" y="5924550"/>
            <a:ext cx="10572750" cy="247650"/>
          </a:xfrm>
          <a:prstGeom prst="rect">
            <a:avLst/>
          </a:prstGeom>
          <a:noFill/>
          <a:ln w="0">
            <a:noFill/>
          </a:ln>
        </p:spPr>
        <p:txBody>
          <a:bodyPr anchor="t">
            <a:noAutofit/>
          </a:bodyPr>
          <a:lstStyle/>
          <a:p>
            <a:pPr>
              <a:defRPr sz="1200" b="0">
                <a:solidFill>
                  <a:srgbClr val="53687A"/>
                </a:solidFill>
                <a:latin typeface="DejaVu Sans"/>
                <a:ea typeface="DejaVu Sans"/>
                <a:cs typeface="DejaVu Sans"/>
              </a:defRPr>
            </a:pPr>
            <a:r>
              <a:rPr sz="1200" b="0">
                <a:solidFill>
                  <a:srgbClr val="53687A"/>
                </a:solidFill>
                <a:latin typeface="DejaVu Sans"/>
                <a:ea typeface="DejaVu Sans"/>
                <a:cs typeface="DejaVu Sans"/>
              </a:rPr>
              <a:t>Figure: Operating System Concepts, 9th ed., ©2013, via UIC course notes</a:t>
            </a:r>
          </a:p>
        </p:txBody>
      </p:sp>
      <p:sp>
        <p:nvSpPr>
          <p:cNvPr id="5" name="Rectangle 4">
            <a:extLst>
              <a:ext uri="{FF2B5EF4-FFF2-40B4-BE49-F238E27FC236}">
                <a16:creationId xmlns:a16="http://schemas.microsoft.com/office/drawing/2014/main" id="{FC6D5CA7-7F14-471B-AAE2-249B3B38202D}"/>
              </a:ext>
            </a:extLst>
          </p:cNvPr>
          <p:cNvSpPr>
            <a:spLocks noGrp="1"/>
          </p:cNvSpPr>
          <p:nvPr/>
        </p:nvSpPr>
        <p:spPr>
          <a:xfrm>
            <a:off x="685800" y="6381750"/>
            <a:ext cx="10820400" cy="238125"/>
          </a:xfrm>
          <a:prstGeom prst="rect">
            <a:avLst/>
          </a:prstGeom>
          <a:noFill/>
          <a:ln w="0">
            <a:noFill/>
          </a:ln>
        </p:spPr>
        <p:txBody>
          <a:bodyPr anchor="t">
            <a:noAutofit/>
          </a:bodyPr>
          <a:lstStyle/>
          <a:p>
            <a:pPr>
              <a:defRPr sz="1275" b="0">
                <a:solidFill>
                  <a:srgbClr val="53687A"/>
                </a:solidFill>
                <a:latin typeface="DejaVu Sans"/>
                <a:ea typeface="DejaVu Sans"/>
                <a:cs typeface="DejaVu Sans"/>
              </a:defRPr>
            </a:pPr>
            <a:r>
              <a:rPr sz="1275" b="0">
                <a:solidFill>
                  <a:srgbClr val="53687A"/>
                </a:solidFill>
                <a:latin typeface="DejaVu Sans"/>
                <a:ea typeface="DejaVu Sans"/>
                <a:cs typeface="DejaVu Sans"/>
              </a:rPr>
              <a:t>Week 2     26</a:t>
            </a:r>
          </a:p>
        </p:txBody>
      </p:sp>
    </p:spTree>
    <p:extLst>
      <p:ext uri="{BB962C8B-B14F-4D97-AF65-F5344CB8AC3E}">
        <p14:creationId xmlns:p14="http://schemas.microsoft.com/office/powerpoint/2010/main" val="1435878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2389228-74BD-42D1-9431-93E904088CB5}"/>
              </a:ext>
            </a:extLst>
          </p:cNvPr>
          <p:cNvSpPr>
            <a:spLocks noGrp="1"/>
          </p:cNvSpPr>
          <p:nvPr/>
        </p:nvSpPr>
        <p:spPr>
          <a:xfrm>
            <a:off x="685800" y="495300"/>
            <a:ext cx="10858500" cy="857250"/>
          </a:xfrm>
          <a:prstGeom prst="rect">
            <a:avLst/>
          </a:prstGeom>
          <a:noFill/>
          <a:ln w="0">
            <a:noFill/>
          </a:ln>
        </p:spPr>
        <p:txBody>
          <a:bodyPr anchor="t">
            <a:noAutofit/>
          </a:bodyPr>
          <a:lstStyle/>
          <a:p>
            <a:pPr>
              <a:defRPr sz="3300" b="1">
                <a:solidFill>
                  <a:srgbClr val="132C43"/>
                </a:solidFill>
                <a:latin typeface="DejaVu Sans"/>
                <a:ea typeface="DejaVu Sans"/>
                <a:cs typeface="DejaVu Sans"/>
              </a:defRPr>
            </a:pPr>
            <a:r>
              <a:rPr sz="3300" b="1">
                <a:solidFill>
                  <a:srgbClr val="132C43"/>
                </a:solidFill>
                <a:latin typeface="DejaVu Sans"/>
                <a:ea typeface="DejaVu Sans"/>
                <a:cs typeface="DejaVu Sans"/>
              </a:rPr>
              <a:t>System-call categories</a:t>
            </a:r>
          </a:p>
        </p:txBody>
      </p:sp>
      <p:sp>
        <p:nvSpPr>
          <p:cNvPr id="2" name="Rectangle 1">
            <a:extLst>
              <a:ext uri="{FF2B5EF4-FFF2-40B4-BE49-F238E27FC236}">
                <a16:creationId xmlns:a16="http://schemas.microsoft.com/office/drawing/2014/main" id="{38DC0750-4C45-42E6-880C-D1C2A6C613A7}"/>
              </a:ext>
            </a:extLst>
          </p:cNvPr>
          <p:cNvSpPr>
            <a:spLocks noGrp="1"/>
          </p:cNvSpPr>
          <p:nvPr/>
        </p:nvSpPr>
        <p:spPr>
          <a:xfrm>
            <a:off x="685800" y="1428750"/>
            <a:ext cx="10820400" cy="457200"/>
          </a:xfrm>
          <a:prstGeom prst="rect">
            <a:avLst/>
          </a:prstGeom>
          <a:noFill/>
          <a:ln w="0">
            <a:noFill/>
          </a:ln>
        </p:spPr>
        <p:txBody>
          <a:bodyPr anchor="t">
            <a:noAutofit/>
          </a:bodyPr>
          <a:lstStyle/>
          <a:p>
            <a:pPr>
              <a:defRPr sz="1950" b="0">
                <a:solidFill>
                  <a:srgbClr val="53687A"/>
                </a:solidFill>
                <a:latin typeface="DejaVu Sans"/>
                <a:ea typeface="DejaVu Sans"/>
                <a:cs typeface="DejaVu Sans"/>
              </a:defRPr>
            </a:pPr>
            <a:r>
              <a:rPr sz="1950" b="0">
                <a:solidFill>
                  <a:srgbClr val="53687A"/>
                </a:solidFill>
                <a:latin typeface="DejaVu Sans"/>
                <a:ea typeface="DejaVu Sans"/>
                <a:cs typeface="DejaVu Sans"/>
              </a:rPr>
              <a:t>The categories organize services for programmers.</a:t>
            </a:r>
          </a:p>
        </p:txBody>
      </p:sp>
      <p:graphicFrame>
        <p:nvGraphicFramePr>
          <p:cNvPr id="7" name="Table 6"/>
          <p:cNvGraphicFramePr/>
          <p:nvPr/>
        </p:nvGraphicFramePr>
        <p:xfrm>
          <a:off x="685800" y="2076450"/>
          <a:ext cx="10820400" cy="3848420"/>
        </p:xfrm>
        <a:graphic>
          <a:graphicData uri="http://schemas.openxmlformats.org/drawingml/2006/table">
            <a:tbl>
              <a:tblPr/>
              <a:tblGrid>
                <a:gridCol w="3143250">
                  <a:extLst>
                    <a:ext uri="{9D8B030D-6E8A-4147-A177-3AD203B41FA5}">
                      <a16:colId xmlns:a16="http://schemas.microsoft.com/office/drawing/2014/main" val="20000"/>
                    </a:ext>
                  </a:extLst>
                </a:gridCol>
                <a:gridCol w="7677150">
                  <a:extLst>
                    <a:ext uri="{9D8B030D-6E8A-4147-A177-3AD203B41FA5}">
                      <a16:colId xmlns:a16="http://schemas.microsoft.com/office/drawing/2014/main" val="20001"/>
                    </a:ext>
                  </a:extLst>
                </a:gridCol>
              </a:tblGrid>
              <a:tr h="630238">
                <a:tc>
                  <a:txBody>
                    <a:bodyPr/>
                    <a:lstStyle/>
                    <a:p>
                      <a:r>
                        <a:rPr sz="1725" b="1">
                          <a:solidFill>
                            <a:srgbClr val="FFFFFF"/>
                          </a:solidFill>
                          <a:latin typeface="DejaVu Sans"/>
                          <a:ea typeface="DejaVu Sans"/>
                          <a:cs typeface="DejaVu Sans"/>
                        </a:rPr>
                        <a:t>Category</a:t>
                      </a:r>
                    </a:p>
                  </a:txBody>
                  <a:tcPr marL="114300" marR="114300" marT="95250" marB="76200">
                    <a:solidFill>
                      <a:srgbClr val="132C43"/>
                    </a:solidFill>
                  </a:tcPr>
                </a:tc>
                <a:tc>
                  <a:txBody>
                    <a:bodyPr/>
                    <a:lstStyle/>
                    <a:p>
                      <a:r>
                        <a:rPr sz="1725" b="1">
                          <a:solidFill>
                            <a:srgbClr val="FFFFFF"/>
                          </a:solidFill>
                          <a:latin typeface="DejaVu Sans"/>
                          <a:ea typeface="DejaVu Sans"/>
                          <a:cs typeface="DejaVu Sans"/>
                        </a:rPr>
                        <a:t>Illustrative interfaces</a:t>
                      </a:r>
                    </a:p>
                  </a:txBody>
                  <a:tcPr marL="114300" marR="114300" marT="95250" marB="76200">
                    <a:solidFill>
                      <a:srgbClr val="132C43"/>
                    </a:solidFill>
                  </a:tcPr>
                </a:tc>
                <a:extLst>
                  <a:ext uri="{0D108BD9-81ED-4DB2-BD59-A6C34878D82A}">
                    <a16:rowId xmlns:a16="http://schemas.microsoft.com/office/drawing/2014/main" val="10000"/>
                  </a:ext>
                </a:extLst>
              </a:tr>
              <a:tr h="630238">
                <a:tc>
                  <a:txBody>
                    <a:bodyPr/>
                    <a:lstStyle/>
                    <a:p>
                      <a:r>
                        <a:rPr sz="1725">
                          <a:solidFill>
                            <a:srgbClr val="132C43"/>
                          </a:solidFill>
                          <a:latin typeface="DejaVu Sans"/>
                          <a:ea typeface="DejaVu Sans"/>
                          <a:cs typeface="DejaVu Sans"/>
                        </a:rPr>
                        <a:t>Process control</a:t>
                      </a:r>
                    </a:p>
                  </a:txBody>
                  <a:tcPr marL="114300" marR="114300" marT="95250" marB="76200">
                    <a:solidFill>
                      <a:srgbClr val="F0F6FA"/>
                    </a:solidFill>
                  </a:tcPr>
                </a:tc>
                <a:tc>
                  <a:txBody>
                    <a:bodyPr/>
                    <a:lstStyle/>
                    <a:p>
                      <a:r>
                        <a:rPr sz="1725">
                          <a:solidFill>
                            <a:srgbClr val="132C43"/>
                          </a:solidFill>
                          <a:latin typeface="DejaVu Sans"/>
                          <a:ea typeface="DejaVu Sans"/>
                          <a:cs typeface="DejaVu Sans"/>
                        </a:rPr>
                        <a:t>Create, execute, wait, exit</a:t>
                      </a:r>
                    </a:p>
                  </a:txBody>
                  <a:tcPr marL="114300" marR="114300" marT="95250" marB="76200">
                    <a:solidFill>
                      <a:srgbClr val="F0F6FA"/>
                    </a:solidFill>
                  </a:tcPr>
                </a:tc>
                <a:extLst>
                  <a:ext uri="{0D108BD9-81ED-4DB2-BD59-A6C34878D82A}">
                    <a16:rowId xmlns:a16="http://schemas.microsoft.com/office/drawing/2014/main" val="10001"/>
                  </a:ext>
                </a:extLst>
              </a:tr>
              <a:tr h="630238">
                <a:tc>
                  <a:txBody>
                    <a:bodyPr/>
                    <a:lstStyle/>
                    <a:p>
                      <a:r>
                        <a:rPr sz="1725">
                          <a:solidFill>
                            <a:srgbClr val="132C43"/>
                          </a:solidFill>
                          <a:latin typeface="DejaVu Sans"/>
                          <a:ea typeface="DejaVu Sans"/>
                          <a:cs typeface="DejaVu Sans"/>
                        </a:rPr>
                        <a:t>File and device management</a:t>
                      </a:r>
                    </a:p>
                  </a:txBody>
                  <a:tcPr marL="114300" marR="114300" marT="95250" marB="76200">
                    <a:solidFill>
                      <a:srgbClr val="FFFFFF"/>
                    </a:solidFill>
                  </a:tcPr>
                </a:tc>
                <a:tc>
                  <a:txBody>
                    <a:bodyPr/>
                    <a:lstStyle/>
                    <a:p>
                      <a:r>
                        <a:rPr sz="1725">
                          <a:solidFill>
                            <a:srgbClr val="132C43"/>
                          </a:solidFill>
                          <a:latin typeface="DejaVu Sans"/>
                          <a:ea typeface="DejaVu Sans"/>
                          <a:cs typeface="DejaVu Sans"/>
                        </a:rPr>
                        <a:t>open, read, write, close, ioctl</a:t>
                      </a:r>
                    </a:p>
                  </a:txBody>
                  <a:tcPr marL="114300" marR="114300" marT="95250" marB="76200">
                    <a:solidFill>
                      <a:srgbClr val="FFFFFF"/>
                    </a:solidFill>
                  </a:tcPr>
                </a:tc>
                <a:extLst>
                  <a:ext uri="{0D108BD9-81ED-4DB2-BD59-A6C34878D82A}">
                    <a16:rowId xmlns:a16="http://schemas.microsoft.com/office/drawing/2014/main" val="10002"/>
                  </a:ext>
                </a:extLst>
              </a:tr>
              <a:tr h="630238">
                <a:tc>
                  <a:txBody>
                    <a:bodyPr/>
                    <a:lstStyle/>
                    <a:p>
                      <a:r>
                        <a:rPr sz="1725">
                          <a:solidFill>
                            <a:srgbClr val="132C43"/>
                          </a:solidFill>
                          <a:latin typeface="DejaVu Sans"/>
                          <a:ea typeface="DejaVu Sans"/>
                          <a:cs typeface="DejaVu Sans"/>
                        </a:rPr>
                        <a:t>Information maintenance</a:t>
                      </a:r>
                    </a:p>
                  </a:txBody>
                  <a:tcPr marL="114300" marR="114300" marT="95250" marB="76200">
                    <a:solidFill>
                      <a:srgbClr val="F0F6FA"/>
                    </a:solidFill>
                  </a:tcPr>
                </a:tc>
                <a:tc>
                  <a:txBody>
                    <a:bodyPr/>
                    <a:lstStyle/>
                    <a:p>
                      <a:r>
                        <a:rPr sz="1725">
                          <a:solidFill>
                            <a:srgbClr val="132C43"/>
                          </a:solidFill>
                          <a:latin typeface="DejaVu Sans"/>
                          <a:ea typeface="DejaVu Sans"/>
                          <a:cs typeface="DejaVu Sans"/>
                        </a:rPr>
                        <a:t>Get process ID, time or attributes</a:t>
                      </a:r>
                    </a:p>
                  </a:txBody>
                  <a:tcPr marL="114300" marR="114300" marT="95250" marB="76200">
                    <a:solidFill>
                      <a:srgbClr val="F0F6FA"/>
                    </a:solidFill>
                  </a:tcPr>
                </a:tc>
                <a:extLst>
                  <a:ext uri="{0D108BD9-81ED-4DB2-BD59-A6C34878D82A}">
                    <a16:rowId xmlns:a16="http://schemas.microsoft.com/office/drawing/2014/main" val="10003"/>
                  </a:ext>
                </a:extLst>
              </a:tr>
              <a:tr h="630238">
                <a:tc>
                  <a:txBody>
                    <a:bodyPr/>
                    <a:lstStyle/>
                    <a:p>
                      <a:r>
                        <a:rPr sz="1725">
                          <a:solidFill>
                            <a:srgbClr val="132C43"/>
                          </a:solidFill>
                          <a:latin typeface="DejaVu Sans"/>
                          <a:ea typeface="DejaVu Sans"/>
                          <a:cs typeface="DejaVu Sans"/>
                        </a:rPr>
                        <a:t>Communication</a:t>
                      </a:r>
                    </a:p>
                  </a:txBody>
                  <a:tcPr marL="114300" marR="114300" marT="95250" marB="76200">
                    <a:solidFill>
                      <a:srgbClr val="FFFFFF"/>
                    </a:solidFill>
                  </a:tcPr>
                </a:tc>
                <a:tc>
                  <a:txBody>
                    <a:bodyPr/>
                    <a:lstStyle/>
                    <a:p>
                      <a:r>
                        <a:rPr sz="1725">
                          <a:solidFill>
                            <a:srgbClr val="132C43"/>
                          </a:solidFill>
                          <a:latin typeface="DejaVu Sans"/>
                          <a:ea typeface="DejaVu Sans"/>
                          <a:cs typeface="DejaVu Sans"/>
                        </a:rPr>
                        <a:t>Pipes, sockets, shared memory</a:t>
                      </a:r>
                    </a:p>
                  </a:txBody>
                  <a:tcPr marL="114300" marR="114300" marT="95250" marB="76200">
                    <a:solidFill>
                      <a:srgbClr val="FFFFFF"/>
                    </a:solidFill>
                  </a:tcPr>
                </a:tc>
                <a:extLst>
                  <a:ext uri="{0D108BD9-81ED-4DB2-BD59-A6C34878D82A}">
                    <a16:rowId xmlns:a16="http://schemas.microsoft.com/office/drawing/2014/main" val="10004"/>
                  </a:ext>
                </a:extLst>
              </a:tr>
              <a:tr h="630238">
                <a:tc>
                  <a:txBody>
                    <a:bodyPr/>
                    <a:lstStyle/>
                    <a:p>
                      <a:r>
                        <a:rPr sz="1725">
                          <a:solidFill>
                            <a:srgbClr val="132C43"/>
                          </a:solidFill>
                          <a:latin typeface="DejaVu Sans"/>
                          <a:ea typeface="DejaVu Sans"/>
                          <a:cs typeface="DejaVu Sans"/>
                        </a:rPr>
                        <a:t>Protection</a:t>
                      </a:r>
                    </a:p>
                  </a:txBody>
                  <a:tcPr marL="114300" marR="114300" marT="95250" marB="76200">
                    <a:solidFill>
                      <a:srgbClr val="F0F6FA"/>
                    </a:solidFill>
                  </a:tcPr>
                </a:tc>
                <a:tc>
                  <a:txBody>
                    <a:bodyPr/>
                    <a:lstStyle/>
                    <a:p>
                      <a:r>
                        <a:rPr sz="1725">
                          <a:solidFill>
                            <a:srgbClr val="132C43"/>
                          </a:solidFill>
                          <a:latin typeface="DejaVu Sans"/>
                          <a:ea typeface="DejaVu Sans"/>
                          <a:cs typeface="DejaVu Sans"/>
                        </a:rPr>
                        <a:t>Access checks and permission changes</a:t>
                      </a:r>
                    </a:p>
                  </a:txBody>
                  <a:tcPr marL="114300" marR="114300" marT="95250" marB="76200">
                    <a:solidFill>
                      <a:srgbClr val="F0F6FA"/>
                    </a:solidFill>
                  </a:tcPr>
                </a:tc>
                <a:extLst>
                  <a:ext uri="{0D108BD9-81ED-4DB2-BD59-A6C34878D82A}">
                    <a16:rowId xmlns:a16="http://schemas.microsoft.com/office/drawing/2014/main" val="10005"/>
                  </a:ext>
                </a:extLst>
              </a:tr>
            </a:tbl>
          </a:graphicData>
        </a:graphic>
      </p:graphicFrame>
      <p:sp>
        <p:nvSpPr>
          <p:cNvPr id="4" name="Rectangle 3">
            <a:extLst>
              <a:ext uri="{FF2B5EF4-FFF2-40B4-BE49-F238E27FC236}">
                <a16:creationId xmlns:a16="http://schemas.microsoft.com/office/drawing/2014/main" id="{A79CD5B6-1CBF-42B6-AE67-19502D834716}"/>
              </a:ext>
            </a:extLst>
          </p:cNvPr>
          <p:cNvSpPr>
            <a:spLocks noGrp="1"/>
          </p:cNvSpPr>
          <p:nvPr/>
        </p:nvSpPr>
        <p:spPr>
          <a:xfrm>
            <a:off x="685800" y="6381750"/>
            <a:ext cx="10820400" cy="238125"/>
          </a:xfrm>
          <a:prstGeom prst="rect">
            <a:avLst/>
          </a:prstGeom>
          <a:noFill/>
          <a:ln w="0">
            <a:noFill/>
          </a:ln>
        </p:spPr>
        <p:txBody>
          <a:bodyPr anchor="t">
            <a:noAutofit/>
          </a:bodyPr>
          <a:lstStyle/>
          <a:p>
            <a:pPr>
              <a:defRPr sz="1275" b="0">
                <a:solidFill>
                  <a:srgbClr val="53687A"/>
                </a:solidFill>
                <a:latin typeface="DejaVu Sans"/>
                <a:ea typeface="DejaVu Sans"/>
                <a:cs typeface="DejaVu Sans"/>
              </a:defRPr>
            </a:pPr>
            <a:r>
              <a:rPr sz="1275" b="0">
                <a:solidFill>
                  <a:srgbClr val="53687A"/>
                </a:solidFill>
                <a:latin typeface="DejaVu Sans"/>
                <a:ea typeface="DejaVu Sans"/>
                <a:cs typeface="DejaVu Sans"/>
              </a:rPr>
              <a:t>Week 2     27</a:t>
            </a:r>
          </a:p>
        </p:txBody>
      </p:sp>
    </p:spTree>
    <p:extLst>
      <p:ext uri="{BB962C8B-B14F-4D97-AF65-F5344CB8AC3E}">
        <p14:creationId xmlns:p14="http://schemas.microsoft.com/office/powerpoint/2010/main" val="15403654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DB3A598-C400-4FA0-A81F-6A60358C4631}"/>
              </a:ext>
            </a:extLst>
          </p:cNvPr>
          <p:cNvSpPr>
            <a:spLocks noGrp="1"/>
          </p:cNvSpPr>
          <p:nvPr/>
        </p:nvSpPr>
        <p:spPr>
          <a:xfrm>
            <a:off x="685800" y="495300"/>
            <a:ext cx="10858500" cy="857250"/>
          </a:xfrm>
          <a:prstGeom prst="rect">
            <a:avLst/>
          </a:prstGeom>
          <a:noFill/>
          <a:ln w="0">
            <a:noFill/>
          </a:ln>
        </p:spPr>
        <p:txBody>
          <a:bodyPr anchor="t">
            <a:noAutofit/>
          </a:bodyPr>
          <a:lstStyle/>
          <a:p>
            <a:pPr>
              <a:defRPr sz="3300" b="1">
                <a:solidFill>
                  <a:srgbClr val="132C43"/>
                </a:solidFill>
                <a:latin typeface="DejaVu Sans"/>
                <a:ea typeface="DejaVu Sans"/>
                <a:cs typeface="DejaVu Sans"/>
              </a:defRPr>
            </a:pPr>
            <a:r>
              <a:rPr sz="3300" b="1">
                <a:solidFill>
                  <a:srgbClr val="132C43"/>
                </a:solidFill>
                <a:latin typeface="DejaVu Sans"/>
                <a:ea typeface="DejaVu Sans"/>
                <a:cs typeface="DejaVu Sans"/>
              </a:rPr>
              <a:t>Worked trace: copy a file</a:t>
            </a:r>
          </a:p>
        </p:txBody>
      </p:sp>
      <p:sp>
        <p:nvSpPr>
          <p:cNvPr id="2" name="Rectangle 1">
            <a:extLst>
              <a:ext uri="{FF2B5EF4-FFF2-40B4-BE49-F238E27FC236}">
                <a16:creationId xmlns:a16="http://schemas.microsoft.com/office/drawing/2014/main" id="{CC7D0B28-D905-43EC-901B-7C16F05616F7}"/>
              </a:ext>
            </a:extLst>
          </p:cNvPr>
          <p:cNvSpPr>
            <a:spLocks noGrp="1"/>
          </p:cNvSpPr>
          <p:nvPr/>
        </p:nvSpPr>
        <p:spPr>
          <a:xfrm>
            <a:off x="685800" y="1666875"/>
            <a:ext cx="10820400" cy="3905250"/>
          </a:xfrm>
          <a:prstGeom prst="rect">
            <a:avLst/>
          </a:prstGeom>
          <a:noFill/>
          <a:ln w="0">
            <a:noFill/>
          </a:ln>
        </p:spPr>
        <p:txBody>
          <a:bodyPr anchor="t">
            <a:noAutofit/>
          </a:bodyPr>
          <a:lstStyle/>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Open the source for reading.</a:t>
            </a:r>
          </a:p>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Create or open the destination for writing.</a:t>
            </a:r>
          </a:p>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Repeat: read bytes, then write those bytes.</a:t>
            </a:r>
          </a:p>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Close descriptors and report errors.</a:t>
            </a:r>
          </a:p>
        </p:txBody>
      </p:sp>
      <p:sp>
        <p:nvSpPr>
          <p:cNvPr id="3" name="Rectangle 2">
            <a:extLst>
              <a:ext uri="{FF2B5EF4-FFF2-40B4-BE49-F238E27FC236}">
                <a16:creationId xmlns:a16="http://schemas.microsoft.com/office/drawing/2014/main" id="{D54F0EF1-E7E1-4800-B8B7-E7A7957D6615}"/>
              </a:ext>
            </a:extLst>
          </p:cNvPr>
          <p:cNvSpPr>
            <a:spLocks noGrp="1"/>
          </p:cNvSpPr>
          <p:nvPr/>
        </p:nvSpPr>
        <p:spPr>
          <a:xfrm>
            <a:off x="685800" y="6381750"/>
            <a:ext cx="10820400" cy="238125"/>
          </a:xfrm>
          <a:prstGeom prst="rect">
            <a:avLst/>
          </a:prstGeom>
          <a:noFill/>
          <a:ln w="0">
            <a:noFill/>
          </a:ln>
        </p:spPr>
        <p:txBody>
          <a:bodyPr anchor="t">
            <a:noAutofit/>
          </a:bodyPr>
          <a:lstStyle/>
          <a:p>
            <a:pPr>
              <a:defRPr sz="1275" b="0">
                <a:solidFill>
                  <a:srgbClr val="53687A"/>
                </a:solidFill>
                <a:latin typeface="DejaVu Sans"/>
                <a:ea typeface="DejaVu Sans"/>
                <a:cs typeface="DejaVu Sans"/>
              </a:defRPr>
            </a:pPr>
            <a:r>
              <a:rPr sz="1275" b="0">
                <a:solidFill>
                  <a:srgbClr val="53687A"/>
                </a:solidFill>
                <a:latin typeface="DejaVu Sans"/>
                <a:ea typeface="DejaVu Sans"/>
                <a:cs typeface="DejaVu Sans"/>
              </a:rPr>
              <a:t>Week 2     28</a:t>
            </a:r>
          </a:p>
        </p:txBody>
      </p:sp>
    </p:spTree>
    <p:extLst>
      <p:ext uri="{BB962C8B-B14F-4D97-AF65-F5344CB8AC3E}">
        <p14:creationId xmlns:p14="http://schemas.microsoft.com/office/powerpoint/2010/main" val="1632442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4D0CE55-E87B-4D7A-B531-EC1237F744B1}"/>
              </a:ext>
            </a:extLst>
          </p:cNvPr>
          <p:cNvSpPr>
            <a:spLocks noGrp="1"/>
          </p:cNvSpPr>
          <p:nvPr/>
        </p:nvSpPr>
        <p:spPr>
          <a:xfrm>
            <a:off x="685800" y="495300"/>
            <a:ext cx="10858500" cy="857250"/>
          </a:xfrm>
          <a:prstGeom prst="rect">
            <a:avLst/>
          </a:prstGeom>
          <a:noFill/>
          <a:ln w="0">
            <a:noFill/>
          </a:ln>
        </p:spPr>
        <p:txBody>
          <a:bodyPr anchor="t">
            <a:noAutofit/>
          </a:bodyPr>
          <a:lstStyle/>
          <a:p>
            <a:pPr>
              <a:defRPr sz="3300" b="1">
                <a:solidFill>
                  <a:srgbClr val="132C43"/>
                </a:solidFill>
                <a:latin typeface="DejaVu Sans"/>
                <a:ea typeface="DejaVu Sans"/>
                <a:cs typeface="DejaVu Sans"/>
              </a:defRPr>
            </a:pPr>
            <a:r>
              <a:rPr sz="3300" b="1">
                <a:solidFill>
                  <a:srgbClr val="132C43"/>
                </a:solidFill>
                <a:latin typeface="DejaVu Sans"/>
                <a:ea typeface="DejaVu Sans"/>
                <a:cs typeface="DejaVu Sans"/>
              </a:rPr>
              <a:t>Live demo: seeing system calls</a:t>
            </a:r>
          </a:p>
        </p:txBody>
      </p:sp>
      <p:sp>
        <p:nvSpPr>
          <p:cNvPr id="2" name="Rectangle 1">
            <a:extLst>
              <a:ext uri="{FF2B5EF4-FFF2-40B4-BE49-F238E27FC236}">
                <a16:creationId xmlns:a16="http://schemas.microsoft.com/office/drawing/2014/main" id="{E9059DE0-4A87-4CD4-81F5-7D58AF310C43}"/>
              </a:ext>
            </a:extLst>
          </p:cNvPr>
          <p:cNvSpPr>
            <a:spLocks noGrp="1"/>
          </p:cNvSpPr>
          <p:nvPr/>
        </p:nvSpPr>
        <p:spPr>
          <a:xfrm>
            <a:off x="685800" y="1666875"/>
            <a:ext cx="10820400" cy="3905250"/>
          </a:xfrm>
          <a:prstGeom prst="rect">
            <a:avLst/>
          </a:prstGeom>
          <a:noFill/>
          <a:ln w="0">
            <a:noFill/>
          </a:ln>
        </p:spPr>
        <p:txBody>
          <a:bodyPr anchor="t">
            <a:noAutofit/>
          </a:bodyPr>
          <a:lstStyle/>
          <a:p>
            <a:pPr>
              <a:defRPr sz="2400" b="0">
                <a:solidFill>
                  <a:srgbClr val="132C43"/>
                </a:solidFill>
                <a:latin typeface="DejaVu Sans"/>
                <a:ea typeface="DejaVu Sans"/>
                <a:cs typeface="DejaVu Sans"/>
              </a:defRPr>
            </a:pPr>
            <a:r>
              <a:rPr sz="2400" b="0" dirty="0">
                <a:solidFill>
                  <a:srgbClr val="132C43"/>
                </a:solidFill>
                <a:latin typeface="DejaVu Sans"/>
                <a:ea typeface="DejaVu Sans"/>
                <a:cs typeface="DejaVu Sans"/>
              </a:rPr>
              <a:t>On Linux, WSL or a prepared Linux VM:</a:t>
            </a:r>
          </a:p>
          <a:p>
            <a:pPr>
              <a:defRPr sz="2400" b="0">
                <a:solidFill>
                  <a:srgbClr val="132C43"/>
                </a:solidFill>
                <a:latin typeface="DejaVu Sans"/>
                <a:ea typeface="DejaVu Sans"/>
                <a:cs typeface="DejaVu Sans"/>
              </a:defRPr>
            </a:pPr>
            <a:r>
              <a:rPr sz="2400" b="0" dirty="0" err="1">
                <a:solidFill>
                  <a:srgbClr val="132C43"/>
                </a:solidFill>
                <a:latin typeface="DejaVu Sans"/>
                <a:ea typeface="DejaVu Sans"/>
                <a:cs typeface="DejaVu Sans"/>
              </a:rPr>
              <a:t>strace</a:t>
            </a:r>
            <a:r>
              <a:rPr sz="2400" b="0" dirty="0">
                <a:solidFill>
                  <a:srgbClr val="132C43"/>
                </a:solidFill>
                <a:latin typeface="DejaVu Sans"/>
                <a:ea typeface="DejaVu Sans"/>
                <a:cs typeface="DejaVu Sans"/>
              </a:rPr>
              <a:t> -e trace=</a:t>
            </a:r>
            <a:r>
              <a:rPr sz="2400" b="0" dirty="0" err="1">
                <a:solidFill>
                  <a:srgbClr val="132C43"/>
                </a:solidFill>
                <a:latin typeface="DejaVu Sans"/>
                <a:ea typeface="DejaVu Sans"/>
                <a:cs typeface="DejaVu Sans"/>
              </a:rPr>
              <a:t>openat,read,write,close</a:t>
            </a:r>
            <a:r>
              <a:rPr sz="2400" b="0" dirty="0">
                <a:solidFill>
                  <a:srgbClr val="132C43"/>
                </a:solidFill>
                <a:latin typeface="DejaVu Sans"/>
                <a:ea typeface="DejaVu Sans"/>
                <a:cs typeface="DejaVu Sans"/>
              </a:rPr>
              <a:t> cat sample.txt</a:t>
            </a:r>
          </a:p>
          <a:p>
            <a:pPr>
              <a:defRPr sz="2400" b="0">
                <a:solidFill>
                  <a:srgbClr val="132C43"/>
                </a:solidFill>
                <a:latin typeface="DejaVu Sans"/>
                <a:ea typeface="DejaVu Sans"/>
                <a:cs typeface="DejaVu Sans"/>
              </a:defRPr>
            </a:pPr>
            <a:r>
              <a:rPr sz="2400" b="0" dirty="0">
                <a:solidFill>
                  <a:srgbClr val="132C43"/>
                </a:solidFill>
                <a:latin typeface="DejaVu Sans"/>
                <a:ea typeface="DejaVu Sans"/>
                <a:cs typeface="DejaVu Sans"/>
              </a:rPr>
              <a:t>Observe file access and output.</a:t>
            </a:r>
          </a:p>
          <a:p>
            <a:pPr>
              <a:defRPr sz="2400" b="0">
                <a:solidFill>
                  <a:srgbClr val="132C43"/>
                </a:solidFill>
                <a:latin typeface="DejaVu Sans"/>
                <a:ea typeface="DejaVu Sans"/>
                <a:cs typeface="DejaVu Sans"/>
              </a:defRPr>
            </a:pPr>
            <a:r>
              <a:rPr sz="2400" b="0" dirty="0">
                <a:solidFill>
                  <a:srgbClr val="132C43"/>
                </a:solidFill>
                <a:latin typeface="DejaVu Sans"/>
                <a:ea typeface="DejaVu Sans"/>
                <a:cs typeface="DejaVu Sans"/>
              </a:rPr>
              <a:t>Compare the command with its kernel requests.</a:t>
            </a:r>
          </a:p>
        </p:txBody>
      </p:sp>
      <p:sp>
        <p:nvSpPr>
          <p:cNvPr id="3" name="Rectangle 2">
            <a:extLst>
              <a:ext uri="{FF2B5EF4-FFF2-40B4-BE49-F238E27FC236}">
                <a16:creationId xmlns:a16="http://schemas.microsoft.com/office/drawing/2014/main" id="{A6CF8DB6-0DF8-45F7-918D-A0A881519822}"/>
              </a:ext>
            </a:extLst>
          </p:cNvPr>
          <p:cNvSpPr>
            <a:spLocks noGrp="1"/>
          </p:cNvSpPr>
          <p:nvPr/>
        </p:nvSpPr>
        <p:spPr>
          <a:xfrm>
            <a:off x="685800" y="6381750"/>
            <a:ext cx="10820400" cy="238125"/>
          </a:xfrm>
          <a:prstGeom prst="rect">
            <a:avLst/>
          </a:prstGeom>
          <a:noFill/>
          <a:ln w="0">
            <a:noFill/>
          </a:ln>
        </p:spPr>
        <p:txBody>
          <a:bodyPr anchor="t">
            <a:noAutofit/>
          </a:bodyPr>
          <a:lstStyle/>
          <a:p>
            <a:pPr>
              <a:defRPr sz="1275" b="0">
                <a:solidFill>
                  <a:srgbClr val="53687A"/>
                </a:solidFill>
                <a:latin typeface="DejaVu Sans"/>
                <a:ea typeface="DejaVu Sans"/>
                <a:cs typeface="DejaVu Sans"/>
              </a:defRPr>
            </a:pPr>
            <a:r>
              <a:rPr sz="1275" b="0">
                <a:solidFill>
                  <a:srgbClr val="53687A"/>
                </a:solidFill>
                <a:latin typeface="DejaVu Sans"/>
                <a:ea typeface="DejaVu Sans"/>
                <a:cs typeface="DejaVu Sans"/>
              </a:rPr>
              <a:t>Week 2     29</a:t>
            </a:r>
          </a:p>
        </p:txBody>
      </p:sp>
    </p:spTree>
    <p:extLst>
      <p:ext uri="{BB962C8B-B14F-4D97-AF65-F5344CB8AC3E}">
        <p14:creationId xmlns:p14="http://schemas.microsoft.com/office/powerpoint/2010/main" val="5960173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1B5411A-1077-4017-8703-EDB1B1EAA37F}"/>
              </a:ext>
            </a:extLst>
          </p:cNvPr>
          <p:cNvSpPr>
            <a:spLocks noGrp="1"/>
          </p:cNvSpPr>
          <p:nvPr/>
        </p:nvSpPr>
        <p:spPr>
          <a:xfrm>
            <a:off x="685800" y="495300"/>
            <a:ext cx="10858500" cy="857250"/>
          </a:xfrm>
          <a:prstGeom prst="rect">
            <a:avLst/>
          </a:prstGeom>
          <a:noFill/>
          <a:ln w="0">
            <a:noFill/>
          </a:ln>
        </p:spPr>
        <p:txBody>
          <a:bodyPr anchor="t">
            <a:noAutofit/>
          </a:bodyPr>
          <a:lstStyle/>
          <a:p>
            <a:pPr>
              <a:defRPr sz="3300" b="1">
                <a:solidFill>
                  <a:srgbClr val="132C43"/>
                </a:solidFill>
                <a:latin typeface="DejaVu Sans"/>
                <a:ea typeface="DejaVu Sans"/>
                <a:cs typeface="DejaVu Sans"/>
              </a:defRPr>
            </a:pPr>
            <a:r>
              <a:rPr sz="3300" b="1">
                <a:solidFill>
                  <a:srgbClr val="132C43"/>
                </a:solidFill>
                <a:latin typeface="DejaVu Sans"/>
                <a:ea typeface="DejaVu Sans"/>
                <a:cs typeface="DejaVu Sans"/>
              </a:rPr>
              <a:t>Week 2 A checkpoint</a:t>
            </a:r>
          </a:p>
        </p:txBody>
      </p:sp>
      <p:sp>
        <p:nvSpPr>
          <p:cNvPr id="2" name="Rectangle 1">
            <a:extLst>
              <a:ext uri="{FF2B5EF4-FFF2-40B4-BE49-F238E27FC236}">
                <a16:creationId xmlns:a16="http://schemas.microsoft.com/office/drawing/2014/main" id="{83EBAE67-280C-4FBE-907A-C5F3B519C80B}"/>
              </a:ext>
            </a:extLst>
          </p:cNvPr>
          <p:cNvSpPr>
            <a:spLocks noGrp="1"/>
          </p:cNvSpPr>
          <p:nvPr/>
        </p:nvSpPr>
        <p:spPr>
          <a:xfrm>
            <a:off x="685800" y="1666875"/>
            <a:ext cx="10820400" cy="3905250"/>
          </a:xfrm>
          <a:prstGeom prst="rect">
            <a:avLst/>
          </a:prstGeom>
          <a:noFill/>
          <a:ln w="0">
            <a:noFill/>
          </a:ln>
        </p:spPr>
        <p:txBody>
          <a:bodyPr anchor="t">
            <a:noAutofit/>
          </a:bodyPr>
          <a:lstStyle/>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Is a shell the kernel?</a:t>
            </a:r>
          </a:p>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Does every library function make a system call?</a:t>
            </a:r>
          </a:p>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Why must the kernel check a buffer pointer?</a:t>
            </a:r>
          </a:p>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Which services support saving a document?</a:t>
            </a:r>
          </a:p>
        </p:txBody>
      </p:sp>
      <p:sp>
        <p:nvSpPr>
          <p:cNvPr id="3" name="Rectangle 2">
            <a:extLst>
              <a:ext uri="{FF2B5EF4-FFF2-40B4-BE49-F238E27FC236}">
                <a16:creationId xmlns:a16="http://schemas.microsoft.com/office/drawing/2014/main" id="{9EC225EC-727F-46A0-9633-9A207D0246A3}"/>
              </a:ext>
            </a:extLst>
          </p:cNvPr>
          <p:cNvSpPr>
            <a:spLocks noGrp="1"/>
          </p:cNvSpPr>
          <p:nvPr/>
        </p:nvSpPr>
        <p:spPr>
          <a:xfrm>
            <a:off x="685800" y="6381750"/>
            <a:ext cx="10820400" cy="238125"/>
          </a:xfrm>
          <a:prstGeom prst="rect">
            <a:avLst/>
          </a:prstGeom>
          <a:noFill/>
          <a:ln w="0">
            <a:noFill/>
          </a:ln>
        </p:spPr>
        <p:txBody>
          <a:bodyPr anchor="t">
            <a:noAutofit/>
          </a:bodyPr>
          <a:lstStyle/>
          <a:p>
            <a:pPr>
              <a:defRPr sz="1275" b="0">
                <a:solidFill>
                  <a:srgbClr val="53687A"/>
                </a:solidFill>
                <a:latin typeface="DejaVu Sans"/>
                <a:ea typeface="DejaVu Sans"/>
                <a:cs typeface="DejaVu Sans"/>
              </a:defRPr>
            </a:pPr>
            <a:r>
              <a:rPr sz="1275" b="0">
                <a:solidFill>
                  <a:srgbClr val="53687A"/>
                </a:solidFill>
                <a:latin typeface="DejaVu Sans"/>
                <a:ea typeface="DejaVu Sans"/>
                <a:cs typeface="DejaVu Sans"/>
              </a:rPr>
              <a:t>Week 2     30</a:t>
            </a:r>
          </a:p>
        </p:txBody>
      </p:sp>
    </p:spTree>
    <p:extLst>
      <p:ext uri="{BB962C8B-B14F-4D97-AF65-F5344CB8AC3E}">
        <p14:creationId xmlns:p14="http://schemas.microsoft.com/office/powerpoint/2010/main" val="15424155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132C43"/>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6797739-BDF2-4AAE-8F67-0E448394CA04}"/>
              </a:ext>
            </a:extLst>
          </p:cNvPr>
          <p:cNvSpPr>
            <a:spLocks noGrp="1"/>
          </p:cNvSpPr>
          <p:nvPr/>
        </p:nvSpPr>
        <p:spPr>
          <a:xfrm>
            <a:off x="685800" y="647700"/>
            <a:ext cx="10820400" cy="381000"/>
          </a:xfrm>
          <a:prstGeom prst="rect">
            <a:avLst/>
          </a:prstGeom>
          <a:noFill/>
          <a:ln w="0">
            <a:noFill/>
          </a:ln>
        </p:spPr>
        <p:txBody>
          <a:bodyPr anchor="t">
            <a:noAutofit/>
          </a:bodyPr>
          <a:lstStyle/>
          <a:p>
            <a:pPr>
              <a:defRPr sz="1800" b="1">
                <a:solidFill>
                  <a:srgbClr val="70D0D3"/>
                </a:solidFill>
                <a:latin typeface="DejaVu Sans"/>
                <a:ea typeface="DejaVu Sans"/>
                <a:cs typeface="DejaVu Sans"/>
              </a:defRPr>
            </a:pPr>
            <a:r>
              <a:rPr sz="1800" b="1">
                <a:solidFill>
                  <a:srgbClr val="70D0D3"/>
                </a:solidFill>
                <a:latin typeface="DejaVu Sans"/>
                <a:ea typeface="DejaVu Sans"/>
                <a:cs typeface="DejaVu Sans"/>
              </a:rPr>
              <a:t>WEEK 2</a:t>
            </a:r>
          </a:p>
        </p:txBody>
      </p:sp>
      <p:sp>
        <p:nvSpPr>
          <p:cNvPr id="2" name="Rectangle 1">
            <a:extLst>
              <a:ext uri="{FF2B5EF4-FFF2-40B4-BE49-F238E27FC236}">
                <a16:creationId xmlns:a16="http://schemas.microsoft.com/office/drawing/2014/main" id="{48E43D27-9DCA-469F-9D13-6C85F34DD8D4}"/>
              </a:ext>
            </a:extLst>
          </p:cNvPr>
          <p:cNvSpPr>
            <a:spLocks noGrp="1"/>
          </p:cNvSpPr>
          <p:nvPr/>
        </p:nvSpPr>
        <p:spPr>
          <a:xfrm>
            <a:off x="685800" y="1524000"/>
            <a:ext cx="10477500" cy="1333500"/>
          </a:xfrm>
          <a:prstGeom prst="rect">
            <a:avLst/>
          </a:prstGeom>
          <a:noFill/>
          <a:ln w="0">
            <a:noFill/>
          </a:ln>
        </p:spPr>
        <p:txBody>
          <a:bodyPr anchor="t">
            <a:noAutofit/>
          </a:bodyPr>
          <a:lstStyle/>
          <a:p>
            <a:pPr>
              <a:defRPr sz="4500" b="1">
                <a:solidFill>
                  <a:srgbClr val="FFFFFF"/>
                </a:solidFill>
                <a:latin typeface="DejaVu Sans"/>
                <a:ea typeface="DejaVu Sans"/>
                <a:cs typeface="DejaVu Sans"/>
              </a:defRPr>
            </a:pPr>
            <a:r>
              <a:rPr sz="4500" b="1">
                <a:solidFill>
                  <a:srgbClr val="FFFFFF"/>
                </a:solidFill>
                <a:latin typeface="DejaVu Sans"/>
                <a:ea typeface="DejaVu Sans"/>
                <a:cs typeface="DejaVu Sans"/>
              </a:rPr>
              <a:t>Week 2: kernel design</a:t>
            </a:r>
          </a:p>
        </p:txBody>
      </p:sp>
      <p:sp>
        <p:nvSpPr>
          <p:cNvPr id="3" name="Rectangle 2">
            <a:extLst>
              <a:ext uri="{FF2B5EF4-FFF2-40B4-BE49-F238E27FC236}">
                <a16:creationId xmlns:a16="http://schemas.microsoft.com/office/drawing/2014/main" id="{98F12C54-CA9A-46F3-BCCF-9C064FED4464}"/>
              </a:ext>
            </a:extLst>
          </p:cNvPr>
          <p:cNvSpPr>
            <a:spLocks noGrp="1"/>
          </p:cNvSpPr>
          <p:nvPr/>
        </p:nvSpPr>
        <p:spPr>
          <a:xfrm>
            <a:off x="685800" y="3286125"/>
            <a:ext cx="10668000" cy="2095500"/>
          </a:xfrm>
          <a:prstGeom prst="rect">
            <a:avLst/>
          </a:prstGeom>
          <a:noFill/>
          <a:ln w="0">
            <a:noFill/>
          </a:ln>
        </p:spPr>
        <p:txBody>
          <a:bodyPr anchor="t">
            <a:noAutofit/>
          </a:bodyPr>
          <a:lstStyle/>
          <a:p>
            <a:pPr>
              <a:defRPr sz="2400" b="0">
                <a:solidFill>
                  <a:srgbClr val="EAF3F8"/>
                </a:solidFill>
                <a:latin typeface="DejaVu Sans"/>
                <a:ea typeface="DejaVu Sans"/>
                <a:cs typeface="DejaVu Sans"/>
              </a:defRPr>
            </a:pPr>
            <a:r>
              <a:rPr sz="2400" b="0">
                <a:solidFill>
                  <a:srgbClr val="EAF3F8"/>
                </a:solidFill>
                <a:latin typeface="DejaVu Sans"/>
                <a:ea typeface="DejaVu Sans"/>
                <a:cs typeface="DejaVu Sans"/>
              </a:rPr>
              <a:t>Compare six structure choices.</a:t>
            </a:r>
          </a:p>
          <a:p>
            <a:pPr>
              <a:defRPr sz="2400" b="0">
                <a:solidFill>
                  <a:srgbClr val="EAF3F8"/>
                </a:solidFill>
                <a:latin typeface="DejaVu Sans"/>
                <a:ea typeface="DejaVu Sans"/>
                <a:cs typeface="DejaVu Sans"/>
              </a:defRPr>
            </a:pPr>
            <a:r>
              <a:rPr sz="2400" b="0">
                <a:solidFill>
                  <a:srgbClr val="EAF3F8"/>
                </a:solidFill>
                <a:latin typeface="DejaVu Sans"/>
                <a:ea typeface="DejaVu Sans"/>
                <a:cs typeface="DejaVu Sans"/>
              </a:rPr>
              <a:t>Separate policy from mechanism.</a:t>
            </a:r>
          </a:p>
          <a:p>
            <a:pPr>
              <a:defRPr sz="2400" b="0">
                <a:solidFill>
                  <a:srgbClr val="EAF3F8"/>
                </a:solidFill>
                <a:latin typeface="DejaVu Sans"/>
                <a:ea typeface="DejaVu Sans"/>
                <a:cs typeface="DejaVu Sans"/>
              </a:defRPr>
            </a:pPr>
            <a:r>
              <a:rPr sz="2400" b="0">
                <a:solidFill>
                  <a:srgbClr val="EAF3F8"/>
                </a:solidFill>
                <a:latin typeface="DejaVu Sans"/>
                <a:ea typeface="DejaVu Sans"/>
                <a:cs typeface="DejaVu Sans"/>
              </a:rPr>
              <a:t>Explain tradeoffs using a driver failure.</a:t>
            </a:r>
          </a:p>
        </p:txBody>
      </p:sp>
      <p:sp>
        <p:nvSpPr>
          <p:cNvPr id="4" name="Rectangle 3">
            <a:extLst>
              <a:ext uri="{FF2B5EF4-FFF2-40B4-BE49-F238E27FC236}">
                <a16:creationId xmlns:a16="http://schemas.microsoft.com/office/drawing/2014/main" id="{BE362FDA-2ACA-4BE7-B618-B4C99DACFE81}"/>
              </a:ext>
            </a:extLst>
          </p:cNvPr>
          <p:cNvSpPr>
            <a:spLocks noGrp="1"/>
          </p:cNvSpPr>
          <p:nvPr/>
        </p:nvSpPr>
        <p:spPr>
          <a:xfrm>
            <a:off x="685800" y="6381750"/>
            <a:ext cx="10820400" cy="238125"/>
          </a:xfrm>
          <a:prstGeom prst="rect">
            <a:avLst/>
          </a:prstGeom>
          <a:noFill/>
          <a:ln w="0">
            <a:noFill/>
          </a:ln>
        </p:spPr>
        <p:txBody>
          <a:bodyPr anchor="t">
            <a:noAutofit/>
          </a:bodyPr>
          <a:lstStyle/>
          <a:p>
            <a:pPr>
              <a:defRPr sz="1275" b="0">
                <a:solidFill>
                  <a:srgbClr val="BED2E0"/>
                </a:solidFill>
                <a:latin typeface="DejaVu Sans"/>
                <a:ea typeface="DejaVu Sans"/>
                <a:cs typeface="DejaVu Sans"/>
              </a:defRPr>
            </a:pPr>
            <a:r>
              <a:rPr sz="1275" b="0">
                <a:solidFill>
                  <a:srgbClr val="BED2E0"/>
                </a:solidFill>
                <a:latin typeface="DejaVu Sans"/>
                <a:ea typeface="DejaVu Sans"/>
                <a:cs typeface="DejaVu Sans"/>
              </a:rPr>
              <a:t>Week 2     31</a:t>
            </a:r>
          </a:p>
        </p:txBody>
      </p:sp>
    </p:spTree>
    <p:extLst>
      <p:ext uri="{BB962C8B-B14F-4D97-AF65-F5344CB8AC3E}">
        <p14:creationId xmlns:p14="http://schemas.microsoft.com/office/powerpoint/2010/main" val="6345832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D4DE96A-7F26-481D-9580-DAC179B69222}"/>
              </a:ext>
            </a:extLst>
          </p:cNvPr>
          <p:cNvSpPr>
            <a:spLocks noGrp="1"/>
          </p:cNvSpPr>
          <p:nvPr/>
        </p:nvSpPr>
        <p:spPr>
          <a:xfrm>
            <a:off x="685800" y="495300"/>
            <a:ext cx="10858500" cy="857250"/>
          </a:xfrm>
          <a:prstGeom prst="rect">
            <a:avLst/>
          </a:prstGeom>
          <a:noFill/>
          <a:ln w="0">
            <a:noFill/>
          </a:ln>
        </p:spPr>
        <p:txBody>
          <a:bodyPr anchor="t">
            <a:noAutofit/>
          </a:bodyPr>
          <a:lstStyle/>
          <a:p>
            <a:pPr>
              <a:defRPr sz="3300" b="1">
                <a:solidFill>
                  <a:srgbClr val="132C43"/>
                </a:solidFill>
                <a:latin typeface="DejaVu Sans"/>
                <a:ea typeface="DejaVu Sans"/>
                <a:cs typeface="DejaVu Sans"/>
              </a:defRPr>
            </a:pPr>
            <a:r>
              <a:rPr sz="3300" b="1">
                <a:solidFill>
                  <a:srgbClr val="132C43"/>
                </a:solidFill>
                <a:latin typeface="DejaVu Sans"/>
                <a:ea typeface="DejaVu Sans"/>
                <a:cs typeface="DejaVu Sans"/>
              </a:rPr>
              <a:t>Design goals, policy and mechanism</a:t>
            </a:r>
          </a:p>
        </p:txBody>
      </p:sp>
      <p:sp>
        <p:nvSpPr>
          <p:cNvPr id="2" name="Rectangle 1">
            <a:extLst>
              <a:ext uri="{FF2B5EF4-FFF2-40B4-BE49-F238E27FC236}">
                <a16:creationId xmlns:a16="http://schemas.microsoft.com/office/drawing/2014/main" id="{BB75CE25-EF2A-407B-8E56-0F9E66A8938A}"/>
              </a:ext>
            </a:extLst>
          </p:cNvPr>
          <p:cNvSpPr>
            <a:spLocks noGrp="1"/>
          </p:cNvSpPr>
          <p:nvPr/>
        </p:nvSpPr>
        <p:spPr>
          <a:xfrm>
            <a:off x="685800" y="1666875"/>
            <a:ext cx="10820400" cy="3905250"/>
          </a:xfrm>
          <a:prstGeom prst="rect">
            <a:avLst/>
          </a:prstGeom>
          <a:noFill/>
          <a:ln w="0">
            <a:noFill/>
          </a:ln>
        </p:spPr>
        <p:txBody>
          <a:bodyPr anchor="t">
            <a:noAutofit/>
          </a:bodyPr>
          <a:lstStyle/>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Goals include performance and reliability.</a:t>
            </a:r>
          </a:p>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Policy decides which action to choose.</a:t>
            </a:r>
          </a:p>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Mechanism provides the means to carry it out.</a:t>
            </a:r>
          </a:p>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A useful design lets policy change independently.</a:t>
            </a:r>
          </a:p>
        </p:txBody>
      </p:sp>
      <p:sp>
        <p:nvSpPr>
          <p:cNvPr id="3" name="Rectangle 2">
            <a:extLst>
              <a:ext uri="{FF2B5EF4-FFF2-40B4-BE49-F238E27FC236}">
                <a16:creationId xmlns:a16="http://schemas.microsoft.com/office/drawing/2014/main" id="{0C0D1F42-84C6-407C-B945-77DA944F7CE6}"/>
              </a:ext>
            </a:extLst>
          </p:cNvPr>
          <p:cNvSpPr>
            <a:spLocks noGrp="1"/>
          </p:cNvSpPr>
          <p:nvPr/>
        </p:nvSpPr>
        <p:spPr>
          <a:xfrm>
            <a:off x="685800" y="6381750"/>
            <a:ext cx="10820400" cy="238125"/>
          </a:xfrm>
          <a:prstGeom prst="rect">
            <a:avLst/>
          </a:prstGeom>
          <a:noFill/>
          <a:ln w="0">
            <a:noFill/>
          </a:ln>
        </p:spPr>
        <p:txBody>
          <a:bodyPr anchor="t">
            <a:noAutofit/>
          </a:bodyPr>
          <a:lstStyle/>
          <a:p>
            <a:pPr>
              <a:defRPr sz="1275" b="0">
                <a:solidFill>
                  <a:srgbClr val="53687A"/>
                </a:solidFill>
                <a:latin typeface="DejaVu Sans"/>
                <a:ea typeface="DejaVu Sans"/>
                <a:cs typeface="DejaVu Sans"/>
              </a:defRPr>
            </a:pPr>
            <a:r>
              <a:rPr sz="1275" b="0">
                <a:solidFill>
                  <a:srgbClr val="53687A"/>
                </a:solidFill>
                <a:latin typeface="DejaVu Sans"/>
                <a:ea typeface="DejaVu Sans"/>
                <a:cs typeface="DejaVu Sans"/>
              </a:rPr>
              <a:t>Week 2     32</a:t>
            </a:r>
          </a:p>
        </p:txBody>
      </p:sp>
    </p:spTree>
    <p:extLst>
      <p:ext uri="{BB962C8B-B14F-4D97-AF65-F5344CB8AC3E}">
        <p14:creationId xmlns:p14="http://schemas.microsoft.com/office/powerpoint/2010/main" val="5645575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BBB8C12-1FC7-4911-B01E-7EA0FAA73776}"/>
              </a:ext>
            </a:extLst>
          </p:cNvPr>
          <p:cNvSpPr>
            <a:spLocks noGrp="1"/>
          </p:cNvSpPr>
          <p:nvPr/>
        </p:nvSpPr>
        <p:spPr>
          <a:xfrm>
            <a:off x="685800" y="495300"/>
            <a:ext cx="10858500" cy="857250"/>
          </a:xfrm>
          <a:prstGeom prst="rect">
            <a:avLst/>
          </a:prstGeom>
          <a:noFill/>
          <a:ln w="0">
            <a:noFill/>
          </a:ln>
        </p:spPr>
        <p:txBody>
          <a:bodyPr anchor="t">
            <a:noAutofit/>
          </a:bodyPr>
          <a:lstStyle/>
          <a:p>
            <a:pPr>
              <a:defRPr sz="3300" b="1">
                <a:solidFill>
                  <a:srgbClr val="132C43"/>
                </a:solidFill>
                <a:latin typeface="DejaVu Sans"/>
                <a:ea typeface="DejaVu Sans"/>
                <a:cs typeface="DejaVu Sans"/>
              </a:defRPr>
            </a:pPr>
            <a:r>
              <a:rPr sz="3300" b="1">
                <a:solidFill>
                  <a:srgbClr val="132C43"/>
                </a:solidFill>
                <a:latin typeface="DejaVu Sans"/>
                <a:ea typeface="DejaVu Sans"/>
                <a:cs typeface="DejaVu Sans"/>
              </a:rPr>
              <a:t>Simple structure: MS-DOS</a:t>
            </a:r>
          </a:p>
        </p:txBody>
      </p:sp>
      <p:sp>
        <p:nvSpPr>
          <p:cNvPr id="2" name="Rectangle 1">
            <a:extLst>
              <a:ext uri="{FF2B5EF4-FFF2-40B4-BE49-F238E27FC236}">
                <a16:creationId xmlns:a16="http://schemas.microsoft.com/office/drawing/2014/main" id="{A62CE5C2-592C-4E0F-90D7-486401E530A8}"/>
              </a:ext>
            </a:extLst>
          </p:cNvPr>
          <p:cNvSpPr>
            <a:spLocks noGrp="1"/>
          </p:cNvSpPr>
          <p:nvPr/>
        </p:nvSpPr>
        <p:spPr>
          <a:xfrm>
            <a:off x="685800" y="1619250"/>
            <a:ext cx="4476750" cy="3762375"/>
          </a:xfrm>
          <a:prstGeom prst="rect">
            <a:avLst/>
          </a:prstGeom>
          <a:noFill/>
          <a:ln w="0">
            <a:noFill/>
          </a:ln>
        </p:spPr>
        <p:txBody>
          <a:bodyPr anchor="t">
            <a:noAutofit/>
          </a:bodyPr>
          <a:lstStyle/>
          <a:p>
            <a:pPr>
              <a:defRPr sz="2100" b="0">
                <a:solidFill>
                  <a:srgbClr val="132C43"/>
                </a:solidFill>
                <a:latin typeface="DejaVu Sans"/>
                <a:ea typeface="DejaVu Sans"/>
                <a:cs typeface="DejaVu Sans"/>
              </a:defRPr>
            </a:pPr>
            <a:r>
              <a:rPr sz="2100" b="0">
                <a:solidFill>
                  <a:srgbClr val="132C43"/>
                </a:solidFill>
                <a:latin typeface="DejaVu Sans"/>
                <a:ea typeface="DejaVu Sans"/>
                <a:cs typeface="DejaVu Sans"/>
              </a:rPr>
              <a:t>A small system can have weak boundaries.</a:t>
            </a:r>
          </a:p>
          <a:p>
            <a:pPr>
              <a:defRPr sz="2100" b="0">
                <a:solidFill>
                  <a:srgbClr val="132C43"/>
                </a:solidFill>
                <a:latin typeface="DejaVu Sans"/>
                <a:ea typeface="DejaVu Sans"/>
                <a:cs typeface="DejaVu Sans"/>
              </a:defRPr>
            </a:pPr>
            <a:r>
              <a:rPr sz="2100" b="0">
                <a:solidFill>
                  <a:srgbClr val="132C43"/>
                </a:solidFill>
                <a:latin typeface="DejaVu Sans"/>
                <a:ea typeface="DejaVu Sans"/>
                <a:cs typeface="DejaVu Sans"/>
              </a:rPr>
              <a:t>Applications may reach lower-level functions.</a:t>
            </a:r>
          </a:p>
          <a:p>
            <a:pPr>
              <a:defRPr sz="2100" b="0">
                <a:solidFill>
                  <a:srgbClr val="132C43"/>
                </a:solidFill>
                <a:latin typeface="DejaVu Sans"/>
                <a:ea typeface="DejaVu Sans"/>
                <a:cs typeface="DejaVu Sans"/>
              </a:defRPr>
            </a:pPr>
            <a:r>
              <a:rPr sz="2100" b="0">
                <a:solidFill>
                  <a:srgbClr val="132C43"/>
                </a:solidFill>
                <a:latin typeface="DejaVu Sans"/>
                <a:ea typeface="DejaVu Sans"/>
                <a:cs typeface="DejaVu Sans"/>
              </a:rPr>
              <a:t>That flexibility makes protection harder.</a:t>
            </a:r>
          </a:p>
        </p:txBody>
      </p:sp>
      <p:pic>
        <p:nvPicPr>
          <p:cNvPr id="8" name="Picture 7"/>
          <p:cNvPicPr>
            <a:picLocks noChangeAspect="1"/>
          </p:cNvPicPr>
          <p:nvPr/>
        </p:nvPicPr>
        <p:blipFill>
          <a:blip r:embed="rId3"/>
          <a:stretch/>
        </p:blipFill>
        <p:spPr>
          <a:xfrm>
            <a:off x="6540675" y="1524000"/>
            <a:ext cx="4254149" cy="4095750"/>
          </a:xfrm>
          <a:prstGeom prst="rect">
            <a:avLst/>
          </a:prstGeom>
        </p:spPr>
      </p:pic>
      <p:sp>
        <p:nvSpPr>
          <p:cNvPr id="4" name="Rectangle 3">
            <a:extLst>
              <a:ext uri="{FF2B5EF4-FFF2-40B4-BE49-F238E27FC236}">
                <a16:creationId xmlns:a16="http://schemas.microsoft.com/office/drawing/2014/main" id="{BF6908C7-8DD1-48D7-AEA5-9757C49F65B0}"/>
              </a:ext>
            </a:extLst>
          </p:cNvPr>
          <p:cNvSpPr>
            <a:spLocks noGrp="1"/>
          </p:cNvSpPr>
          <p:nvPr/>
        </p:nvSpPr>
        <p:spPr>
          <a:xfrm>
            <a:off x="685800" y="5924550"/>
            <a:ext cx="10572750" cy="247650"/>
          </a:xfrm>
          <a:prstGeom prst="rect">
            <a:avLst/>
          </a:prstGeom>
          <a:noFill/>
          <a:ln w="0">
            <a:noFill/>
          </a:ln>
        </p:spPr>
        <p:txBody>
          <a:bodyPr anchor="t">
            <a:noAutofit/>
          </a:bodyPr>
          <a:lstStyle/>
          <a:p>
            <a:pPr>
              <a:defRPr sz="1200" b="0">
                <a:solidFill>
                  <a:srgbClr val="53687A"/>
                </a:solidFill>
                <a:latin typeface="DejaVu Sans"/>
                <a:ea typeface="DejaVu Sans"/>
                <a:cs typeface="DejaVu Sans"/>
              </a:defRPr>
            </a:pPr>
            <a:r>
              <a:rPr sz="1200" b="0">
                <a:solidFill>
                  <a:srgbClr val="53687A"/>
                </a:solidFill>
                <a:latin typeface="DejaVu Sans"/>
                <a:ea typeface="DejaVu Sans"/>
                <a:cs typeface="DejaVu Sans"/>
              </a:rPr>
              <a:t>Figure: Operating System Concepts, 9th ed., ©2013, via UIC course notes</a:t>
            </a:r>
          </a:p>
        </p:txBody>
      </p:sp>
      <p:sp>
        <p:nvSpPr>
          <p:cNvPr id="5" name="Rectangle 4">
            <a:extLst>
              <a:ext uri="{FF2B5EF4-FFF2-40B4-BE49-F238E27FC236}">
                <a16:creationId xmlns:a16="http://schemas.microsoft.com/office/drawing/2014/main" id="{CE999F77-E523-451C-8CF0-9959F8112F3F}"/>
              </a:ext>
            </a:extLst>
          </p:cNvPr>
          <p:cNvSpPr>
            <a:spLocks noGrp="1"/>
          </p:cNvSpPr>
          <p:nvPr/>
        </p:nvSpPr>
        <p:spPr>
          <a:xfrm>
            <a:off x="685800" y="6381750"/>
            <a:ext cx="10820400" cy="238125"/>
          </a:xfrm>
          <a:prstGeom prst="rect">
            <a:avLst/>
          </a:prstGeom>
          <a:noFill/>
          <a:ln w="0">
            <a:noFill/>
          </a:ln>
        </p:spPr>
        <p:txBody>
          <a:bodyPr anchor="t">
            <a:noAutofit/>
          </a:bodyPr>
          <a:lstStyle/>
          <a:p>
            <a:pPr>
              <a:defRPr sz="1275" b="0">
                <a:solidFill>
                  <a:srgbClr val="53687A"/>
                </a:solidFill>
                <a:latin typeface="DejaVu Sans"/>
                <a:ea typeface="DejaVu Sans"/>
                <a:cs typeface="DejaVu Sans"/>
              </a:defRPr>
            </a:pPr>
            <a:r>
              <a:rPr sz="1275" b="0">
                <a:solidFill>
                  <a:srgbClr val="53687A"/>
                </a:solidFill>
                <a:latin typeface="DejaVu Sans"/>
                <a:ea typeface="DejaVu Sans"/>
                <a:cs typeface="DejaVu Sans"/>
              </a:rPr>
              <a:t>Week 2     33</a:t>
            </a:r>
          </a:p>
        </p:txBody>
      </p:sp>
    </p:spTree>
    <p:extLst>
      <p:ext uri="{BB962C8B-B14F-4D97-AF65-F5344CB8AC3E}">
        <p14:creationId xmlns:p14="http://schemas.microsoft.com/office/powerpoint/2010/main" val="2319795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E8008C2-BCC1-46AE-AB4D-42CECC68940F}"/>
              </a:ext>
            </a:extLst>
          </p:cNvPr>
          <p:cNvSpPr>
            <a:spLocks noGrp="1"/>
          </p:cNvSpPr>
          <p:nvPr/>
        </p:nvSpPr>
        <p:spPr>
          <a:xfrm>
            <a:off x="685800" y="495300"/>
            <a:ext cx="10858500" cy="857250"/>
          </a:xfrm>
          <a:prstGeom prst="rect">
            <a:avLst/>
          </a:prstGeom>
          <a:noFill/>
          <a:ln w="0">
            <a:noFill/>
          </a:ln>
        </p:spPr>
        <p:txBody>
          <a:bodyPr anchor="t">
            <a:noAutofit/>
          </a:bodyPr>
          <a:lstStyle/>
          <a:p>
            <a:pPr>
              <a:defRPr sz="3300" b="1">
                <a:solidFill>
                  <a:srgbClr val="132C43"/>
                </a:solidFill>
                <a:latin typeface="DejaVu Sans"/>
                <a:ea typeface="DejaVu Sans"/>
                <a:cs typeface="DejaVu Sans"/>
              </a:defRPr>
            </a:pPr>
            <a:r>
              <a:rPr sz="3300" b="1">
                <a:solidFill>
                  <a:srgbClr val="132C43"/>
                </a:solidFill>
                <a:latin typeface="DejaVu Sans"/>
                <a:ea typeface="DejaVu Sans"/>
                <a:cs typeface="DejaVu Sans"/>
              </a:rPr>
              <a:t>Monolithic structure</a:t>
            </a:r>
          </a:p>
        </p:txBody>
      </p:sp>
      <p:sp>
        <p:nvSpPr>
          <p:cNvPr id="2" name="Rectangle 1">
            <a:extLst>
              <a:ext uri="{FF2B5EF4-FFF2-40B4-BE49-F238E27FC236}">
                <a16:creationId xmlns:a16="http://schemas.microsoft.com/office/drawing/2014/main" id="{F960BC72-261F-4203-A87D-7FC2BC96D424}"/>
              </a:ext>
            </a:extLst>
          </p:cNvPr>
          <p:cNvSpPr>
            <a:spLocks noGrp="1"/>
          </p:cNvSpPr>
          <p:nvPr/>
        </p:nvSpPr>
        <p:spPr>
          <a:xfrm>
            <a:off x="685800" y="1619250"/>
            <a:ext cx="4476750" cy="3762375"/>
          </a:xfrm>
          <a:prstGeom prst="rect">
            <a:avLst/>
          </a:prstGeom>
          <a:noFill/>
          <a:ln w="0">
            <a:noFill/>
          </a:ln>
        </p:spPr>
        <p:txBody>
          <a:bodyPr anchor="t">
            <a:noAutofit/>
          </a:bodyPr>
          <a:lstStyle/>
          <a:p>
            <a:pPr>
              <a:defRPr sz="2100" b="0">
                <a:solidFill>
                  <a:srgbClr val="132C43"/>
                </a:solidFill>
                <a:latin typeface="DejaVu Sans"/>
                <a:ea typeface="DejaVu Sans"/>
                <a:cs typeface="DejaVu Sans"/>
              </a:defRPr>
            </a:pPr>
            <a:r>
              <a:rPr sz="2100" b="0">
                <a:solidFill>
                  <a:srgbClr val="132C43"/>
                </a:solidFill>
                <a:latin typeface="DejaVu Sans"/>
                <a:ea typeface="DejaVu Sans"/>
                <a:cs typeface="DejaVu Sans"/>
              </a:rPr>
              <a:t>Many core services share privileged space.</a:t>
            </a:r>
          </a:p>
          <a:p>
            <a:pPr>
              <a:defRPr sz="2100" b="0">
                <a:solidFill>
                  <a:srgbClr val="132C43"/>
                </a:solidFill>
                <a:latin typeface="DejaVu Sans"/>
                <a:ea typeface="DejaVu Sans"/>
                <a:cs typeface="DejaVu Sans"/>
              </a:defRPr>
            </a:pPr>
            <a:r>
              <a:rPr sz="2100" b="0">
                <a:solidFill>
                  <a:srgbClr val="132C43"/>
                </a:solidFill>
                <a:latin typeface="DejaVu Sans"/>
                <a:ea typeface="DejaVu Sans"/>
                <a:cs typeface="DejaVu Sans"/>
              </a:rPr>
              <a:t>Services communicate through internal calls.</a:t>
            </a:r>
          </a:p>
          <a:p>
            <a:pPr>
              <a:defRPr sz="2100" b="0">
                <a:solidFill>
                  <a:srgbClr val="132C43"/>
                </a:solidFill>
                <a:latin typeface="DejaVu Sans"/>
                <a:ea typeface="DejaVu Sans"/>
                <a:cs typeface="DejaVu Sans"/>
              </a:defRPr>
            </a:pPr>
            <a:r>
              <a:rPr sz="2100" b="0">
                <a:solidFill>
                  <a:srgbClr val="132C43"/>
                </a:solidFill>
                <a:latin typeface="DejaVu Sans"/>
                <a:ea typeface="DejaVu Sans"/>
                <a:cs typeface="DejaVu Sans"/>
              </a:rPr>
              <a:t>A kernel bug can affect the whole system.</a:t>
            </a:r>
          </a:p>
          <a:p>
            <a:pPr>
              <a:defRPr sz="2100" b="0">
                <a:solidFill>
                  <a:srgbClr val="132C43"/>
                </a:solidFill>
                <a:latin typeface="DejaVu Sans"/>
                <a:ea typeface="DejaVu Sans"/>
                <a:cs typeface="DejaVu Sans"/>
              </a:defRPr>
            </a:pPr>
            <a:r>
              <a:rPr sz="2100" b="0">
                <a:solidFill>
                  <a:srgbClr val="132C43"/>
                </a:solidFill>
                <a:latin typeface="DejaVu Sans"/>
                <a:ea typeface="DejaVu Sans"/>
                <a:cs typeface="DejaVu Sans"/>
              </a:rPr>
              <a:t>Linux supports a modular monolithic design.</a:t>
            </a:r>
          </a:p>
        </p:txBody>
      </p:sp>
      <p:pic>
        <p:nvPicPr>
          <p:cNvPr id="8" name="Picture 7"/>
          <p:cNvPicPr>
            <a:picLocks noChangeAspect="1"/>
          </p:cNvPicPr>
          <p:nvPr/>
        </p:nvPicPr>
        <p:blipFill>
          <a:blip r:embed="rId3"/>
          <a:stretch/>
        </p:blipFill>
        <p:spPr>
          <a:xfrm>
            <a:off x="5810250" y="1847284"/>
            <a:ext cx="5715000" cy="3449181"/>
          </a:xfrm>
          <a:prstGeom prst="rect">
            <a:avLst/>
          </a:prstGeom>
        </p:spPr>
      </p:pic>
      <p:sp>
        <p:nvSpPr>
          <p:cNvPr id="4" name="Rectangle 3">
            <a:extLst>
              <a:ext uri="{FF2B5EF4-FFF2-40B4-BE49-F238E27FC236}">
                <a16:creationId xmlns:a16="http://schemas.microsoft.com/office/drawing/2014/main" id="{114A2860-14CC-40C8-B304-77FA82C513AD}"/>
              </a:ext>
            </a:extLst>
          </p:cNvPr>
          <p:cNvSpPr>
            <a:spLocks noGrp="1"/>
          </p:cNvSpPr>
          <p:nvPr/>
        </p:nvSpPr>
        <p:spPr>
          <a:xfrm>
            <a:off x="685800" y="5924550"/>
            <a:ext cx="10572750" cy="247650"/>
          </a:xfrm>
          <a:prstGeom prst="rect">
            <a:avLst/>
          </a:prstGeom>
          <a:noFill/>
          <a:ln w="0">
            <a:noFill/>
          </a:ln>
        </p:spPr>
        <p:txBody>
          <a:bodyPr anchor="t">
            <a:noAutofit/>
          </a:bodyPr>
          <a:lstStyle/>
          <a:p>
            <a:pPr>
              <a:defRPr sz="1200" b="0">
                <a:solidFill>
                  <a:srgbClr val="53687A"/>
                </a:solidFill>
                <a:latin typeface="DejaVu Sans"/>
                <a:ea typeface="DejaVu Sans"/>
                <a:cs typeface="DejaVu Sans"/>
              </a:defRPr>
            </a:pPr>
            <a:r>
              <a:rPr sz="1200" b="0">
                <a:solidFill>
                  <a:srgbClr val="53687A"/>
                </a:solidFill>
                <a:latin typeface="DejaVu Sans"/>
                <a:ea typeface="DejaVu Sans"/>
                <a:cs typeface="DejaVu Sans"/>
              </a:rPr>
              <a:t>Figure: Operating System Concepts, 9th ed., ©2013, via UIC course notes</a:t>
            </a:r>
          </a:p>
        </p:txBody>
      </p:sp>
      <p:sp>
        <p:nvSpPr>
          <p:cNvPr id="5" name="Rectangle 4">
            <a:extLst>
              <a:ext uri="{FF2B5EF4-FFF2-40B4-BE49-F238E27FC236}">
                <a16:creationId xmlns:a16="http://schemas.microsoft.com/office/drawing/2014/main" id="{9DF29A33-E5F3-42BC-BF87-09C889E405EE}"/>
              </a:ext>
            </a:extLst>
          </p:cNvPr>
          <p:cNvSpPr>
            <a:spLocks noGrp="1"/>
          </p:cNvSpPr>
          <p:nvPr/>
        </p:nvSpPr>
        <p:spPr>
          <a:xfrm>
            <a:off x="685800" y="6381750"/>
            <a:ext cx="10820400" cy="238125"/>
          </a:xfrm>
          <a:prstGeom prst="rect">
            <a:avLst/>
          </a:prstGeom>
          <a:noFill/>
          <a:ln w="0">
            <a:noFill/>
          </a:ln>
        </p:spPr>
        <p:txBody>
          <a:bodyPr anchor="t">
            <a:noAutofit/>
          </a:bodyPr>
          <a:lstStyle/>
          <a:p>
            <a:pPr>
              <a:defRPr sz="1275" b="0">
                <a:solidFill>
                  <a:srgbClr val="53687A"/>
                </a:solidFill>
                <a:latin typeface="DejaVu Sans"/>
                <a:ea typeface="DejaVu Sans"/>
                <a:cs typeface="DejaVu Sans"/>
              </a:defRPr>
            </a:pPr>
            <a:r>
              <a:rPr sz="1275" b="0">
                <a:solidFill>
                  <a:srgbClr val="53687A"/>
                </a:solidFill>
                <a:latin typeface="DejaVu Sans"/>
                <a:ea typeface="DejaVu Sans"/>
                <a:cs typeface="DejaVu Sans"/>
              </a:rPr>
              <a:t>Week 2     34</a:t>
            </a:r>
          </a:p>
        </p:txBody>
      </p:sp>
    </p:spTree>
    <p:extLst>
      <p:ext uri="{BB962C8B-B14F-4D97-AF65-F5344CB8AC3E}">
        <p14:creationId xmlns:p14="http://schemas.microsoft.com/office/powerpoint/2010/main" val="2860020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4193E22-4D4B-4BC8-87C9-1259786FEF9A}"/>
              </a:ext>
            </a:extLst>
          </p:cNvPr>
          <p:cNvSpPr>
            <a:spLocks noGrp="1"/>
          </p:cNvSpPr>
          <p:nvPr/>
        </p:nvSpPr>
        <p:spPr>
          <a:xfrm>
            <a:off x="685800" y="495300"/>
            <a:ext cx="10858500" cy="857250"/>
          </a:xfrm>
          <a:prstGeom prst="rect">
            <a:avLst/>
          </a:prstGeom>
          <a:noFill/>
          <a:ln w="0">
            <a:noFill/>
          </a:ln>
        </p:spPr>
        <p:txBody>
          <a:bodyPr anchor="t">
            <a:noAutofit/>
          </a:bodyPr>
          <a:lstStyle/>
          <a:p>
            <a:pPr>
              <a:defRPr sz="3300" b="1">
                <a:solidFill>
                  <a:srgbClr val="132C43"/>
                </a:solidFill>
                <a:latin typeface="DejaVu Sans"/>
                <a:ea typeface="DejaVu Sans"/>
                <a:cs typeface="DejaVu Sans"/>
              </a:defRPr>
            </a:pPr>
            <a:r>
              <a:rPr sz="3300" b="1">
                <a:solidFill>
                  <a:srgbClr val="132C43"/>
                </a:solidFill>
                <a:latin typeface="DejaVu Sans"/>
                <a:ea typeface="DejaVu Sans"/>
                <a:cs typeface="DejaVu Sans"/>
              </a:rPr>
              <a:t>Layered structure</a:t>
            </a:r>
          </a:p>
        </p:txBody>
      </p:sp>
      <p:sp>
        <p:nvSpPr>
          <p:cNvPr id="2" name="Rectangle 1">
            <a:extLst>
              <a:ext uri="{FF2B5EF4-FFF2-40B4-BE49-F238E27FC236}">
                <a16:creationId xmlns:a16="http://schemas.microsoft.com/office/drawing/2014/main" id="{5514BB2A-3B15-4642-83FF-FC4055837C6A}"/>
              </a:ext>
            </a:extLst>
          </p:cNvPr>
          <p:cNvSpPr>
            <a:spLocks noGrp="1"/>
          </p:cNvSpPr>
          <p:nvPr/>
        </p:nvSpPr>
        <p:spPr>
          <a:xfrm>
            <a:off x="685800" y="1619250"/>
            <a:ext cx="4476750" cy="3762375"/>
          </a:xfrm>
          <a:prstGeom prst="rect">
            <a:avLst/>
          </a:prstGeom>
          <a:noFill/>
          <a:ln w="0">
            <a:noFill/>
          </a:ln>
        </p:spPr>
        <p:txBody>
          <a:bodyPr anchor="t">
            <a:noAutofit/>
          </a:bodyPr>
          <a:lstStyle/>
          <a:p>
            <a:pPr>
              <a:defRPr sz="2100" b="0">
                <a:solidFill>
                  <a:srgbClr val="132C43"/>
                </a:solidFill>
                <a:latin typeface="DejaVu Sans"/>
                <a:ea typeface="DejaVu Sans"/>
                <a:cs typeface="DejaVu Sans"/>
              </a:defRPr>
            </a:pPr>
            <a:r>
              <a:rPr sz="2100" b="0">
                <a:solidFill>
                  <a:srgbClr val="132C43"/>
                </a:solidFill>
                <a:latin typeface="DejaVu Sans"/>
                <a:ea typeface="DejaVu Sans"/>
                <a:cs typeface="DejaVu Sans"/>
              </a:rPr>
              <a:t>Each layer uses lower-level services.</a:t>
            </a:r>
          </a:p>
          <a:p>
            <a:pPr>
              <a:defRPr sz="2100" b="0">
                <a:solidFill>
                  <a:srgbClr val="132C43"/>
                </a:solidFill>
                <a:latin typeface="DejaVu Sans"/>
                <a:ea typeface="DejaVu Sans"/>
                <a:cs typeface="DejaVu Sans"/>
              </a:defRPr>
            </a:pPr>
            <a:r>
              <a:rPr sz="2100" b="0">
                <a:solidFill>
                  <a:srgbClr val="132C43"/>
                </a:solidFill>
                <a:latin typeface="DejaVu Sans"/>
                <a:ea typeface="DejaVu Sans"/>
                <a:cs typeface="DejaVu Sans"/>
              </a:rPr>
              <a:t>Clear boundaries help reasoning and testing.</a:t>
            </a:r>
          </a:p>
          <a:p>
            <a:pPr>
              <a:defRPr sz="2100" b="0">
                <a:solidFill>
                  <a:srgbClr val="132C43"/>
                </a:solidFill>
                <a:latin typeface="DejaVu Sans"/>
                <a:ea typeface="DejaVu Sans"/>
                <a:cs typeface="DejaVu Sans"/>
              </a:defRPr>
            </a:pPr>
            <a:r>
              <a:rPr sz="2100" b="0">
                <a:solidFill>
                  <a:srgbClr val="132C43"/>
                </a:solidFill>
                <a:latin typeface="DejaVu Sans"/>
                <a:ea typeface="DejaVu Sans"/>
                <a:cs typeface="DejaVu Sans"/>
              </a:rPr>
              <a:t>Choosing useful layers can be difficult.</a:t>
            </a:r>
          </a:p>
          <a:p>
            <a:pPr>
              <a:defRPr sz="2100" b="0">
                <a:solidFill>
                  <a:srgbClr val="132C43"/>
                </a:solidFill>
                <a:latin typeface="DejaVu Sans"/>
                <a:ea typeface="DejaVu Sans"/>
                <a:cs typeface="DejaVu Sans"/>
              </a:defRPr>
            </a:pPr>
            <a:r>
              <a:rPr sz="2100" b="0">
                <a:solidFill>
                  <a:srgbClr val="132C43"/>
                </a:solidFill>
                <a:latin typeface="DejaVu Sans"/>
                <a:ea typeface="DejaVu Sans"/>
                <a:cs typeface="DejaVu Sans"/>
              </a:rPr>
              <a:t>Extra crossings may add cost.</a:t>
            </a:r>
          </a:p>
        </p:txBody>
      </p:sp>
      <p:pic>
        <p:nvPicPr>
          <p:cNvPr id="8" name="Picture 7"/>
          <p:cNvPicPr>
            <a:picLocks noChangeAspect="1"/>
          </p:cNvPicPr>
          <p:nvPr/>
        </p:nvPicPr>
        <p:blipFill>
          <a:blip r:embed="rId3"/>
          <a:stretch/>
        </p:blipFill>
        <p:spPr>
          <a:xfrm>
            <a:off x="6619875" y="1524000"/>
            <a:ext cx="4095750" cy="4095750"/>
          </a:xfrm>
          <a:prstGeom prst="rect">
            <a:avLst/>
          </a:prstGeom>
        </p:spPr>
      </p:pic>
      <p:sp>
        <p:nvSpPr>
          <p:cNvPr id="4" name="Rectangle 3">
            <a:extLst>
              <a:ext uri="{FF2B5EF4-FFF2-40B4-BE49-F238E27FC236}">
                <a16:creationId xmlns:a16="http://schemas.microsoft.com/office/drawing/2014/main" id="{34C396B0-8FA5-4D4C-8BAB-2A968C3D65DD}"/>
              </a:ext>
            </a:extLst>
          </p:cNvPr>
          <p:cNvSpPr>
            <a:spLocks noGrp="1"/>
          </p:cNvSpPr>
          <p:nvPr/>
        </p:nvSpPr>
        <p:spPr>
          <a:xfrm>
            <a:off x="685800" y="5924550"/>
            <a:ext cx="10572750" cy="247650"/>
          </a:xfrm>
          <a:prstGeom prst="rect">
            <a:avLst/>
          </a:prstGeom>
          <a:noFill/>
          <a:ln w="0">
            <a:noFill/>
          </a:ln>
        </p:spPr>
        <p:txBody>
          <a:bodyPr anchor="t">
            <a:noAutofit/>
          </a:bodyPr>
          <a:lstStyle/>
          <a:p>
            <a:pPr>
              <a:defRPr sz="1200" b="0">
                <a:solidFill>
                  <a:srgbClr val="53687A"/>
                </a:solidFill>
                <a:latin typeface="DejaVu Sans"/>
                <a:ea typeface="DejaVu Sans"/>
                <a:cs typeface="DejaVu Sans"/>
              </a:defRPr>
            </a:pPr>
            <a:r>
              <a:rPr sz="1200" b="0">
                <a:solidFill>
                  <a:srgbClr val="53687A"/>
                </a:solidFill>
                <a:latin typeface="DejaVu Sans"/>
                <a:ea typeface="DejaVu Sans"/>
                <a:cs typeface="DejaVu Sans"/>
              </a:rPr>
              <a:t>Figure: Operating System Concepts, 9th ed., ©2013, via UIC course notes</a:t>
            </a:r>
          </a:p>
        </p:txBody>
      </p:sp>
      <p:sp>
        <p:nvSpPr>
          <p:cNvPr id="5" name="Rectangle 4">
            <a:extLst>
              <a:ext uri="{FF2B5EF4-FFF2-40B4-BE49-F238E27FC236}">
                <a16:creationId xmlns:a16="http://schemas.microsoft.com/office/drawing/2014/main" id="{D6421149-B2FF-4A4A-8D68-0EC4CCA34842}"/>
              </a:ext>
            </a:extLst>
          </p:cNvPr>
          <p:cNvSpPr>
            <a:spLocks noGrp="1"/>
          </p:cNvSpPr>
          <p:nvPr/>
        </p:nvSpPr>
        <p:spPr>
          <a:xfrm>
            <a:off x="685800" y="6381750"/>
            <a:ext cx="10820400" cy="238125"/>
          </a:xfrm>
          <a:prstGeom prst="rect">
            <a:avLst/>
          </a:prstGeom>
          <a:noFill/>
          <a:ln w="0">
            <a:noFill/>
          </a:ln>
        </p:spPr>
        <p:txBody>
          <a:bodyPr anchor="t">
            <a:noAutofit/>
          </a:bodyPr>
          <a:lstStyle/>
          <a:p>
            <a:pPr>
              <a:defRPr sz="1275" b="0">
                <a:solidFill>
                  <a:srgbClr val="53687A"/>
                </a:solidFill>
                <a:latin typeface="DejaVu Sans"/>
                <a:ea typeface="DejaVu Sans"/>
                <a:cs typeface="DejaVu Sans"/>
              </a:defRPr>
            </a:pPr>
            <a:r>
              <a:rPr sz="1275" b="0">
                <a:solidFill>
                  <a:srgbClr val="53687A"/>
                </a:solidFill>
                <a:latin typeface="DejaVu Sans"/>
                <a:ea typeface="DejaVu Sans"/>
                <a:cs typeface="DejaVu Sans"/>
              </a:rPr>
              <a:t>Week 2     35</a:t>
            </a:r>
          </a:p>
        </p:txBody>
      </p:sp>
    </p:spTree>
    <p:extLst>
      <p:ext uri="{BB962C8B-B14F-4D97-AF65-F5344CB8AC3E}">
        <p14:creationId xmlns:p14="http://schemas.microsoft.com/office/powerpoint/2010/main" val="1898150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DCABE51-C643-4B7A-871E-6E8A24B07B46}"/>
              </a:ext>
            </a:extLst>
          </p:cNvPr>
          <p:cNvSpPr>
            <a:spLocks noGrp="1"/>
          </p:cNvSpPr>
          <p:nvPr/>
        </p:nvSpPr>
        <p:spPr>
          <a:xfrm>
            <a:off x="685800" y="495300"/>
            <a:ext cx="10858500" cy="857250"/>
          </a:xfrm>
          <a:prstGeom prst="rect">
            <a:avLst/>
          </a:prstGeom>
          <a:noFill/>
          <a:ln w="0">
            <a:noFill/>
          </a:ln>
        </p:spPr>
        <p:txBody>
          <a:bodyPr anchor="t">
            <a:noAutofit/>
          </a:bodyPr>
          <a:lstStyle/>
          <a:p>
            <a:pPr>
              <a:defRPr sz="3300" b="1">
                <a:solidFill>
                  <a:srgbClr val="132C43"/>
                </a:solidFill>
                <a:latin typeface="DejaVu Sans"/>
                <a:ea typeface="DejaVu Sans"/>
                <a:cs typeface="DejaVu Sans"/>
              </a:defRPr>
            </a:pPr>
            <a:r>
              <a:rPr sz="3300" b="1">
                <a:solidFill>
                  <a:srgbClr val="132C43"/>
                </a:solidFill>
                <a:latin typeface="DejaVu Sans"/>
                <a:ea typeface="DejaVu Sans"/>
                <a:cs typeface="DejaVu Sans"/>
              </a:rPr>
              <a:t>Microkernel structure</a:t>
            </a:r>
          </a:p>
        </p:txBody>
      </p:sp>
      <p:sp>
        <p:nvSpPr>
          <p:cNvPr id="2" name="Rectangle 1">
            <a:extLst>
              <a:ext uri="{FF2B5EF4-FFF2-40B4-BE49-F238E27FC236}">
                <a16:creationId xmlns:a16="http://schemas.microsoft.com/office/drawing/2014/main" id="{0D147F83-B9F0-496D-AA65-2008864B265B}"/>
              </a:ext>
            </a:extLst>
          </p:cNvPr>
          <p:cNvSpPr>
            <a:spLocks noGrp="1"/>
          </p:cNvSpPr>
          <p:nvPr/>
        </p:nvSpPr>
        <p:spPr>
          <a:xfrm>
            <a:off x="685800" y="1438275"/>
            <a:ext cx="10820400" cy="1190625"/>
          </a:xfrm>
          <a:prstGeom prst="rect">
            <a:avLst/>
          </a:prstGeom>
          <a:noFill/>
          <a:ln w="0">
            <a:noFill/>
          </a:ln>
        </p:spPr>
        <p:txBody>
          <a:bodyPr anchor="t">
            <a:noAutofit/>
          </a:bodyPr>
          <a:lstStyle/>
          <a:p>
            <a:pPr>
              <a:defRPr sz="1950" b="0">
                <a:solidFill>
                  <a:srgbClr val="132C43"/>
                </a:solidFill>
                <a:latin typeface="DejaVu Sans"/>
                <a:ea typeface="DejaVu Sans"/>
                <a:cs typeface="DejaVu Sans"/>
              </a:defRPr>
            </a:pPr>
            <a:r>
              <a:rPr sz="1950" b="0">
                <a:solidFill>
                  <a:srgbClr val="132C43"/>
                </a:solidFill>
                <a:latin typeface="DejaVu Sans"/>
                <a:ea typeface="DejaVu Sans"/>
                <a:cs typeface="DejaVu Sans"/>
              </a:rPr>
              <a:t>A small kernel keeps essential mechanisms.</a:t>
            </a:r>
          </a:p>
          <a:p>
            <a:pPr>
              <a:defRPr sz="1950" b="0">
                <a:solidFill>
                  <a:srgbClr val="132C43"/>
                </a:solidFill>
                <a:latin typeface="DejaVu Sans"/>
                <a:ea typeface="DejaVu Sans"/>
                <a:cs typeface="DejaVu Sans"/>
              </a:defRPr>
            </a:pPr>
            <a:r>
              <a:rPr sz="1950" b="0">
                <a:solidFill>
                  <a:srgbClr val="132C43"/>
                </a:solidFill>
                <a:latin typeface="DejaVu Sans"/>
                <a:ea typeface="DejaVu Sans"/>
                <a:cs typeface="DejaVu Sans"/>
              </a:rPr>
              <a:t>More services run as user-space servers.</a:t>
            </a:r>
          </a:p>
          <a:p>
            <a:pPr>
              <a:defRPr sz="1950" b="0">
                <a:solidFill>
                  <a:srgbClr val="132C43"/>
                </a:solidFill>
                <a:latin typeface="DejaVu Sans"/>
                <a:ea typeface="DejaVu Sans"/>
                <a:cs typeface="DejaVu Sans"/>
              </a:defRPr>
            </a:pPr>
            <a:r>
              <a:rPr sz="1950" b="0">
                <a:solidFill>
                  <a:srgbClr val="132C43"/>
                </a:solidFill>
                <a:latin typeface="DejaVu Sans"/>
                <a:ea typeface="DejaVu Sans"/>
                <a:cs typeface="DejaVu Sans"/>
              </a:rPr>
              <a:t>Services communicate through messages.</a:t>
            </a:r>
          </a:p>
          <a:p>
            <a:pPr>
              <a:defRPr sz="1950" b="0">
                <a:solidFill>
                  <a:srgbClr val="132C43"/>
                </a:solidFill>
                <a:latin typeface="DejaVu Sans"/>
                <a:ea typeface="DejaVu Sans"/>
                <a:cs typeface="DejaVu Sans"/>
              </a:defRPr>
            </a:pPr>
            <a:r>
              <a:rPr sz="1950" b="0">
                <a:solidFill>
                  <a:srgbClr val="132C43"/>
                </a:solidFill>
                <a:latin typeface="DejaVu Sans"/>
                <a:ea typeface="DejaVu Sans"/>
                <a:cs typeface="DejaVu Sans"/>
              </a:rPr>
              <a:t>Isolation depends on the implemented boundaries.</a:t>
            </a:r>
          </a:p>
        </p:txBody>
      </p:sp>
      <p:pic>
        <p:nvPicPr>
          <p:cNvPr id="8" name="Picture 7"/>
          <p:cNvPicPr>
            <a:picLocks noChangeAspect="1"/>
          </p:cNvPicPr>
          <p:nvPr/>
        </p:nvPicPr>
        <p:blipFill>
          <a:blip r:embed="rId3"/>
          <a:stretch/>
        </p:blipFill>
        <p:spPr>
          <a:xfrm>
            <a:off x="3293955" y="2952750"/>
            <a:ext cx="5604090" cy="2714625"/>
          </a:xfrm>
          <a:prstGeom prst="rect">
            <a:avLst/>
          </a:prstGeom>
        </p:spPr>
      </p:pic>
      <p:sp>
        <p:nvSpPr>
          <p:cNvPr id="4" name="Rectangle 3">
            <a:extLst>
              <a:ext uri="{FF2B5EF4-FFF2-40B4-BE49-F238E27FC236}">
                <a16:creationId xmlns:a16="http://schemas.microsoft.com/office/drawing/2014/main" id="{76B2FDB5-D450-498F-8304-544CAF4BC93C}"/>
              </a:ext>
            </a:extLst>
          </p:cNvPr>
          <p:cNvSpPr>
            <a:spLocks noGrp="1"/>
          </p:cNvSpPr>
          <p:nvPr/>
        </p:nvSpPr>
        <p:spPr>
          <a:xfrm>
            <a:off x="685800" y="5924550"/>
            <a:ext cx="10572750" cy="247650"/>
          </a:xfrm>
          <a:prstGeom prst="rect">
            <a:avLst/>
          </a:prstGeom>
          <a:noFill/>
          <a:ln w="0">
            <a:noFill/>
          </a:ln>
        </p:spPr>
        <p:txBody>
          <a:bodyPr anchor="t">
            <a:noAutofit/>
          </a:bodyPr>
          <a:lstStyle/>
          <a:p>
            <a:pPr>
              <a:defRPr sz="1200" b="0">
                <a:solidFill>
                  <a:srgbClr val="53687A"/>
                </a:solidFill>
                <a:latin typeface="DejaVu Sans"/>
                <a:ea typeface="DejaVu Sans"/>
                <a:cs typeface="DejaVu Sans"/>
              </a:defRPr>
            </a:pPr>
            <a:r>
              <a:rPr sz="1200" b="0">
                <a:solidFill>
                  <a:srgbClr val="53687A"/>
                </a:solidFill>
                <a:latin typeface="DejaVu Sans"/>
                <a:ea typeface="DejaVu Sans"/>
                <a:cs typeface="DejaVu Sans"/>
              </a:rPr>
              <a:t>Figure: Operating System Concepts, 9th ed., ©2013, via UIC course notes</a:t>
            </a:r>
          </a:p>
        </p:txBody>
      </p:sp>
      <p:sp>
        <p:nvSpPr>
          <p:cNvPr id="5" name="Rectangle 4">
            <a:extLst>
              <a:ext uri="{FF2B5EF4-FFF2-40B4-BE49-F238E27FC236}">
                <a16:creationId xmlns:a16="http://schemas.microsoft.com/office/drawing/2014/main" id="{64EC7996-BD85-4B3D-B5B4-98C470C335DF}"/>
              </a:ext>
            </a:extLst>
          </p:cNvPr>
          <p:cNvSpPr>
            <a:spLocks noGrp="1"/>
          </p:cNvSpPr>
          <p:nvPr/>
        </p:nvSpPr>
        <p:spPr>
          <a:xfrm>
            <a:off x="685800" y="6381750"/>
            <a:ext cx="10820400" cy="238125"/>
          </a:xfrm>
          <a:prstGeom prst="rect">
            <a:avLst/>
          </a:prstGeom>
          <a:noFill/>
          <a:ln w="0">
            <a:noFill/>
          </a:ln>
        </p:spPr>
        <p:txBody>
          <a:bodyPr anchor="t">
            <a:noAutofit/>
          </a:bodyPr>
          <a:lstStyle/>
          <a:p>
            <a:pPr>
              <a:defRPr sz="1275" b="0">
                <a:solidFill>
                  <a:srgbClr val="53687A"/>
                </a:solidFill>
                <a:latin typeface="DejaVu Sans"/>
                <a:ea typeface="DejaVu Sans"/>
                <a:cs typeface="DejaVu Sans"/>
              </a:defRPr>
            </a:pPr>
            <a:r>
              <a:rPr sz="1275" b="0">
                <a:solidFill>
                  <a:srgbClr val="53687A"/>
                </a:solidFill>
                <a:latin typeface="DejaVu Sans"/>
                <a:ea typeface="DejaVu Sans"/>
                <a:cs typeface="DejaVu Sans"/>
              </a:rPr>
              <a:t>Week 2     36</a:t>
            </a:r>
          </a:p>
        </p:txBody>
      </p:sp>
    </p:spTree>
    <p:extLst>
      <p:ext uri="{BB962C8B-B14F-4D97-AF65-F5344CB8AC3E}">
        <p14:creationId xmlns:p14="http://schemas.microsoft.com/office/powerpoint/2010/main" val="20096199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141ECE1-EC87-4DCF-89CC-2E8378A67E65}"/>
              </a:ext>
            </a:extLst>
          </p:cNvPr>
          <p:cNvSpPr>
            <a:spLocks noGrp="1"/>
          </p:cNvSpPr>
          <p:nvPr/>
        </p:nvSpPr>
        <p:spPr>
          <a:xfrm>
            <a:off x="685800" y="495300"/>
            <a:ext cx="10858500" cy="857250"/>
          </a:xfrm>
          <a:prstGeom prst="rect">
            <a:avLst/>
          </a:prstGeom>
          <a:noFill/>
          <a:ln w="0">
            <a:noFill/>
          </a:ln>
        </p:spPr>
        <p:txBody>
          <a:bodyPr anchor="t">
            <a:noAutofit/>
          </a:bodyPr>
          <a:lstStyle/>
          <a:p>
            <a:pPr>
              <a:defRPr sz="3300" b="1">
                <a:solidFill>
                  <a:srgbClr val="132C43"/>
                </a:solidFill>
                <a:latin typeface="DejaVu Sans"/>
                <a:ea typeface="DejaVu Sans"/>
                <a:cs typeface="DejaVu Sans"/>
              </a:defRPr>
            </a:pPr>
            <a:r>
              <a:rPr sz="3300" b="1">
                <a:solidFill>
                  <a:srgbClr val="132C43"/>
                </a:solidFill>
                <a:latin typeface="DejaVu Sans"/>
                <a:ea typeface="DejaVu Sans"/>
                <a:cs typeface="DejaVu Sans"/>
              </a:rPr>
              <a:t>Modules</a:t>
            </a:r>
          </a:p>
        </p:txBody>
      </p:sp>
      <p:sp>
        <p:nvSpPr>
          <p:cNvPr id="2" name="Rectangle 1">
            <a:extLst>
              <a:ext uri="{FF2B5EF4-FFF2-40B4-BE49-F238E27FC236}">
                <a16:creationId xmlns:a16="http://schemas.microsoft.com/office/drawing/2014/main" id="{FC421D22-3B45-452F-8423-56557464B3D3}"/>
              </a:ext>
            </a:extLst>
          </p:cNvPr>
          <p:cNvSpPr>
            <a:spLocks noGrp="1"/>
          </p:cNvSpPr>
          <p:nvPr/>
        </p:nvSpPr>
        <p:spPr>
          <a:xfrm>
            <a:off x="685800" y="1619250"/>
            <a:ext cx="4476750" cy="3762375"/>
          </a:xfrm>
          <a:prstGeom prst="rect">
            <a:avLst/>
          </a:prstGeom>
          <a:noFill/>
          <a:ln w="0">
            <a:noFill/>
          </a:ln>
        </p:spPr>
        <p:txBody>
          <a:bodyPr anchor="t">
            <a:noAutofit/>
          </a:bodyPr>
          <a:lstStyle/>
          <a:p>
            <a:pPr>
              <a:defRPr sz="2100" b="0">
                <a:solidFill>
                  <a:srgbClr val="132C43"/>
                </a:solidFill>
                <a:latin typeface="DejaVu Sans"/>
                <a:ea typeface="DejaVu Sans"/>
                <a:cs typeface="DejaVu Sans"/>
              </a:defRPr>
            </a:pPr>
            <a:r>
              <a:rPr sz="2100" b="0">
                <a:solidFill>
                  <a:srgbClr val="132C43"/>
                </a:solidFill>
                <a:latin typeface="DejaVu Sans"/>
                <a:ea typeface="DejaVu Sans"/>
                <a:cs typeface="DejaVu Sans"/>
              </a:rPr>
              <a:t>A kernel can load extensions at runtime.</a:t>
            </a:r>
          </a:p>
          <a:p>
            <a:pPr>
              <a:defRPr sz="2100" b="0">
                <a:solidFill>
                  <a:srgbClr val="132C43"/>
                </a:solidFill>
                <a:latin typeface="DejaVu Sans"/>
                <a:ea typeface="DejaVu Sans"/>
                <a:cs typeface="DejaVu Sans"/>
              </a:defRPr>
            </a:pPr>
            <a:r>
              <a:rPr sz="2100" b="0">
                <a:solidFill>
                  <a:srgbClr val="132C43"/>
                </a:solidFill>
                <a:latin typeface="DejaVu Sans"/>
                <a:ea typeface="DejaVu Sans"/>
                <a:cs typeface="DejaVu Sans"/>
              </a:rPr>
              <a:t>Defined interfaces improve organization.</a:t>
            </a:r>
          </a:p>
          <a:p>
            <a:pPr>
              <a:defRPr sz="2100" b="0">
                <a:solidFill>
                  <a:srgbClr val="132C43"/>
                </a:solidFill>
                <a:latin typeface="DejaVu Sans"/>
                <a:ea typeface="DejaVu Sans"/>
                <a:cs typeface="DejaVu Sans"/>
              </a:defRPr>
            </a:pPr>
            <a:r>
              <a:rPr sz="2100" b="0">
                <a:solidFill>
                  <a:srgbClr val="132C43"/>
                </a:solidFill>
                <a:latin typeface="DejaVu Sans"/>
                <a:ea typeface="DejaVu Sans"/>
                <a:cs typeface="DejaVu Sans"/>
              </a:rPr>
              <a:t>Kernel modules still execute with privilege.</a:t>
            </a:r>
          </a:p>
          <a:p>
            <a:pPr>
              <a:defRPr sz="2100" b="0">
                <a:solidFill>
                  <a:srgbClr val="132C43"/>
                </a:solidFill>
                <a:latin typeface="DejaVu Sans"/>
                <a:ea typeface="DejaVu Sans"/>
                <a:cs typeface="DejaVu Sans"/>
              </a:defRPr>
            </a:pPr>
            <a:r>
              <a:rPr sz="2100" b="0">
                <a:solidFill>
                  <a:srgbClr val="132C43"/>
                </a:solidFill>
                <a:latin typeface="DejaVu Sans"/>
                <a:ea typeface="DejaVu Sans"/>
                <a:cs typeface="DejaVu Sans"/>
              </a:rPr>
              <a:t>Modularity alone does not isolate failures.</a:t>
            </a:r>
          </a:p>
        </p:txBody>
      </p:sp>
      <p:pic>
        <p:nvPicPr>
          <p:cNvPr id="8" name="Picture 7"/>
          <p:cNvPicPr>
            <a:picLocks noChangeAspect="1"/>
          </p:cNvPicPr>
          <p:nvPr/>
        </p:nvPicPr>
        <p:blipFill>
          <a:blip r:embed="rId3"/>
          <a:stretch/>
        </p:blipFill>
        <p:spPr>
          <a:xfrm>
            <a:off x="5810250" y="2229137"/>
            <a:ext cx="5715000" cy="2685477"/>
          </a:xfrm>
          <a:prstGeom prst="rect">
            <a:avLst/>
          </a:prstGeom>
        </p:spPr>
      </p:pic>
      <p:sp>
        <p:nvSpPr>
          <p:cNvPr id="4" name="Rectangle 3">
            <a:extLst>
              <a:ext uri="{FF2B5EF4-FFF2-40B4-BE49-F238E27FC236}">
                <a16:creationId xmlns:a16="http://schemas.microsoft.com/office/drawing/2014/main" id="{8E94BF8D-2C9D-497D-AB91-C36CB2E0B42B}"/>
              </a:ext>
            </a:extLst>
          </p:cNvPr>
          <p:cNvSpPr>
            <a:spLocks noGrp="1"/>
          </p:cNvSpPr>
          <p:nvPr/>
        </p:nvSpPr>
        <p:spPr>
          <a:xfrm>
            <a:off x="685800" y="5924550"/>
            <a:ext cx="10572750" cy="247650"/>
          </a:xfrm>
          <a:prstGeom prst="rect">
            <a:avLst/>
          </a:prstGeom>
          <a:noFill/>
          <a:ln w="0">
            <a:noFill/>
          </a:ln>
        </p:spPr>
        <p:txBody>
          <a:bodyPr anchor="t">
            <a:noAutofit/>
          </a:bodyPr>
          <a:lstStyle/>
          <a:p>
            <a:pPr>
              <a:defRPr sz="1200" b="0">
                <a:solidFill>
                  <a:srgbClr val="53687A"/>
                </a:solidFill>
                <a:latin typeface="DejaVu Sans"/>
                <a:ea typeface="DejaVu Sans"/>
                <a:cs typeface="DejaVu Sans"/>
              </a:defRPr>
            </a:pPr>
            <a:r>
              <a:rPr sz="1200" b="0">
                <a:solidFill>
                  <a:srgbClr val="53687A"/>
                </a:solidFill>
                <a:latin typeface="DejaVu Sans"/>
                <a:ea typeface="DejaVu Sans"/>
                <a:cs typeface="DejaVu Sans"/>
              </a:rPr>
              <a:t>Figure: Operating System Concepts, 9th ed., ©2013, via UIC course notes</a:t>
            </a:r>
          </a:p>
        </p:txBody>
      </p:sp>
      <p:sp>
        <p:nvSpPr>
          <p:cNvPr id="5" name="Rectangle 4">
            <a:extLst>
              <a:ext uri="{FF2B5EF4-FFF2-40B4-BE49-F238E27FC236}">
                <a16:creationId xmlns:a16="http://schemas.microsoft.com/office/drawing/2014/main" id="{9779066A-10D4-4CA0-9F84-3AEB03C46A23}"/>
              </a:ext>
            </a:extLst>
          </p:cNvPr>
          <p:cNvSpPr>
            <a:spLocks noGrp="1"/>
          </p:cNvSpPr>
          <p:nvPr/>
        </p:nvSpPr>
        <p:spPr>
          <a:xfrm>
            <a:off x="685800" y="6381750"/>
            <a:ext cx="10820400" cy="238125"/>
          </a:xfrm>
          <a:prstGeom prst="rect">
            <a:avLst/>
          </a:prstGeom>
          <a:noFill/>
          <a:ln w="0">
            <a:noFill/>
          </a:ln>
        </p:spPr>
        <p:txBody>
          <a:bodyPr anchor="t">
            <a:noAutofit/>
          </a:bodyPr>
          <a:lstStyle/>
          <a:p>
            <a:pPr>
              <a:defRPr sz="1275" b="0">
                <a:solidFill>
                  <a:srgbClr val="53687A"/>
                </a:solidFill>
                <a:latin typeface="DejaVu Sans"/>
                <a:ea typeface="DejaVu Sans"/>
                <a:cs typeface="DejaVu Sans"/>
              </a:defRPr>
            </a:pPr>
            <a:r>
              <a:rPr sz="1275" b="0">
                <a:solidFill>
                  <a:srgbClr val="53687A"/>
                </a:solidFill>
                <a:latin typeface="DejaVu Sans"/>
                <a:ea typeface="DejaVu Sans"/>
                <a:cs typeface="DejaVu Sans"/>
              </a:rPr>
              <a:t>Week 2     37</a:t>
            </a:r>
          </a:p>
        </p:txBody>
      </p:sp>
    </p:spTree>
    <p:extLst>
      <p:ext uri="{BB962C8B-B14F-4D97-AF65-F5344CB8AC3E}">
        <p14:creationId xmlns:p14="http://schemas.microsoft.com/office/powerpoint/2010/main" val="25741642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AD79CBA-ECF5-4521-A017-3CA5B0B279A4}"/>
              </a:ext>
            </a:extLst>
          </p:cNvPr>
          <p:cNvSpPr>
            <a:spLocks noGrp="1"/>
          </p:cNvSpPr>
          <p:nvPr/>
        </p:nvSpPr>
        <p:spPr>
          <a:xfrm>
            <a:off x="685800" y="495300"/>
            <a:ext cx="10858500" cy="857250"/>
          </a:xfrm>
          <a:prstGeom prst="rect">
            <a:avLst/>
          </a:prstGeom>
          <a:noFill/>
          <a:ln w="0">
            <a:noFill/>
          </a:ln>
        </p:spPr>
        <p:txBody>
          <a:bodyPr anchor="t">
            <a:noAutofit/>
          </a:bodyPr>
          <a:lstStyle/>
          <a:p>
            <a:pPr>
              <a:defRPr sz="3300" b="1">
                <a:solidFill>
                  <a:srgbClr val="132C43"/>
                </a:solidFill>
                <a:latin typeface="DejaVu Sans"/>
                <a:ea typeface="DejaVu Sans"/>
                <a:cs typeface="DejaVu Sans"/>
              </a:defRPr>
            </a:pPr>
            <a:r>
              <a:rPr sz="3300" b="1">
                <a:solidFill>
                  <a:srgbClr val="132C43"/>
                </a:solidFill>
                <a:latin typeface="DejaVu Sans"/>
                <a:ea typeface="DejaVu Sans"/>
                <a:cs typeface="DejaVu Sans"/>
              </a:rPr>
              <a:t>Hybrid systems: macOS and iOS</a:t>
            </a:r>
          </a:p>
        </p:txBody>
      </p:sp>
      <p:sp>
        <p:nvSpPr>
          <p:cNvPr id="2" name="Rectangle 1">
            <a:extLst>
              <a:ext uri="{FF2B5EF4-FFF2-40B4-BE49-F238E27FC236}">
                <a16:creationId xmlns:a16="http://schemas.microsoft.com/office/drawing/2014/main" id="{40EDF334-F22A-4DDB-BC95-9C56CF8F8382}"/>
              </a:ext>
            </a:extLst>
          </p:cNvPr>
          <p:cNvSpPr>
            <a:spLocks noGrp="1"/>
          </p:cNvSpPr>
          <p:nvPr/>
        </p:nvSpPr>
        <p:spPr>
          <a:xfrm>
            <a:off x="685800" y="1619250"/>
            <a:ext cx="4476750" cy="3762375"/>
          </a:xfrm>
          <a:prstGeom prst="rect">
            <a:avLst/>
          </a:prstGeom>
          <a:noFill/>
          <a:ln w="0">
            <a:noFill/>
          </a:ln>
        </p:spPr>
        <p:txBody>
          <a:bodyPr anchor="t">
            <a:noAutofit/>
          </a:bodyPr>
          <a:lstStyle/>
          <a:p>
            <a:pPr>
              <a:defRPr sz="2100" b="0">
                <a:solidFill>
                  <a:srgbClr val="132C43"/>
                </a:solidFill>
                <a:latin typeface="DejaVu Sans"/>
                <a:ea typeface="DejaVu Sans"/>
                <a:cs typeface="DejaVu Sans"/>
              </a:defRPr>
            </a:pPr>
            <a:r>
              <a:rPr sz="2100" b="0">
                <a:solidFill>
                  <a:srgbClr val="132C43"/>
                </a:solidFill>
                <a:latin typeface="DejaVu Sans"/>
                <a:ea typeface="DejaVu Sans"/>
                <a:cs typeface="DejaVu Sans"/>
              </a:rPr>
              <a:t>Apple’s XNU combines Mach and BSD facilities.</a:t>
            </a:r>
          </a:p>
          <a:p>
            <a:pPr>
              <a:defRPr sz="2100" b="0">
                <a:solidFill>
                  <a:srgbClr val="132C43"/>
                </a:solidFill>
                <a:latin typeface="DejaVu Sans"/>
                <a:ea typeface="DejaVu Sans"/>
                <a:cs typeface="DejaVu Sans"/>
              </a:defRPr>
            </a:pPr>
            <a:r>
              <a:rPr sz="2100" b="0">
                <a:solidFill>
                  <a:srgbClr val="132C43"/>
                </a:solidFill>
                <a:latin typeface="DejaVu Sans"/>
                <a:ea typeface="DejaVu Sans"/>
                <a:cs typeface="DejaVu Sans"/>
              </a:rPr>
              <a:t>I/O Kit supports driver infrastructure.</a:t>
            </a:r>
          </a:p>
          <a:p>
            <a:pPr>
              <a:defRPr sz="2100" b="0">
                <a:solidFill>
                  <a:srgbClr val="132C43"/>
                </a:solidFill>
                <a:latin typeface="DejaVu Sans"/>
                <a:ea typeface="DejaVu Sans"/>
                <a:cs typeface="DejaVu Sans"/>
              </a:defRPr>
            </a:pPr>
            <a:r>
              <a:rPr sz="2100" b="0">
                <a:solidFill>
                  <a:srgbClr val="132C43"/>
                </a:solidFill>
                <a:latin typeface="DejaVu Sans"/>
                <a:ea typeface="DejaVu Sans"/>
                <a:cs typeface="DejaVu Sans"/>
              </a:rPr>
              <a:t>The full OS includes user-space frameworks.</a:t>
            </a:r>
          </a:p>
          <a:p>
            <a:pPr>
              <a:defRPr sz="2100" b="0">
                <a:solidFill>
                  <a:srgbClr val="132C43"/>
                </a:solidFill>
                <a:latin typeface="DejaVu Sans"/>
                <a:ea typeface="DejaVu Sans"/>
                <a:cs typeface="DejaVu Sans"/>
              </a:defRPr>
            </a:pPr>
            <a:r>
              <a:rPr sz="2100" b="0">
                <a:solidFill>
                  <a:srgbClr val="132C43"/>
                </a:solidFill>
                <a:latin typeface="DejaVu Sans"/>
                <a:ea typeface="DejaVu Sans"/>
                <a:cs typeface="DejaVu Sans"/>
              </a:rPr>
              <a:t>Hybrid is a useful teaching classification.</a:t>
            </a:r>
          </a:p>
        </p:txBody>
      </p:sp>
      <p:pic>
        <p:nvPicPr>
          <p:cNvPr id="8" name="Picture 7"/>
          <p:cNvPicPr>
            <a:picLocks noChangeAspect="1"/>
          </p:cNvPicPr>
          <p:nvPr/>
        </p:nvPicPr>
        <p:blipFill>
          <a:blip r:embed="rId3"/>
          <a:stretch/>
        </p:blipFill>
        <p:spPr>
          <a:xfrm>
            <a:off x="5810250" y="2016416"/>
            <a:ext cx="5715000" cy="3110917"/>
          </a:xfrm>
          <a:prstGeom prst="rect">
            <a:avLst/>
          </a:prstGeom>
        </p:spPr>
      </p:pic>
      <p:sp>
        <p:nvSpPr>
          <p:cNvPr id="4" name="Rectangle 3">
            <a:extLst>
              <a:ext uri="{FF2B5EF4-FFF2-40B4-BE49-F238E27FC236}">
                <a16:creationId xmlns:a16="http://schemas.microsoft.com/office/drawing/2014/main" id="{57651900-050E-49B4-9AD6-494AAE92020E}"/>
              </a:ext>
            </a:extLst>
          </p:cNvPr>
          <p:cNvSpPr>
            <a:spLocks noGrp="1"/>
          </p:cNvSpPr>
          <p:nvPr/>
        </p:nvSpPr>
        <p:spPr>
          <a:xfrm>
            <a:off x="685800" y="5924550"/>
            <a:ext cx="10572750" cy="247650"/>
          </a:xfrm>
          <a:prstGeom prst="rect">
            <a:avLst/>
          </a:prstGeom>
          <a:noFill/>
          <a:ln w="0">
            <a:noFill/>
          </a:ln>
        </p:spPr>
        <p:txBody>
          <a:bodyPr anchor="t">
            <a:noAutofit/>
          </a:bodyPr>
          <a:lstStyle/>
          <a:p>
            <a:pPr>
              <a:defRPr sz="1200" b="0">
                <a:solidFill>
                  <a:srgbClr val="53687A"/>
                </a:solidFill>
                <a:latin typeface="DejaVu Sans"/>
                <a:ea typeface="DejaVu Sans"/>
                <a:cs typeface="DejaVu Sans"/>
              </a:defRPr>
            </a:pPr>
            <a:r>
              <a:rPr sz="1200" b="0">
                <a:solidFill>
                  <a:srgbClr val="53687A"/>
                </a:solidFill>
                <a:latin typeface="DejaVu Sans"/>
                <a:ea typeface="DejaVu Sans"/>
                <a:cs typeface="DejaVu Sans"/>
              </a:rPr>
              <a:t>Figure: Operating System Concepts, 9th ed., ©2013, via UIC course notes</a:t>
            </a:r>
          </a:p>
        </p:txBody>
      </p:sp>
      <p:sp>
        <p:nvSpPr>
          <p:cNvPr id="5" name="Rectangle 4">
            <a:extLst>
              <a:ext uri="{FF2B5EF4-FFF2-40B4-BE49-F238E27FC236}">
                <a16:creationId xmlns:a16="http://schemas.microsoft.com/office/drawing/2014/main" id="{00A3ABC8-0FCE-416F-B3BA-0C2D45F571D1}"/>
              </a:ext>
            </a:extLst>
          </p:cNvPr>
          <p:cNvSpPr>
            <a:spLocks noGrp="1"/>
          </p:cNvSpPr>
          <p:nvPr/>
        </p:nvSpPr>
        <p:spPr>
          <a:xfrm>
            <a:off x="685800" y="6381750"/>
            <a:ext cx="10820400" cy="238125"/>
          </a:xfrm>
          <a:prstGeom prst="rect">
            <a:avLst/>
          </a:prstGeom>
          <a:noFill/>
          <a:ln w="0">
            <a:noFill/>
          </a:ln>
        </p:spPr>
        <p:txBody>
          <a:bodyPr anchor="t">
            <a:noAutofit/>
          </a:bodyPr>
          <a:lstStyle/>
          <a:p>
            <a:pPr>
              <a:defRPr sz="1275" b="0">
                <a:solidFill>
                  <a:srgbClr val="53687A"/>
                </a:solidFill>
                <a:latin typeface="DejaVu Sans"/>
                <a:ea typeface="DejaVu Sans"/>
                <a:cs typeface="DejaVu Sans"/>
              </a:defRPr>
            </a:pPr>
            <a:r>
              <a:rPr sz="1275" b="0">
                <a:solidFill>
                  <a:srgbClr val="53687A"/>
                </a:solidFill>
                <a:latin typeface="DejaVu Sans"/>
                <a:ea typeface="DejaVu Sans"/>
                <a:cs typeface="DejaVu Sans"/>
              </a:rPr>
              <a:t>Week 2     38</a:t>
            </a:r>
          </a:p>
        </p:txBody>
      </p:sp>
    </p:spTree>
    <p:extLst>
      <p:ext uri="{BB962C8B-B14F-4D97-AF65-F5344CB8AC3E}">
        <p14:creationId xmlns:p14="http://schemas.microsoft.com/office/powerpoint/2010/main" val="17629588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244E447-A4FD-4F65-98F9-E086A64F38ED}"/>
              </a:ext>
            </a:extLst>
          </p:cNvPr>
          <p:cNvSpPr>
            <a:spLocks noGrp="1"/>
          </p:cNvSpPr>
          <p:nvPr/>
        </p:nvSpPr>
        <p:spPr>
          <a:xfrm>
            <a:off x="685800" y="495300"/>
            <a:ext cx="10858500" cy="857250"/>
          </a:xfrm>
          <a:prstGeom prst="rect">
            <a:avLst/>
          </a:prstGeom>
          <a:noFill/>
          <a:ln w="0">
            <a:noFill/>
          </a:ln>
        </p:spPr>
        <p:txBody>
          <a:bodyPr anchor="t">
            <a:noAutofit/>
          </a:bodyPr>
          <a:lstStyle/>
          <a:p>
            <a:pPr>
              <a:defRPr sz="3300" b="1">
                <a:solidFill>
                  <a:srgbClr val="132C43"/>
                </a:solidFill>
                <a:latin typeface="DejaVu Sans"/>
                <a:ea typeface="DejaVu Sans"/>
                <a:cs typeface="DejaVu Sans"/>
              </a:defRPr>
            </a:pPr>
            <a:r>
              <a:rPr sz="3300" b="1">
                <a:solidFill>
                  <a:srgbClr val="132C43"/>
                </a:solidFill>
                <a:latin typeface="DejaVu Sans"/>
                <a:ea typeface="DejaVu Sans"/>
                <a:cs typeface="DejaVu Sans"/>
              </a:rPr>
              <a:t>Android: stack versus kernel</a:t>
            </a:r>
          </a:p>
        </p:txBody>
      </p:sp>
      <p:sp>
        <p:nvSpPr>
          <p:cNvPr id="2" name="Rectangle 1">
            <a:extLst>
              <a:ext uri="{FF2B5EF4-FFF2-40B4-BE49-F238E27FC236}">
                <a16:creationId xmlns:a16="http://schemas.microsoft.com/office/drawing/2014/main" id="{EB245997-ACA4-4A85-9A8C-34841B4C6BB7}"/>
              </a:ext>
            </a:extLst>
          </p:cNvPr>
          <p:cNvSpPr>
            <a:spLocks noGrp="1"/>
          </p:cNvSpPr>
          <p:nvPr/>
        </p:nvSpPr>
        <p:spPr>
          <a:xfrm>
            <a:off x="685800" y="1428750"/>
            <a:ext cx="10820400" cy="1600200"/>
          </a:xfrm>
          <a:prstGeom prst="rect">
            <a:avLst/>
          </a:prstGeom>
          <a:noFill/>
          <a:ln w="0">
            <a:noFill/>
          </a:ln>
        </p:spPr>
        <p:txBody>
          <a:bodyPr anchor="t">
            <a:noAutofit/>
          </a:bodyPr>
          <a:lstStyle/>
          <a:p>
            <a:pPr>
              <a:defRPr sz="1950" b="0">
                <a:solidFill>
                  <a:srgbClr val="53687A"/>
                </a:solidFill>
                <a:latin typeface="DejaVu Sans"/>
                <a:ea typeface="DejaVu Sans"/>
                <a:cs typeface="DejaVu Sans"/>
              </a:defRPr>
            </a:pPr>
            <a:r>
              <a:rPr sz="1950" b="0">
                <a:solidFill>
                  <a:srgbClr val="53687A"/>
                </a:solidFill>
                <a:latin typeface="DejaVu Sans"/>
                <a:ea typeface="DejaVu Sans"/>
                <a:cs typeface="DejaVu Sans"/>
              </a:rPr>
              <a:t>Applications use framework services.</a:t>
            </a:r>
          </a:p>
          <a:p>
            <a:pPr>
              <a:defRPr sz="1950" b="0">
                <a:solidFill>
                  <a:srgbClr val="53687A"/>
                </a:solidFill>
                <a:latin typeface="DejaVu Sans"/>
                <a:ea typeface="DejaVu Sans"/>
                <a:cs typeface="DejaVu Sans"/>
              </a:defRPr>
            </a:pPr>
            <a:r>
              <a:rPr sz="1950" b="0">
                <a:solidFill>
                  <a:srgbClr val="53687A"/>
                </a:solidFill>
                <a:latin typeface="DejaVu Sans"/>
                <a:ea typeface="DejaVu Sans"/>
                <a:cs typeface="DejaVu Sans"/>
              </a:rPr>
              <a:t>The runtime and native libraries support apps.</a:t>
            </a:r>
          </a:p>
          <a:p>
            <a:pPr>
              <a:defRPr sz="1950" b="0">
                <a:solidFill>
                  <a:srgbClr val="53687A"/>
                </a:solidFill>
                <a:latin typeface="DejaVu Sans"/>
                <a:ea typeface="DejaVu Sans"/>
                <a:cs typeface="DejaVu Sans"/>
              </a:defRPr>
            </a:pPr>
            <a:r>
              <a:rPr sz="1950" b="0">
                <a:solidFill>
                  <a:srgbClr val="53687A"/>
                </a:solidFill>
                <a:latin typeface="DejaVu Sans"/>
                <a:ea typeface="DejaVu Sans"/>
                <a:cs typeface="DejaVu Sans"/>
              </a:rPr>
              <a:t>HAL interfaces expose device capabilities.</a:t>
            </a:r>
          </a:p>
          <a:p>
            <a:pPr>
              <a:defRPr sz="1950" b="0">
                <a:solidFill>
                  <a:srgbClr val="53687A"/>
                </a:solidFill>
                <a:latin typeface="DejaVu Sans"/>
                <a:ea typeface="DejaVu Sans"/>
                <a:cs typeface="DejaVu Sans"/>
              </a:defRPr>
            </a:pPr>
            <a:r>
              <a:rPr sz="1950" b="0">
                <a:solidFill>
                  <a:srgbClr val="53687A"/>
                </a:solidFill>
                <a:latin typeface="DejaVu Sans"/>
                <a:ea typeface="DejaVu Sans"/>
                <a:cs typeface="DejaVu Sans"/>
              </a:rPr>
              <a:t>The Linux kernel supplies core OS mechanisms.</a:t>
            </a:r>
          </a:p>
        </p:txBody>
      </p:sp>
      <p:graphicFrame>
        <p:nvGraphicFramePr>
          <p:cNvPr id="7" name="Table 6"/>
          <p:cNvGraphicFramePr/>
          <p:nvPr/>
        </p:nvGraphicFramePr>
        <p:xfrm>
          <a:off x="685800" y="3219450"/>
          <a:ext cx="10820400" cy="2638425"/>
        </p:xfrm>
        <a:graphic>
          <a:graphicData uri="http://schemas.openxmlformats.org/drawingml/2006/table">
            <a:tbl>
              <a:tblPr/>
              <a:tblGrid>
                <a:gridCol w="3143250">
                  <a:extLst>
                    <a:ext uri="{9D8B030D-6E8A-4147-A177-3AD203B41FA5}">
                      <a16:colId xmlns:a16="http://schemas.microsoft.com/office/drawing/2014/main" val="20000"/>
                    </a:ext>
                  </a:extLst>
                </a:gridCol>
                <a:gridCol w="7677150">
                  <a:extLst>
                    <a:ext uri="{9D8B030D-6E8A-4147-A177-3AD203B41FA5}">
                      <a16:colId xmlns:a16="http://schemas.microsoft.com/office/drawing/2014/main" val="20001"/>
                    </a:ext>
                  </a:extLst>
                </a:gridCol>
              </a:tblGrid>
              <a:tr h="527685">
                <a:tc>
                  <a:txBody>
                    <a:bodyPr/>
                    <a:lstStyle/>
                    <a:p>
                      <a:r>
                        <a:rPr sz="1725" b="1">
                          <a:solidFill>
                            <a:srgbClr val="FFFFFF"/>
                          </a:solidFill>
                          <a:latin typeface="DejaVu Sans"/>
                          <a:ea typeface="DejaVu Sans"/>
                          <a:cs typeface="DejaVu Sans"/>
                        </a:rPr>
                        <a:t>Level</a:t>
                      </a:r>
                    </a:p>
                  </a:txBody>
                  <a:tcPr marL="114300" marR="114300" marT="95250" marB="76200">
                    <a:solidFill>
                      <a:srgbClr val="132C43"/>
                    </a:solidFill>
                  </a:tcPr>
                </a:tc>
                <a:tc>
                  <a:txBody>
                    <a:bodyPr/>
                    <a:lstStyle/>
                    <a:p>
                      <a:r>
                        <a:rPr sz="1725" b="1">
                          <a:solidFill>
                            <a:srgbClr val="FFFFFF"/>
                          </a:solidFill>
                          <a:latin typeface="DejaVu Sans"/>
                          <a:ea typeface="DejaVu Sans"/>
                          <a:cs typeface="DejaVu Sans"/>
                        </a:rPr>
                        <a:t>Role</a:t>
                      </a:r>
                    </a:p>
                  </a:txBody>
                  <a:tcPr marL="114300" marR="114300" marT="95250" marB="76200">
                    <a:solidFill>
                      <a:srgbClr val="132C43"/>
                    </a:solidFill>
                  </a:tcPr>
                </a:tc>
                <a:extLst>
                  <a:ext uri="{0D108BD9-81ED-4DB2-BD59-A6C34878D82A}">
                    <a16:rowId xmlns:a16="http://schemas.microsoft.com/office/drawing/2014/main" val="10000"/>
                  </a:ext>
                </a:extLst>
              </a:tr>
              <a:tr h="527685">
                <a:tc>
                  <a:txBody>
                    <a:bodyPr/>
                    <a:lstStyle/>
                    <a:p>
                      <a:r>
                        <a:rPr sz="1725">
                          <a:solidFill>
                            <a:srgbClr val="132C43"/>
                          </a:solidFill>
                          <a:latin typeface="DejaVu Sans"/>
                          <a:ea typeface="DejaVu Sans"/>
                          <a:cs typeface="DejaVu Sans"/>
                        </a:rPr>
                        <a:t>Applications / framework</a:t>
                      </a:r>
                    </a:p>
                  </a:txBody>
                  <a:tcPr marL="114300" marR="114300" marT="95250" marB="76200">
                    <a:solidFill>
                      <a:srgbClr val="F0F6FA"/>
                    </a:solidFill>
                  </a:tcPr>
                </a:tc>
                <a:tc>
                  <a:txBody>
                    <a:bodyPr/>
                    <a:lstStyle/>
                    <a:p>
                      <a:r>
                        <a:rPr sz="1725">
                          <a:solidFill>
                            <a:srgbClr val="132C43"/>
                          </a:solidFill>
                          <a:latin typeface="DejaVu Sans"/>
                          <a:ea typeface="DejaVu Sans"/>
                          <a:cs typeface="DejaVu Sans"/>
                        </a:rPr>
                        <a:t>User features and application services</a:t>
                      </a:r>
                    </a:p>
                  </a:txBody>
                  <a:tcPr marL="114300" marR="114300" marT="95250" marB="76200">
                    <a:solidFill>
                      <a:srgbClr val="F0F6FA"/>
                    </a:solidFill>
                  </a:tcPr>
                </a:tc>
                <a:extLst>
                  <a:ext uri="{0D108BD9-81ED-4DB2-BD59-A6C34878D82A}">
                    <a16:rowId xmlns:a16="http://schemas.microsoft.com/office/drawing/2014/main" val="10001"/>
                  </a:ext>
                </a:extLst>
              </a:tr>
              <a:tr h="527685">
                <a:tc>
                  <a:txBody>
                    <a:bodyPr/>
                    <a:lstStyle/>
                    <a:p>
                      <a:r>
                        <a:rPr sz="1725">
                          <a:solidFill>
                            <a:srgbClr val="132C43"/>
                          </a:solidFill>
                          <a:latin typeface="DejaVu Sans"/>
                          <a:ea typeface="DejaVu Sans"/>
                          <a:cs typeface="DejaVu Sans"/>
                        </a:rPr>
                        <a:t>ART / native libraries</a:t>
                      </a:r>
                    </a:p>
                  </a:txBody>
                  <a:tcPr marL="114300" marR="114300" marT="95250" marB="76200">
                    <a:solidFill>
                      <a:srgbClr val="FFFFFF"/>
                    </a:solidFill>
                  </a:tcPr>
                </a:tc>
                <a:tc>
                  <a:txBody>
                    <a:bodyPr/>
                    <a:lstStyle/>
                    <a:p>
                      <a:r>
                        <a:rPr sz="1725">
                          <a:solidFill>
                            <a:srgbClr val="132C43"/>
                          </a:solidFill>
                          <a:latin typeface="DejaVu Sans"/>
                          <a:ea typeface="DejaVu Sans"/>
                          <a:cs typeface="DejaVu Sans"/>
                        </a:rPr>
                        <a:t>Execution and reusable native facilities</a:t>
                      </a:r>
                    </a:p>
                  </a:txBody>
                  <a:tcPr marL="114300" marR="114300" marT="95250" marB="76200">
                    <a:solidFill>
                      <a:srgbClr val="FFFFFF"/>
                    </a:solidFill>
                  </a:tcPr>
                </a:tc>
                <a:extLst>
                  <a:ext uri="{0D108BD9-81ED-4DB2-BD59-A6C34878D82A}">
                    <a16:rowId xmlns:a16="http://schemas.microsoft.com/office/drawing/2014/main" val="10002"/>
                  </a:ext>
                </a:extLst>
              </a:tr>
              <a:tr h="527685">
                <a:tc>
                  <a:txBody>
                    <a:bodyPr/>
                    <a:lstStyle/>
                    <a:p>
                      <a:r>
                        <a:rPr sz="1725">
                          <a:solidFill>
                            <a:srgbClr val="132C43"/>
                          </a:solidFill>
                          <a:latin typeface="DejaVu Sans"/>
                          <a:ea typeface="DejaVu Sans"/>
                          <a:cs typeface="DejaVu Sans"/>
                        </a:rPr>
                        <a:t>HAL</a:t>
                      </a:r>
                    </a:p>
                  </a:txBody>
                  <a:tcPr marL="114300" marR="114300" marT="95250" marB="76200">
                    <a:solidFill>
                      <a:srgbClr val="F0F6FA"/>
                    </a:solidFill>
                  </a:tcPr>
                </a:tc>
                <a:tc>
                  <a:txBody>
                    <a:bodyPr/>
                    <a:lstStyle/>
                    <a:p>
                      <a:r>
                        <a:rPr sz="1725">
                          <a:solidFill>
                            <a:srgbClr val="132C43"/>
                          </a:solidFill>
                          <a:latin typeface="DejaVu Sans"/>
                          <a:ea typeface="DejaVu Sans"/>
                          <a:cs typeface="DejaVu Sans"/>
                        </a:rPr>
                        <a:t>Interfaces to device-specific capabilities</a:t>
                      </a:r>
                    </a:p>
                  </a:txBody>
                  <a:tcPr marL="114300" marR="114300" marT="95250" marB="76200">
                    <a:solidFill>
                      <a:srgbClr val="F0F6FA"/>
                    </a:solidFill>
                  </a:tcPr>
                </a:tc>
                <a:extLst>
                  <a:ext uri="{0D108BD9-81ED-4DB2-BD59-A6C34878D82A}">
                    <a16:rowId xmlns:a16="http://schemas.microsoft.com/office/drawing/2014/main" val="10003"/>
                  </a:ext>
                </a:extLst>
              </a:tr>
              <a:tr h="527685">
                <a:tc>
                  <a:txBody>
                    <a:bodyPr/>
                    <a:lstStyle/>
                    <a:p>
                      <a:r>
                        <a:rPr sz="1725">
                          <a:solidFill>
                            <a:srgbClr val="132C43"/>
                          </a:solidFill>
                          <a:latin typeface="DejaVu Sans"/>
                          <a:ea typeface="DejaVu Sans"/>
                          <a:cs typeface="DejaVu Sans"/>
                        </a:rPr>
                        <a:t>Linux kernel</a:t>
                      </a:r>
                    </a:p>
                  </a:txBody>
                  <a:tcPr marL="114300" marR="114300" marT="95250" marB="76200">
                    <a:solidFill>
                      <a:srgbClr val="FFFFFF"/>
                    </a:solidFill>
                  </a:tcPr>
                </a:tc>
                <a:tc>
                  <a:txBody>
                    <a:bodyPr/>
                    <a:lstStyle/>
                    <a:p>
                      <a:r>
                        <a:rPr sz="1725">
                          <a:solidFill>
                            <a:srgbClr val="132C43"/>
                          </a:solidFill>
                          <a:latin typeface="DejaVu Sans"/>
                          <a:ea typeface="DejaVu Sans"/>
                          <a:cs typeface="DejaVu Sans"/>
                        </a:rPr>
                        <a:t>Scheduling, memory, drivers and protection</a:t>
                      </a:r>
                    </a:p>
                  </a:txBody>
                  <a:tcPr marL="114300" marR="114300" marT="95250" marB="76200">
                    <a:solidFill>
                      <a:srgbClr val="FFFFFF"/>
                    </a:solidFill>
                  </a:tcPr>
                </a:tc>
                <a:extLst>
                  <a:ext uri="{0D108BD9-81ED-4DB2-BD59-A6C34878D82A}">
                    <a16:rowId xmlns:a16="http://schemas.microsoft.com/office/drawing/2014/main" val="10004"/>
                  </a:ext>
                </a:extLst>
              </a:tr>
            </a:tbl>
          </a:graphicData>
        </a:graphic>
      </p:graphicFrame>
      <p:sp>
        <p:nvSpPr>
          <p:cNvPr id="4" name="Rectangle 3">
            <a:extLst>
              <a:ext uri="{FF2B5EF4-FFF2-40B4-BE49-F238E27FC236}">
                <a16:creationId xmlns:a16="http://schemas.microsoft.com/office/drawing/2014/main" id="{A08B09E7-B0AB-4906-BD0D-C61A53D0362C}"/>
              </a:ext>
            </a:extLst>
          </p:cNvPr>
          <p:cNvSpPr>
            <a:spLocks noGrp="1"/>
          </p:cNvSpPr>
          <p:nvPr/>
        </p:nvSpPr>
        <p:spPr>
          <a:xfrm>
            <a:off x="685800" y="6381750"/>
            <a:ext cx="10820400" cy="238125"/>
          </a:xfrm>
          <a:prstGeom prst="rect">
            <a:avLst/>
          </a:prstGeom>
          <a:noFill/>
          <a:ln w="0">
            <a:noFill/>
          </a:ln>
        </p:spPr>
        <p:txBody>
          <a:bodyPr anchor="t">
            <a:noAutofit/>
          </a:bodyPr>
          <a:lstStyle/>
          <a:p>
            <a:pPr>
              <a:defRPr sz="1275" b="0">
                <a:solidFill>
                  <a:srgbClr val="53687A"/>
                </a:solidFill>
                <a:latin typeface="DejaVu Sans"/>
                <a:ea typeface="DejaVu Sans"/>
                <a:cs typeface="DejaVu Sans"/>
              </a:defRPr>
            </a:pPr>
            <a:r>
              <a:rPr sz="1275" b="0">
                <a:solidFill>
                  <a:srgbClr val="53687A"/>
                </a:solidFill>
                <a:latin typeface="DejaVu Sans"/>
                <a:ea typeface="DejaVu Sans"/>
                <a:cs typeface="DejaVu Sans"/>
              </a:rPr>
              <a:t>Week 2     39</a:t>
            </a:r>
          </a:p>
        </p:txBody>
      </p:sp>
    </p:spTree>
    <p:extLst>
      <p:ext uri="{BB962C8B-B14F-4D97-AF65-F5344CB8AC3E}">
        <p14:creationId xmlns:p14="http://schemas.microsoft.com/office/powerpoint/2010/main" val="4983830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D7A0501-A482-4429-A9D0-8C16C718D928}"/>
              </a:ext>
            </a:extLst>
          </p:cNvPr>
          <p:cNvSpPr>
            <a:spLocks noGrp="1"/>
          </p:cNvSpPr>
          <p:nvPr/>
        </p:nvSpPr>
        <p:spPr>
          <a:xfrm>
            <a:off x="685800" y="495300"/>
            <a:ext cx="10858500" cy="857250"/>
          </a:xfrm>
          <a:prstGeom prst="rect">
            <a:avLst/>
          </a:prstGeom>
          <a:noFill/>
          <a:ln w="0">
            <a:noFill/>
          </a:ln>
        </p:spPr>
        <p:txBody>
          <a:bodyPr anchor="t">
            <a:noAutofit/>
          </a:bodyPr>
          <a:lstStyle/>
          <a:p>
            <a:pPr>
              <a:defRPr sz="3300" b="1">
                <a:solidFill>
                  <a:srgbClr val="132C43"/>
                </a:solidFill>
                <a:latin typeface="DejaVu Sans"/>
                <a:ea typeface="DejaVu Sans"/>
                <a:cs typeface="DejaVu Sans"/>
              </a:defRPr>
            </a:pPr>
            <a:r>
              <a:rPr sz="3300" b="1">
                <a:solidFill>
                  <a:srgbClr val="132C43"/>
                </a:solidFill>
                <a:latin typeface="DejaVu Sans"/>
                <a:ea typeface="DejaVu Sans"/>
                <a:cs typeface="DejaVu Sans"/>
              </a:rPr>
              <a:t>Structure comparison</a:t>
            </a:r>
          </a:p>
        </p:txBody>
      </p:sp>
      <p:sp>
        <p:nvSpPr>
          <p:cNvPr id="2" name="Rectangle 1">
            <a:extLst>
              <a:ext uri="{FF2B5EF4-FFF2-40B4-BE49-F238E27FC236}">
                <a16:creationId xmlns:a16="http://schemas.microsoft.com/office/drawing/2014/main" id="{1DEF7BCB-2F34-47FD-9C96-99CBA1C9B9B0}"/>
              </a:ext>
            </a:extLst>
          </p:cNvPr>
          <p:cNvSpPr>
            <a:spLocks noGrp="1"/>
          </p:cNvSpPr>
          <p:nvPr/>
        </p:nvSpPr>
        <p:spPr>
          <a:xfrm>
            <a:off x="685800" y="1428750"/>
            <a:ext cx="10820400" cy="457200"/>
          </a:xfrm>
          <a:prstGeom prst="rect">
            <a:avLst/>
          </a:prstGeom>
          <a:noFill/>
          <a:ln w="0">
            <a:noFill/>
          </a:ln>
        </p:spPr>
        <p:txBody>
          <a:bodyPr anchor="t">
            <a:noAutofit/>
          </a:bodyPr>
          <a:lstStyle/>
          <a:p>
            <a:pPr>
              <a:defRPr sz="1950" b="0">
                <a:solidFill>
                  <a:srgbClr val="53687A"/>
                </a:solidFill>
                <a:latin typeface="DejaVu Sans"/>
                <a:ea typeface="DejaVu Sans"/>
                <a:cs typeface="DejaVu Sans"/>
              </a:defRPr>
            </a:pPr>
            <a:r>
              <a:rPr sz="1950" b="0">
                <a:solidFill>
                  <a:srgbClr val="53687A"/>
                </a:solidFill>
                <a:latin typeface="DejaVu Sans"/>
                <a:ea typeface="DejaVu Sans"/>
                <a:cs typeface="DejaVu Sans"/>
              </a:rPr>
              <a:t>The key question is where services execute.</a:t>
            </a:r>
          </a:p>
        </p:txBody>
      </p:sp>
      <p:graphicFrame>
        <p:nvGraphicFramePr>
          <p:cNvPr id="7" name="Table 6"/>
          <p:cNvGraphicFramePr/>
          <p:nvPr/>
        </p:nvGraphicFramePr>
        <p:xfrm>
          <a:off x="685800" y="2076450"/>
          <a:ext cx="10820400" cy="3781428"/>
        </p:xfrm>
        <a:graphic>
          <a:graphicData uri="http://schemas.openxmlformats.org/drawingml/2006/table">
            <a:tbl>
              <a:tblPr/>
              <a:tblGrid>
                <a:gridCol w="2762250">
                  <a:extLst>
                    <a:ext uri="{9D8B030D-6E8A-4147-A177-3AD203B41FA5}">
                      <a16:colId xmlns:a16="http://schemas.microsoft.com/office/drawing/2014/main" val="20000"/>
                    </a:ext>
                  </a:extLst>
                </a:gridCol>
                <a:gridCol w="4095750">
                  <a:extLst>
                    <a:ext uri="{9D8B030D-6E8A-4147-A177-3AD203B41FA5}">
                      <a16:colId xmlns:a16="http://schemas.microsoft.com/office/drawing/2014/main" val="20001"/>
                    </a:ext>
                  </a:extLst>
                </a:gridCol>
                <a:gridCol w="3962400">
                  <a:extLst>
                    <a:ext uri="{9D8B030D-6E8A-4147-A177-3AD203B41FA5}">
                      <a16:colId xmlns:a16="http://schemas.microsoft.com/office/drawing/2014/main" val="20002"/>
                    </a:ext>
                  </a:extLst>
                </a:gridCol>
              </a:tblGrid>
              <a:tr h="630238">
                <a:tc>
                  <a:txBody>
                    <a:bodyPr/>
                    <a:lstStyle/>
                    <a:p>
                      <a:r>
                        <a:rPr sz="1725" b="1">
                          <a:solidFill>
                            <a:srgbClr val="FFFFFF"/>
                          </a:solidFill>
                          <a:latin typeface="DejaVu Sans"/>
                          <a:ea typeface="DejaVu Sans"/>
                          <a:cs typeface="DejaVu Sans"/>
                        </a:rPr>
                        <a:t>Structure</a:t>
                      </a:r>
                    </a:p>
                  </a:txBody>
                  <a:tcPr marL="114300" marR="114300" marT="95250" marB="76200">
                    <a:solidFill>
                      <a:srgbClr val="132C43"/>
                    </a:solidFill>
                  </a:tcPr>
                </a:tc>
                <a:tc>
                  <a:txBody>
                    <a:bodyPr/>
                    <a:lstStyle/>
                    <a:p>
                      <a:r>
                        <a:rPr sz="1725" b="1">
                          <a:solidFill>
                            <a:srgbClr val="FFFFFF"/>
                          </a:solidFill>
                          <a:latin typeface="DejaVu Sans"/>
                          <a:ea typeface="DejaVu Sans"/>
                          <a:cs typeface="DejaVu Sans"/>
                        </a:rPr>
                        <a:t>Main benefit</a:t>
                      </a:r>
                    </a:p>
                  </a:txBody>
                  <a:tcPr marL="114300" marR="114300" marT="95250" marB="76200">
                    <a:solidFill>
                      <a:srgbClr val="132C43"/>
                    </a:solidFill>
                  </a:tcPr>
                </a:tc>
                <a:tc>
                  <a:txBody>
                    <a:bodyPr/>
                    <a:lstStyle/>
                    <a:p>
                      <a:r>
                        <a:rPr sz="1725" b="1">
                          <a:solidFill>
                            <a:srgbClr val="FFFFFF"/>
                          </a:solidFill>
                          <a:latin typeface="DejaVu Sans"/>
                          <a:ea typeface="DejaVu Sans"/>
                          <a:cs typeface="DejaVu Sans"/>
                        </a:rPr>
                        <a:t>Main concern</a:t>
                      </a:r>
                    </a:p>
                  </a:txBody>
                  <a:tcPr marL="114300" marR="114300" marT="95250" marB="76200">
                    <a:solidFill>
                      <a:srgbClr val="132C43"/>
                    </a:solidFill>
                  </a:tcPr>
                </a:tc>
                <a:extLst>
                  <a:ext uri="{0D108BD9-81ED-4DB2-BD59-A6C34878D82A}">
                    <a16:rowId xmlns:a16="http://schemas.microsoft.com/office/drawing/2014/main" val="10000"/>
                  </a:ext>
                </a:extLst>
              </a:tr>
              <a:tr h="630238">
                <a:tc>
                  <a:txBody>
                    <a:bodyPr/>
                    <a:lstStyle/>
                    <a:p>
                      <a:r>
                        <a:rPr sz="1725">
                          <a:solidFill>
                            <a:srgbClr val="132C43"/>
                          </a:solidFill>
                          <a:latin typeface="DejaVu Sans"/>
                          <a:ea typeface="DejaVu Sans"/>
                          <a:cs typeface="DejaVu Sans"/>
                        </a:rPr>
                        <a:t>Simple</a:t>
                      </a:r>
                    </a:p>
                  </a:txBody>
                  <a:tcPr marL="114300" marR="114300" marT="95250" marB="76200">
                    <a:solidFill>
                      <a:srgbClr val="F0F6FA"/>
                    </a:solidFill>
                  </a:tcPr>
                </a:tc>
                <a:tc>
                  <a:txBody>
                    <a:bodyPr/>
                    <a:lstStyle/>
                    <a:p>
                      <a:r>
                        <a:rPr sz="1725">
                          <a:solidFill>
                            <a:srgbClr val="132C43"/>
                          </a:solidFill>
                          <a:latin typeface="DejaVu Sans"/>
                          <a:ea typeface="DejaVu Sans"/>
                          <a:cs typeface="DejaVu Sans"/>
                        </a:rPr>
                        <a:t>Small and straightforward</a:t>
                      </a:r>
                    </a:p>
                  </a:txBody>
                  <a:tcPr marL="114300" marR="114300" marT="95250" marB="76200">
                    <a:solidFill>
                      <a:srgbClr val="F0F6FA"/>
                    </a:solidFill>
                  </a:tcPr>
                </a:tc>
                <a:tc>
                  <a:txBody>
                    <a:bodyPr/>
                    <a:lstStyle/>
                    <a:p>
                      <a:r>
                        <a:rPr sz="1725">
                          <a:solidFill>
                            <a:srgbClr val="132C43"/>
                          </a:solidFill>
                          <a:latin typeface="DejaVu Sans"/>
                          <a:ea typeface="DejaVu Sans"/>
                          <a:cs typeface="DejaVu Sans"/>
                        </a:rPr>
                        <a:t>Weak separation</a:t>
                      </a:r>
                    </a:p>
                  </a:txBody>
                  <a:tcPr marL="114300" marR="114300" marT="95250" marB="76200">
                    <a:solidFill>
                      <a:srgbClr val="F0F6FA"/>
                    </a:solidFill>
                  </a:tcPr>
                </a:tc>
                <a:extLst>
                  <a:ext uri="{0D108BD9-81ED-4DB2-BD59-A6C34878D82A}">
                    <a16:rowId xmlns:a16="http://schemas.microsoft.com/office/drawing/2014/main" val="10001"/>
                  </a:ext>
                </a:extLst>
              </a:tr>
              <a:tr h="630238">
                <a:tc>
                  <a:txBody>
                    <a:bodyPr/>
                    <a:lstStyle/>
                    <a:p>
                      <a:r>
                        <a:rPr sz="1725">
                          <a:solidFill>
                            <a:srgbClr val="132C43"/>
                          </a:solidFill>
                          <a:latin typeface="DejaVu Sans"/>
                          <a:ea typeface="DejaVu Sans"/>
                          <a:cs typeface="DejaVu Sans"/>
                        </a:rPr>
                        <a:t>Monolithic</a:t>
                      </a:r>
                    </a:p>
                  </a:txBody>
                  <a:tcPr marL="114300" marR="114300" marT="95250" marB="76200">
                    <a:solidFill>
                      <a:srgbClr val="FFFFFF"/>
                    </a:solidFill>
                  </a:tcPr>
                </a:tc>
                <a:tc>
                  <a:txBody>
                    <a:bodyPr/>
                    <a:lstStyle/>
                    <a:p>
                      <a:r>
                        <a:rPr sz="1725">
                          <a:solidFill>
                            <a:srgbClr val="132C43"/>
                          </a:solidFill>
                          <a:latin typeface="DejaVu Sans"/>
                          <a:ea typeface="DejaVu Sans"/>
                          <a:cs typeface="DejaVu Sans"/>
                        </a:rPr>
                        <a:t>Direct internal service calls</a:t>
                      </a:r>
                    </a:p>
                  </a:txBody>
                  <a:tcPr marL="114300" marR="114300" marT="95250" marB="76200">
                    <a:solidFill>
                      <a:srgbClr val="FFFFFF"/>
                    </a:solidFill>
                  </a:tcPr>
                </a:tc>
                <a:tc>
                  <a:txBody>
                    <a:bodyPr/>
                    <a:lstStyle/>
                    <a:p>
                      <a:r>
                        <a:rPr sz="1725">
                          <a:solidFill>
                            <a:srgbClr val="132C43"/>
                          </a:solidFill>
                          <a:latin typeface="DejaVu Sans"/>
                          <a:ea typeface="DejaVu Sans"/>
                          <a:cs typeface="DejaVu Sans"/>
                        </a:rPr>
                        <a:t>Large privileged failure domain</a:t>
                      </a:r>
                    </a:p>
                  </a:txBody>
                  <a:tcPr marL="114300" marR="114300" marT="95250" marB="76200">
                    <a:solidFill>
                      <a:srgbClr val="FFFFFF"/>
                    </a:solidFill>
                  </a:tcPr>
                </a:tc>
                <a:extLst>
                  <a:ext uri="{0D108BD9-81ED-4DB2-BD59-A6C34878D82A}">
                    <a16:rowId xmlns:a16="http://schemas.microsoft.com/office/drawing/2014/main" val="10002"/>
                  </a:ext>
                </a:extLst>
              </a:tr>
              <a:tr h="630238">
                <a:tc>
                  <a:txBody>
                    <a:bodyPr/>
                    <a:lstStyle/>
                    <a:p>
                      <a:r>
                        <a:rPr sz="1725">
                          <a:solidFill>
                            <a:srgbClr val="132C43"/>
                          </a:solidFill>
                          <a:latin typeface="DejaVu Sans"/>
                          <a:ea typeface="DejaVu Sans"/>
                          <a:cs typeface="DejaVu Sans"/>
                        </a:rPr>
                        <a:t>Layered</a:t>
                      </a:r>
                    </a:p>
                  </a:txBody>
                  <a:tcPr marL="114300" marR="114300" marT="95250" marB="76200">
                    <a:solidFill>
                      <a:srgbClr val="F0F6FA"/>
                    </a:solidFill>
                  </a:tcPr>
                </a:tc>
                <a:tc>
                  <a:txBody>
                    <a:bodyPr/>
                    <a:lstStyle/>
                    <a:p>
                      <a:r>
                        <a:rPr sz="1725">
                          <a:solidFill>
                            <a:srgbClr val="132C43"/>
                          </a:solidFill>
                          <a:latin typeface="DejaVu Sans"/>
                          <a:ea typeface="DejaVu Sans"/>
                          <a:cs typeface="DejaVu Sans"/>
                        </a:rPr>
                        <a:t>Clear dependency boundaries</a:t>
                      </a:r>
                    </a:p>
                  </a:txBody>
                  <a:tcPr marL="114300" marR="114300" marT="95250" marB="76200">
                    <a:solidFill>
                      <a:srgbClr val="F0F6FA"/>
                    </a:solidFill>
                  </a:tcPr>
                </a:tc>
                <a:tc>
                  <a:txBody>
                    <a:bodyPr/>
                    <a:lstStyle/>
                    <a:p>
                      <a:r>
                        <a:rPr sz="1725">
                          <a:solidFill>
                            <a:srgbClr val="132C43"/>
                          </a:solidFill>
                          <a:latin typeface="DejaVu Sans"/>
                          <a:ea typeface="DejaVu Sans"/>
                          <a:cs typeface="DejaVu Sans"/>
                        </a:rPr>
                        <a:t>Layer placement and crossings</a:t>
                      </a:r>
                    </a:p>
                  </a:txBody>
                  <a:tcPr marL="114300" marR="114300" marT="95250" marB="76200">
                    <a:solidFill>
                      <a:srgbClr val="F0F6FA"/>
                    </a:solidFill>
                  </a:tcPr>
                </a:tc>
                <a:extLst>
                  <a:ext uri="{0D108BD9-81ED-4DB2-BD59-A6C34878D82A}">
                    <a16:rowId xmlns:a16="http://schemas.microsoft.com/office/drawing/2014/main" val="10003"/>
                  </a:ext>
                </a:extLst>
              </a:tr>
              <a:tr h="630238">
                <a:tc>
                  <a:txBody>
                    <a:bodyPr/>
                    <a:lstStyle/>
                    <a:p>
                      <a:r>
                        <a:rPr sz="1725">
                          <a:solidFill>
                            <a:srgbClr val="132C43"/>
                          </a:solidFill>
                          <a:latin typeface="DejaVu Sans"/>
                          <a:ea typeface="DejaVu Sans"/>
                          <a:cs typeface="DejaVu Sans"/>
                        </a:rPr>
                        <a:t>Microkernel</a:t>
                      </a:r>
                    </a:p>
                  </a:txBody>
                  <a:tcPr marL="114300" marR="114300" marT="95250" marB="76200">
                    <a:solidFill>
                      <a:srgbClr val="FFFFFF"/>
                    </a:solidFill>
                  </a:tcPr>
                </a:tc>
                <a:tc>
                  <a:txBody>
                    <a:bodyPr/>
                    <a:lstStyle/>
                    <a:p>
                      <a:r>
                        <a:rPr sz="1725">
                          <a:solidFill>
                            <a:srgbClr val="132C43"/>
                          </a:solidFill>
                          <a:latin typeface="DejaVu Sans"/>
                          <a:ea typeface="DejaVu Sans"/>
                          <a:cs typeface="DejaVu Sans"/>
                        </a:rPr>
                        <a:t>More service isolation</a:t>
                      </a:r>
                    </a:p>
                  </a:txBody>
                  <a:tcPr marL="114300" marR="114300" marT="95250" marB="76200">
                    <a:solidFill>
                      <a:srgbClr val="FFFFFF"/>
                    </a:solidFill>
                  </a:tcPr>
                </a:tc>
                <a:tc>
                  <a:txBody>
                    <a:bodyPr/>
                    <a:lstStyle/>
                    <a:p>
                      <a:r>
                        <a:rPr sz="1725">
                          <a:solidFill>
                            <a:srgbClr val="132C43"/>
                          </a:solidFill>
                          <a:latin typeface="DejaVu Sans"/>
                          <a:ea typeface="DejaVu Sans"/>
                          <a:cs typeface="DejaVu Sans"/>
                        </a:rPr>
                        <a:t>IPC and coordination cost</a:t>
                      </a:r>
                    </a:p>
                  </a:txBody>
                  <a:tcPr marL="114300" marR="114300" marT="95250" marB="76200">
                    <a:solidFill>
                      <a:srgbClr val="FFFFFF"/>
                    </a:solidFill>
                  </a:tcPr>
                </a:tc>
                <a:extLst>
                  <a:ext uri="{0D108BD9-81ED-4DB2-BD59-A6C34878D82A}">
                    <a16:rowId xmlns:a16="http://schemas.microsoft.com/office/drawing/2014/main" val="10004"/>
                  </a:ext>
                </a:extLst>
              </a:tr>
              <a:tr h="630238">
                <a:tc>
                  <a:txBody>
                    <a:bodyPr/>
                    <a:lstStyle/>
                    <a:p>
                      <a:r>
                        <a:rPr sz="1725">
                          <a:solidFill>
                            <a:srgbClr val="132C43"/>
                          </a:solidFill>
                          <a:latin typeface="DejaVu Sans"/>
                          <a:ea typeface="DejaVu Sans"/>
                          <a:cs typeface="DejaVu Sans"/>
                        </a:rPr>
                        <a:t>Modules / hybrid</a:t>
                      </a:r>
                    </a:p>
                  </a:txBody>
                  <a:tcPr marL="114300" marR="114300" marT="95250" marB="76200">
                    <a:solidFill>
                      <a:srgbClr val="F0F6FA"/>
                    </a:solidFill>
                  </a:tcPr>
                </a:tc>
                <a:tc>
                  <a:txBody>
                    <a:bodyPr/>
                    <a:lstStyle/>
                    <a:p>
                      <a:r>
                        <a:rPr sz="1725">
                          <a:solidFill>
                            <a:srgbClr val="132C43"/>
                          </a:solidFill>
                          <a:latin typeface="DejaVu Sans"/>
                          <a:ea typeface="DejaVu Sans"/>
                          <a:cs typeface="DejaVu Sans"/>
                        </a:rPr>
                        <a:t>Flexible composition</a:t>
                      </a:r>
                    </a:p>
                  </a:txBody>
                  <a:tcPr marL="114300" marR="114300" marT="95250" marB="76200">
                    <a:solidFill>
                      <a:srgbClr val="F0F6FA"/>
                    </a:solidFill>
                  </a:tcPr>
                </a:tc>
                <a:tc>
                  <a:txBody>
                    <a:bodyPr/>
                    <a:lstStyle/>
                    <a:p>
                      <a:r>
                        <a:rPr sz="1725">
                          <a:solidFill>
                            <a:srgbClr val="132C43"/>
                          </a:solidFill>
                          <a:latin typeface="DejaVu Sans"/>
                          <a:ea typeface="DejaVu Sans"/>
                          <a:cs typeface="DejaVu Sans"/>
                        </a:rPr>
                        <a:t>Complexity and shared privilege</a:t>
                      </a:r>
                    </a:p>
                  </a:txBody>
                  <a:tcPr marL="114300" marR="114300" marT="95250" marB="76200">
                    <a:solidFill>
                      <a:srgbClr val="F0F6FA"/>
                    </a:solidFill>
                  </a:tcPr>
                </a:tc>
                <a:extLst>
                  <a:ext uri="{0D108BD9-81ED-4DB2-BD59-A6C34878D82A}">
                    <a16:rowId xmlns:a16="http://schemas.microsoft.com/office/drawing/2014/main" val="10005"/>
                  </a:ext>
                </a:extLst>
              </a:tr>
            </a:tbl>
          </a:graphicData>
        </a:graphic>
      </p:graphicFrame>
      <p:sp>
        <p:nvSpPr>
          <p:cNvPr id="4" name="Rectangle 3">
            <a:extLst>
              <a:ext uri="{FF2B5EF4-FFF2-40B4-BE49-F238E27FC236}">
                <a16:creationId xmlns:a16="http://schemas.microsoft.com/office/drawing/2014/main" id="{34A07D72-EB12-4730-ACDA-6316153FAC45}"/>
              </a:ext>
            </a:extLst>
          </p:cNvPr>
          <p:cNvSpPr>
            <a:spLocks noGrp="1"/>
          </p:cNvSpPr>
          <p:nvPr/>
        </p:nvSpPr>
        <p:spPr>
          <a:xfrm>
            <a:off x="685800" y="6381750"/>
            <a:ext cx="10820400" cy="238125"/>
          </a:xfrm>
          <a:prstGeom prst="rect">
            <a:avLst/>
          </a:prstGeom>
          <a:noFill/>
          <a:ln w="0">
            <a:noFill/>
          </a:ln>
        </p:spPr>
        <p:txBody>
          <a:bodyPr anchor="t">
            <a:noAutofit/>
          </a:bodyPr>
          <a:lstStyle/>
          <a:p>
            <a:pPr>
              <a:defRPr sz="1275" b="0">
                <a:solidFill>
                  <a:srgbClr val="53687A"/>
                </a:solidFill>
                <a:latin typeface="DejaVu Sans"/>
                <a:ea typeface="DejaVu Sans"/>
                <a:cs typeface="DejaVu Sans"/>
              </a:defRPr>
            </a:pPr>
            <a:r>
              <a:rPr sz="1275" b="0">
                <a:solidFill>
                  <a:srgbClr val="53687A"/>
                </a:solidFill>
                <a:latin typeface="DejaVu Sans"/>
                <a:ea typeface="DejaVu Sans"/>
                <a:cs typeface="DejaVu Sans"/>
              </a:rPr>
              <a:t>Week 2     40</a:t>
            </a:r>
          </a:p>
        </p:txBody>
      </p:sp>
    </p:spTree>
    <p:extLst>
      <p:ext uri="{BB962C8B-B14F-4D97-AF65-F5344CB8AC3E}">
        <p14:creationId xmlns:p14="http://schemas.microsoft.com/office/powerpoint/2010/main" val="16921561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909C7B-4640-45AB-AF5A-2E94D3C6AD88}"/>
              </a:ext>
            </a:extLst>
          </p:cNvPr>
          <p:cNvSpPr>
            <a:spLocks noGrp="1"/>
          </p:cNvSpPr>
          <p:nvPr/>
        </p:nvSpPr>
        <p:spPr>
          <a:xfrm>
            <a:off x="685800" y="495300"/>
            <a:ext cx="10858500" cy="857250"/>
          </a:xfrm>
          <a:prstGeom prst="rect">
            <a:avLst/>
          </a:prstGeom>
          <a:noFill/>
          <a:ln w="0">
            <a:noFill/>
          </a:ln>
        </p:spPr>
        <p:txBody>
          <a:bodyPr anchor="t">
            <a:noAutofit/>
          </a:bodyPr>
          <a:lstStyle/>
          <a:p>
            <a:pPr>
              <a:defRPr sz="3300" b="1">
                <a:solidFill>
                  <a:srgbClr val="132C43"/>
                </a:solidFill>
                <a:latin typeface="DejaVu Sans"/>
                <a:ea typeface="DejaVu Sans"/>
                <a:cs typeface="DejaVu Sans"/>
              </a:defRPr>
            </a:pPr>
            <a:r>
              <a:rPr sz="3300" b="1">
                <a:solidFill>
                  <a:srgbClr val="132C43"/>
                </a:solidFill>
                <a:latin typeface="DejaVu Sans"/>
                <a:ea typeface="DejaVu Sans"/>
                <a:cs typeface="DejaVu Sans"/>
              </a:rPr>
              <a:t>Design discussion: a driver crashes</a:t>
            </a:r>
          </a:p>
        </p:txBody>
      </p:sp>
      <p:sp>
        <p:nvSpPr>
          <p:cNvPr id="2" name="Rectangle 1">
            <a:extLst>
              <a:ext uri="{FF2B5EF4-FFF2-40B4-BE49-F238E27FC236}">
                <a16:creationId xmlns:a16="http://schemas.microsoft.com/office/drawing/2014/main" id="{15C6FE74-AF7E-4811-9C44-3C5446029E6D}"/>
              </a:ext>
            </a:extLst>
          </p:cNvPr>
          <p:cNvSpPr>
            <a:spLocks noGrp="1"/>
          </p:cNvSpPr>
          <p:nvPr/>
        </p:nvSpPr>
        <p:spPr>
          <a:xfrm>
            <a:off x="685800" y="1666875"/>
            <a:ext cx="10820400" cy="3905250"/>
          </a:xfrm>
          <a:prstGeom prst="rect">
            <a:avLst/>
          </a:prstGeom>
          <a:noFill/>
          <a:ln w="0">
            <a:noFill/>
          </a:ln>
        </p:spPr>
        <p:txBody>
          <a:bodyPr anchor="t">
            <a:noAutofit/>
          </a:bodyPr>
          <a:lstStyle/>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System A runs its driver inside the kernel.</a:t>
            </a:r>
          </a:p>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System B runs its driver in an isolated service.</a:t>
            </a:r>
          </a:p>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Which system can contain the failure more easily?</a:t>
            </a:r>
          </a:p>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What else is needed to restart the driver safely?</a:t>
            </a:r>
          </a:p>
        </p:txBody>
      </p:sp>
      <p:sp>
        <p:nvSpPr>
          <p:cNvPr id="3" name="Rectangle 2">
            <a:extLst>
              <a:ext uri="{FF2B5EF4-FFF2-40B4-BE49-F238E27FC236}">
                <a16:creationId xmlns:a16="http://schemas.microsoft.com/office/drawing/2014/main" id="{B62DE260-D9DF-4579-AFC7-AF43C4536F50}"/>
              </a:ext>
            </a:extLst>
          </p:cNvPr>
          <p:cNvSpPr>
            <a:spLocks noGrp="1"/>
          </p:cNvSpPr>
          <p:nvPr/>
        </p:nvSpPr>
        <p:spPr>
          <a:xfrm>
            <a:off x="685800" y="6381750"/>
            <a:ext cx="10820400" cy="238125"/>
          </a:xfrm>
          <a:prstGeom prst="rect">
            <a:avLst/>
          </a:prstGeom>
          <a:noFill/>
          <a:ln w="0">
            <a:noFill/>
          </a:ln>
        </p:spPr>
        <p:txBody>
          <a:bodyPr anchor="t">
            <a:noAutofit/>
          </a:bodyPr>
          <a:lstStyle/>
          <a:p>
            <a:pPr>
              <a:defRPr sz="1275" b="0">
                <a:solidFill>
                  <a:srgbClr val="53687A"/>
                </a:solidFill>
                <a:latin typeface="DejaVu Sans"/>
                <a:ea typeface="DejaVu Sans"/>
                <a:cs typeface="DejaVu Sans"/>
              </a:defRPr>
            </a:pPr>
            <a:r>
              <a:rPr sz="1275" b="0">
                <a:solidFill>
                  <a:srgbClr val="53687A"/>
                </a:solidFill>
                <a:latin typeface="DejaVu Sans"/>
                <a:ea typeface="DejaVu Sans"/>
                <a:cs typeface="DejaVu Sans"/>
              </a:rPr>
              <a:t>Week 2     41</a:t>
            </a:r>
          </a:p>
        </p:txBody>
      </p:sp>
    </p:spTree>
    <p:extLst>
      <p:ext uri="{BB962C8B-B14F-4D97-AF65-F5344CB8AC3E}">
        <p14:creationId xmlns:p14="http://schemas.microsoft.com/office/powerpoint/2010/main" val="12736530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132C43"/>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8485885-3DD2-4226-B782-CE1B419EEBDB}"/>
              </a:ext>
            </a:extLst>
          </p:cNvPr>
          <p:cNvSpPr>
            <a:spLocks noGrp="1"/>
          </p:cNvSpPr>
          <p:nvPr/>
        </p:nvSpPr>
        <p:spPr>
          <a:xfrm>
            <a:off x="685800" y="647700"/>
            <a:ext cx="10820400" cy="381000"/>
          </a:xfrm>
          <a:prstGeom prst="rect">
            <a:avLst/>
          </a:prstGeom>
          <a:noFill/>
          <a:ln w="0">
            <a:noFill/>
          </a:ln>
        </p:spPr>
        <p:txBody>
          <a:bodyPr anchor="t">
            <a:noAutofit/>
          </a:bodyPr>
          <a:lstStyle/>
          <a:p>
            <a:pPr>
              <a:defRPr sz="1800" b="1">
                <a:solidFill>
                  <a:srgbClr val="70D0D3"/>
                </a:solidFill>
                <a:latin typeface="DejaVu Sans"/>
                <a:ea typeface="DejaVu Sans"/>
                <a:cs typeface="DejaVu Sans"/>
              </a:defRPr>
            </a:pPr>
            <a:r>
              <a:rPr sz="1800" b="1">
                <a:solidFill>
                  <a:srgbClr val="70D0D3"/>
                </a:solidFill>
                <a:latin typeface="DejaVu Sans"/>
                <a:ea typeface="DejaVu Sans"/>
                <a:cs typeface="DejaVu Sans"/>
              </a:rPr>
              <a:t>WEEK 3</a:t>
            </a:r>
          </a:p>
        </p:txBody>
      </p:sp>
      <p:sp>
        <p:nvSpPr>
          <p:cNvPr id="2" name="Rectangle 1">
            <a:extLst>
              <a:ext uri="{FF2B5EF4-FFF2-40B4-BE49-F238E27FC236}">
                <a16:creationId xmlns:a16="http://schemas.microsoft.com/office/drawing/2014/main" id="{5D2CCEE0-3B50-4C91-B5EC-A726CA44EA0B}"/>
              </a:ext>
            </a:extLst>
          </p:cNvPr>
          <p:cNvSpPr>
            <a:spLocks noGrp="1"/>
          </p:cNvSpPr>
          <p:nvPr/>
        </p:nvSpPr>
        <p:spPr>
          <a:xfrm>
            <a:off x="685800" y="1524000"/>
            <a:ext cx="10477500" cy="1333500"/>
          </a:xfrm>
          <a:prstGeom prst="rect">
            <a:avLst/>
          </a:prstGeom>
          <a:noFill/>
          <a:ln w="0">
            <a:noFill/>
          </a:ln>
        </p:spPr>
        <p:txBody>
          <a:bodyPr anchor="t">
            <a:noAutofit/>
          </a:bodyPr>
          <a:lstStyle/>
          <a:p>
            <a:pPr>
              <a:defRPr sz="4500" b="1">
                <a:solidFill>
                  <a:srgbClr val="FFFFFF"/>
                </a:solidFill>
                <a:latin typeface="DejaVu Sans"/>
                <a:ea typeface="DejaVu Sans"/>
                <a:cs typeface="DejaVu Sans"/>
              </a:defRPr>
            </a:pPr>
            <a:r>
              <a:rPr sz="4500" b="1">
                <a:solidFill>
                  <a:srgbClr val="FFFFFF"/>
                </a:solidFill>
                <a:latin typeface="DejaVu Sans"/>
                <a:ea typeface="DejaVu Sans"/>
                <a:cs typeface="DejaVu Sans"/>
              </a:rPr>
              <a:t>Week 3: processes</a:t>
            </a:r>
          </a:p>
        </p:txBody>
      </p:sp>
      <p:sp>
        <p:nvSpPr>
          <p:cNvPr id="3" name="Rectangle 2">
            <a:extLst>
              <a:ext uri="{FF2B5EF4-FFF2-40B4-BE49-F238E27FC236}">
                <a16:creationId xmlns:a16="http://schemas.microsoft.com/office/drawing/2014/main" id="{F44F25C4-D92F-443F-B3FD-4D603FBEBA48}"/>
              </a:ext>
            </a:extLst>
          </p:cNvPr>
          <p:cNvSpPr>
            <a:spLocks noGrp="1"/>
          </p:cNvSpPr>
          <p:nvPr/>
        </p:nvSpPr>
        <p:spPr>
          <a:xfrm>
            <a:off x="685800" y="3286125"/>
            <a:ext cx="10668000" cy="2095500"/>
          </a:xfrm>
          <a:prstGeom prst="rect">
            <a:avLst/>
          </a:prstGeom>
          <a:noFill/>
          <a:ln w="0">
            <a:noFill/>
          </a:ln>
        </p:spPr>
        <p:txBody>
          <a:bodyPr anchor="t">
            <a:noAutofit/>
          </a:bodyPr>
          <a:lstStyle/>
          <a:p>
            <a:pPr>
              <a:defRPr sz="2400" b="0">
                <a:solidFill>
                  <a:srgbClr val="EAF3F8"/>
                </a:solidFill>
                <a:latin typeface="DejaVu Sans"/>
                <a:ea typeface="DejaVu Sans"/>
                <a:cs typeface="DejaVu Sans"/>
              </a:defRPr>
            </a:pPr>
            <a:r>
              <a:rPr sz="2400" b="0">
                <a:solidFill>
                  <a:srgbClr val="EAF3F8"/>
                </a:solidFill>
                <a:latin typeface="DejaVu Sans"/>
                <a:ea typeface="DejaVu Sans"/>
                <a:cs typeface="DejaVu Sans"/>
              </a:rPr>
              <a:t>Distinguish a program from a process.</a:t>
            </a:r>
          </a:p>
          <a:p>
            <a:pPr>
              <a:defRPr sz="2400" b="0">
                <a:solidFill>
                  <a:srgbClr val="EAF3F8"/>
                </a:solidFill>
                <a:latin typeface="DejaVu Sans"/>
                <a:ea typeface="DejaVu Sans"/>
                <a:cs typeface="DejaVu Sans"/>
              </a:defRPr>
            </a:pPr>
            <a:r>
              <a:rPr sz="2400" b="0">
                <a:solidFill>
                  <a:srgbClr val="EAF3F8"/>
                </a:solidFill>
                <a:latin typeface="DejaVu Sans"/>
                <a:ea typeface="DejaVu Sans"/>
                <a:cs typeface="DejaVu Sans"/>
              </a:rPr>
              <a:t>Explain states and the PCB.</a:t>
            </a:r>
          </a:p>
          <a:p>
            <a:pPr>
              <a:defRPr sz="2400" b="0">
                <a:solidFill>
                  <a:srgbClr val="EAF3F8"/>
                </a:solidFill>
                <a:latin typeface="DejaVu Sans"/>
                <a:ea typeface="DejaVu Sans"/>
                <a:cs typeface="DejaVu Sans"/>
              </a:defRPr>
            </a:pPr>
            <a:r>
              <a:rPr sz="2400" b="0">
                <a:solidFill>
                  <a:srgbClr val="EAF3F8"/>
                </a:solidFill>
                <a:latin typeface="DejaVu Sans"/>
                <a:ea typeface="DejaVu Sans"/>
                <a:cs typeface="DejaVu Sans"/>
              </a:rPr>
              <a:t>Trace scheduling queues and scheduler roles.</a:t>
            </a:r>
          </a:p>
          <a:p>
            <a:pPr>
              <a:defRPr sz="2400" b="0">
                <a:solidFill>
                  <a:srgbClr val="EAF3F8"/>
                </a:solidFill>
                <a:latin typeface="DejaVu Sans"/>
                <a:ea typeface="DejaVu Sans"/>
                <a:cs typeface="DejaVu Sans"/>
              </a:defRPr>
            </a:pPr>
            <a:r>
              <a:rPr sz="2400" b="0">
                <a:solidFill>
                  <a:srgbClr val="EAF3F8"/>
                </a:solidFill>
                <a:latin typeface="DejaVu Sans"/>
                <a:ea typeface="DejaVu Sans"/>
                <a:cs typeface="DejaVu Sans"/>
              </a:rPr>
              <a:t>Explain context switching and its cost.</a:t>
            </a:r>
          </a:p>
        </p:txBody>
      </p:sp>
      <p:sp>
        <p:nvSpPr>
          <p:cNvPr id="4" name="Rectangle 3">
            <a:extLst>
              <a:ext uri="{FF2B5EF4-FFF2-40B4-BE49-F238E27FC236}">
                <a16:creationId xmlns:a16="http://schemas.microsoft.com/office/drawing/2014/main" id="{85D1C664-C023-4E06-9334-05D481C0D9A5}"/>
              </a:ext>
            </a:extLst>
          </p:cNvPr>
          <p:cNvSpPr>
            <a:spLocks noGrp="1"/>
          </p:cNvSpPr>
          <p:nvPr/>
        </p:nvSpPr>
        <p:spPr>
          <a:xfrm>
            <a:off x="685800" y="6381750"/>
            <a:ext cx="10820400" cy="238125"/>
          </a:xfrm>
          <a:prstGeom prst="rect">
            <a:avLst/>
          </a:prstGeom>
          <a:noFill/>
          <a:ln w="0">
            <a:noFill/>
          </a:ln>
        </p:spPr>
        <p:txBody>
          <a:bodyPr anchor="t">
            <a:noAutofit/>
          </a:bodyPr>
          <a:lstStyle/>
          <a:p>
            <a:pPr>
              <a:defRPr sz="1275" b="0">
                <a:solidFill>
                  <a:srgbClr val="BED2E0"/>
                </a:solidFill>
                <a:latin typeface="DejaVu Sans"/>
                <a:ea typeface="DejaVu Sans"/>
                <a:cs typeface="DejaVu Sans"/>
              </a:defRPr>
            </a:pPr>
            <a:r>
              <a:rPr sz="1275" b="0">
                <a:solidFill>
                  <a:srgbClr val="BED2E0"/>
                </a:solidFill>
                <a:latin typeface="DejaVu Sans"/>
                <a:ea typeface="DejaVu Sans"/>
                <a:cs typeface="DejaVu Sans"/>
              </a:rPr>
              <a:t>Week 3     42</a:t>
            </a:r>
          </a:p>
        </p:txBody>
      </p:sp>
    </p:spTree>
    <p:extLst>
      <p:ext uri="{BB962C8B-B14F-4D97-AF65-F5344CB8AC3E}">
        <p14:creationId xmlns:p14="http://schemas.microsoft.com/office/powerpoint/2010/main" val="16532975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C985CB1-BC5F-4AD3-AA47-B7BF27DAD5A2}"/>
              </a:ext>
            </a:extLst>
          </p:cNvPr>
          <p:cNvSpPr>
            <a:spLocks noGrp="1"/>
          </p:cNvSpPr>
          <p:nvPr/>
        </p:nvSpPr>
        <p:spPr>
          <a:xfrm>
            <a:off x="685800" y="495300"/>
            <a:ext cx="10858500" cy="857250"/>
          </a:xfrm>
          <a:prstGeom prst="rect">
            <a:avLst/>
          </a:prstGeom>
          <a:noFill/>
          <a:ln w="0">
            <a:noFill/>
          </a:ln>
        </p:spPr>
        <p:txBody>
          <a:bodyPr anchor="t">
            <a:noAutofit/>
          </a:bodyPr>
          <a:lstStyle/>
          <a:p>
            <a:pPr>
              <a:defRPr sz="3300" b="1">
                <a:solidFill>
                  <a:srgbClr val="132C43"/>
                </a:solidFill>
                <a:latin typeface="DejaVu Sans"/>
                <a:ea typeface="DejaVu Sans"/>
                <a:cs typeface="DejaVu Sans"/>
              </a:defRPr>
            </a:pPr>
            <a:r>
              <a:rPr sz="3300" b="1">
                <a:solidFill>
                  <a:srgbClr val="132C43"/>
                </a:solidFill>
                <a:latin typeface="DejaVu Sans"/>
                <a:ea typeface="DejaVu Sans"/>
                <a:cs typeface="DejaVu Sans"/>
              </a:rPr>
              <a:t>Program and process</a:t>
            </a:r>
          </a:p>
        </p:txBody>
      </p:sp>
      <p:sp>
        <p:nvSpPr>
          <p:cNvPr id="2" name="Rectangle 1">
            <a:extLst>
              <a:ext uri="{FF2B5EF4-FFF2-40B4-BE49-F238E27FC236}">
                <a16:creationId xmlns:a16="http://schemas.microsoft.com/office/drawing/2014/main" id="{0F51CBCB-7C58-418C-A03E-5B12D08D746E}"/>
              </a:ext>
            </a:extLst>
          </p:cNvPr>
          <p:cNvSpPr>
            <a:spLocks noGrp="1"/>
          </p:cNvSpPr>
          <p:nvPr/>
        </p:nvSpPr>
        <p:spPr>
          <a:xfrm>
            <a:off x="685800" y="1666875"/>
            <a:ext cx="10820400" cy="3905250"/>
          </a:xfrm>
          <a:prstGeom prst="rect">
            <a:avLst/>
          </a:prstGeom>
          <a:noFill/>
          <a:ln w="0">
            <a:noFill/>
          </a:ln>
        </p:spPr>
        <p:txBody>
          <a:bodyPr anchor="t">
            <a:noAutofit/>
          </a:bodyPr>
          <a:lstStyle/>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A program is stored code and data.</a:t>
            </a:r>
          </a:p>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A process is an executing instance with state.</a:t>
            </a:r>
          </a:p>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Two launches can create two separate processes.</a:t>
            </a:r>
          </a:p>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Their progress and resources can differ.</a:t>
            </a:r>
          </a:p>
        </p:txBody>
      </p:sp>
      <p:sp>
        <p:nvSpPr>
          <p:cNvPr id="3" name="Rectangle 2">
            <a:extLst>
              <a:ext uri="{FF2B5EF4-FFF2-40B4-BE49-F238E27FC236}">
                <a16:creationId xmlns:a16="http://schemas.microsoft.com/office/drawing/2014/main" id="{045ACCBE-EC1F-4DEF-B9BF-E65F89553A77}"/>
              </a:ext>
            </a:extLst>
          </p:cNvPr>
          <p:cNvSpPr>
            <a:spLocks noGrp="1"/>
          </p:cNvSpPr>
          <p:nvPr/>
        </p:nvSpPr>
        <p:spPr>
          <a:xfrm>
            <a:off x="685800" y="6381750"/>
            <a:ext cx="10820400" cy="238125"/>
          </a:xfrm>
          <a:prstGeom prst="rect">
            <a:avLst/>
          </a:prstGeom>
          <a:noFill/>
          <a:ln w="0">
            <a:noFill/>
          </a:ln>
        </p:spPr>
        <p:txBody>
          <a:bodyPr anchor="t">
            <a:noAutofit/>
          </a:bodyPr>
          <a:lstStyle/>
          <a:p>
            <a:pPr>
              <a:defRPr sz="1275" b="0">
                <a:solidFill>
                  <a:srgbClr val="53687A"/>
                </a:solidFill>
                <a:latin typeface="DejaVu Sans"/>
                <a:ea typeface="DejaVu Sans"/>
                <a:cs typeface="DejaVu Sans"/>
              </a:defRPr>
            </a:pPr>
            <a:r>
              <a:rPr sz="1275" b="0">
                <a:solidFill>
                  <a:srgbClr val="53687A"/>
                </a:solidFill>
                <a:latin typeface="DejaVu Sans"/>
                <a:ea typeface="DejaVu Sans"/>
                <a:cs typeface="DejaVu Sans"/>
              </a:rPr>
              <a:t>Week 3     43</a:t>
            </a:r>
          </a:p>
        </p:txBody>
      </p:sp>
    </p:spTree>
    <p:extLst>
      <p:ext uri="{BB962C8B-B14F-4D97-AF65-F5344CB8AC3E}">
        <p14:creationId xmlns:p14="http://schemas.microsoft.com/office/powerpoint/2010/main" val="198696134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2923EF0-2029-4A83-A5D0-FB1789F2245D}"/>
              </a:ext>
            </a:extLst>
          </p:cNvPr>
          <p:cNvSpPr>
            <a:spLocks noGrp="1"/>
          </p:cNvSpPr>
          <p:nvPr/>
        </p:nvSpPr>
        <p:spPr>
          <a:xfrm>
            <a:off x="685800" y="495300"/>
            <a:ext cx="10858500" cy="857250"/>
          </a:xfrm>
          <a:prstGeom prst="rect">
            <a:avLst/>
          </a:prstGeom>
          <a:noFill/>
          <a:ln w="0">
            <a:noFill/>
          </a:ln>
        </p:spPr>
        <p:txBody>
          <a:bodyPr anchor="t">
            <a:noAutofit/>
          </a:bodyPr>
          <a:lstStyle/>
          <a:p>
            <a:pPr>
              <a:defRPr sz="3300" b="1">
                <a:solidFill>
                  <a:srgbClr val="132C43"/>
                </a:solidFill>
                <a:latin typeface="DejaVu Sans"/>
                <a:ea typeface="DejaVu Sans"/>
                <a:cs typeface="DejaVu Sans"/>
              </a:defRPr>
            </a:pPr>
            <a:r>
              <a:rPr sz="3300" b="1">
                <a:solidFill>
                  <a:srgbClr val="132C43"/>
                </a:solidFill>
                <a:latin typeface="DejaVu Sans"/>
                <a:ea typeface="DejaVu Sans"/>
                <a:cs typeface="DejaVu Sans"/>
              </a:rPr>
              <a:t>A process in memory</a:t>
            </a:r>
          </a:p>
        </p:txBody>
      </p:sp>
      <p:sp>
        <p:nvSpPr>
          <p:cNvPr id="2" name="Rectangle 1">
            <a:extLst>
              <a:ext uri="{FF2B5EF4-FFF2-40B4-BE49-F238E27FC236}">
                <a16:creationId xmlns:a16="http://schemas.microsoft.com/office/drawing/2014/main" id="{0E7D0E55-F377-445F-A29B-3D5F9171C43D}"/>
              </a:ext>
            </a:extLst>
          </p:cNvPr>
          <p:cNvSpPr>
            <a:spLocks noGrp="1"/>
          </p:cNvSpPr>
          <p:nvPr/>
        </p:nvSpPr>
        <p:spPr>
          <a:xfrm>
            <a:off x="685800" y="1619250"/>
            <a:ext cx="4476750" cy="3762375"/>
          </a:xfrm>
          <a:prstGeom prst="rect">
            <a:avLst/>
          </a:prstGeom>
          <a:noFill/>
          <a:ln w="0">
            <a:noFill/>
          </a:ln>
        </p:spPr>
        <p:txBody>
          <a:bodyPr anchor="t">
            <a:noAutofit/>
          </a:bodyPr>
          <a:lstStyle/>
          <a:p>
            <a:pPr>
              <a:defRPr sz="2100" b="0">
                <a:solidFill>
                  <a:srgbClr val="132C43"/>
                </a:solidFill>
                <a:latin typeface="DejaVu Sans"/>
                <a:ea typeface="DejaVu Sans"/>
                <a:cs typeface="DejaVu Sans"/>
              </a:defRPr>
            </a:pPr>
            <a:r>
              <a:rPr sz="2100" b="0">
                <a:solidFill>
                  <a:srgbClr val="132C43"/>
                </a:solidFill>
                <a:latin typeface="DejaVu Sans"/>
                <a:ea typeface="DejaVu Sans"/>
                <a:cs typeface="DejaVu Sans"/>
              </a:rPr>
              <a:t>Code contains executable instructions.</a:t>
            </a:r>
          </a:p>
          <a:p>
            <a:pPr>
              <a:defRPr sz="2100" b="0">
                <a:solidFill>
                  <a:srgbClr val="132C43"/>
                </a:solidFill>
                <a:latin typeface="DejaVu Sans"/>
                <a:ea typeface="DejaVu Sans"/>
                <a:cs typeface="DejaVu Sans"/>
              </a:defRPr>
            </a:pPr>
            <a:r>
              <a:rPr sz="2100" b="0">
                <a:solidFill>
                  <a:srgbClr val="132C43"/>
                </a:solidFill>
                <a:latin typeface="DejaVu Sans"/>
                <a:ea typeface="DejaVu Sans"/>
                <a:cs typeface="DejaVu Sans"/>
              </a:rPr>
              <a:t>Data stores global and static values.</a:t>
            </a:r>
          </a:p>
          <a:p>
            <a:pPr>
              <a:defRPr sz="2100" b="0">
                <a:solidFill>
                  <a:srgbClr val="132C43"/>
                </a:solidFill>
                <a:latin typeface="DejaVu Sans"/>
                <a:ea typeface="DejaVu Sans"/>
                <a:cs typeface="DejaVu Sans"/>
              </a:defRPr>
            </a:pPr>
            <a:r>
              <a:rPr sz="2100" b="0">
                <a:solidFill>
                  <a:srgbClr val="132C43"/>
                </a:solidFill>
                <a:latin typeface="DejaVu Sans"/>
                <a:ea typeface="DejaVu Sans"/>
                <a:cs typeface="DejaVu Sans"/>
              </a:rPr>
              <a:t>Heap supports dynamic allocation.</a:t>
            </a:r>
          </a:p>
          <a:p>
            <a:pPr>
              <a:defRPr sz="2100" b="0">
                <a:solidFill>
                  <a:srgbClr val="132C43"/>
                </a:solidFill>
                <a:latin typeface="DejaVu Sans"/>
                <a:ea typeface="DejaVu Sans"/>
                <a:cs typeface="DejaVu Sans"/>
              </a:defRPr>
            </a:pPr>
            <a:r>
              <a:rPr sz="2100" b="0">
                <a:solidFill>
                  <a:srgbClr val="132C43"/>
                </a:solidFill>
                <a:latin typeface="DejaVu Sans"/>
                <a:ea typeface="DejaVu Sans"/>
                <a:cs typeface="DejaVu Sans"/>
              </a:rPr>
              <a:t>Stack stores call frames and local state.</a:t>
            </a:r>
          </a:p>
        </p:txBody>
      </p:sp>
      <p:pic>
        <p:nvPicPr>
          <p:cNvPr id="8" name="Picture 7"/>
          <p:cNvPicPr>
            <a:picLocks noChangeAspect="1"/>
          </p:cNvPicPr>
          <p:nvPr/>
        </p:nvPicPr>
        <p:blipFill>
          <a:blip r:embed="rId3"/>
          <a:stretch/>
        </p:blipFill>
        <p:spPr>
          <a:xfrm>
            <a:off x="7393875" y="1524000"/>
            <a:ext cx="2547750" cy="4095750"/>
          </a:xfrm>
          <a:prstGeom prst="rect">
            <a:avLst/>
          </a:prstGeom>
        </p:spPr>
      </p:pic>
      <p:sp>
        <p:nvSpPr>
          <p:cNvPr id="4" name="Rectangle 3">
            <a:extLst>
              <a:ext uri="{FF2B5EF4-FFF2-40B4-BE49-F238E27FC236}">
                <a16:creationId xmlns:a16="http://schemas.microsoft.com/office/drawing/2014/main" id="{94B3345A-CF54-4C27-8965-23E35B9E4944}"/>
              </a:ext>
            </a:extLst>
          </p:cNvPr>
          <p:cNvSpPr>
            <a:spLocks noGrp="1"/>
          </p:cNvSpPr>
          <p:nvPr/>
        </p:nvSpPr>
        <p:spPr>
          <a:xfrm>
            <a:off x="685800" y="5924550"/>
            <a:ext cx="10572750" cy="247650"/>
          </a:xfrm>
          <a:prstGeom prst="rect">
            <a:avLst/>
          </a:prstGeom>
          <a:noFill/>
          <a:ln w="0">
            <a:noFill/>
          </a:ln>
        </p:spPr>
        <p:txBody>
          <a:bodyPr anchor="t">
            <a:noAutofit/>
          </a:bodyPr>
          <a:lstStyle/>
          <a:p>
            <a:pPr>
              <a:defRPr sz="1200" b="0">
                <a:solidFill>
                  <a:srgbClr val="53687A"/>
                </a:solidFill>
                <a:latin typeface="DejaVu Sans"/>
                <a:ea typeface="DejaVu Sans"/>
                <a:cs typeface="DejaVu Sans"/>
              </a:defRPr>
            </a:pPr>
            <a:r>
              <a:rPr sz="1200" b="0">
                <a:solidFill>
                  <a:srgbClr val="53687A"/>
                </a:solidFill>
                <a:latin typeface="DejaVu Sans"/>
                <a:ea typeface="DejaVu Sans"/>
                <a:cs typeface="DejaVu Sans"/>
              </a:rPr>
              <a:t>Figure: Operating System Concepts, 9th ed., ©2013, via UIC course notes</a:t>
            </a:r>
          </a:p>
        </p:txBody>
      </p:sp>
      <p:sp>
        <p:nvSpPr>
          <p:cNvPr id="5" name="Rectangle 4">
            <a:extLst>
              <a:ext uri="{FF2B5EF4-FFF2-40B4-BE49-F238E27FC236}">
                <a16:creationId xmlns:a16="http://schemas.microsoft.com/office/drawing/2014/main" id="{7579150D-08AE-49E1-98F6-8ECE3EBD6A65}"/>
              </a:ext>
            </a:extLst>
          </p:cNvPr>
          <p:cNvSpPr>
            <a:spLocks noGrp="1"/>
          </p:cNvSpPr>
          <p:nvPr/>
        </p:nvSpPr>
        <p:spPr>
          <a:xfrm>
            <a:off x="685800" y="6381750"/>
            <a:ext cx="10820400" cy="238125"/>
          </a:xfrm>
          <a:prstGeom prst="rect">
            <a:avLst/>
          </a:prstGeom>
          <a:noFill/>
          <a:ln w="0">
            <a:noFill/>
          </a:ln>
        </p:spPr>
        <p:txBody>
          <a:bodyPr anchor="t">
            <a:noAutofit/>
          </a:bodyPr>
          <a:lstStyle/>
          <a:p>
            <a:pPr>
              <a:defRPr sz="1275" b="0">
                <a:solidFill>
                  <a:srgbClr val="53687A"/>
                </a:solidFill>
                <a:latin typeface="DejaVu Sans"/>
                <a:ea typeface="DejaVu Sans"/>
                <a:cs typeface="DejaVu Sans"/>
              </a:defRPr>
            </a:pPr>
            <a:r>
              <a:rPr sz="1275" b="0">
                <a:solidFill>
                  <a:srgbClr val="53687A"/>
                </a:solidFill>
                <a:latin typeface="DejaVu Sans"/>
                <a:ea typeface="DejaVu Sans"/>
                <a:cs typeface="DejaVu Sans"/>
              </a:rPr>
              <a:t>Week 3     44</a:t>
            </a:r>
          </a:p>
        </p:txBody>
      </p:sp>
    </p:spTree>
    <p:extLst>
      <p:ext uri="{BB962C8B-B14F-4D97-AF65-F5344CB8AC3E}">
        <p14:creationId xmlns:p14="http://schemas.microsoft.com/office/powerpoint/2010/main" val="144429683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B3FEDA0-3E79-4F82-9ADD-9F7C47346618}"/>
              </a:ext>
            </a:extLst>
          </p:cNvPr>
          <p:cNvSpPr>
            <a:spLocks noGrp="1"/>
          </p:cNvSpPr>
          <p:nvPr/>
        </p:nvSpPr>
        <p:spPr>
          <a:xfrm>
            <a:off x="685800" y="495300"/>
            <a:ext cx="10858500" cy="857250"/>
          </a:xfrm>
          <a:prstGeom prst="rect">
            <a:avLst/>
          </a:prstGeom>
          <a:noFill/>
          <a:ln w="0">
            <a:noFill/>
          </a:ln>
        </p:spPr>
        <p:txBody>
          <a:bodyPr anchor="t">
            <a:noAutofit/>
          </a:bodyPr>
          <a:lstStyle/>
          <a:p>
            <a:pPr>
              <a:defRPr sz="3300" b="1">
                <a:solidFill>
                  <a:srgbClr val="132C43"/>
                </a:solidFill>
                <a:latin typeface="DejaVu Sans"/>
                <a:ea typeface="DejaVu Sans"/>
                <a:cs typeface="DejaVu Sans"/>
              </a:defRPr>
            </a:pPr>
            <a:r>
              <a:rPr sz="3300" b="1">
                <a:solidFill>
                  <a:srgbClr val="132C43"/>
                </a:solidFill>
                <a:latin typeface="DejaVu Sans"/>
                <a:ea typeface="DejaVu Sans"/>
                <a:cs typeface="DejaVu Sans"/>
              </a:rPr>
              <a:t>Five process states</a:t>
            </a:r>
          </a:p>
        </p:txBody>
      </p:sp>
      <p:sp>
        <p:nvSpPr>
          <p:cNvPr id="2" name="Rectangle 1">
            <a:extLst>
              <a:ext uri="{FF2B5EF4-FFF2-40B4-BE49-F238E27FC236}">
                <a16:creationId xmlns:a16="http://schemas.microsoft.com/office/drawing/2014/main" id="{6D8BB749-41A6-4655-AE5E-63126A93AF1B}"/>
              </a:ext>
            </a:extLst>
          </p:cNvPr>
          <p:cNvSpPr>
            <a:spLocks noGrp="1"/>
          </p:cNvSpPr>
          <p:nvPr/>
        </p:nvSpPr>
        <p:spPr>
          <a:xfrm>
            <a:off x="685800" y="1428750"/>
            <a:ext cx="10820400" cy="457200"/>
          </a:xfrm>
          <a:prstGeom prst="rect">
            <a:avLst/>
          </a:prstGeom>
          <a:noFill/>
          <a:ln w="0">
            <a:noFill/>
          </a:ln>
        </p:spPr>
        <p:txBody>
          <a:bodyPr anchor="t">
            <a:noAutofit/>
          </a:bodyPr>
          <a:lstStyle/>
          <a:p>
            <a:pPr>
              <a:defRPr sz="1950" b="0">
                <a:solidFill>
                  <a:srgbClr val="53687A"/>
                </a:solidFill>
                <a:latin typeface="DejaVu Sans"/>
                <a:ea typeface="DejaVu Sans"/>
                <a:cs typeface="DejaVu Sans"/>
              </a:defRPr>
            </a:pPr>
            <a:r>
              <a:rPr sz="1950" b="0">
                <a:solidFill>
                  <a:srgbClr val="53687A"/>
                </a:solidFill>
                <a:latin typeface="DejaVu Sans"/>
                <a:ea typeface="DejaVu Sans"/>
                <a:cs typeface="DejaVu Sans"/>
              </a:rPr>
              <a:t>The model describes whether a process can run.</a:t>
            </a:r>
          </a:p>
        </p:txBody>
      </p:sp>
      <p:graphicFrame>
        <p:nvGraphicFramePr>
          <p:cNvPr id="7" name="Table 6"/>
          <p:cNvGraphicFramePr/>
          <p:nvPr/>
        </p:nvGraphicFramePr>
        <p:xfrm>
          <a:off x="685800" y="2076450"/>
          <a:ext cx="10820400" cy="3781428"/>
        </p:xfrm>
        <a:graphic>
          <a:graphicData uri="http://schemas.openxmlformats.org/drawingml/2006/table">
            <a:tbl>
              <a:tblPr/>
              <a:tblGrid>
                <a:gridCol w="3143250">
                  <a:extLst>
                    <a:ext uri="{9D8B030D-6E8A-4147-A177-3AD203B41FA5}">
                      <a16:colId xmlns:a16="http://schemas.microsoft.com/office/drawing/2014/main" val="20000"/>
                    </a:ext>
                  </a:extLst>
                </a:gridCol>
                <a:gridCol w="7677150">
                  <a:extLst>
                    <a:ext uri="{9D8B030D-6E8A-4147-A177-3AD203B41FA5}">
                      <a16:colId xmlns:a16="http://schemas.microsoft.com/office/drawing/2014/main" val="20001"/>
                    </a:ext>
                  </a:extLst>
                </a:gridCol>
              </a:tblGrid>
              <a:tr h="630238">
                <a:tc>
                  <a:txBody>
                    <a:bodyPr/>
                    <a:lstStyle/>
                    <a:p>
                      <a:r>
                        <a:rPr sz="1725" b="1">
                          <a:solidFill>
                            <a:srgbClr val="FFFFFF"/>
                          </a:solidFill>
                          <a:latin typeface="DejaVu Sans"/>
                          <a:ea typeface="DejaVu Sans"/>
                          <a:cs typeface="DejaVu Sans"/>
                        </a:rPr>
                        <a:t>State</a:t>
                      </a:r>
                    </a:p>
                  </a:txBody>
                  <a:tcPr marL="114300" marR="114300" marT="95250" marB="76200">
                    <a:solidFill>
                      <a:srgbClr val="132C43"/>
                    </a:solidFill>
                  </a:tcPr>
                </a:tc>
                <a:tc>
                  <a:txBody>
                    <a:bodyPr/>
                    <a:lstStyle/>
                    <a:p>
                      <a:r>
                        <a:rPr sz="1725" b="1">
                          <a:solidFill>
                            <a:srgbClr val="FFFFFF"/>
                          </a:solidFill>
                          <a:latin typeface="DejaVu Sans"/>
                          <a:ea typeface="DejaVu Sans"/>
                          <a:cs typeface="DejaVu Sans"/>
                        </a:rPr>
                        <a:t>Meaning</a:t>
                      </a:r>
                    </a:p>
                  </a:txBody>
                  <a:tcPr marL="114300" marR="114300" marT="95250" marB="76200">
                    <a:solidFill>
                      <a:srgbClr val="132C43"/>
                    </a:solidFill>
                  </a:tcPr>
                </a:tc>
                <a:extLst>
                  <a:ext uri="{0D108BD9-81ED-4DB2-BD59-A6C34878D82A}">
                    <a16:rowId xmlns:a16="http://schemas.microsoft.com/office/drawing/2014/main" val="10000"/>
                  </a:ext>
                </a:extLst>
              </a:tr>
              <a:tr h="630238">
                <a:tc>
                  <a:txBody>
                    <a:bodyPr/>
                    <a:lstStyle/>
                    <a:p>
                      <a:r>
                        <a:rPr sz="1725">
                          <a:solidFill>
                            <a:srgbClr val="132C43"/>
                          </a:solidFill>
                          <a:latin typeface="DejaVu Sans"/>
                          <a:ea typeface="DejaVu Sans"/>
                          <a:cs typeface="DejaVu Sans"/>
                        </a:rPr>
                        <a:t>New</a:t>
                      </a:r>
                    </a:p>
                  </a:txBody>
                  <a:tcPr marL="114300" marR="114300" marT="95250" marB="76200">
                    <a:solidFill>
                      <a:srgbClr val="F0F6FA"/>
                    </a:solidFill>
                  </a:tcPr>
                </a:tc>
                <a:tc>
                  <a:txBody>
                    <a:bodyPr/>
                    <a:lstStyle/>
                    <a:p>
                      <a:r>
                        <a:rPr sz="1725">
                          <a:solidFill>
                            <a:srgbClr val="132C43"/>
                          </a:solidFill>
                          <a:latin typeface="DejaVu Sans"/>
                          <a:ea typeface="DejaVu Sans"/>
                          <a:cs typeface="DejaVu Sans"/>
                        </a:rPr>
                        <a:t>OS is creating the process</a:t>
                      </a:r>
                    </a:p>
                  </a:txBody>
                  <a:tcPr marL="114300" marR="114300" marT="95250" marB="76200">
                    <a:solidFill>
                      <a:srgbClr val="F0F6FA"/>
                    </a:solidFill>
                  </a:tcPr>
                </a:tc>
                <a:extLst>
                  <a:ext uri="{0D108BD9-81ED-4DB2-BD59-A6C34878D82A}">
                    <a16:rowId xmlns:a16="http://schemas.microsoft.com/office/drawing/2014/main" val="10001"/>
                  </a:ext>
                </a:extLst>
              </a:tr>
              <a:tr h="630238">
                <a:tc>
                  <a:txBody>
                    <a:bodyPr/>
                    <a:lstStyle/>
                    <a:p>
                      <a:r>
                        <a:rPr sz="1725">
                          <a:solidFill>
                            <a:srgbClr val="132C43"/>
                          </a:solidFill>
                          <a:latin typeface="DejaVu Sans"/>
                          <a:ea typeface="DejaVu Sans"/>
                          <a:cs typeface="DejaVu Sans"/>
                        </a:rPr>
                        <a:t>Ready</a:t>
                      </a:r>
                    </a:p>
                  </a:txBody>
                  <a:tcPr marL="114300" marR="114300" marT="95250" marB="76200">
                    <a:solidFill>
                      <a:srgbClr val="FFFFFF"/>
                    </a:solidFill>
                  </a:tcPr>
                </a:tc>
                <a:tc>
                  <a:txBody>
                    <a:bodyPr/>
                    <a:lstStyle/>
                    <a:p>
                      <a:r>
                        <a:rPr sz="1725">
                          <a:solidFill>
                            <a:srgbClr val="132C43"/>
                          </a:solidFill>
                          <a:latin typeface="DejaVu Sans"/>
                          <a:ea typeface="DejaVu Sans"/>
                          <a:cs typeface="DejaVu Sans"/>
                        </a:rPr>
                        <a:t>Runnable, waiting for CPU selection</a:t>
                      </a:r>
                    </a:p>
                  </a:txBody>
                  <a:tcPr marL="114300" marR="114300" marT="95250" marB="76200">
                    <a:solidFill>
                      <a:srgbClr val="FFFFFF"/>
                    </a:solidFill>
                  </a:tcPr>
                </a:tc>
                <a:extLst>
                  <a:ext uri="{0D108BD9-81ED-4DB2-BD59-A6C34878D82A}">
                    <a16:rowId xmlns:a16="http://schemas.microsoft.com/office/drawing/2014/main" val="10002"/>
                  </a:ext>
                </a:extLst>
              </a:tr>
              <a:tr h="630238">
                <a:tc>
                  <a:txBody>
                    <a:bodyPr/>
                    <a:lstStyle/>
                    <a:p>
                      <a:r>
                        <a:rPr sz="1725">
                          <a:solidFill>
                            <a:srgbClr val="132C43"/>
                          </a:solidFill>
                          <a:latin typeface="DejaVu Sans"/>
                          <a:ea typeface="DejaVu Sans"/>
                          <a:cs typeface="DejaVu Sans"/>
                        </a:rPr>
                        <a:t>Running</a:t>
                      </a:r>
                    </a:p>
                  </a:txBody>
                  <a:tcPr marL="114300" marR="114300" marT="95250" marB="76200">
                    <a:solidFill>
                      <a:srgbClr val="F0F6FA"/>
                    </a:solidFill>
                  </a:tcPr>
                </a:tc>
                <a:tc>
                  <a:txBody>
                    <a:bodyPr/>
                    <a:lstStyle/>
                    <a:p>
                      <a:r>
                        <a:rPr sz="1725">
                          <a:solidFill>
                            <a:srgbClr val="132C43"/>
                          </a:solidFill>
                          <a:latin typeface="DejaVu Sans"/>
                          <a:ea typeface="DejaVu Sans"/>
                          <a:cs typeface="DejaVu Sans"/>
                        </a:rPr>
                        <a:t>Executing on an execution unit</a:t>
                      </a:r>
                    </a:p>
                  </a:txBody>
                  <a:tcPr marL="114300" marR="114300" marT="95250" marB="76200">
                    <a:solidFill>
                      <a:srgbClr val="F0F6FA"/>
                    </a:solidFill>
                  </a:tcPr>
                </a:tc>
                <a:extLst>
                  <a:ext uri="{0D108BD9-81ED-4DB2-BD59-A6C34878D82A}">
                    <a16:rowId xmlns:a16="http://schemas.microsoft.com/office/drawing/2014/main" val="10003"/>
                  </a:ext>
                </a:extLst>
              </a:tr>
              <a:tr h="630238">
                <a:tc>
                  <a:txBody>
                    <a:bodyPr/>
                    <a:lstStyle/>
                    <a:p>
                      <a:r>
                        <a:rPr sz="1725">
                          <a:solidFill>
                            <a:srgbClr val="132C43"/>
                          </a:solidFill>
                          <a:latin typeface="DejaVu Sans"/>
                          <a:ea typeface="DejaVu Sans"/>
                          <a:cs typeface="DejaVu Sans"/>
                        </a:rPr>
                        <a:t>Waiting / blocked</a:t>
                      </a:r>
                    </a:p>
                  </a:txBody>
                  <a:tcPr marL="114300" marR="114300" marT="95250" marB="76200">
                    <a:solidFill>
                      <a:srgbClr val="FFFFFF"/>
                    </a:solidFill>
                  </a:tcPr>
                </a:tc>
                <a:tc>
                  <a:txBody>
                    <a:bodyPr/>
                    <a:lstStyle/>
                    <a:p>
                      <a:r>
                        <a:rPr sz="1725">
                          <a:solidFill>
                            <a:srgbClr val="132C43"/>
                          </a:solidFill>
                          <a:latin typeface="DejaVu Sans"/>
                          <a:ea typeface="DejaVu Sans"/>
                          <a:cs typeface="DejaVu Sans"/>
                        </a:rPr>
                        <a:t>Cannot proceed until an event occurs</a:t>
                      </a:r>
                    </a:p>
                  </a:txBody>
                  <a:tcPr marL="114300" marR="114300" marT="95250" marB="76200">
                    <a:solidFill>
                      <a:srgbClr val="FFFFFF"/>
                    </a:solidFill>
                  </a:tcPr>
                </a:tc>
                <a:extLst>
                  <a:ext uri="{0D108BD9-81ED-4DB2-BD59-A6C34878D82A}">
                    <a16:rowId xmlns:a16="http://schemas.microsoft.com/office/drawing/2014/main" val="10004"/>
                  </a:ext>
                </a:extLst>
              </a:tr>
              <a:tr h="630238">
                <a:tc>
                  <a:txBody>
                    <a:bodyPr/>
                    <a:lstStyle/>
                    <a:p>
                      <a:r>
                        <a:rPr sz="1725">
                          <a:solidFill>
                            <a:srgbClr val="132C43"/>
                          </a:solidFill>
                          <a:latin typeface="DejaVu Sans"/>
                          <a:ea typeface="DejaVu Sans"/>
                          <a:cs typeface="DejaVu Sans"/>
                        </a:rPr>
                        <a:t>Terminated</a:t>
                      </a:r>
                    </a:p>
                  </a:txBody>
                  <a:tcPr marL="114300" marR="114300" marT="95250" marB="76200">
                    <a:solidFill>
                      <a:srgbClr val="F0F6FA"/>
                    </a:solidFill>
                  </a:tcPr>
                </a:tc>
                <a:tc>
                  <a:txBody>
                    <a:bodyPr/>
                    <a:lstStyle/>
                    <a:p>
                      <a:r>
                        <a:rPr sz="1725">
                          <a:solidFill>
                            <a:srgbClr val="132C43"/>
                          </a:solidFill>
                          <a:latin typeface="DejaVu Sans"/>
                          <a:ea typeface="DejaVu Sans"/>
                          <a:cs typeface="DejaVu Sans"/>
                        </a:rPr>
                        <a:t>Execution has ended</a:t>
                      </a:r>
                    </a:p>
                  </a:txBody>
                  <a:tcPr marL="114300" marR="114300" marT="95250" marB="76200">
                    <a:solidFill>
                      <a:srgbClr val="F0F6FA"/>
                    </a:solidFill>
                  </a:tcPr>
                </a:tc>
                <a:extLst>
                  <a:ext uri="{0D108BD9-81ED-4DB2-BD59-A6C34878D82A}">
                    <a16:rowId xmlns:a16="http://schemas.microsoft.com/office/drawing/2014/main" val="10005"/>
                  </a:ext>
                </a:extLst>
              </a:tr>
            </a:tbl>
          </a:graphicData>
        </a:graphic>
      </p:graphicFrame>
      <p:sp>
        <p:nvSpPr>
          <p:cNvPr id="4" name="Rectangle 3">
            <a:extLst>
              <a:ext uri="{FF2B5EF4-FFF2-40B4-BE49-F238E27FC236}">
                <a16:creationId xmlns:a16="http://schemas.microsoft.com/office/drawing/2014/main" id="{615A94B6-E36B-461D-921C-970FC7260FE8}"/>
              </a:ext>
            </a:extLst>
          </p:cNvPr>
          <p:cNvSpPr>
            <a:spLocks noGrp="1"/>
          </p:cNvSpPr>
          <p:nvPr/>
        </p:nvSpPr>
        <p:spPr>
          <a:xfrm>
            <a:off x="685800" y="6381750"/>
            <a:ext cx="10820400" cy="238125"/>
          </a:xfrm>
          <a:prstGeom prst="rect">
            <a:avLst/>
          </a:prstGeom>
          <a:noFill/>
          <a:ln w="0">
            <a:noFill/>
          </a:ln>
        </p:spPr>
        <p:txBody>
          <a:bodyPr anchor="t">
            <a:noAutofit/>
          </a:bodyPr>
          <a:lstStyle/>
          <a:p>
            <a:pPr>
              <a:defRPr sz="1275" b="0">
                <a:solidFill>
                  <a:srgbClr val="53687A"/>
                </a:solidFill>
                <a:latin typeface="DejaVu Sans"/>
                <a:ea typeface="DejaVu Sans"/>
                <a:cs typeface="DejaVu Sans"/>
              </a:defRPr>
            </a:pPr>
            <a:r>
              <a:rPr sz="1275" b="0">
                <a:solidFill>
                  <a:srgbClr val="53687A"/>
                </a:solidFill>
                <a:latin typeface="DejaVu Sans"/>
                <a:ea typeface="DejaVu Sans"/>
                <a:cs typeface="DejaVu Sans"/>
              </a:rPr>
              <a:t>Week 3     45</a:t>
            </a:r>
          </a:p>
        </p:txBody>
      </p:sp>
    </p:spTree>
    <p:extLst>
      <p:ext uri="{BB962C8B-B14F-4D97-AF65-F5344CB8AC3E}">
        <p14:creationId xmlns:p14="http://schemas.microsoft.com/office/powerpoint/2010/main" val="198294468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3A4ABF7-7EAC-4C35-A5CB-04B180A97CD2}"/>
              </a:ext>
            </a:extLst>
          </p:cNvPr>
          <p:cNvSpPr>
            <a:spLocks noGrp="1"/>
          </p:cNvSpPr>
          <p:nvPr/>
        </p:nvSpPr>
        <p:spPr>
          <a:xfrm>
            <a:off x="685800" y="495300"/>
            <a:ext cx="10858500" cy="857250"/>
          </a:xfrm>
          <a:prstGeom prst="rect">
            <a:avLst/>
          </a:prstGeom>
          <a:noFill/>
          <a:ln w="0">
            <a:noFill/>
          </a:ln>
        </p:spPr>
        <p:txBody>
          <a:bodyPr anchor="t">
            <a:noAutofit/>
          </a:bodyPr>
          <a:lstStyle/>
          <a:p>
            <a:pPr>
              <a:defRPr sz="3300" b="1">
                <a:solidFill>
                  <a:srgbClr val="132C43"/>
                </a:solidFill>
                <a:latin typeface="DejaVu Sans"/>
                <a:ea typeface="DejaVu Sans"/>
                <a:cs typeface="DejaVu Sans"/>
              </a:defRPr>
            </a:pPr>
            <a:r>
              <a:rPr sz="3300" b="1">
                <a:solidFill>
                  <a:srgbClr val="132C43"/>
                </a:solidFill>
                <a:latin typeface="DejaVu Sans"/>
                <a:ea typeface="DejaVu Sans"/>
                <a:cs typeface="DejaVu Sans"/>
              </a:rPr>
              <a:t>Process-state transitions</a:t>
            </a:r>
          </a:p>
        </p:txBody>
      </p:sp>
      <p:sp>
        <p:nvSpPr>
          <p:cNvPr id="2" name="Rectangle 1">
            <a:extLst>
              <a:ext uri="{FF2B5EF4-FFF2-40B4-BE49-F238E27FC236}">
                <a16:creationId xmlns:a16="http://schemas.microsoft.com/office/drawing/2014/main" id="{68A8D18B-5131-4255-A3E2-032C3556C23C}"/>
              </a:ext>
            </a:extLst>
          </p:cNvPr>
          <p:cNvSpPr>
            <a:spLocks noGrp="1"/>
          </p:cNvSpPr>
          <p:nvPr/>
        </p:nvSpPr>
        <p:spPr>
          <a:xfrm>
            <a:off x="685800" y="1438275"/>
            <a:ext cx="10820400" cy="1190625"/>
          </a:xfrm>
          <a:prstGeom prst="rect">
            <a:avLst/>
          </a:prstGeom>
          <a:noFill/>
          <a:ln w="0">
            <a:noFill/>
          </a:ln>
        </p:spPr>
        <p:txBody>
          <a:bodyPr anchor="t">
            <a:noAutofit/>
          </a:bodyPr>
          <a:lstStyle/>
          <a:p>
            <a:pPr>
              <a:defRPr sz="1950" b="0">
                <a:solidFill>
                  <a:srgbClr val="132C43"/>
                </a:solidFill>
                <a:latin typeface="DejaVu Sans"/>
                <a:ea typeface="DejaVu Sans"/>
                <a:cs typeface="DejaVu Sans"/>
              </a:defRPr>
            </a:pPr>
            <a:r>
              <a:rPr sz="1950" b="0">
                <a:solidFill>
                  <a:srgbClr val="132C43"/>
                </a:solidFill>
                <a:latin typeface="DejaVu Sans"/>
                <a:ea typeface="DejaVu Sans"/>
                <a:cs typeface="DejaVu Sans"/>
              </a:rPr>
              <a:t>Dispatch selects a ready process.</a:t>
            </a:r>
          </a:p>
          <a:p>
            <a:pPr>
              <a:defRPr sz="1950" b="0">
                <a:solidFill>
                  <a:srgbClr val="132C43"/>
                </a:solidFill>
                <a:latin typeface="DejaVu Sans"/>
                <a:ea typeface="DejaVu Sans"/>
                <a:cs typeface="DejaVu Sans"/>
              </a:defRPr>
            </a:pPr>
            <a:r>
              <a:rPr sz="1950" b="0">
                <a:solidFill>
                  <a:srgbClr val="132C43"/>
                </a:solidFill>
                <a:latin typeface="DejaVu Sans"/>
                <a:ea typeface="DejaVu Sans"/>
                <a:cs typeface="DejaVu Sans"/>
              </a:rPr>
              <a:t>Preemption returns it to ready.</a:t>
            </a:r>
          </a:p>
          <a:p>
            <a:pPr>
              <a:defRPr sz="1950" b="0">
                <a:solidFill>
                  <a:srgbClr val="132C43"/>
                </a:solidFill>
                <a:latin typeface="DejaVu Sans"/>
                <a:ea typeface="DejaVu Sans"/>
                <a:cs typeface="DejaVu Sans"/>
              </a:defRPr>
            </a:pPr>
            <a:r>
              <a:rPr sz="1950" b="0">
                <a:solidFill>
                  <a:srgbClr val="132C43"/>
                </a:solidFill>
                <a:latin typeface="DejaVu Sans"/>
                <a:ea typeface="DejaVu Sans"/>
                <a:cs typeface="DejaVu Sans"/>
              </a:rPr>
              <a:t>A blocking request sends it to waiting.</a:t>
            </a:r>
          </a:p>
          <a:p>
            <a:pPr>
              <a:defRPr sz="1950" b="0">
                <a:solidFill>
                  <a:srgbClr val="132C43"/>
                </a:solidFill>
                <a:latin typeface="DejaVu Sans"/>
                <a:ea typeface="DejaVu Sans"/>
                <a:cs typeface="DejaVu Sans"/>
              </a:defRPr>
            </a:pPr>
            <a:r>
              <a:rPr sz="1950" b="0">
                <a:solidFill>
                  <a:srgbClr val="132C43"/>
                </a:solidFill>
                <a:latin typeface="DejaVu Sans"/>
                <a:ea typeface="DejaVu Sans"/>
                <a:cs typeface="DejaVu Sans"/>
              </a:rPr>
              <a:t>Event completion makes it ready again.</a:t>
            </a:r>
          </a:p>
        </p:txBody>
      </p:sp>
      <p:pic>
        <p:nvPicPr>
          <p:cNvPr id="8" name="Picture 7"/>
          <p:cNvPicPr>
            <a:picLocks noChangeAspect="1"/>
          </p:cNvPicPr>
          <p:nvPr/>
        </p:nvPicPr>
        <p:blipFill>
          <a:blip r:embed="rId3"/>
          <a:stretch/>
        </p:blipFill>
        <p:spPr>
          <a:xfrm>
            <a:off x="2611875" y="2952750"/>
            <a:ext cx="6968250" cy="2714625"/>
          </a:xfrm>
          <a:prstGeom prst="rect">
            <a:avLst/>
          </a:prstGeom>
        </p:spPr>
      </p:pic>
      <p:sp>
        <p:nvSpPr>
          <p:cNvPr id="4" name="Rectangle 3">
            <a:extLst>
              <a:ext uri="{FF2B5EF4-FFF2-40B4-BE49-F238E27FC236}">
                <a16:creationId xmlns:a16="http://schemas.microsoft.com/office/drawing/2014/main" id="{CEFC66AB-CF32-4969-B8BD-953DA9C09FC1}"/>
              </a:ext>
            </a:extLst>
          </p:cNvPr>
          <p:cNvSpPr>
            <a:spLocks noGrp="1"/>
          </p:cNvSpPr>
          <p:nvPr/>
        </p:nvSpPr>
        <p:spPr>
          <a:xfrm>
            <a:off x="685800" y="5924550"/>
            <a:ext cx="10572750" cy="247650"/>
          </a:xfrm>
          <a:prstGeom prst="rect">
            <a:avLst/>
          </a:prstGeom>
          <a:noFill/>
          <a:ln w="0">
            <a:noFill/>
          </a:ln>
        </p:spPr>
        <p:txBody>
          <a:bodyPr anchor="t">
            <a:noAutofit/>
          </a:bodyPr>
          <a:lstStyle/>
          <a:p>
            <a:pPr>
              <a:defRPr sz="1200" b="0">
                <a:solidFill>
                  <a:srgbClr val="53687A"/>
                </a:solidFill>
                <a:latin typeface="DejaVu Sans"/>
                <a:ea typeface="DejaVu Sans"/>
                <a:cs typeface="DejaVu Sans"/>
              </a:defRPr>
            </a:pPr>
            <a:r>
              <a:rPr sz="1200" b="0">
                <a:solidFill>
                  <a:srgbClr val="53687A"/>
                </a:solidFill>
                <a:latin typeface="DejaVu Sans"/>
                <a:ea typeface="DejaVu Sans"/>
                <a:cs typeface="DejaVu Sans"/>
              </a:rPr>
              <a:t>Figure: Operating System Concepts, 9th ed., ©2013, via UIC course notes</a:t>
            </a:r>
          </a:p>
        </p:txBody>
      </p:sp>
      <p:sp>
        <p:nvSpPr>
          <p:cNvPr id="5" name="Rectangle 4">
            <a:extLst>
              <a:ext uri="{FF2B5EF4-FFF2-40B4-BE49-F238E27FC236}">
                <a16:creationId xmlns:a16="http://schemas.microsoft.com/office/drawing/2014/main" id="{F890D36C-A285-4C69-8E61-0E5EC418A652}"/>
              </a:ext>
            </a:extLst>
          </p:cNvPr>
          <p:cNvSpPr>
            <a:spLocks noGrp="1"/>
          </p:cNvSpPr>
          <p:nvPr/>
        </p:nvSpPr>
        <p:spPr>
          <a:xfrm>
            <a:off x="685800" y="6381750"/>
            <a:ext cx="10820400" cy="238125"/>
          </a:xfrm>
          <a:prstGeom prst="rect">
            <a:avLst/>
          </a:prstGeom>
          <a:noFill/>
          <a:ln w="0">
            <a:noFill/>
          </a:ln>
        </p:spPr>
        <p:txBody>
          <a:bodyPr anchor="t">
            <a:noAutofit/>
          </a:bodyPr>
          <a:lstStyle/>
          <a:p>
            <a:pPr>
              <a:defRPr sz="1275" b="0">
                <a:solidFill>
                  <a:srgbClr val="53687A"/>
                </a:solidFill>
                <a:latin typeface="DejaVu Sans"/>
                <a:ea typeface="DejaVu Sans"/>
                <a:cs typeface="DejaVu Sans"/>
              </a:defRPr>
            </a:pPr>
            <a:r>
              <a:rPr sz="1275" b="0">
                <a:solidFill>
                  <a:srgbClr val="53687A"/>
                </a:solidFill>
                <a:latin typeface="DejaVu Sans"/>
                <a:ea typeface="DejaVu Sans"/>
                <a:cs typeface="DejaVu Sans"/>
              </a:rPr>
              <a:t>Week 3     46</a:t>
            </a:r>
          </a:p>
        </p:txBody>
      </p:sp>
    </p:spTree>
    <p:extLst>
      <p:ext uri="{BB962C8B-B14F-4D97-AF65-F5344CB8AC3E}">
        <p14:creationId xmlns:p14="http://schemas.microsoft.com/office/powerpoint/2010/main" val="95978296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FAA1F9F-CF10-4763-81E2-C0281C35D15A}"/>
              </a:ext>
            </a:extLst>
          </p:cNvPr>
          <p:cNvSpPr>
            <a:spLocks noGrp="1"/>
          </p:cNvSpPr>
          <p:nvPr/>
        </p:nvSpPr>
        <p:spPr>
          <a:xfrm>
            <a:off x="685800" y="495300"/>
            <a:ext cx="10858500" cy="857250"/>
          </a:xfrm>
          <a:prstGeom prst="rect">
            <a:avLst/>
          </a:prstGeom>
          <a:noFill/>
          <a:ln w="0">
            <a:noFill/>
          </a:ln>
        </p:spPr>
        <p:txBody>
          <a:bodyPr anchor="t">
            <a:noAutofit/>
          </a:bodyPr>
          <a:lstStyle/>
          <a:p>
            <a:pPr>
              <a:defRPr sz="3300" b="1">
                <a:solidFill>
                  <a:srgbClr val="132C43"/>
                </a:solidFill>
                <a:latin typeface="DejaVu Sans"/>
                <a:ea typeface="DejaVu Sans"/>
                <a:cs typeface="DejaVu Sans"/>
              </a:defRPr>
            </a:pPr>
            <a:r>
              <a:rPr sz="3300" b="1">
                <a:solidFill>
                  <a:srgbClr val="132C43"/>
                </a:solidFill>
                <a:latin typeface="DejaVu Sans"/>
                <a:ea typeface="DejaVu Sans"/>
                <a:cs typeface="DejaVu Sans"/>
              </a:rPr>
              <a:t>Worked trace: editor saves a file</a:t>
            </a:r>
          </a:p>
        </p:txBody>
      </p:sp>
      <p:sp>
        <p:nvSpPr>
          <p:cNvPr id="2" name="Rectangle 1">
            <a:extLst>
              <a:ext uri="{FF2B5EF4-FFF2-40B4-BE49-F238E27FC236}">
                <a16:creationId xmlns:a16="http://schemas.microsoft.com/office/drawing/2014/main" id="{6B74B35B-AF11-4C45-9C32-C79CD72AE698}"/>
              </a:ext>
            </a:extLst>
          </p:cNvPr>
          <p:cNvSpPr>
            <a:spLocks noGrp="1"/>
          </p:cNvSpPr>
          <p:nvPr/>
        </p:nvSpPr>
        <p:spPr>
          <a:xfrm>
            <a:off x="685800" y="1666875"/>
            <a:ext cx="10820400" cy="3905250"/>
          </a:xfrm>
          <a:prstGeom prst="rect">
            <a:avLst/>
          </a:prstGeom>
          <a:noFill/>
          <a:ln w="0">
            <a:noFill/>
          </a:ln>
        </p:spPr>
        <p:txBody>
          <a:bodyPr anchor="t">
            <a:noAutofit/>
          </a:bodyPr>
          <a:lstStyle/>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A ready editor receives CPU time.</a:t>
            </a:r>
          </a:p>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It issues a blocking disk request.</a:t>
            </a:r>
          </a:p>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Another process uses the CPU.</a:t>
            </a:r>
          </a:p>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Disk completion wakes the editor.</a:t>
            </a:r>
          </a:p>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The scheduler later selects the editor.</a:t>
            </a:r>
          </a:p>
        </p:txBody>
      </p:sp>
      <p:sp>
        <p:nvSpPr>
          <p:cNvPr id="3" name="Rectangle 2">
            <a:extLst>
              <a:ext uri="{FF2B5EF4-FFF2-40B4-BE49-F238E27FC236}">
                <a16:creationId xmlns:a16="http://schemas.microsoft.com/office/drawing/2014/main" id="{F47BBBFB-BE38-427E-9F9B-6AFD8014671B}"/>
              </a:ext>
            </a:extLst>
          </p:cNvPr>
          <p:cNvSpPr>
            <a:spLocks noGrp="1"/>
          </p:cNvSpPr>
          <p:nvPr/>
        </p:nvSpPr>
        <p:spPr>
          <a:xfrm>
            <a:off x="685800" y="6381750"/>
            <a:ext cx="10820400" cy="238125"/>
          </a:xfrm>
          <a:prstGeom prst="rect">
            <a:avLst/>
          </a:prstGeom>
          <a:noFill/>
          <a:ln w="0">
            <a:noFill/>
          </a:ln>
        </p:spPr>
        <p:txBody>
          <a:bodyPr anchor="t">
            <a:noAutofit/>
          </a:bodyPr>
          <a:lstStyle/>
          <a:p>
            <a:pPr>
              <a:defRPr sz="1275" b="0">
                <a:solidFill>
                  <a:srgbClr val="53687A"/>
                </a:solidFill>
                <a:latin typeface="DejaVu Sans"/>
                <a:ea typeface="DejaVu Sans"/>
                <a:cs typeface="DejaVu Sans"/>
              </a:defRPr>
            </a:pPr>
            <a:r>
              <a:rPr sz="1275" b="0">
                <a:solidFill>
                  <a:srgbClr val="53687A"/>
                </a:solidFill>
                <a:latin typeface="DejaVu Sans"/>
                <a:ea typeface="DejaVu Sans"/>
                <a:cs typeface="DejaVu Sans"/>
              </a:rPr>
              <a:t>Week 3     47</a:t>
            </a:r>
          </a:p>
        </p:txBody>
      </p:sp>
    </p:spTree>
    <p:extLst>
      <p:ext uri="{BB962C8B-B14F-4D97-AF65-F5344CB8AC3E}">
        <p14:creationId xmlns:p14="http://schemas.microsoft.com/office/powerpoint/2010/main" val="125434599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76BCB29-0E14-4E28-929C-A5A272209BA7}"/>
              </a:ext>
            </a:extLst>
          </p:cNvPr>
          <p:cNvSpPr>
            <a:spLocks noGrp="1"/>
          </p:cNvSpPr>
          <p:nvPr/>
        </p:nvSpPr>
        <p:spPr>
          <a:xfrm>
            <a:off x="685800" y="495300"/>
            <a:ext cx="10858500" cy="857250"/>
          </a:xfrm>
          <a:prstGeom prst="rect">
            <a:avLst/>
          </a:prstGeom>
          <a:noFill/>
          <a:ln w="0">
            <a:noFill/>
          </a:ln>
        </p:spPr>
        <p:txBody>
          <a:bodyPr anchor="t">
            <a:noAutofit/>
          </a:bodyPr>
          <a:lstStyle/>
          <a:p>
            <a:pPr>
              <a:defRPr sz="3300" b="1">
                <a:solidFill>
                  <a:srgbClr val="132C43"/>
                </a:solidFill>
                <a:latin typeface="DejaVu Sans"/>
                <a:ea typeface="DejaVu Sans"/>
                <a:cs typeface="DejaVu Sans"/>
              </a:defRPr>
            </a:pPr>
            <a:r>
              <a:rPr sz="3300" b="1">
                <a:solidFill>
                  <a:srgbClr val="132C43"/>
                </a:solidFill>
                <a:latin typeface="DejaVu Sans"/>
                <a:ea typeface="DejaVu Sans"/>
                <a:cs typeface="DejaVu Sans"/>
              </a:rPr>
              <a:t>Process Control Block</a:t>
            </a:r>
          </a:p>
        </p:txBody>
      </p:sp>
      <p:sp>
        <p:nvSpPr>
          <p:cNvPr id="2" name="Rectangle 1">
            <a:extLst>
              <a:ext uri="{FF2B5EF4-FFF2-40B4-BE49-F238E27FC236}">
                <a16:creationId xmlns:a16="http://schemas.microsoft.com/office/drawing/2014/main" id="{D772D96E-FD55-46A7-B40C-EEC50B8A7D7B}"/>
              </a:ext>
            </a:extLst>
          </p:cNvPr>
          <p:cNvSpPr>
            <a:spLocks noGrp="1"/>
          </p:cNvSpPr>
          <p:nvPr/>
        </p:nvSpPr>
        <p:spPr>
          <a:xfrm>
            <a:off x="685800" y="1619250"/>
            <a:ext cx="4476750" cy="3762375"/>
          </a:xfrm>
          <a:prstGeom prst="rect">
            <a:avLst/>
          </a:prstGeom>
          <a:noFill/>
          <a:ln w="0">
            <a:noFill/>
          </a:ln>
        </p:spPr>
        <p:txBody>
          <a:bodyPr anchor="t">
            <a:noAutofit/>
          </a:bodyPr>
          <a:lstStyle/>
          <a:p>
            <a:pPr>
              <a:defRPr sz="2100" b="0">
                <a:solidFill>
                  <a:srgbClr val="132C43"/>
                </a:solidFill>
                <a:latin typeface="DejaVu Sans"/>
                <a:ea typeface="DejaVu Sans"/>
                <a:cs typeface="DejaVu Sans"/>
              </a:defRPr>
            </a:pPr>
            <a:r>
              <a:rPr sz="2100" b="0">
                <a:solidFill>
                  <a:srgbClr val="132C43"/>
                </a:solidFill>
                <a:latin typeface="DejaVu Sans"/>
                <a:ea typeface="DejaVu Sans"/>
                <a:cs typeface="DejaVu Sans"/>
              </a:rPr>
              <a:t>The OS needs a record for each process.</a:t>
            </a:r>
          </a:p>
          <a:p>
            <a:pPr>
              <a:defRPr sz="2100" b="0">
                <a:solidFill>
                  <a:srgbClr val="132C43"/>
                </a:solidFill>
                <a:latin typeface="DejaVu Sans"/>
                <a:ea typeface="DejaVu Sans"/>
                <a:cs typeface="DejaVu Sans"/>
              </a:defRPr>
            </a:pPr>
            <a:r>
              <a:rPr sz="2100" b="0">
                <a:solidFill>
                  <a:srgbClr val="132C43"/>
                </a:solidFill>
                <a:latin typeface="DejaVu Sans"/>
                <a:ea typeface="DejaVu Sans"/>
                <a:cs typeface="DejaVu Sans"/>
              </a:rPr>
              <a:t>Identity and state describe the process.</a:t>
            </a:r>
          </a:p>
          <a:p>
            <a:pPr>
              <a:defRPr sz="2100" b="0">
                <a:solidFill>
                  <a:srgbClr val="132C43"/>
                </a:solidFill>
                <a:latin typeface="DejaVu Sans"/>
                <a:ea typeface="DejaVu Sans"/>
                <a:cs typeface="DejaVu Sans"/>
              </a:defRPr>
            </a:pPr>
            <a:r>
              <a:rPr sz="2100" b="0">
                <a:solidFill>
                  <a:srgbClr val="132C43"/>
                </a:solidFill>
                <a:latin typeface="DejaVu Sans"/>
                <a:ea typeface="DejaVu Sans"/>
                <a:cs typeface="DejaVu Sans"/>
              </a:rPr>
              <a:t>Saved CPU context supports later resumption.</a:t>
            </a:r>
          </a:p>
          <a:p>
            <a:pPr>
              <a:defRPr sz="2100" b="0">
                <a:solidFill>
                  <a:srgbClr val="132C43"/>
                </a:solidFill>
                <a:latin typeface="DejaVu Sans"/>
                <a:ea typeface="DejaVu Sans"/>
                <a:cs typeface="DejaVu Sans"/>
              </a:defRPr>
            </a:pPr>
            <a:r>
              <a:rPr sz="2100" b="0">
                <a:solidFill>
                  <a:srgbClr val="132C43"/>
                </a:solidFill>
                <a:latin typeface="DejaVu Sans"/>
                <a:ea typeface="DejaVu Sans"/>
                <a:cs typeface="DejaVu Sans"/>
              </a:rPr>
              <a:t>Resource references connect it to memory and I/O.</a:t>
            </a:r>
          </a:p>
        </p:txBody>
      </p:sp>
      <p:pic>
        <p:nvPicPr>
          <p:cNvPr id="8" name="Picture 7"/>
          <p:cNvPicPr>
            <a:picLocks noChangeAspect="1"/>
          </p:cNvPicPr>
          <p:nvPr/>
        </p:nvPicPr>
        <p:blipFill>
          <a:blip r:embed="rId3"/>
          <a:stretch/>
        </p:blipFill>
        <p:spPr>
          <a:xfrm>
            <a:off x="7410283" y="1524000"/>
            <a:ext cx="2514934" cy="4095750"/>
          </a:xfrm>
          <a:prstGeom prst="rect">
            <a:avLst/>
          </a:prstGeom>
        </p:spPr>
      </p:pic>
      <p:sp>
        <p:nvSpPr>
          <p:cNvPr id="4" name="Rectangle 3">
            <a:extLst>
              <a:ext uri="{FF2B5EF4-FFF2-40B4-BE49-F238E27FC236}">
                <a16:creationId xmlns:a16="http://schemas.microsoft.com/office/drawing/2014/main" id="{14C5DFA1-D30D-4194-8014-44884AB137A1}"/>
              </a:ext>
            </a:extLst>
          </p:cNvPr>
          <p:cNvSpPr>
            <a:spLocks noGrp="1"/>
          </p:cNvSpPr>
          <p:nvPr/>
        </p:nvSpPr>
        <p:spPr>
          <a:xfrm>
            <a:off x="685800" y="5924550"/>
            <a:ext cx="10572750" cy="247650"/>
          </a:xfrm>
          <a:prstGeom prst="rect">
            <a:avLst/>
          </a:prstGeom>
          <a:noFill/>
          <a:ln w="0">
            <a:noFill/>
          </a:ln>
        </p:spPr>
        <p:txBody>
          <a:bodyPr anchor="t">
            <a:noAutofit/>
          </a:bodyPr>
          <a:lstStyle/>
          <a:p>
            <a:pPr>
              <a:defRPr sz="1200" b="0">
                <a:solidFill>
                  <a:srgbClr val="53687A"/>
                </a:solidFill>
                <a:latin typeface="DejaVu Sans"/>
                <a:ea typeface="DejaVu Sans"/>
                <a:cs typeface="DejaVu Sans"/>
              </a:defRPr>
            </a:pPr>
            <a:r>
              <a:rPr sz="1200" b="0">
                <a:solidFill>
                  <a:srgbClr val="53687A"/>
                </a:solidFill>
                <a:latin typeface="DejaVu Sans"/>
                <a:ea typeface="DejaVu Sans"/>
                <a:cs typeface="DejaVu Sans"/>
              </a:rPr>
              <a:t>Figure: Operating System Concepts, 9th ed., ©2013, via UIC course notes</a:t>
            </a:r>
          </a:p>
        </p:txBody>
      </p:sp>
      <p:sp>
        <p:nvSpPr>
          <p:cNvPr id="5" name="Rectangle 4">
            <a:extLst>
              <a:ext uri="{FF2B5EF4-FFF2-40B4-BE49-F238E27FC236}">
                <a16:creationId xmlns:a16="http://schemas.microsoft.com/office/drawing/2014/main" id="{530B614A-FB08-4BD8-9019-477B382219FC}"/>
              </a:ext>
            </a:extLst>
          </p:cNvPr>
          <p:cNvSpPr>
            <a:spLocks noGrp="1"/>
          </p:cNvSpPr>
          <p:nvPr/>
        </p:nvSpPr>
        <p:spPr>
          <a:xfrm>
            <a:off x="685800" y="6381750"/>
            <a:ext cx="10820400" cy="238125"/>
          </a:xfrm>
          <a:prstGeom prst="rect">
            <a:avLst/>
          </a:prstGeom>
          <a:noFill/>
          <a:ln w="0">
            <a:noFill/>
          </a:ln>
        </p:spPr>
        <p:txBody>
          <a:bodyPr anchor="t">
            <a:noAutofit/>
          </a:bodyPr>
          <a:lstStyle/>
          <a:p>
            <a:pPr>
              <a:defRPr sz="1275" b="0">
                <a:solidFill>
                  <a:srgbClr val="53687A"/>
                </a:solidFill>
                <a:latin typeface="DejaVu Sans"/>
                <a:ea typeface="DejaVu Sans"/>
                <a:cs typeface="DejaVu Sans"/>
              </a:defRPr>
            </a:pPr>
            <a:r>
              <a:rPr sz="1275" b="0">
                <a:solidFill>
                  <a:srgbClr val="53687A"/>
                </a:solidFill>
                <a:latin typeface="DejaVu Sans"/>
                <a:ea typeface="DejaVu Sans"/>
                <a:cs typeface="DejaVu Sans"/>
              </a:rPr>
              <a:t>Week 3     48</a:t>
            </a:r>
          </a:p>
        </p:txBody>
      </p:sp>
    </p:spTree>
    <p:extLst>
      <p:ext uri="{BB962C8B-B14F-4D97-AF65-F5344CB8AC3E}">
        <p14:creationId xmlns:p14="http://schemas.microsoft.com/office/powerpoint/2010/main" val="112895472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A998F89-DF87-4912-88EE-EE690CBFA2EC}"/>
              </a:ext>
            </a:extLst>
          </p:cNvPr>
          <p:cNvSpPr>
            <a:spLocks noGrp="1"/>
          </p:cNvSpPr>
          <p:nvPr/>
        </p:nvSpPr>
        <p:spPr>
          <a:xfrm>
            <a:off x="685800" y="495300"/>
            <a:ext cx="10858500" cy="857250"/>
          </a:xfrm>
          <a:prstGeom prst="rect">
            <a:avLst/>
          </a:prstGeom>
          <a:noFill/>
          <a:ln w="0">
            <a:noFill/>
          </a:ln>
        </p:spPr>
        <p:txBody>
          <a:bodyPr anchor="t">
            <a:noAutofit/>
          </a:bodyPr>
          <a:lstStyle/>
          <a:p>
            <a:pPr>
              <a:defRPr sz="3300" b="1">
                <a:solidFill>
                  <a:srgbClr val="132C43"/>
                </a:solidFill>
                <a:latin typeface="DejaVu Sans"/>
                <a:ea typeface="DejaVu Sans"/>
                <a:cs typeface="DejaVu Sans"/>
              </a:defRPr>
            </a:pPr>
            <a:r>
              <a:rPr sz="3300" b="1">
                <a:solidFill>
                  <a:srgbClr val="132C43"/>
                </a:solidFill>
                <a:latin typeface="DejaVu Sans"/>
                <a:ea typeface="DejaVu Sans"/>
                <a:cs typeface="DejaVu Sans"/>
              </a:rPr>
              <a:t>PCB exercise: what must survive?</a:t>
            </a:r>
          </a:p>
        </p:txBody>
      </p:sp>
      <p:sp>
        <p:nvSpPr>
          <p:cNvPr id="2" name="Rectangle 1">
            <a:extLst>
              <a:ext uri="{FF2B5EF4-FFF2-40B4-BE49-F238E27FC236}">
                <a16:creationId xmlns:a16="http://schemas.microsoft.com/office/drawing/2014/main" id="{1921B953-EDAA-4478-8576-ED6131B6502F}"/>
              </a:ext>
            </a:extLst>
          </p:cNvPr>
          <p:cNvSpPr>
            <a:spLocks noGrp="1"/>
          </p:cNvSpPr>
          <p:nvPr/>
        </p:nvSpPr>
        <p:spPr>
          <a:xfrm>
            <a:off x="685800" y="1666875"/>
            <a:ext cx="10820400" cy="3905250"/>
          </a:xfrm>
          <a:prstGeom prst="rect">
            <a:avLst/>
          </a:prstGeom>
          <a:noFill/>
          <a:ln w="0">
            <a:noFill/>
          </a:ln>
        </p:spPr>
        <p:txBody>
          <a:bodyPr anchor="t">
            <a:noAutofit/>
          </a:bodyPr>
          <a:lstStyle/>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P1 stops with PC = 120 and register R1 = 7.</a:t>
            </a:r>
          </a:p>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P2 runs and changes the CPU registers.</a:t>
            </a:r>
          </a:p>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P1 later resumes.</a:t>
            </a:r>
          </a:p>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What must the OS restore for P1?</a:t>
            </a:r>
          </a:p>
        </p:txBody>
      </p:sp>
      <p:sp>
        <p:nvSpPr>
          <p:cNvPr id="3" name="Rectangle 2">
            <a:extLst>
              <a:ext uri="{FF2B5EF4-FFF2-40B4-BE49-F238E27FC236}">
                <a16:creationId xmlns:a16="http://schemas.microsoft.com/office/drawing/2014/main" id="{E2EADCD7-959A-4244-AA23-CC7733E9629B}"/>
              </a:ext>
            </a:extLst>
          </p:cNvPr>
          <p:cNvSpPr>
            <a:spLocks noGrp="1"/>
          </p:cNvSpPr>
          <p:nvPr/>
        </p:nvSpPr>
        <p:spPr>
          <a:xfrm>
            <a:off x="685800" y="6381750"/>
            <a:ext cx="10820400" cy="238125"/>
          </a:xfrm>
          <a:prstGeom prst="rect">
            <a:avLst/>
          </a:prstGeom>
          <a:noFill/>
          <a:ln w="0">
            <a:noFill/>
          </a:ln>
        </p:spPr>
        <p:txBody>
          <a:bodyPr anchor="t">
            <a:noAutofit/>
          </a:bodyPr>
          <a:lstStyle/>
          <a:p>
            <a:pPr>
              <a:defRPr sz="1275" b="0">
                <a:solidFill>
                  <a:srgbClr val="53687A"/>
                </a:solidFill>
                <a:latin typeface="DejaVu Sans"/>
                <a:ea typeface="DejaVu Sans"/>
                <a:cs typeface="DejaVu Sans"/>
              </a:defRPr>
            </a:pPr>
            <a:r>
              <a:rPr sz="1275" b="0">
                <a:solidFill>
                  <a:srgbClr val="53687A"/>
                </a:solidFill>
                <a:latin typeface="DejaVu Sans"/>
                <a:ea typeface="DejaVu Sans"/>
                <a:cs typeface="DejaVu Sans"/>
              </a:rPr>
              <a:t>Week 3     49</a:t>
            </a:r>
          </a:p>
        </p:txBody>
      </p:sp>
    </p:spTree>
    <p:extLst>
      <p:ext uri="{BB962C8B-B14F-4D97-AF65-F5344CB8AC3E}">
        <p14:creationId xmlns:p14="http://schemas.microsoft.com/office/powerpoint/2010/main" val="180346950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4E5F88-9555-4DCA-B30D-80FF9FA99041}"/>
              </a:ext>
            </a:extLst>
          </p:cNvPr>
          <p:cNvSpPr>
            <a:spLocks noGrp="1"/>
          </p:cNvSpPr>
          <p:nvPr/>
        </p:nvSpPr>
        <p:spPr>
          <a:xfrm>
            <a:off x="685800" y="495300"/>
            <a:ext cx="10858500" cy="857250"/>
          </a:xfrm>
          <a:prstGeom prst="rect">
            <a:avLst/>
          </a:prstGeom>
          <a:noFill/>
          <a:ln w="0">
            <a:noFill/>
          </a:ln>
        </p:spPr>
        <p:txBody>
          <a:bodyPr anchor="t">
            <a:noAutofit/>
          </a:bodyPr>
          <a:lstStyle/>
          <a:p>
            <a:pPr>
              <a:defRPr sz="3300" b="1">
                <a:solidFill>
                  <a:srgbClr val="132C43"/>
                </a:solidFill>
                <a:latin typeface="DejaVu Sans"/>
                <a:ea typeface="DejaVu Sans"/>
                <a:cs typeface="DejaVu Sans"/>
              </a:defRPr>
            </a:pPr>
            <a:r>
              <a:rPr sz="3300" b="1">
                <a:solidFill>
                  <a:srgbClr val="132C43"/>
                </a:solidFill>
                <a:latin typeface="DejaVu Sans"/>
                <a:ea typeface="DejaVu Sans"/>
                <a:cs typeface="DejaVu Sans"/>
              </a:rPr>
              <a:t>Process scheduling and queues</a:t>
            </a:r>
          </a:p>
        </p:txBody>
      </p:sp>
      <p:sp>
        <p:nvSpPr>
          <p:cNvPr id="2" name="Rectangle 1">
            <a:extLst>
              <a:ext uri="{FF2B5EF4-FFF2-40B4-BE49-F238E27FC236}">
                <a16:creationId xmlns:a16="http://schemas.microsoft.com/office/drawing/2014/main" id="{B238D6DF-CD6A-4166-8DDF-928A3679FD20}"/>
              </a:ext>
            </a:extLst>
          </p:cNvPr>
          <p:cNvSpPr>
            <a:spLocks noGrp="1"/>
          </p:cNvSpPr>
          <p:nvPr/>
        </p:nvSpPr>
        <p:spPr>
          <a:xfrm>
            <a:off x="685800" y="1619250"/>
            <a:ext cx="4476750" cy="3762375"/>
          </a:xfrm>
          <a:prstGeom prst="rect">
            <a:avLst/>
          </a:prstGeom>
          <a:noFill/>
          <a:ln w="0">
            <a:noFill/>
          </a:ln>
        </p:spPr>
        <p:txBody>
          <a:bodyPr anchor="t">
            <a:noAutofit/>
          </a:bodyPr>
          <a:lstStyle/>
          <a:p>
            <a:pPr>
              <a:defRPr sz="2100" b="0">
                <a:solidFill>
                  <a:srgbClr val="132C43"/>
                </a:solidFill>
                <a:latin typeface="DejaVu Sans"/>
                <a:ea typeface="DejaVu Sans"/>
                <a:cs typeface="DejaVu Sans"/>
              </a:defRPr>
            </a:pPr>
            <a:r>
              <a:rPr sz="2100" b="0">
                <a:solidFill>
                  <a:srgbClr val="132C43"/>
                </a:solidFill>
                <a:latin typeface="DejaVu Sans"/>
                <a:ea typeface="DejaVu Sans"/>
                <a:cs typeface="DejaVu Sans"/>
              </a:rPr>
              <a:t>The ready queue holds runnable work.</a:t>
            </a:r>
          </a:p>
          <a:p>
            <a:pPr>
              <a:defRPr sz="2100" b="0">
                <a:solidFill>
                  <a:srgbClr val="132C43"/>
                </a:solidFill>
                <a:latin typeface="DejaVu Sans"/>
                <a:ea typeface="DejaVu Sans"/>
                <a:cs typeface="DejaVu Sans"/>
              </a:defRPr>
            </a:pPr>
            <a:r>
              <a:rPr sz="2100" b="0">
                <a:solidFill>
                  <a:srgbClr val="132C43"/>
                </a:solidFill>
                <a:latin typeface="DejaVu Sans"/>
                <a:ea typeface="DejaVu Sans"/>
                <a:cs typeface="DejaVu Sans"/>
              </a:rPr>
              <a:t>Wait queues hold processes awaiting events.</a:t>
            </a:r>
          </a:p>
          <a:p>
            <a:pPr>
              <a:defRPr sz="2100" b="0">
                <a:solidFill>
                  <a:srgbClr val="132C43"/>
                </a:solidFill>
                <a:latin typeface="DejaVu Sans"/>
                <a:ea typeface="DejaVu Sans"/>
                <a:cs typeface="DejaVu Sans"/>
              </a:defRPr>
            </a:pPr>
            <a:r>
              <a:rPr sz="2100" b="0">
                <a:solidFill>
                  <a:srgbClr val="132C43"/>
                </a:solidFill>
                <a:latin typeface="DejaVu Sans"/>
                <a:ea typeface="DejaVu Sans"/>
                <a:cs typeface="DejaVu Sans"/>
              </a:rPr>
              <a:t>The scheduler chooses work for each execution unit.</a:t>
            </a:r>
          </a:p>
          <a:p>
            <a:pPr>
              <a:defRPr sz="2100" b="0">
                <a:solidFill>
                  <a:srgbClr val="132C43"/>
                </a:solidFill>
                <a:latin typeface="DejaVu Sans"/>
                <a:ea typeface="DejaVu Sans"/>
                <a:cs typeface="DejaVu Sans"/>
              </a:defRPr>
            </a:pPr>
            <a:r>
              <a:rPr sz="2100" b="0">
                <a:solidFill>
                  <a:srgbClr val="132C43"/>
                </a:solidFill>
                <a:latin typeface="DejaVu Sans"/>
                <a:ea typeface="DejaVu Sans"/>
                <a:cs typeface="DejaVu Sans"/>
              </a:rPr>
              <a:t>Queue organization depends on OS policy.</a:t>
            </a:r>
          </a:p>
        </p:txBody>
      </p:sp>
      <p:pic>
        <p:nvPicPr>
          <p:cNvPr id="8" name="Picture 7"/>
          <p:cNvPicPr>
            <a:picLocks noChangeAspect="1"/>
          </p:cNvPicPr>
          <p:nvPr/>
        </p:nvPicPr>
        <p:blipFill>
          <a:blip r:embed="rId3"/>
          <a:stretch/>
        </p:blipFill>
        <p:spPr>
          <a:xfrm>
            <a:off x="6312521" y="1524000"/>
            <a:ext cx="4710458" cy="4095750"/>
          </a:xfrm>
          <a:prstGeom prst="rect">
            <a:avLst/>
          </a:prstGeom>
        </p:spPr>
      </p:pic>
      <p:sp>
        <p:nvSpPr>
          <p:cNvPr id="4" name="Rectangle 3">
            <a:extLst>
              <a:ext uri="{FF2B5EF4-FFF2-40B4-BE49-F238E27FC236}">
                <a16:creationId xmlns:a16="http://schemas.microsoft.com/office/drawing/2014/main" id="{721D5495-446E-4244-8A78-EFB4E4323A70}"/>
              </a:ext>
            </a:extLst>
          </p:cNvPr>
          <p:cNvSpPr>
            <a:spLocks noGrp="1"/>
          </p:cNvSpPr>
          <p:nvPr/>
        </p:nvSpPr>
        <p:spPr>
          <a:xfrm>
            <a:off x="685800" y="5924550"/>
            <a:ext cx="10572750" cy="247650"/>
          </a:xfrm>
          <a:prstGeom prst="rect">
            <a:avLst/>
          </a:prstGeom>
          <a:noFill/>
          <a:ln w="0">
            <a:noFill/>
          </a:ln>
        </p:spPr>
        <p:txBody>
          <a:bodyPr anchor="t">
            <a:noAutofit/>
          </a:bodyPr>
          <a:lstStyle/>
          <a:p>
            <a:pPr>
              <a:defRPr sz="1200" b="0">
                <a:solidFill>
                  <a:srgbClr val="53687A"/>
                </a:solidFill>
                <a:latin typeface="DejaVu Sans"/>
                <a:ea typeface="DejaVu Sans"/>
                <a:cs typeface="DejaVu Sans"/>
              </a:defRPr>
            </a:pPr>
            <a:r>
              <a:rPr sz="1200" b="0">
                <a:solidFill>
                  <a:srgbClr val="53687A"/>
                </a:solidFill>
                <a:latin typeface="DejaVu Sans"/>
                <a:ea typeface="DejaVu Sans"/>
                <a:cs typeface="DejaVu Sans"/>
              </a:rPr>
              <a:t>Figure: Operating System Concepts, 9th ed., ©2013, via UIC course notes</a:t>
            </a:r>
          </a:p>
        </p:txBody>
      </p:sp>
      <p:sp>
        <p:nvSpPr>
          <p:cNvPr id="5" name="Rectangle 4">
            <a:extLst>
              <a:ext uri="{FF2B5EF4-FFF2-40B4-BE49-F238E27FC236}">
                <a16:creationId xmlns:a16="http://schemas.microsoft.com/office/drawing/2014/main" id="{7A96F439-896B-418B-8D31-08BF2F9883A6}"/>
              </a:ext>
            </a:extLst>
          </p:cNvPr>
          <p:cNvSpPr>
            <a:spLocks noGrp="1"/>
          </p:cNvSpPr>
          <p:nvPr/>
        </p:nvSpPr>
        <p:spPr>
          <a:xfrm>
            <a:off x="685800" y="6381750"/>
            <a:ext cx="10820400" cy="238125"/>
          </a:xfrm>
          <a:prstGeom prst="rect">
            <a:avLst/>
          </a:prstGeom>
          <a:noFill/>
          <a:ln w="0">
            <a:noFill/>
          </a:ln>
        </p:spPr>
        <p:txBody>
          <a:bodyPr anchor="t">
            <a:noAutofit/>
          </a:bodyPr>
          <a:lstStyle/>
          <a:p>
            <a:pPr>
              <a:defRPr sz="1275" b="0">
                <a:solidFill>
                  <a:srgbClr val="53687A"/>
                </a:solidFill>
                <a:latin typeface="DejaVu Sans"/>
                <a:ea typeface="DejaVu Sans"/>
                <a:cs typeface="DejaVu Sans"/>
              </a:defRPr>
            </a:pPr>
            <a:r>
              <a:rPr sz="1275" b="0">
                <a:solidFill>
                  <a:srgbClr val="53687A"/>
                </a:solidFill>
                <a:latin typeface="DejaVu Sans"/>
                <a:ea typeface="DejaVu Sans"/>
                <a:cs typeface="DejaVu Sans"/>
              </a:rPr>
              <a:t>Week 3     50</a:t>
            </a:r>
          </a:p>
        </p:txBody>
      </p:sp>
    </p:spTree>
    <p:extLst>
      <p:ext uri="{BB962C8B-B14F-4D97-AF65-F5344CB8AC3E}">
        <p14:creationId xmlns:p14="http://schemas.microsoft.com/office/powerpoint/2010/main" val="81703812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2FFAD3F-AED9-435C-9D9E-EFAB1872EBFF}"/>
              </a:ext>
            </a:extLst>
          </p:cNvPr>
          <p:cNvSpPr>
            <a:spLocks noGrp="1"/>
          </p:cNvSpPr>
          <p:nvPr/>
        </p:nvSpPr>
        <p:spPr>
          <a:xfrm>
            <a:off x="685800" y="495300"/>
            <a:ext cx="10858500" cy="857250"/>
          </a:xfrm>
          <a:prstGeom prst="rect">
            <a:avLst/>
          </a:prstGeom>
          <a:noFill/>
          <a:ln w="0">
            <a:noFill/>
          </a:ln>
        </p:spPr>
        <p:txBody>
          <a:bodyPr anchor="t">
            <a:noAutofit/>
          </a:bodyPr>
          <a:lstStyle/>
          <a:p>
            <a:pPr>
              <a:defRPr sz="3300" b="1">
                <a:solidFill>
                  <a:srgbClr val="132C43"/>
                </a:solidFill>
                <a:latin typeface="DejaVu Sans"/>
                <a:ea typeface="DejaVu Sans"/>
                <a:cs typeface="DejaVu Sans"/>
              </a:defRPr>
            </a:pPr>
            <a:r>
              <a:rPr sz="3300" b="1">
                <a:solidFill>
                  <a:srgbClr val="132C43"/>
                </a:solidFill>
                <a:latin typeface="DejaVu Sans"/>
                <a:ea typeface="DejaVu Sans"/>
                <a:cs typeface="DejaVu Sans"/>
              </a:rPr>
              <a:t>Queue movement</a:t>
            </a:r>
          </a:p>
        </p:txBody>
      </p:sp>
      <p:sp>
        <p:nvSpPr>
          <p:cNvPr id="2" name="Rectangle 1">
            <a:extLst>
              <a:ext uri="{FF2B5EF4-FFF2-40B4-BE49-F238E27FC236}">
                <a16:creationId xmlns:a16="http://schemas.microsoft.com/office/drawing/2014/main" id="{B4B73F23-D9EA-4EC2-BC36-8780670EFE40}"/>
              </a:ext>
            </a:extLst>
          </p:cNvPr>
          <p:cNvSpPr>
            <a:spLocks noGrp="1"/>
          </p:cNvSpPr>
          <p:nvPr/>
        </p:nvSpPr>
        <p:spPr>
          <a:xfrm>
            <a:off x="685800" y="1619250"/>
            <a:ext cx="4476750" cy="3762375"/>
          </a:xfrm>
          <a:prstGeom prst="rect">
            <a:avLst/>
          </a:prstGeom>
          <a:noFill/>
          <a:ln w="0">
            <a:noFill/>
          </a:ln>
        </p:spPr>
        <p:txBody>
          <a:bodyPr anchor="t">
            <a:noAutofit/>
          </a:bodyPr>
          <a:lstStyle/>
          <a:p>
            <a:pPr>
              <a:defRPr sz="2100" b="0">
                <a:solidFill>
                  <a:srgbClr val="132C43"/>
                </a:solidFill>
                <a:latin typeface="DejaVu Sans"/>
                <a:ea typeface="DejaVu Sans"/>
                <a:cs typeface="DejaVu Sans"/>
              </a:defRPr>
            </a:pPr>
            <a:r>
              <a:rPr sz="2100" b="0">
                <a:solidFill>
                  <a:srgbClr val="132C43"/>
                </a:solidFill>
                <a:latin typeface="DejaVu Sans"/>
                <a:ea typeface="DejaVu Sans"/>
                <a:cs typeface="DejaVu Sans"/>
              </a:rPr>
              <a:t>A dispatched process uses the CPU.</a:t>
            </a:r>
          </a:p>
          <a:p>
            <a:pPr>
              <a:defRPr sz="2100" b="0">
                <a:solidFill>
                  <a:srgbClr val="132C43"/>
                </a:solidFill>
                <a:latin typeface="DejaVu Sans"/>
                <a:ea typeface="DejaVu Sans"/>
                <a:cs typeface="DejaVu Sans"/>
              </a:defRPr>
            </a:pPr>
            <a:r>
              <a:rPr sz="2100" b="0">
                <a:solidFill>
                  <a:srgbClr val="132C43"/>
                </a:solidFill>
                <a:latin typeface="DejaVu Sans"/>
                <a:ea typeface="DejaVu Sans"/>
                <a:cs typeface="DejaVu Sans"/>
              </a:rPr>
              <a:t>It can block, be preempted or finish.</a:t>
            </a:r>
          </a:p>
          <a:p>
            <a:pPr>
              <a:defRPr sz="2100" b="0">
                <a:solidFill>
                  <a:srgbClr val="132C43"/>
                </a:solidFill>
                <a:latin typeface="DejaVu Sans"/>
                <a:ea typeface="DejaVu Sans"/>
                <a:cs typeface="DejaVu Sans"/>
              </a:defRPr>
            </a:pPr>
            <a:r>
              <a:rPr sz="2100" b="0">
                <a:solidFill>
                  <a:srgbClr val="132C43"/>
                </a:solidFill>
                <a:latin typeface="DejaVu Sans"/>
                <a:ea typeface="DejaVu Sans"/>
                <a:cs typeface="DejaVu Sans"/>
              </a:rPr>
              <a:t>A completed wait returns it to runnable work.</a:t>
            </a:r>
          </a:p>
        </p:txBody>
      </p:sp>
      <p:pic>
        <p:nvPicPr>
          <p:cNvPr id="8" name="Picture 7"/>
          <p:cNvPicPr>
            <a:picLocks noChangeAspect="1"/>
          </p:cNvPicPr>
          <p:nvPr/>
        </p:nvPicPr>
        <p:blipFill>
          <a:blip r:embed="rId3"/>
          <a:stretch/>
        </p:blipFill>
        <p:spPr>
          <a:xfrm>
            <a:off x="5810250" y="1923485"/>
            <a:ext cx="5715000" cy="3296781"/>
          </a:xfrm>
          <a:prstGeom prst="rect">
            <a:avLst/>
          </a:prstGeom>
        </p:spPr>
      </p:pic>
      <p:sp>
        <p:nvSpPr>
          <p:cNvPr id="4" name="Rectangle 3">
            <a:extLst>
              <a:ext uri="{FF2B5EF4-FFF2-40B4-BE49-F238E27FC236}">
                <a16:creationId xmlns:a16="http://schemas.microsoft.com/office/drawing/2014/main" id="{1D4B9F1E-EB1C-4A85-9EC1-08DBCDC030C3}"/>
              </a:ext>
            </a:extLst>
          </p:cNvPr>
          <p:cNvSpPr>
            <a:spLocks noGrp="1"/>
          </p:cNvSpPr>
          <p:nvPr/>
        </p:nvSpPr>
        <p:spPr>
          <a:xfrm>
            <a:off x="685800" y="5924550"/>
            <a:ext cx="10572750" cy="247650"/>
          </a:xfrm>
          <a:prstGeom prst="rect">
            <a:avLst/>
          </a:prstGeom>
          <a:noFill/>
          <a:ln w="0">
            <a:noFill/>
          </a:ln>
        </p:spPr>
        <p:txBody>
          <a:bodyPr anchor="t">
            <a:noAutofit/>
          </a:bodyPr>
          <a:lstStyle/>
          <a:p>
            <a:pPr>
              <a:defRPr sz="1200" b="0">
                <a:solidFill>
                  <a:srgbClr val="53687A"/>
                </a:solidFill>
                <a:latin typeface="DejaVu Sans"/>
                <a:ea typeface="DejaVu Sans"/>
                <a:cs typeface="DejaVu Sans"/>
              </a:defRPr>
            </a:pPr>
            <a:r>
              <a:rPr sz="1200" b="0">
                <a:solidFill>
                  <a:srgbClr val="53687A"/>
                </a:solidFill>
                <a:latin typeface="DejaVu Sans"/>
                <a:ea typeface="DejaVu Sans"/>
                <a:cs typeface="DejaVu Sans"/>
              </a:rPr>
              <a:t>Figure: Operating System Concepts, 9th ed., ©2013, via UIC course notes</a:t>
            </a:r>
          </a:p>
        </p:txBody>
      </p:sp>
      <p:sp>
        <p:nvSpPr>
          <p:cNvPr id="5" name="Rectangle 4">
            <a:extLst>
              <a:ext uri="{FF2B5EF4-FFF2-40B4-BE49-F238E27FC236}">
                <a16:creationId xmlns:a16="http://schemas.microsoft.com/office/drawing/2014/main" id="{D63FB94A-E3EA-4A00-BB97-43923CDE4478}"/>
              </a:ext>
            </a:extLst>
          </p:cNvPr>
          <p:cNvSpPr>
            <a:spLocks noGrp="1"/>
          </p:cNvSpPr>
          <p:nvPr/>
        </p:nvSpPr>
        <p:spPr>
          <a:xfrm>
            <a:off x="685800" y="6381750"/>
            <a:ext cx="10820400" cy="238125"/>
          </a:xfrm>
          <a:prstGeom prst="rect">
            <a:avLst/>
          </a:prstGeom>
          <a:noFill/>
          <a:ln w="0">
            <a:noFill/>
          </a:ln>
        </p:spPr>
        <p:txBody>
          <a:bodyPr anchor="t">
            <a:noAutofit/>
          </a:bodyPr>
          <a:lstStyle/>
          <a:p>
            <a:pPr>
              <a:defRPr sz="1275" b="0">
                <a:solidFill>
                  <a:srgbClr val="53687A"/>
                </a:solidFill>
                <a:latin typeface="DejaVu Sans"/>
                <a:ea typeface="DejaVu Sans"/>
                <a:cs typeface="DejaVu Sans"/>
              </a:defRPr>
            </a:pPr>
            <a:r>
              <a:rPr sz="1275" b="0">
                <a:solidFill>
                  <a:srgbClr val="53687A"/>
                </a:solidFill>
                <a:latin typeface="DejaVu Sans"/>
                <a:ea typeface="DejaVu Sans"/>
                <a:cs typeface="DejaVu Sans"/>
              </a:rPr>
              <a:t>Week 3     51</a:t>
            </a:r>
          </a:p>
        </p:txBody>
      </p:sp>
    </p:spTree>
    <p:extLst>
      <p:ext uri="{BB962C8B-B14F-4D97-AF65-F5344CB8AC3E}">
        <p14:creationId xmlns:p14="http://schemas.microsoft.com/office/powerpoint/2010/main" val="147112476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D171504-30AC-4AF8-92BD-1FD3F0438563}"/>
              </a:ext>
            </a:extLst>
          </p:cNvPr>
          <p:cNvSpPr>
            <a:spLocks noGrp="1"/>
          </p:cNvSpPr>
          <p:nvPr/>
        </p:nvSpPr>
        <p:spPr>
          <a:xfrm>
            <a:off x="685800" y="495300"/>
            <a:ext cx="10858500" cy="857250"/>
          </a:xfrm>
          <a:prstGeom prst="rect">
            <a:avLst/>
          </a:prstGeom>
          <a:noFill/>
          <a:ln w="0">
            <a:noFill/>
          </a:ln>
        </p:spPr>
        <p:txBody>
          <a:bodyPr anchor="t">
            <a:noAutofit/>
          </a:bodyPr>
          <a:lstStyle/>
          <a:p>
            <a:pPr>
              <a:defRPr sz="3300" b="1">
                <a:solidFill>
                  <a:srgbClr val="132C43"/>
                </a:solidFill>
                <a:latin typeface="DejaVu Sans"/>
                <a:ea typeface="DejaVu Sans"/>
                <a:cs typeface="DejaVu Sans"/>
              </a:defRPr>
            </a:pPr>
            <a:r>
              <a:rPr sz="3300" b="1">
                <a:solidFill>
                  <a:srgbClr val="132C43"/>
                </a:solidFill>
                <a:latin typeface="DejaVu Sans"/>
                <a:ea typeface="DejaVu Sans"/>
                <a:cs typeface="DejaVu Sans"/>
              </a:rPr>
              <a:t>Long-, medium- and short-term schedulers</a:t>
            </a:r>
          </a:p>
        </p:txBody>
      </p:sp>
      <p:sp>
        <p:nvSpPr>
          <p:cNvPr id="2" name="Rectangle 1">
            <a:extLst>
              <a:ext uri="{FF2B5EF4-FFF2-40B4-BE49-F238E27FC236}">
                <a16:creationId xmlns:a16="http://schemas.microsoft.com/office/drawing/2014/main" id="{149BB872-8622-4A8B-8578-8BD267778D75}"/>
              </a:ext>
            </a:extLst>
          </p:cNvPr>
          <p:cNvSpPr>
            <a:spLocks noGrp="1"/>
          </p:cNvSpPr>
          <p:nvPr/>
        </p:nvSpPr>
        <p:spPr>
          <a:xfrm>
            <a:off x="685800" y="1428750"/>
            <a:ext cx="10820400" cy="457200"/>
          </a:xfrm>
          <a:prstGeom prst="rect">
            <a:avLst/>
          </a:prstGeom>
          <a:noFill/>
          <a:ln w="0">
            <a:noFill/>
          </a:ln>
        </p:spPr>
        <p:txBody>
          <a:bodyPr anchor="t">
            <a:noAutofit/>
          </a:bodyPr>
          <a:lstStyle/>
          <a:p>
            <a:pPr>
              <a:defRPr sz="1950" b="0">
                <a:solidFill>
                  <a:srgbClr val="53687A"/>
                </a:solidFill>
                <a:latin typeface="DejaVu Sans"/>
                <a:ea typeface="DejaVu Sans"/>
                <a:cs typeface="DejaVu Sans"/>
              </a:defRPr>
            </a:pPr>
            <a:r>
              <a:rPr sz="1950" b="0">
                <a:solidFill>
                  <a:srgbClr val="53687A"/>
                </a:solidFill>
                <a:latin typeface="DejaVu Sans"/>
                <a:ea typeface="DejaVu Sans"/>
                <a:cs typeface="DejaVu Sans"/>
              </a:rPr>
              <a:t>These are textbook responsibilities.</a:t>
            </a:r>
          </a:p>
        </p:txBody>
      </p:sp>
      <p:graphicFrame>
        <p:nvGraphicFramePr>
          <p:cNvPr id="7" name="Table 6"/>
          <p:cNvGraphicFramePr/>
          <p:nvPr/>
        </p:nvGraphicFramePr>
        <p:xfrm>
          <a:off x="685800" y="2076450"/>
          <a:ext cx="10820400" cy="3781424"/>
        </p:xfrm>
        <a:graphic>
          <a:graphicData uri="http://schemas.openxmlformats.org/drawingml/2006/table">
            <a:tbl>
              <a:tblPr/>
              <a:tblGrid>
                <a:gridCol w="2762250">
                  <a:extLst>
                    <a:ext uri="{9D8B030D-6E8A-4147-A177-3AD203B41FA5}">
                      <a16:colId xmlns:a16="http://schemas.microsoft.com/office/drawing/2014/main" val="20000"/>
                    </a:ext>
                  </a:extLst>
                </a:gridCol>
                <a:gridCol w="4095750">
                  <a:extLst>
                    <a:ext uri="{9D8B030D-6E8A-4147-A177-3AD203B41FA5}">
                      <a16:colId xmlns:a16="http://schemas.microsoft.com/office/drawing/2014/main" val="20001"/>
                    </a:ext>
                  </a:extLst>
                </a:gridCol>
                <a:gridCol w="3962400">
                  <a:extLst>
                    <a:ext uri="{9D8B030D-6E8A-4147-A177-3AD203B41FA5}">
                      <a16:colId xmlns:a16="http://schemas.microsoft.com/office/drawing/2014/main" val="20002"/>
                    </a:ext>
                  </a:extLst>
                </a:gridCol>
              </a:tblGrid>
              <a:tr h="945356">
                <a:tc>
                  <a:txBody>
                    <a:bodyPr/>
                    <a:lstStyle/>
                    <a:p>
                      <a:r>
                        <a:rPr sz="1725" b="1">
                          <a:solidFill>
                            <a:srgbClr val="FFFFFF"/>
                          </a:solidFill>
                          <a:latin typeface="DejaVu Sans"/>
                          <a:ea typeface="DejaVu Sans"/>
                          <a:cs typeface="DejaVu Sans"/>
                        </a:rPr>
                        <a:t>Role</a:t>
                      </a:r>
                    </a:p>
                  </a:txBody>
                  <a:tcPr marL="114300" marR="114300" marT="95250" marB="76200">
                    <a:solidFill>
                      <a:srgbClr val="132C43"/>
                    </a:solidFill>
                  </a:tcPr>
                </a:tc>
                <a:tc>
                  <a:txBody>
                    <a:bodyPr/>
                    <a:lstStyle/>
                    <a:p>
                      <a:r>
                        <a:rPr sz="1725" b="1">
                          <a:solidFill>
                            <a:srgbClr val="FFFFFF"/>
                          </a:solidFill>
                          <a:latin typeface="DejaVu Sans"/>
                          <a:ea typeface="DejaVu Sans"/>
                          <a:cs typeface="DejaVu Sans"/>
                        </a:rPr>
                        <a:t>Decision</a:t>
                      </a:r>
                    </a:p>
                  </a:txBody>
                  <a:tcPr marL="114300" marR="114300" marT="95250" marB="76200">
                    <a:solidFill>
                      <a:srgbClr val="132C43"/>
                    </a:solidFill>
                  </a:tcPr>
                </a:tc>
                <a:tc>
                  <a:txBody>
                    <a:bodyPr/>
                    <a:lstStyle/>
                    <a:p>
                      <a:r>
                        <a:rPr sz="1725" b="1">
                          <a:solidFill>
                            <a:srgbClr val="FFFFFF"/>
                          </a:solidFill>
                          <a:latin typeface="DejaVu Sans"/>
                          <a:ea typeface="DejaVu Sans"/>
                          <a:cs typeface="DejaVu Sans"/>
                        </a:rPr>
                        <a:t>Typical timescale</a:t>
                      </a:r>
                    </a:p>
                  </a:txBody>
                  <a:tcPr marL="114300" marR="114300" marT="95250" marB="76200">
                    <a:solidFill>
                      <a:srgbClr val="132C43"/>
                    </a:solidFill>
                  </a:tcPr>
                </a:tc>
                <a:extLst>
                  <a:ext uri="{0D108BD9-81ED-4DB2-BD59-A6C34878D82A}">
                    <a16:rowId xmlns:a16="http://schemas.microsoft.com/office/drawing/2014/main" val="10000"/>
                  </a:ext>
                </a:extLst>
              </a:tr>
              <a:tr h="945356">
                <a:tc>
                  <a:txBody>
                    <a:bodyPr/>
                    <a:lstStyle/>
                    <a:p>
                      <a:r>
                        <a:rPr sz="1725">
                          <a:solidFill>
                            <a:srgbClr val="132C43"/>
                          </a:solidFill>
                          <a:latin typeface="DejaVu Sans"/>
                          <a:ea typeface="DejaVu Sans"/>
                          <a:cs typeface="DejaVu Sans"/>
                        </a:rPr>
                        <a:t>Long-term</a:t>
                      </a:r>
                    </a:p>
                  </a:txBody>
                  <a:tcPr marL="114300" marR="114300" marT="95250" marB="76200">
                    <a:solidFill>
                      <a:srgbClr val="F0F6FA"/>
                    </a:solidFill>
                  </a:tcPr>
                </a:tc>
                <a:tc>
                  <a:txBody>
                    <a:bodyPr/>
                    <a:lstStyle/>
                    <a:p>
                      <a:r>
                        <a:rPr sz="1725">
                          <a:solidFill>
                            <a:srgbClr val="132C43"/>
                          </a:solidFill>
                          <a:latin typeface="DejaVu Sans"/>
                          <a:ea typeface="DejaVu Sans"/>
                          <a:cs typeface="DejaVu Sans"/>
                        </a:rPr>
                        <a:t>Which jobs enter the active set?</a:t>
                      </a:r>
                    </a:p>
                  </a:txBody>
                  <a:tcPr marL="114300" marR="114300" marT="95250" marB="76200">
                    <a:solidFill>
                      <a:srgbClr val="F0F6FA"/>
                    </a:solidFill>
                  </a:tcPr>
                </a:tc>
                <a:tc>
                  <a:txBody>
                    <a:bodyPr/>
                    <a:lstStyle/>
                    <a:p>
                      <a:r>
                        <a:rPr sz="1725">
                          <a:solidFill>
                            <a:srgbClr val="132C43"/>
                          </a:solidFill>
                          <a:latin typeface="DejaVu Sans"/>
                          <a:ea typeface="DejaVu Sans"/>
                          <a:cs typeface="DejaVu Sans"/>
                        </a:rPr>
                        <a:t>Infrequent admission</a:t>
                      </a:r>
                    </a:p>
                  </a:txBody>
                  <a:tcPr marL="114300" marR="114300" marT="95250" marB="76200">
                    <a:solidFill>
                      <a:srgbClr val="F0F6FA"/>
                    </a:solidFill>
                  </a:tcPr>
                </a:tc>
                <a:extLst>
                  <a:ext uri="{0D108BD9-81ED-4DB2-BD59-A6C34878D82A}">
                    <a16:rowId xmlns:a16="http://schemas.microsoft.com/office/drawing/2014/main" val="10001"/>
                  </a:ext>
                </a:extLst>
              </a:tr>
              <a:tr h="945356">
                <a:tc>
                  <a:txBody>
                    <a:bodyPr/>
                    <a:lstStyle/>
                    <a:p>
                      <a:r>
                        <a:rPr sz="1725">
                          <a:solidFill>
                            <a:srgbClr val="132C43"/>
                          </a:solidFill>
                          <a:latin typeface="DejaVu Sans"/>
                          <a:ea typeface="DejaVu Sans"/>
                          <a:cs typeface="DejaVu Sans"/>
                        </a:rPr>
                        <a:t>Medium-term</a:t>
                      </a:r>
                    </a:p>
                  </a:txBody>
                  <a:tcPr marL="114300" marR="114300" marT="95250" marB="76200">
                    <a:solidFill>
                      <a:srgbClr val="FFFFFF"/>
                    </a:solidFill>
                  </a:tcPr>
                </a:tc>
                <a:tc>
                  <a:txBody>
                    <a:bodyPr/>
                    <a:lstStyle/>
                    <a:p>
                      <a:r>
                        <a:rPr sz="1725">
                          <a:solidFill>
                            <a:srgbClr val="132C43"/>
                          </a:solidFill>
                          <a:latin typeface="DejaVu Sans"/>
                          <a:ea typeface="DejaVu Sans"/>
                          <a:cs typeface="DejaVu Sans"/>
                        </a:rPr>
                        <a:t>Which processes suspend or resume?</a:t>
                      </a:r>
                    </a:p>
                  </a:txBody>
                  <a:tcPr marL="114300" marR="114300" marT="95250" marB="76200">
                    <a:solidFill>
                      <a:srgbClr val="FFFFFF"/>
                    </a:solidFill>
                  </a:tcPr>
                </a:tc>
                <a:tc>
                  <a:txBody>
                    <a:bodyPr/>
                    <a:lstStyle/>
                    <a:p>
                      <a:r>
                        <a:rPr sz="1725">
                          <a:solidFill>
                            <a:srgbClr val="132C43"/>
                          </a:solidFill>
                          <a:latin typeface="DejaVu Sans"/>
                          <a:ea typeface="DejaVu Sans"/>
                          <a:cs typeface="DejaVu Sans"/>
                        </a:rPr>
                        <a:t>When load or memory requires</a:t>
                      </a:r>
                    </a:p>
                  </a:txBody>
                  <a:tcPr marL="114300" marR="114300" marT="95250" marB="76200">
                    <a:solidFill>
                      <a:srgbClr val="FFFFFF"/>
                    </a:solidFill>
                  </a:tcPr>
                </a:tc>
                <a:extLst>
                  <a:ext uri="{0D108BD9-81ED-4DB2-BD59-A6C34878D82A}">
                    <a16:rowId xmlns:a16="http://schemas.microsoft.com/office/drawing/2014/main" val="10002"/>
                  </a:ext>
                </a:extLst>
              </a:tr>
              <a:tr h="945356">
                <a:tc>
                  <a:txBody>
                    <a:bodyPr/>
                    <a:lstStyle/>
                    <a:p>
                      <a:r>
                        <a:rPr sz="1725">
                          <a:solidFill>
                            <a:srgbClr val="132C43"/>
                          </a:solidFill>
                          <a:latin typeface="DejaVu Sans"/>
                          <a:ea typeface="DejaVu Sans"/>
                          <a:cs typeface="DejaVu Sans"/>
                        </a:rPr>
                        <a:t>Short-term</a:t>
                      </a:r>
                    </a:p>
                  </a:txBody>
                  <a:tcPr marL="114300" marR="114300" marT="95250" marB="76200">
                    <a:solidFill>
                      <a:srgbClr val="F0F6FA"/>
                    </a:solidFill>
                  </a:tcPr>
                </a:tc>
                <a:tc>
                  <a:txBody>
                    <a:bodyPr/>
                    <a:lstStyle/>
                    <a:p>
                      <a:r>
                        <a:rPr sz="1725">
                          <a:solidFill>
                            <a:srgbClr val="132C43"/>
                          </a:solidFill>
                          <a:latin typeface="DejaVu Sans"/>
                          <a:ea typeface="DejaVu Sans"/>
                          <a:cs typeface="DejaVu Sans"/>
                        </a:rPr>
                        <a:t>Which ready task runs next?</a:t>
                      </a:r>
                    </a:p>
                  </a:txBody>
                  <a:tcPr marL="114300" marR="114300" marT="95250" marB="76200">
                    <a:solidFill>
                      <a:srgbClr val="F0F6FA"/>
                    </a:solidFill>
                  </a:tcPr>
                </a:tc>
                <a:tc>
                  <a:txBody>
                    <a:bodyPr/>
                    <a:lstStyle/>
                    <a:p>
                      <a:r>
                        <a:rPr sz="1725">
                          <a:solidFill>
                            <a:srgbClr val="132C43"/>
                          </a:solidFill>
                          <a:latin typeface="DejaVu Sans"/>
                          <a:ea typeface="DejaVu Sans"/>
                          <a:cs typeface="DejaVu Sans"/>
                        </a:rPr>
                        <a:t>Frequent scheduling points</a:t>
                      </a:r>
                    </a:p>
                  </a:txBody>
                  <a:tcPr marL="114300" marR="114300" marT="95250" marB="76200">
                    <a:solidFill>
                      <a:srgbClr val="F0F6FA"/>
                    </a:solidFill>
                  </a:tcPr>
                </a:tc>
                <a:extLst>
                  <a:ext uri="{0D108BD9-81ED-4DB2-BD59-A6C34878D82A}">
                    <a16:rowId xmlns:a16="http://schemas.microsoft.com/office/drawing/2014/main" val="10003"/>
                  </a:ext>
                </a:extLst>
              </a:tr>
            </a:tbl>
          </a:graphicData>
        </a:graphic>
      </p:graphicFrame>
      <p:sp>
        <p:nvSpPr>
          <p:cNvPr id="4" name="Rectangle 3">
            <a:extLst>
              <a:ext uri="{FF2B5EF4-FFF2-40B4-BE49-F238E27FC236}">
                <a16:creationId xmlns:a16="http://schemas.microsoft.com/office/drawing/2014/main" id="{912B6A36-0EFB-4FAA-9649-47F2D949CF1A}"/>
              </a:ext>
            </a:extLst>
          </p:cNvPr>
          <p:cNvSpPr>
            <a:spLocks noGrp="1"/>
          </p:cNvSpPr>
          <p:nvPr/>
        </p:nvSpPr>
        <p:spPr>
          <a:xfrm>
            <a:off x="685800" y="6381750"/>
            <a:ext cx="10820400" cy="238125"/>
          </a:xfrm>
          <a:prstGeom prst="rect">
            <a:avLst/>
          </a:prstGeom>
          <a:noFill/>
          <a:ln w="0">
            <a:noFill/>
          </a:ln>
        </p:spPr>
        <p:txBody>
          <a:bodyPr anchor="t">
            <a:noAutofit/>
          </a:bodyPr>
          <a:lstStyle/>
          <a:p>
            <a:pPr>
              <a:defRPr sz="1275" b="0">
                <a:solidFill>
                  <a:srgbClr val="53687A"/>
                </a:solidFill>
                <a:latin typeface="DejaVu Sans"/>
                <a:ea typeface="DejaVu Sans"/>
                <a:cs typeface="DejaVu Sans"/>
              </a:defRPr>
            </a:pPr>
            <a:r>
              <a:rPr sz="1275" b="0">
                <a:solidFill>
                  <a:srgbClr val="53687A"/>
                </a:solidFill>
                <a:latin typeface="DejaVu Sans"/>
                <a:ea typeface="DejaVu Sans"/>
                <a:cs typeface="DejaVu Sans"/>
              </a:rPr>
              <a:t>Week 3     52</a:t>
            </a:r>
          </a:p>
        </p:txBody>
      </p:sp>
    </p:spTree>
    <p:extLst>
      <p:ext uri="{BB962C8B-B14F-4D97-AF65-F5344CB8AC3E}">
        <p14:creationId xmlns:p14="http://schemas.microsoft.com/office/powerpoint/2010/main" val="174566914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D463BF2-C1B7-43E3-B9D7-46F60BE02FC4}"/>
              </a:ext>
            </a:extLst>
          </p:cNvPr>
          <p:cNvSpPr>
            <a:spLocks noGrp="1"/>
          </p:cNvSpPr>
          <p:nvPr/>
        </p:nvSpPr>
        <p:spPr>
          <a:xfrm>
            <a:off x="685800" y="495300"/>
            <a:ext cx="10858500" cy="857250"/>
          </a:xfrm>
          <a:prstGeom prst="rect">
            <a:avLst/>
          </a:prstGeom>
          <a:noFill/>
          <a:ln w="0">
            <a:noFill/>
          </a:ln>
        </p:spPr>
        <p:txBody>
          <a:bodyPr anchor="t">
            <a:noAutofit/>
          </a:bodyPr>
          <a:lstStyle/>
          <a:p>
            <a:pPr>
              <a:defRPr sz="3300" b="1">
                <a:solidFill>
                  <a:srgbClr val="132C43"/>
                </a:solidFill>
                <a:latin typeface="DejaVu Sans"/>
                <a:ea typeface="DejaVu Sans"/>
                <a:cs typeface="DejaVu Sans"/>
              </a:defRPr>
            </a:pPr>
            <a:r>
              <a:rPr sz="3300" b="1">
                <a:solidFill>
                  <a:srgbClr val="132C43"/>
                </a:solidFill>
                <a:latin typeface="DejaVu Sans"/>
                <a:ea typeface="DejaVu Sans"/>
                <a:cs typeface="DejaVu Sans"/>
              </a:rPr>
              <a:t>Suspension and waiting</a:t>
            </a:r>
          </a:p>
        </p:txBody>
      </p:sp>
      <p:sp>
        <p:nvSpPr>
          <p:cNvPr id="2" name="Rectangle 1">
            <a:extLst>
              <a:ext uri="{FF2B5EF4-FFF2-40B4-BE49-F238E27FC236}">
                <a16:creationId xmlns:a16="http://schemas.microsoft.com/office/drawing/2014/main" id="{19994AFF-ABAF-4BFA-B2F3-56C5C491C797}"/>
              </a:ext>
            </a:extLst>
          </p:cNvPr>
          <p:cNvSpPr>
            <a:spLocks noGrp="1"/>
          </p:cNvSpPr>
          <p:nvPr/>
        </p:nvSpPr>
        <p:spPr>
          <a:xfrm>
            <a:off x="685800" y="1666875"/>
            <a:ext cx="10820400" cy="3905250"/>
          </a:xfrm>
          <a:prstGeom prst="rect">
            <a:avLst/>
          </a:prstGeom>
          <a:noFill/>
          <a:ln w="0">
            <a:noFill/>
          </a:ln>
        </p:spPr>
        <p:txBody>
          <a:bodyPr anchor="t">
            <a:noAutofit/>
          </a:bodyPr>
          <a:lstStyle/>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Waiting describes inability to proceed yet.</a:t>
            </a:r>
          </a:p>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Suspension removes a process from active execution.</a:t>
            </a:r>
          </a:p>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A suspended process may be ready or waiting.</a:t>
            </a:r>
          </a:p>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The five-state model omits this distinction.</a:t>
            </a:r>
          </a:p>
        </p:txBody>
      </p:sp>
      <p:sp>
        <p:nvSpPr>
          <p:cNvPr id="3" name="Rectangle 2">
            <a:extLst>
              <a:ext uri="{FF2B5EF4-FFF2-40B4-BE49-F238E27FC236}">
                <a16:creationId xmlns:a16="http://schemas.microsoft.com/office/drawing/2014/main" id="{BDB3BA8A-2E20-45D7-8601-5EEC38071C46}"/>
              </a:ext>
            </a:extLst>
          </p:cNvPr>
          <p:cNvSpPr>
            <a:spLocks noGrp="1"/>
          </p:cNvSpPr>
          <p:nvPr/>
        </p:nvSpPr>
        <p:spPr>
          <a:xfrm>
            <a:off x="685800" y="6381750"/>
            <a:ext cx="10820400" cy="238125"/>
          </a:xfrm>
          <a:prstGeom prst="rect">
            <a:avLst/>
          </a:prstGeom>
          <a:noFill/>
          <a:ln w="0">
            <a:noFill/>
          </a:ln>
        </p:spPr>
        <p:txBody>
          <a:bodyPr anchor="t">
            <a:noAutofit/>
          </a:bodyPr>
          <a:lstStyle/>
          <a:p>
            <a:pPr>
              <a:defRPr sz="1275" b="0">
                <a:solidFill>
                  <a:srgbClr val="53687A"/>
                </a:solidFill>
                <a:latin typeface="DejaVu Sans"/>
                <a:ea typeface="DejaVu Sans"/>
                <a:cs typeface="DejaVu Sans"/>
              </a:defRPr>
            </a:pPr>
            <a:r>
              <a:rPr sz="1275" b="0">
                <a:solidFill>
                  <a:srgbClr val="53687A"/>
                </a:solidFill>
                <a:latin typeface="DejaVu Sans"/>
                <a:ea typeface="DejaVu Sans"/>
                <a:cs typeface="DejaVu Sans"/>
              </a:rPr>
              <a:t>Week 3     53</a:t>
            </a:r>
          </a:p>
        </p:txBody>
      </p:sp>
    </p:spTree>
    <p:extLst>
      <p:ext uri="{BB962C8B-B14F-4D97-AF65-F5344CB8AC3E}">
        <p14:creationId xmlns:p14="http://schemas.microsoft.com/office/powerpoint/2010/main" val="169837278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7E86D77-41F7-4E00-AD60-8EF995F495A3}"/>
              </a:ext>
            </a:extLst>
          </p:cNvPr>
          <p:cNvSpPr>
            <a:spLocks noGrp="1"/>
          </p:cNvSpPr>
          <p:nvPr/>
        </p:nvSpPr>
        <p:spPr>
          <a:xfrm>
            <a:off x="685800" y="495300"/>
            <a:ext cx="10858500" cy="857250"/>
          </a:xfrm>
          <a:prstGeom prst="rect">
            <a:avLst/>
          </a:prstGeom>
          <a:noFill/>
          <a:ln w="0">
            <a:noFill/>
          </a:ln>
        </p:spPr>
        <p:txBody>
          <a:bodyPr anchor="t">
            <a:noAutofit/>
          </a:bodyPr>
          <a:lstStyle/>
          <a:p>
            <a:pPr>
              <a:defRPr sz="3300" b="1">
                <a:solidFill>
                  <a:srgbClr val="132C43"/>
                </a:solidFill>
                <a:latin typeface="DejaVu Sans"/>
                <a:ea typeface="DejaVu Sans"/>
                <a:cs typeface="DejaVu Sans"/>
              </a:defRPr>
            </a:pPr>
            <a:r>
              <a:rPr sz="3300" b="1">
                <a:solidFill>
                  <a:srgbClr val="132C43"/>
                </a:solidFill>
                <a:latin typeface="DejaVu Sans"/>
                <a:ea typeface="DejaVu Sans"/>
                <a:cs typeface="DejaVu Sans"/>
              </a:rPr>
              <a:t>Context switching</a:t>
            </a:r>
          </a:p>
        </p:txBody>
      </p:sp>
      <p:sp>
        <p:nvSpPr>
          <p:cNvPr id="2" name="Rectangle 1">
            <a:extLst>
              <a:ext uri="{FF2B5EF4-FFF2-40B4-BE49-F238E27FC236}">
                <a16:creationId xmlns:a16="http://schemas.microsoft.com/office/drawing/2014/main" id="{D9B2DE8A-DBCA-4641-8E98-A5200565736D}"/>
              </a:ext>
            </a:extLst>
          </p:cNvPr>
          <p:cNvSpPr>
            <a:spLocks noGrp="1"/>
          </p:cNvSpPr>
          <p:nvPr/>
        </p:nvSpPr>
        <p:spPr>
          <a:xfrm>
            <a:off x="685800" y="1619250"/>
            <a:ext cx="4476750" cy="3762375"/>
          </a:xfrm>
          <a:prstGeom prst="rect">
            <a:avLst/>
          </a:prstGeom>
          <a:noFill/>
          <a:ln w="0">
            <a:noFill/>
          </a:ln>
        </p:spPr>
        <p:txBody>
          <a:bodyPr anchor="t">
            <a:noAutofit/>
          </a:bodyPr>
          <a:lstStyle/>
          <a:p>
            <a:pPr>
              <a:defRPr sz="2100" b="0">
                <a:solidFill>
                  <a:srgbClr val="132C43"/>
                </a:solidFill>
                <a:latin typeface="DejaVu Sans"/>
                <a:ea typeface="DejaVu Sans"/>
                <a:cs typeface="DejaVu Sans"/>
              </a:defRPr>
            </a:pPr>
            <a:r>
              <a:rPr sz="2100" b="0">
                <a:solidFill>
                  <a:srgbClr val="132C43"/>
                </a:solidFill>
                <a:latin typeface="DejaVu Sans"/>
                <a:ea typeface="DejaVu Sans"/>
                <a:cs typeface="DejaVu Sans"/>
              </a:rPr>
              <a:t>Save the outgoing execution context.</a:t>
            </a:r>
          </a:p>
          <a:p>
            <a:pPr>
              <a:defRPr sz="2100" b="0">
                <a:solidFill>
                  <a:srgbClr val="132C43"/>
                </a:solidFill>
                <a:latin typeface="DejaVu Sans"/>
                <a:ea typeface="DejaVu Sans"/>
                <a:cs typeface="DejaVu Sans"/>
              </a:defRPr>
            </a:pPr>
            <a:r>
              <a:rPr sz="2100" b="0">
                <a:solidFill>
                  <a:srgbClr val="132C43"/>
                </a:solidFill>
                <a:latin typeface="DejaVu Sans"/>
                <a:ea typeface="DejaVu Sans"/>
                <a:cs typeface="DejaVu Sans"/>
              </a:rPr>
              <a:t>Update its state and scheduling information.</a:t>
            </a:r>
          </a:p>
          <a:p>
            <a:pPr>
              <a:defRPr sz="2100" b="0">
                <a:solidFill>
                  <a:srgbClr val="132C43"/>
                </a:solidFill>
                <a:latin typeface="DejaVu Sans"/>
                <a:ea typeface="DejaVu Sans"/>
                <a:cs typeface="DejaVu Sans"/>
              </a:defRPr>
            </a:pPr>
            <a:r>
              <a:rPr sz="2100" b="0">
                <a:solidFill>
                  <a:srgbClr val="132C43"/>
                </a:solidFill>
                <a:latin typeface="DejaVu Sans"/>
                <a:ea typeface="DejaVu Sans"/>
                <a:cs typeface="DejaVu Sans"/>
              </a:rPr>
              <a:t>Select the next runnable task.</a:t>
            </a:r>
          </a:p>
          <a:p>
            <a:pPr>
              <a:defRPr sz="2100" b="0">
                <a:solidFill>
                  <a:srgbClr val="132C43"/>
                </a:solidFill>
                <a:latin typeface="DejaVu Sans"/>
                <a:ea typeface="DejaVu Sans"/>
                <a:cs typeface="DejaVu Sans"/>
              </a:defRPr>
            </a:pPr>
            <a:r>
              <a:rPr sz="2100" b="0">
                <a:solidFill>
                  <a:srgbClr val="132C43"/>
                </a:solidFill>
                <a:latin typeface="DejaVu Sans"/>
                <a:ea typeface="DejaVu Sans"/>
                <a:cs typeface="DejaVu Sans"/>
              </a:rPr>
              <a:t>Restore its context and resume execution.</a:t>
            </a:r>
          </a:p>
        </p:txBody>
      </p:sp>
      <p:pic>
        <p:nvPicPr>
          <p:cNvPr id="8" name="Picture 7"/>
          <p:cNvPicPr>
            <a:picLocks noChangeAspect="1"/>
          </p:cNvPicPr>
          <p:nvPr/>
        </p:nvPicPr>
        <p:blipFill>
          <a:blip r:embed="rId3"/>
          <a:stretch/>
        </p:blipFill>
        <p:spPr>
          <a:xfrm>
            <a:off x="6161746" y="1524000"/>
            <a:ext cx="5012008" cy="4095750"/>
          </a:xfrm>
          <a:prstGeom prst="rect">
            <a:avLst/>
          </a:prstGeom>
        </p:spPr>
      </p:pic>
      <p:sp>
        <p:nvSpPr>
          <p:cNvPr id="4" name="Rectangle 3">
            <a:extLst>
              <a:ext uri="{FF2B5EF4-FFF2-40B4-BE49-F238E27FC236}">
                <a16:creationId xmlns:a16="http://schemas.microsoft.com/office/drawing/2014/main" id="{A633EC64-A1F6-4774-AD34-D253304C4181}"/>
              </a:ext>
            </a:extLst>
          </p:cNvPr>
          <p:cNvSpPr>
            <a:spLocks noGrp="1"/>
          </p:cNvSpPr>
          <p:nvPr/>
        </p:nvSpPr>
        <p:spPr>
          <a:xfrm>
            <a:off x="685800" y="5924550"/>
            <a:ext cx="10572750" cy="247650"/>
          </a:xfrm>
          <a:prstGeom prst="rect">
            <a:avLst/>
          </a:prstGeom>
          <a:noFill/>
          <a:ln w="0">
            <a:noFill/>
          </a:ln>
        </p:spPr>
        <p:txBody>
          <a:bodyPr anchor="t">
            <a:noAutofit/>
          </a:bodyPr>
          <a:lstStyle/>
          <a:p>
            <a:pPr>
              <a:defRPr sz="1200" b="0">
                <a:solidFill>
                  <a:srgbClr val="53687A"/>
                </a:solidFill>
                <a:latin typeface="DejaVu Sans"/>
                <a:ea typeface="DejaVu Sans"/>
                <a:cs typeface="DejaVu Sans"/>
              </a:defRPr>
            </a:pPr>
            <a:r>
              <a:rPr sz="1200" b="0">
                <a:solidFill>
                  <a:srgbClr val="53687A"/>
                </a:solidFill>
                <a:latin typeface="DejaVu Sans"/>
                <a:ea typeface="DejaVu Sans"/>
                <a:cs typeface="DejaVu Sans"/>
              </a:rPr>
              <a:t>Figure: Operating System Concepts, 9th ed., ©2013, via UIC course notes</a:t>
            </a:r>
          </a:p>
        </p:txBody>
      </p:sp>
      <p:sp>
        <p:nvSpPr>
          <p:cNvPr id="5" name="Rectangle 4">
            <a:extLst>
              <a:ext uri="{FF2B5EF4-FFF2-40B4-BE49-F238E27FC236}">
                <a16:creationId xmlns:a16="http://schemas.microsoft.com/office/drawing/2014/main" id="{7288942A-03CA-4855-B5C6-9838ADCD2A49}"/>
              </a:ext>
            </a:extLst>
          </p:cNvPr>
          <p:cNvSpPr>
            <a:spLocks noGrp="1"/>
          </p:cNvSpPr>
          <p:nvPr/>
        </p:nvSpPr>
        <p:spPr>
          <a:xfrm>
            <a:off x="685800" y="6381750"/>
            <a:ext cx="10820400" cy="238125"/>
          </a:xfrm>
          <a:prstGeom prst="rect">
            <a:avLst/>
          </a:prstGeom>
          <a:noFill/>
          <a:ln w="0">
            <a:noFill/>
          </a:ln>
        </p:spPr>
        <p:txBody>
          <a:bodyPr anchor="t">
            <a:noAutofit/>
          </a:bodyPr>
          <a:lstStyle/>
          <a:p>
            <a:pPr>
              <a:defRPr sz="1275" b="0">
                <a:solidFill>
                  <a:srgbClr val="53687A"/>
                </a:solidFill>
                <a:latin typeface="DejaVu Sans"/>
                <a:ea typeface="DejaVu Sans"/>
                <a:cs typeface="DejaVu Sans"/>
              </a:defRPr>
            </a:pPr>
            <a:r>
              <a:rPr sz="1275" b="0">
                <a:solidFill>
                  <a:srgbClr val="53687A"/>
                </a:solidFill>
                <a:latin typeface="DejaVu Sans"/>
                <a:ea typeface="DejaVu Sans"/>
                <a:cs typeface="DejaVu Sans"/>
              </a:rPr>
              <a:t>Week 3     54</a:t>
            </a:r>
          </a:p>
        </p:txBody>
      </p:sp>
    </p:spTree>
    <p:extLst>
      <p:ext uri="{BB962C8B-B14F-4D97-AF65-F5344CB8AC3E}">
        <p14:creationId xmlns:p14="http://schemas.microsoft.com/office/powerpoint/2010/main" val="23670272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51F52C3-F00C-4BB9-B664-8DDB16A1C007}"/>
              </a:ext>
            </a:extLst>
          </p:cNvPr>
          <p:cNvSpPr>
            <a:spLocks noGrp="1"/>
          </p:cNvSpPr>
          <p:nvPr/>
        </p:nvSpPr>
        <p:spPr>
          <a:xfrm>
            <a:off x="685800" y="495300"/>
            <a:ext cx="10858500" cy="857250"/>
          </a:xfrm>
          <a:prstGeom prst="rect">
            <a:avLst/>
          </a:prstGeom>
          <a:noFill/>
          <a:ln w="0">
            <a:noFill/>
          </a:ln>
        </p:spPr>
        <p:txBody>
          <a:bodyPr anchor="t">
            <a:noAutofit/>
          </a:bodyPr>
          <a:lstStyle/>
          <a:p>
            <a:pPr>
              <a:defRPr sz="3300" b="1">
                <a:solidFill>
                  <a:srgbClr val="132C43"/>
                </a:solidFill>
                <a:latin typeface="DejaVu Sans"/>
                <a:ea typeface="DejaVu Sans"/>
                <a:cs typeface="DejaVu Sans"/>
              </a:defRPr>
            </a:pPr>
            <a:r>
              <a:rPr sz="3300" b="1">
                <a:solidFill>
                  <a:srgbClr val="132C43"/>
                </a:solidFill>
                <a:latin typeface="DejaVu Sans"/>
                <a:ea typeface="DejaVu Sans"/>
                <a:cs typeface="DejaVu Sans"/>
              </a:rPr>
              <a:t>Mode switch and context switch</a:t>
            </a:r>
          </a:p>
        </p:txBody>
      </p:sp>
      <p:sp>
        <p:nvSpPr>
          <p:cNvPr id="2" name="Rectangle 1">
            <a:extLst>
              <a:ext uri="{FF2B5EF4-FFF2-40B4-BE49-F238E27FC236}">
                <a16:creationId xmlns:a16="http://schemas.microsoft.com/office/drawing/2014/main" id="{7B520C9A-E7FD-4A17-8010-56CCC4582337}"/>
              </a:ext>
            </a:extLst>
          </p:cNvPr>
          <p:cNvSpPr>
            <a:spLocks noGrp="1"/>
          </p:cNvSpPr>
          <p:nvPr/>
        </p:nvSpPr>
        <p:spPr>
          <a:xfrm>
            <a:off x="685800" y="1428750"/>
            <a:ext cx="10820400" cy="457200"/>
          </a:xfrm>
          <a:prstGeom prst="rect">
            <a:avLst/>
          </a:prstGeom>
          <a:noFill/>
          <a:ln w="0">
            <a:noFill/>
          </a:ln>
        </p:spPr>
        <p:txBody>
          <a:bodyPr anchor="t">
            <a:noAutofit/>
          </a:bodyPr>
          <a:lstStyle/>
          <a:p>
            <a:pPr>
              <a:defRPr sz="1950" b="0">
                <a:solidFill>
                  <a:srgbClr val="53687A"/>
                </a:solidFill>
                <a:latin typeface="DejaVu Sans"/>
                <a:ea typeface="DejaVu Sans"/>
                <a:cs typeface="DejaVu Sans"/>
              </a:defRPr>
            </a:pPr>
            <a:r>
              <a:rPr sz="1950" b="0">
                <a:solidFill>
                  <a:srgbClr val="53687A"/>
                </a:solidFill>
                <a:latin typeface="DejaVu Sans"/>
                <a:ea typeface="DejaVu Sans"/>
                <a:cs typeface="DejaVu Sans"/>
              </a:rPr>
              <a:t>They answer different questions.</a:t>
            </a:r>
          </a:p>
        </p:txBody>
      </p:sp>
      <p:graphicFrame>
        <p:nvGraphicFramePr>
          <p:cNvPr id="7" name="Table 6"/>
          <p:cNvGraphicFramePr/>
          <p:nvPr/>
        </p:nvGraphicFramePr>
        <p:xfrm>
          <a:off x="685800" y="2076450"/>
          <a:ext cx="10820400" cy="3781424"/>
        </p:xfrm>
        <a:graphic>
          <a:graphicData uri="http://schemas.openxmlformats.org/drawingml/2006/table">
            <a:tbl>
              <a:tblPr/>
              <a:tblGrid>
                <a:gridCol w="2762250">
                  <a:extLst>
                    <a:ext uri="{9D8B030D-6E8A-4147-A177-3AD203B41FA5}">
                      <a16:colId xmlns:a16="http://schemas.microsoft.com/office/drawing/2014/main" val="20000"/>
                    </a:ext>
                  </a:extLst>
                </a:gridCol>
                <a:gridCol w="4095750">
                  <a:extLst>
                    <a:ext uri="{9D8B030D-6E8A-4147-A177-3AD203B41FA5}">
                      <a16:colId xmlns:a16="http://schemas.microsoft.com/office/drawing/2014/main" val="20001"/>
                    </a:ext>
                  </a:extLst>
                </a:gridCol>
                <a:gridCol w="3962400">
                  <a:extLst>
                    <a:ext uri="{9D8B030D-6E8A-4147-A177-3AD203B41FA5}">
                      <a16:colId xmlns:a16="http://schemas.microsoft.com/office/drawing/2014/main" val="20002"/>
                    </a:ext>
                  </a:extLst>
                </a:gridCol>
              </a:tblGrid>
              <a:tr h="945356">
                <a:tc>
                  <a:txBody>
                    <a:bodyPr/>
                    <a:lstStyle/>
                    <a:p>
                      <a:r>
                        <a:rPr sz="1725" b="1">
                          <a:solidFill>
                            <a:srgbClr val="FFFFFF"/>
                          </a:solidFill>
                          <a:latin typeface="DejaVu Sans"/>
                          <a:ea typeface="DejaVu Sans"/>
                          <a:cs typeface="DejaVu Sans"/>
                        </a:rPr>
                        <a:t>Question</a:t>
                      </a:r>
                    </a:p>
                  </a:txBody>
                  <a:tcPr marL="114300" marR="114300" marT="95250" marB="76200">
                    <a:solidFill>
                      <a:srgbClr val="132C43"/>
                    </a:solidFill>
                  </a:tcPr>
                </a:tc>
                <a:tc>
                  <a:txBody>
                    <a:bodyPr/>
                    <a:lstStyle/>
                    <a:p>
                      <a:r>
                        <a:rPr sz="1725" b="1">
                          <a:solidFill>
                            <a:srgbClr val="FFFFFF"/>
                          </a:solidFill>
                          <a:latin typeface="DejaVu Sans"/>
                          <a:ea typeface="DejaVu Sans"/>
                          <a:cs typeface="DejaVu Sans"/>
                        </a:rPr>
                        <a:t>Mode switch</a:t>
                      </a:r>
                    </a:p>
                  </a:txBody>
                  <a:tcPr marL="114300" marR="114300" marT="95250" marB="76200">
                    <a:solidFill>
                      <a:srgbClr val="132C43"/>
                    </a:solidFill>
                  </a:tcPr>
                </a:tc>
                <a:tc>
                  <a:txBody>
                    <a:bodyPr/>
                    <a:lstStyle/>
                    <a:p>
                      <a:r>
                        <a:rPr sz="1725" b="1">
                          <a:solidFill>
                            <a:srgbClr val="FFFFFF"/>
                          </a:solidFill>
                          <a:latin typeface="DejaVu Sans"/>
                          <a:ea typeface="DejaVu Sans"/>
                          <a:cs typeface="DejaVu Sans"/>
                        </a:rPr>
                        <a:t>Context switch</a:t>
                      </a:r>
                    </a:p>
                  </a:txBody>
                  <a:tcPr marL="114300" marR="114300" marT="95250" marB="76200">
                    <a:solidFill>
                      <a:srgbClr val="132C43"/>
                    </a:solidFill>
                  </a:tcPr>
                </a:tc>
                <a:extLst>
                  <a:ext uri="{0D108BD9-81ED-4DB2-BD59-A6C34878D82A}">
                    <a16:rowId xmlns:a16="http://schemas.microsoft.com/office/drawing/2014/main" val="10000"/>
                  </a:ext>
                </a:extLst>
              </a:tr>
              <a:tr h="945356">
                <a:tc>
                  <a:txBody>
                    <a:bodyPr/>
                    <a:lstStyle/>
                    <a:p>
                      <a:r>
                        <a:rPr sz="1725">
                          <a:solidFill>
                            <a:srgbClr val="132C43"/>
                          </a:solidFill>
                          <a:latin typeface="DejaVu Sans"/>
                          <a:ea typeface="DejaVu Sans"/>
                          <a:cs typeface="DejaVu Sans"/>
                        </a:rPr>
                        <a:t>What changes?</a:t>
                      </a:r>
                    </a:p>
                  </a:txBody>
                  <a:tcPr marL="114300" marR="114300" marT="95250" marB="76200">
                    <a:solidFill>
                      <a:srgbClr val="F0F6FA"/>
                    </a:solidFill>
                  </a:tcPr>
                </a:tc>
                <a:tc>
                  <a:txBody>
                    <a:bodyPr/>
                    <a:lstStyle/>
                    <a:p>
                      <a:r>
                        <a:rPr sz="1725">
                          <a:solidFill>
                            <a:srgbClr val="132C43"/>
                          </a:solidFill>
                          <a:latin typeface="DejaVu Sans"/>
                          <a:ea typeface="DejaVu Sans"/>
                          <a:cs typeface="DejaVu Sans"/>
                        </a:rPr>
                        <a:t>CPU privilege level</a:t>
                      </a:r>
                    </a:p>
                  </a:txBody>
                  <a:tcPr marL="114300" marR="114300" marT="95250" marB="76200">
                    <a:solidFill>
                      <a:srgbClr val="F0F6FA"/>
                    </a:solidFill>
                  </a:tcPr>
                </a:tc>
                <a:tc>
                  <a:txBody>
                    <a:bodyPr/>
                    <a:lstStyle/>
                    <a:p>
                      <a:r>
                        <a:rPr sz="1725">
                          <a:solidFill>
                            <a:srgbClr val="132C43"/>
                          </a:solidFill>
                          <a:latin typeface="DejaVu Sans"/>
                          <a:ea typeface="DejaVu Sans"/>
                          <a:cs typeface="DejaVu Sans"/>
                        </a:rPr>
                        <a:t>Executing task and saved context</a:t>
                      </a:r>
                    </a:p>
                  </a:txBody>
                  <a:tcPr marL="114300" marR="114300" marT="95250" marB="76200">
                    <a:solidFill>
                      <a:srgbClr val="F0F6FA"/>
                    </a:solidFill>
                  </a:tcPr>
                </a:tc>
                <a:extLst>
                  <a:ext uri="{0D108BD9-81ED-4DB2-BD59-A6C34878D82A}">
                    <a16:rowId xmlns:a16="http://schemas.microsoft.com/office/drawing/2014/main" val="10001"/>
                  </a:ext>
                </a:extLst>
              </a:tr>
              <a:tr h="945356">
                <a:tc>
                  <a:txBody>
                    <a:bodyPr/>
                    <a:lstStyle/>
                    <a:p>
                      <a:r>
                        <a:rPr sz="1725">
                          <a:solidFill>
                            <a:srgbClr val="132C43"/>
                          </a:solidFill>
                          <a:latin typeface="DejaVu Sans"/>
                          <a:ea typeface="DejaVu Sans"/>
                          <a:cs typeface="DejaVu Sans"/>
                        </a:rPr>
                        <a:t>Must process identity change?</a:t>
                      </a:r>
                    </a:p>
                  </a:txBody>
                  <a:tcPr marL="114300" marR="114300" marT="95250" marB="76200">
                    <a:solidFill>
                      <a:srgbClr val="FFFFFF"/>
                    </a:solidFill>
                  </a:tcPr>
                </a:tc>
                <a:tc>
                  <a:txBody>
                    <a:bodyPr/>
                    <a:lstStyle/>
                    <a:p>
                      <a:r>
                        <a:rPr sz="1725">
                          <a:solidFill>
                            <a:srgbClr val="132C43"/>
                          </a:solidFill>
                          <a:latin typeface="DejaVu Sans"/>
                          <a:ea typeface="DejaVu Sans"/>
                          <a:cs typeface="DejaVu Sans"/>
                        </a:rPr>
                        <a:t>No</a:t>
                      </a:r>
                    </a:p>
                  </a:txBody>
                  <a:tcPr marL="114300" marR="114300" marT="95250" marB="76200">
                    <a:solidFill>
                      <a:srgbClr val="FFFFFF"/>
                    </a:solidFill>
                  </a:tcPr>
                </a:tc>
                <a:tc>
                  <a:txBody>
                    <a:bodyPr/>
                    <a:lstStyle/>
                    <a:p>
                      <a:r>
                        <a:rPr sz="1725">
                          <a:solidFill>
                            <a:srgbClr val="132C43"/>
                          </a:solidFill>
                          <a:latin typeface="DejaVu Sans"/>
                          <a:ea typeface="DejaVu Sans"/>
                          <a:cs typeface="DejaVu Sans"/>
                        </a:rPr>
                        <a:t>For a process switch, yes</a:t>
                      </a:r>
                    </a:p>
                  </a:txBody>
                  <a:tcPr marL="114300" marR="114300" marT="95250" marB="76200">
                    <a:solidFill>
                      <a:srgbClr val="FFFFFF"/>
                    </a:solidFill>
                  </a:tcPr>
                </a:tc>
                <a:extLst>
                  <a:ext uri="{0D108BD9-81ED-4DB2-BD59-A6C34878D82A}">
                    <a16:rowId xmlns:a16="http://schemas.microsoft.com/office/drawing/2014/main" val="10002"/>
                  </a:ext>
                </a:extLst>
              </a:tr>
              <a:tr h="945356">
                <a:tc>
                  <a:txBody>
                    <a:bodyPr/>
                    <a:lstStyle/>
                    <a:p>
                      <a:r>
                        <a:rPr sz="1725">
                          <a:solidFill>
                            <a:srgbClr val="132C43"/>
                          </a:solidFill>
                          <a:latin typeface="DejaVu Sans"/>
                          <a:ea typeface="DejaVu Sans"/>
                          <a:cs typeface="DejaVu Sans"/>
                        </a:rPr>
                        <a:t>Example</a:t>
                      </a:r>
                    </a:p>
                  </a:txBody>
                  <a:tcPr marL="114300" marR="114300" marT="95250" marB="76200">
                    <a:solidFill>
                      <a:srgbClr val="F0F6FA"/>
                    </a:solidFill>
                  </a:tcPr>
                </a:tc>
                <a:tc>
                  <a:txBody>
                    <a:bodyPr/>
                    <a:lstStyle/>
                    <a:p>
                      <a:r>
                        <a:rPr sz="1725">
                          <a:solidFill>
                            <a:srgbClr val="132C43"/>
                          </a:solidFill>
                          <a:latin typeface="DejaVu Sans"/>
                          <a:ea typeface="DejaVu Sans"/>
                          <a:cs typeface="DejaVu Sans"/>
                        </a:rPr>
                        <a:t>System call, same task returns</a:t>
                      </a:r>
                    </a:p>
                  </a:txBody>
                  <a:tcPr marL="114300" marR="114300" marT="95250" marB="76200">
                    <a:solidFill>
                      <a:srgbClr val="F0F6FA"/>
                    </a:solidFill>
                  </a:tcPr>
                </a:tc>
                <a:tc>
                  <a:txBody>
                    <a:bodyPr/>
                    <a:lstStyle/>
                    <a:p>
                      <a:r>
                        <a:rPr sz="1725">
                          <a:solidFill>
                            <a:srgbClr val="132C43"/>
                          </a:solidFill>
                          <a:latin typeface="DejaVu Sans"/>
                          <a:ea typeface="DejaVu Sans"/>
                          <a:cs typeface="DejaVu Sans"/>
                        </a:rPr>
                        <a:t>P1 stops and P2 resumes</a:t>
                      </a:r>
                    </a:p>
                  </a:txBody>
                  <a:tcPr marL="114300" marR="114300" marT="95250" marB="76200">
                    <a:solidFill>
                      <a:srgbClr val="F0F6FA"/>
                    </a:solidFill>
                  </a:tcPr>
                </a:tc>
                <a:extLst>
                  <a:ext uri="{0D108BD9-81ED-4DB2-BD59-A6C34878D82A}">
                    <a16:rowId xmlns:a16="http://schemas.microsoft.com/office/drawing/2014/main" val="10003"/>
                  </a:ext>
                </a:extLst>
              </a:tr>
            </a:tbl>
          </a:graphicData>
        </a:graphic>
      </p:graphicFrame>
      <p:sp>
        <p:nvSpPr>
          <p:cNvPr id="4" name="Rectangle 3">
            <a:extLst>
              <a:ext uri="{FF2B5EF4-FFF2-40B4-BE49-F238E27FC236}">
                <a16:creationId xmlns:a16="http://schemas.microsoft.com/office/drawing/2014/main" id="{863DB9A4-48CF-472F-8521-5EBB44CA107B}"/>
              </a:ext>
            </a:extLst>
          </p:cNvPr>
          <p:cNvSpPr>
            <a:spLocks noGrp="1"/>
          </p:cNvSpPr>
          <p:nvPr/>
        </p:nvSpPr>
        <p:spPr>
          <a:xfrm>
            <a:off x="685800" y="6381750"/>
            <a:ext cx="10820400" cy="238125"/>
          </a:xfrm>
          <a:prstGeom prst="rect">
            <a:avLst/>
          </a:prstGeom>
          <a:noFill/>
          <a:ln w="0">
            <a:noFill/>
          </a:ln>
        </p:spPr>
        <p:txBody>
          <a:bodyPr anchor="t">
            <a:noAutofit/>
          </a:bodyPr>
          <a:lstStyle/>
          <a:p>
            <a:pPr>
              <a:defRPr sz="1275" b="0">
                <a:solidFill>
                  <a:srgbClr val="53687A"/>
                </a:solidFill>
                <a:latin typeface="DejaVu Sans"/>
                <a:ea typeface="DejaVu Sans"/>
                <a:cs typeface="DejaVu Sans"/>
              </a:defRPr>
            </a:pPr>
            <a:r>
              <a:rPr sz="1275" b="0">
                <a:solidFill>
                  <a:srgbClr val="53687A"/>
                </a:solidFill>
                <a:latin typeface="DejaVu Sans"/>
                <a:ea typeface="DejaVu Sans"/>
                <a:cs typeface="DejaVu Sans"/>
              </a:rPr>
              <a:t>Week 3     55</a:t>
            </a:r>
          </a:p>
        </p:txBody>
      </p:sp>
    </p:spTree>
    <p:extLst>
      <p:ext uri="{BB962C8B-B14F-4D97-AF65-F5344CB8AC3E}">
        <p14:creationId xmlns:p14="http://schemas.microsoft.com/office/powerpoint/2010/main" val="5634990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529A1C0-DD2E-4F70-BF10-57B9DA88F87C}"/>
              </a:ext>
            </a:extLst>
          </p:cNvPr>
          <p:cNvSpPr>
            <a:spLocks noGrp="1"/>
          </p:cNvSpPr>
          <p:nvPr/>
        </p:nvSpPr>
        <p:spPr>
          <a:xfrm>
            <a:off x="685800" y="495300"/>
            <a:ext cx="10858500" cy="857250"/>
          </a:xfrm>
          <a:prstGeom prst="rect">
            <a:avLst/>
          </a:prstGeom>
          <a:noFill/>
          <a:ln w="0">
            <a:noFill/>
          </a:ln>
        </p:spPr>
        <p:txBody>
          <a:bodyPr anchor="t">
            <a:noAutofit/>
          </a:bodyPr>
          <a:lstStyle/>
          <a:p>
            <a:pPr>
              <a:defRPr sz="3300" b="1">
                <a:solidFill>
                  <a:srgbClr val="132C43"/>
                </a:solidFill>
                <a:latin typeface="DejaVu Sans"/>
                <a:ea typeface="DejaVu Sans"/>
                <a:cs typeface="DejaVu Sans"/>
              </a:defRPr>
            </a:pPr>
            <a:r>
              <a:rPr sz="3300" b="1">
                <a:solidFill>
                  <a:srgbClr val="132C43"/>
                </a:solidFill>
                <a:latin typeface="DejaVu Sans"/>
                <a:ea typeface="DejaVu Sans"/>
                <a:cs typeface="DejaVu Sans"/>
              </a:rPr>
              <a:t>Worked example: switch overhead</a:t>
            </a:r>
          </a:p>
        </p:txBody>
      </p:sp>
      <p:sp>
        <p:nvSpPr>
          <p:cNvPr id="2" name="Rectangle 1">
            <a:extLst>
              <a:ext uri="{FF2B5EF4-FFF2-40B4-BE49-F238E27FC236}">
                <a16:creationId xmlns:a16="http://schemas.microsoft.com/office/drawing/2014/main" id="{3CB96660-1CEC-4236-8F45-5D0E3E40DECE}"/>
              </a:ext>
            </a:extLst>
          </p:cNvPr>
          <p:cNvSpPr>
            <a:spLocks noGrp="1"/>
          </p:cNvSpPr>
          <p:nvPr/>
        </p:nvSpPr>
        <p:spPr>
          <a:xfrm>
            <a:off x="685800" y="1666875"/>
            <a:ext cx="10820400" cy="3905250"/>
          </a:xfrm>
          <a:prstGeom prst="rect">
            <a:avLst/>
          </a:prstGeom>
          <a:noFill/>
          <a:ln w="0">
            <a:noFill/>
          </a:ln>
        </p:spPr>
        <p:txBody>
          <a:bodyPr anchor="t">
            <a:noAutofit/>
          </a:bodyPr>
          <a:lstStyle/>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Each cycle has q ms useful work and s ms switching.</a:t>
            </a:r>
          </a:p>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Assume continuous runnable work.</a:t>
            </a:r>
          </a:p>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Overhead fraction = s / (q + s).</a:t>
            </a:r>
          </a:p>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If s = 0.1 ms, compare q = 1, 5 and 10 ms.</a:t>
            </a:r>
          </a:p>
        </p:txBody>
      </p:sp>
      <p:sp>
        <p:nvSpPr>
          <p:cNvPr id="3" name="Rectangle 2">
            <a:extLst>
              <a:ext uri="{FF2B5EF4-FFF2-40B4-BE49-F238E27FC236}">
                <a16:creationId xmlns:a16="http://schemas.microsoft.com/office/drawing/2014/main" id="{3EC8CAA6-D452-4BAC-9CA2-5C8D5D347701}"/>
              </a:ext>
            </a:extLst>
          </p:cNvPr>
          <p:cNvSpPr>
            <a:spLocks noGrp="1"/>
          </p:cNvSpPr>
          <p:nvPr/>
        </p:nvSpPr>
        <p:spPr>
          <a:xfrm>
            <a:off x="685800" y="6381750"/>
            <a:ext cx="10820400" cy="238125"/>
          </a:xfrm>
          <a:prstGeom prst="rect">
            <a:avLst/>
          </a:prstGeom>
          <a:noFill/>
          <a:ln w="0">
            <a:noFill/>
          </a:ln>
        </p:spPr>
        <p:txBody>
          <a:bodyPr anchor="t">
            <a:noAutofit/>
          </a:bodyPr>
          <a:lstStyle/>
          <a:p>
            <a:pPr>
              <a:defRPr sz="1275" b="0">
                <a:solidFill>
                  <a:srgbClr val="53687A"/>
                </a:solidFill>
                <a:latin typeface="DejaVu Sans"/>
                <a:ea typeface="DejaVu Sans"/>
                <a:cs typeface="DejaVu Sans"/>
              </a:defRPr>
            </a:pPr>
            <a:r>
              <a:rPr sz="1275" b="0">
                <a:solidFill>
                  <a:srgbClr val="53687A"/>
                </a:solidFill>
                <a:latin typeface="DejaVu Sans"/>
                <a:ea typeface="DejaVu Sans"/>
                <a:cs typeface="DejaVu Sans"/>
              </a:rPr>
              <a:t>Week 3     56</a:t>
            </a:r>
          </a:p>
        </p:txBody>
      </p:sp>
    </p:spTree>
    <p:extLst>
      <p:ext uri="{BB962C8B-B14F-4D97-AF65-F5344CB8AC3E}">
        <p14:creationId xmlns:p14="http://schemas.microsoft.com/office/powerpoint/2010/main" val="151441066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A240BED-6E4C-44BB-9980-C14F2F9AEA4A}"/>
              </a:ext>
            </a:extLst>
          </p:cNvPr>
          <p:cNvSpPr>
            <a:spLocks noGrp="1"/>
          </p:cNvSpPr>
          <p:nvPr/>
        </p:nvSpPr>
        <p:spPr>
          <a:xfrm>
            <a:off x="685800" y="495300"/>
            <a:ext cx="10858500" cy="857250"/>
          </a:xfrm>
          <a:prstGeom prst="rect">
            <a:avLst/>
          </a:prstGeom>
          <a:noFill/>
          <a:ln w="0">
            <a:noFill/>
          </a:ln>
        </p:spPr>
        <p:txBody>
          <a:bodyPr anchor="t">
            <a:noAutofit/>
          </a:bodyPr>
          <a:lstStyle/>
          <a:p>
            <a:pPr>
              <a:defRPr sz="3300" b="1">
                <a:solidFill>
                  <a:srgbClr val="132C43"/>
                </a:solidFill>
                <a:latin typeface="DejaVu Sans"/>
                <a:ea typeface="DejaVu Sans"/>
                <a:cs typeface="DejaVu Sans"/>
              </a:defRPr>
            </a:pPr>
            <a:r>
              <a:rPr sz="3300" b="1">
                <a:solidFill>
                  <a:srgbClr val="132C43"/>
                </a:solidFill>
                <a:latin typeface="DejaVu Sans"/>
                <a:ea typeface="DejaVu Sans"/>
                <a:cs typeface="DejaVu Sans"/>
              </a:rPr>
              <a:t>Overhead and responsiveness</a:t>
            </a:r>
          </a:p>
        </p:txBody>
      </p:sp>
      <p:sp>
        <p:nvSpPr>
          <p:cNvPr id="2" name="Rectangle 1">
            <a:extLst>
              <a:ext uri="{FF2B5EF4-FFF2-40B4-BE49-F238E27FC236}">
                <a16:creationId xmlns:a16="http://schemas.microsoft.com/office/drawing/2014/main" id="{357154D7-2381-4718-A6D0-E4EF2BB2EF16}"/>
              </a:ext>
            </a:extLst>
          </p:cNvPr>
          <p:cNvSpPr>
            <a:spLocks noGrp="1"/>
          </p:cNvSpPr>
          <p:nvPr/>
        </p:nvSpPr>
        <p:spPr>
          <a:xfrm>
            <a:off x="685800" y="1428750"/>
            <a:ext cx="10820400" cy="857250"/>
          </a:xfrm>
          <a:prstGeom prst="rect">
            <a:avLst/>
          </a:prstGeom>
          <a:noFill/>
          <a:ln w="0">
            <a:noFill/>
          </a:ln>
        </p:spPr>
        <p:txBody>
          <a:bodyPr anchor="t">
            <a:noAutofit/>
          </a:bodyPr>
          <a:lstStyle/>
          <a:p>
            <a:pPr>
              <a:defRPr sz="2025" b="0">
                <a:solidFill>
                  <a:srgbClr val="53687A"/>
                </a:solidFill>
                <a:latin typeface="DejaVu Sans"/>
                <a:ea typeface="DejaVu Sans"/>
                <a:cs typeface="DejaVu Sans"/>
              </a:defRPr>
            </a:pPr>
            <a:r>
              <a:rPr sz="2025" b="0">
                <a:solidFill>
                  <a:srgbClr val="53687A"/>
                </a:solidFill>
                <a:latin typeface="DejaVu Sans"/>
                <a:ea typeface="DejaVu Sans"/>
                <a:cs typeface="DejaVu Sans"/>
              </a:rPr>
              <a:t>Longer useful runs reduce switch overhead.</a:t>
            </a:r>
          </a:p>
          <a:p>
            <a:pPr>
              <a:defRPr sz="2025" b="0">
                <a:solidFill>
                  <a:srgbClr val="53687A"/>
                </a:solidFill>
                <a:latin typeface="DejaVu Sans"/>
                <a:ea typeface="DejaVu Sans"/>
                <a:cs typeface="DejaVu Sans"/>
              </a:defRPr>
            </a:pPr>
            <a:r>
              <a:rPr sz="2025" b="0">
                <a:solidFill>
                  <a:srgbClr val="53687A"/>
                </a:solidFill>
                <a:latin typeface="DejaVu Sans"/>
                <a:ea typeface="DejaVu Sans"/>
                <a:cs typeface="DejaVu Sans"/>
              </a:rPr>
              <a:t>Shorter slices can reduce delay for runnable tasks.</a:t>
            </a:r>
          </a:p>
          <a:p>
            <a:pPr>
              <a:defRPr sz="2025" b="0">
                <a:solidFill>
                  <a:srgbClr val="53687A"/>
                </a:solidFill>
                <a:latin typeface="DejaVu Sans"/>
                <a:ea typeface="DejaVu Sans"/>
                <a:cs typeface="DejaVu Sans"/>
              </a:defRPr>
            </a:pPr>
            <a:r>
              <a:rPr sz="2025" b="0">
                <a:solidFill>
                  <a:srgbClr val="53687A"/>
                </a:solidFill>
                <a:latin typeface="DejaVu Sans"/>
                <a:ea typeface="DejaVu Sans"/>
                <a:cs typeface="DejaVu Sans"/>
              </a:rPr>
              <a:t>A scheduler balances competing goals.</a:t>
            </a:r>
          </a:p>
        </p:txBody>
      </p:sp>
      <p:graphicFrame>
        <p:nvGraphicFramePr>
          <p:cNvPr id="8" name="Chart"/>
          <p:cNvGraphicFramePr/>
          <p:nvPr/>
        </p:nvGraphicFramePr>
        <p:xfrm>
          <a:off x="1047750" y="2619375"/>
          <a:ext cx="10096500" cy="2952750"/>
        </p:xfrm>
        <a:graphic>
          <a:graphicData uri="http://schemas.openxmlformats.org/drawingml/2006/chart">
            <c:chart xmlns:c="http://schemas.openxmlformats.org/drawingml/2006/chart" xmlns:r="http://schemas.openxmlformats.org/officeDocument/2006/relationships" r:id="rId3"/>
          </a:graphicData>
        </a:graphic>
      </p:graphicFrame>
      <p:sp>
        <p:nvSpPr>
          <p:cNvPr id="4" name="Rectangle 3">
            <a:extLst>
              <a:ext uri="{FF2B5EF4-FFF2-40B4-BE49-F238E27FC236}">
                <a16:creationId xmlns:a16="http://schemas.microsoft.com/office/drawing/2014/main" id="{71E7F373-DB61-4CA9-9C92-9117C6394432}"/>
              </a:ext>
            </a:extLst>
          </p:cNvPr>
          <p:cNvSpPr>
            <a:spLocks noGrp="1"/>
          </p:cNvSpPr>
          <p:nvPr/>
        </p:nvSpPr>
        <p:spPr>
          <a:xfrm>
            <a:off x="685800" y="5924550"/>
            <a:ext cx="10820400" cy="266700"/>
          </a:xfrm>
          <a:prstGeom prst="rect">
            <a:avLst/>
          </a:prstGeom>
          <a:noFill/>
          <a:ln w="0">
            <a:noFill/>
          </a:ln>
        </p:spPr>
        <p:txBody>
          <a:bodyPr anchor="t">
            <a:noAutofit/>
          </a:bodyPr>
          <a:lstStyle/>
          <a:p>
            <a:pPr>
              <a:defRPr sz="1425" b="0">
                <a:solidFill>
                  <a:srgbClr val="53687A"/>
                </a:solidFill>
                <a:latin typeface="DejaVu Sans"/>
                <a:ea typeface="DejaVu Sans"/>
                <a:cs typeface="DejaVu Sans"/>
              </a:defRPr>
            </a:pPr>
            <a:r>
              <a:rPr sz="1425" b="0">
                <a:solidFill>
                  <a:srgbClr val="53687A"/>
                </a:solidFill>
                <a:latin typeface="DejaVu Sans"/>
                <a:ea typeface="DejaVu Sans"/>
                <a:cs typeface="DejaVu Sans"/>
              </a:rPr>
              <a:t>Hypothetical model: s = 0.1 ms, one switch after each useful run</a:t>
            </a:r>
          </a:p>
        </p:txBody>
      </p:sp>
      <p:sp>
        <p:nvSpPr>
          <p:cNvPr id="5" name="Rectangle 4">
            <a:extLst>
              <a:ext uri="{FF2B5EF4-FFF2-40B4-BE49-F238E27FC236}">
                <a16:creationId xmlns:a16="http://schemas.microsoft.com/office/drawing/2014/main" id="{334A0093-0583-4986-817A-3D3D382B25A1}"/>
              </a:ext>
            </a:extLst>
          </p:cNvPr>
          <p:cNvSpPr>
            <a:spLocks noGrp="1"/>
          </p:cNvSpPr>
          <p:nvPr/>
        </p:nvSpPr>
        <p:spPr>
          <a:xfrm>
            <a:off x="685800" y="6381750"/>
            <a:ext cx="10820400" cy="238125"/>
          </a:xfrm>
          <a:prstGeom prst="rect">
            <a:avLst/>
          </a:prstGeom>
          <a:noFill/>
          <a:ln w="0">
            <a:noFill/>
          </a:ln>
        </p:spPr>
        <p:txBody>
          <a:bodyPr anchor="t">
            <a:noAutofit/>
          </a:bodyPr>
          <a:lstStyle/>
          <a:p>
            <a:pPr>
              <a:defRPr sz="1275" b="0">
                <a:solidFill>
                  <a:srgbClr val="53687A"/>
                </a:solidFill>
                <a:latin typeface="DejaVu Sans"/>
                <a:ea typeface="DejaVu Sans"/>
                <a:cs typeface="DejaVu Sans"/>
              </a:defRPr>
            </a:pPr>
            <a:r>
              <a:rPr sz="1275" b="0">
                <a:solidFill>
                  <a:srgbClr val="53687A"/>
                </a:solidFill>
                <a:latin typeface="DejaVu Sans"/>
                <a:ea typeface="DejaVu Sans"/>
                <a:cs typeface="DejaVu Sans"/>
              </a:rPr>
              <a:t>Week 3     57</a:t>
            </a:r>
          </a:p>
        </p:txBody>
      </p:sp>
    </p:spTree>
    <p:extLst>
      <p:ext uri="{BB962C8B-B14F-4D97-AF65-F5344CB8AC3E}">
        <p14:creationId xmlns:p14="http://schemas.microsoft.com/office/powerpoint/2010/main" val="173600268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6FB528A-E8EA-4A22-B0B3-60B53ED959AA}"/>
              </a:ext>
            </a:extLst>
          </p:cNvPr>
          <p:cNvSpPr>
            <a:spLocks noGrp="1"/>
          </p:cNvSpPr>
          <p:nvPr/>
        </p:nvSpPr>
        <p:spPr>
          <a:xfrm>
            <a:off x="685800" y="495300"/>
            <a:ext cx="10858500" cy="857250"/>
          </a:xfrm>
          <a:prstGeom prst="rect">
            <a:avLst/>
          </a:prstGeom>
          <a:noFill/>
          <a:ln w="0">
            <a:noFill/>
          </a:ln>
        </p:spPr>
        <p:txBody>
          <a:bodyPr anchor="t">
            <a:noAutofit/>
          </a:bodyPr>
          <a:lstStyle/>
          <a:p>
            <a:pPr>
              <a:defRPr sz="3300" b="1">
                <a:solidFill>
                  <a:srgbClr val="132C43"/>
                </a:solidFill>
                <a:latin typeface="DejaVu Sans"/>
                <a:ea typeface="DejaVu Sans"/>
                <a:cs typeface="DejaVu Sans"/>
              </a:defRPr>
            </a:pPr>
            <a:r>
              <a:rPr sz="3300" b="1">
                <a:solidFill>
                  <a:srgbClr val="132C43"/>
                </a:solidFill>
                <a:latin typeface="DejaVu Sans"/>
                <a:ea typeface="DejaVu Sans"/>
                <a:cs typeface="DejaVu Sans"/>
              </a:rPr>
              <a:t>Live demo: process state on Linux</a:t>
            </a:r>
          </a:p>
        </p:txBody>
      </p:sp>
      <p:sp>
        <p:nvSpPr>
          <p:cNvPr id="2" name="Rectangle 1">
            <a:extLst>
              <a:ext uri="{FF2B5EF4-FFF2-40B4-BE49-F238E27FC236}">
                <a16:creationId xmlns:a16="http://schemas.microsoft.com/office/drawing/2014/main" id="{0B3E2E02-3518-421C-BB07-5090914160D0}"/>
              </a:ext>
            </a:extLst>
          </p:cNvPr>
          <p:cNvSpPr>
            <a:spLocks noGrp="1"/>
          </p:cNvSpPr>
          <p:nvPr/>
        </p:nvSpPr>
        <p:spPr>
          <a:xfrm>
            <a:off x="685800" y="1666875"/>
            <a:ext cx="10820400" cy="3905250"/>
          </a:xfrm>
          <a:prstGeom prst="rect">
            <a:avLst/>
          </a:prstGeom>
          <a:noFill/>
          <a:ln w="0">
            <a:noFill/>
          </a:ln>
        </p:spPr>
        <p:txBody>
          <a:bodyPr anchor="t">
            <a:noAutofit/>
          </a:bodyPr>
          <a:lstStyle/>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ps -eo pid,ppid,stat,comm</a:t>
            </a:r>
          </a:p>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Compare IDs and states of real processes.</a:t>
            </a:r>
          </a:p>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Use sleep 30 as a simple waiting example.</a:t>
            </a:r>
          </a:p>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Observe Task Manager if Linux is unavailable.</a:t>
            </a:r>
          </a:p>
        </p:txBody>
      </p:sp>
      <p:sp>
        <p:nvSpPr>
          <p:cNvPr id="3" name="Rectangle 2">
            <a:extLst>
              <a:ext uri="{FF2B5EF4-FFF2-40B4-BE49-F238E27FC236}">
                <a16:creationId xmlns:a16="http://schemas.microsoft.com/office/drawing/2014/main" id="{5697EAAE-EA7E-4549-B47F-CC6606E47B1F}"/>
              </a:ext>
            </a:extLst>
          </p:cNvPr>
          <p:cNvSpPr>
            <a:spLocks noGrp="1"/>
          </p:cNvSpPr>
          <p:nvPr/>
        </p:nvSpPr>
        <p:spPr>
          <a:xfrm>
            <a:off x="685800" y="6381750"/>
            <a:ext cx="10820400" cy="238125"/>
          </a:xfrm>
          <a:prstGeom prst="rect">
            <a:avLst/>
          </a:prstGeom>
          <a:noFill/>
          <a:ln w="0">
            <a:noFill/>
          </a:ln>
        </p:spPr>
        <p:txBody>
          <a:bodyPr anchor="t">
            <a:noAutofit/>
          </a:bodyPr>
          <a:lstStyle/>
          <a:p>
            <a:pPr>
              <a:defRPr sz="1275" b="0">
                <a:solidFill>
                  <a:srgbClr val="53687A"/>
                </a:solidFill>
                <a:latin typeface="DejaVu Sans"/>
                <a:ea typeface="DejaVu Sans"/>
                <a:cs typeface="DejaVu Sans"/>
              </a:defRPr>
            </a:pPr>
            <a:r>
              <a:rPr sz="1275" b="0">
                <a:solidFill>
                  <a:srgbClr val="53687A"/>
                </a:solidFill>
                <a:latin typeface="DejaVu Sans"/>
                <a:ea typeface="DejaVu Sans"/>
                <a:cs typeface="DejaVu Sans"/>
              </a:rPr>
              <a:t>Week 3     58</a:t>
            </a:r>
          </a:p>
        </p:txBody>
      </p:sp>
    </p:spTree>
    <p:extLst>
      <p:ext uri="{BB962C8B-B14F-4D97-AF65-F5344CB8AC3E}">
        <p14:creationId xmlns:p14="http://schemas.microsoft.com/office/powerpoint/2010/main" val="118894360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C27FB92-4115-4B19-B309-4B43B414AACA}"/>
              </a:ext>
            </a:extLst>
          </p:cNvPr>
          <p:cNvSpPr>
            <a:spLocks noGrp="1"/>
          </p:cNvSpPr>
          <p:nvPr/>
        </p:nvSpPr>
        <p:spPr>
          <a:xfrm>
            <a:off x="685800" y="495300"/>
            <a:ext cx="10858500" cy="857250"/>
          </a:xfrm>
          <a:prstGeom prst="rect">
            <a:avLst/>
          </a:prstGeom>
          <a:noFill/>
          <a:ln w="0">
            <a:noFill/>
          </a:ln>
        </p:spPr>
        <p:txBody>
          <a:bodyPr anchor="t">
            <a:noAutofit/>
          </a:bodyPr>
          <a:lstStyle/>
          <a:p>
            <a:pPr>
              <a:defRPr sz="3300" b="1">
                <a:solidFill>
                  <a:srgbClr val="132C43"/>
                </a:solidFill>
                <a:latin typeface="DejaVu Sans"/>
                <a:ea typeface="DejaVu Sans"/>
                <a:cs typeface="DejaVu Sans"/>
              </a:defRPr>
            </a:pPr>
            <a:r>
              <a:rPr sz="3300" b="1">
                <a:solidFill>
                  <a:srgbClr val="132C43"/>
                </a:solidFill>
                <a:latin typeface="DejaVu Sans"/>
                <a:ea typeface="DejaVu Sans"/>
                <a:cs typeface="DejaVu Sans"/>
              </a:rPr>
              <a:t>Week 3 checkpoint</a:t>
            </a:r>
          </a:p>
        </p:txBody>
      </p:sp>
      <p:sp>
        <p:nvSpPr>
          <p:cNvPr id="2" name="Rectangle 1">
            <a:extLst>
              <a:ext uri="{FF2B5EF4-FFF2-40B4-BE49-F238E27FC236}">
                <a16:creationId xmlns:a16="http://schemas.microsoft.com/office/drawing/2014/main" id="{D8C371C8-E40A-4DBA-91B2-C0C9AE7B211B}"/>
              </a:ext>
            </a:extLst>
          </p:cNvPr>
          <p:cNvSpPr>
            <a:spLocks noGrp="1"/>
          </p:cNvSpPr>
          <p:nvPr/>
        </p:nvSpPr>
        <p:spPr>
          <a:xfrm>
            <a:off x="685800" y="1666875"/>
            <a:ext cx="10820400" cy="3905250"/>
          </a:xfrm>
          <a:prstGeom prst="rect">
            <a:avLst/>
          </a:prstGeom>
          <a:noFill/>
          <a:ln w="0">
            <a:noFill/>
          </a:ln>
        </p:spPr>
        <p:txBody>
          <a:bodyPr anchor="t">
            <a:noAutofit/>
          </a:bodyPr>
          <a:lstStyle/>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Ready versus waiting: what is missing?</a:t>
            </a:r>
          </a:p>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Does disk completion guarantee immediate execution?</a:t>
            </a:r>
          </a:p>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Why save registers as well as the PC?</a:t>
            </a:r>
          </a:p>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Which scheduler chooses the next runnable task?</a:t>
            </a:r>
          </a:p>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Can a system call return without changing tasks?</a:t>
            </a:r>
          </a:p>
        </p:txBody>
      </p:sp>
      <p:sp>
        <p:nvSpPr>
          <p:cNvPr id="3" name="Rectangle 2">
            <a:extLst>
              <a:ext uri="{FF2B5EF4-FFF2-40B4-BE49-F238E27FC236}">
                <a16:creationId xmlns:a16="http://schemas.microsoft.com/office/drawing/2014/main" id="{DF973D97-FA71-49AF-8093-EABCDB2BAEBA}"/>
              </a:ext>
            </a:extLst>
          </p:cNvPr>
          <p:cNvSpPr>
            <a:spLocks noGrp="1"/>
          </p:cNvSpPr>
          <p:nvPr/>
        </p:nvSpPr>
        <p:spPr>
          <a:xfrm>
            <a:off x="685800" y="6381750"/>
            <a:ext cx="10820400" cy="238125"/>
          </a:xfrm>
          <a:prstGeom prst="rect">
            <a:avLst/>
          </a:prstGeom>
          <a:noFill/>
          <a:ln w="0">
            <a:noFill/>
          </a:ln>
        </p:spPr>
        <p:txBody>
          <a:bodyPr anchor="t">
            <a:noAutofit/>
          </a:bodyPr>
          <a:lstStyle/>
          <a:p>
            <a:pPr>
              <a:defRPr sz="1275" b="0">
                <a:solidFill>
                  <a:srgbClr val="53687A"/>
                </a:solidFill>
                <a:latin typeface="DejaVu Sans"/>
                <a:ea typeface="DejaVu Sans"/>
                <a:cs typeface="DejaVu Sans"/>
              </a:defRPr>
            </a:pPr>
            <a:r>
              <a:rPr sz="1275" b="0">
                <a:solidFill>
                  <a:srgbClr val="53687A"/>
                </a:solidFill>
                <a:latin typeface="DejaVu Sans"/>
                <a:ea typeface="DejaVu Sans"/>
                <a:cs typeface="DejaVu Sans"/>
              </a:rPr>
              <a:t>Week 3     59</a:t>
            </a:r>
          </a:p>
        </p:txBody>
      </p:sp>
    </p:spTree>
    <p:extLst>
      <p:ext uri="{BB962C8B-B14F-4D97-AF65-F5344CB8AC3E}">
        <p14:creationId xmlns:p14="http://schemas.microsoft.com/office/powerpoint/2010/main" val="177779982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50ABE64-F06F-4F51-9798-1C09B1DFFF47}"/>
              </a:ext>
            </a:extLst>
          </p:cNvPr>
          <p:cNvSpPr>
            <a:spLocks noGrp="1"/>
          </p:cNvSpPr>
          <p:nvPr/>
        </p:nvSpPr>
        <p:spPr>
          <a:xfrm>
            <a:off x="685800" y="495300"/>
            <a:ext cx="10858500" cy="857250"/>
          </a:xfrm>
          <a:prstGeom prst="rect">
            <a:avLst/>
          </a:prstGeom>
          <a:noFill/>
          <a:ln w="0">
            <a:noFill/>
          </a:ln>
        </p:spPr>
        <p:txBody>
          <a:bodyPr anchor="t">
            <a:noAutofit/>
          </a:bodyPr>
          <a:lstStyle/>
          <a:p>
            <a:pPr>
              <a:defRPr sz="3300" b="1">
                <a:solidFill>
                  <a:srgbClr val="132C43"/>
                </a:solidFill>
                <a:latin typeface="DejaVu Sans"/>
                <a:ea typeface="DejaVu Sans"/>
                <a:cs typeface="DejaVu Sans"/>
              </a:defRPr>
            </a:pPr>
            <a:r>
              <a:rPr sz="3300" b="1">
                <a:solidFill>
                  <a:srgbClr val="132C43"/>
                </a:solidFill>
                <a:latin typeface="DejaVu Sans"/>
                <a:ea typeface="DejaVu Sans"/>
                <a:cs typeface="DejaVu Sans"/>
              </a:rPr>
              <a:t>Integrated scenario</a:t>
            </a:r>
          </a:p>
        </p:txBody>
      </p:sp>
      <p:sp>
        <p:nvSpPr>
          <p:cNvPr id="2" name="Rectangle 1">
            <a:extLst>
              <a:ext uri="{FF2B5EF4-FFF2-40B4-BE49-F238E27FC236}">
                <a16:creationId xmlns:a16="http://schemas.microsoft.com/office/drawing/2014/main" id="{B4B6AE7F-E779-42F7-AB56-342A0EBE08C0}"/>
              </a:ext>
            </a:extLst>
          </p:cNvPr>
          <p:cNvSpPr>
            <a:spLocks noGrp="1"/>
          </p:cNvSpPr>
          <p:nvPr/>
        </p:nvSpPr>
        <p:spPr>
          <a:xfrm>
            <a:off x="685800" y="1666875"/>
            <a:ext cx="10820400" cy="3905250"/>
          </a:xfrm>
          <a:prstGeom prst="rect">
            <a:avLst/>
          </a:prstGeom>
          <a:noFill/>
          <a:ln w="0">
            <a:noFill/>
          </a:ln>
        </p:spPr>
        <p:txBody>
          <a:bodyPr anchor="t">
            <a:noAutofit/>
          </a:bodyPr>
          <a:lstStyle/>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An editor, compiler and music player share one core.</a:t>
            </a:r>
          </a:p>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The editor blocks on I/O.</a:t>
            </a:r>
          </a:p>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A timer interrupts the compiler.</a:t>
            </a:r>
          </a:p>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The scheduler selects the music player.</a:t>
            </a:r>
          </a:p>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Explain the states, privilege changes and saved data.</a:t>
            </a:r>
          </a:p>
        </p:txBody>
      </p:sp>
      <p:sp>
        <p:nvSpPr>
          <p:cNvPr id="3" name="Rectangle 2">
            <a:extLst>
              <a:ext uri="{FF2B5EF4-FFF2-40B4-BE49-F238E27FC236}">
                <a16:creationId xmlns:a16="http://schemas.microsoft.com/office/drawing/2014/main" id="{EBF41E1B-369D-4331-A438-2D76A189B7E5}"/>
              </a:ext>
            </a:extLst>
          </p:cNvPr>
          <p:cNvSpPr>
            <a:spLocks noGrp="1"/>
          </p:cNvSpPr>
          <p:nvPr/>
        </p:nvSpPr>
        <p:spPr>
          <a:xfrm>
            <a:off x="685800" y="6381750"/>
            <a:ext cx="10820400" cy="238125"/>
          </a:xfrm>
          <a:prstGeom prst="rect">
            <a:avLst/>
          </a:prstGeom>
          <a:noFill/>
          <a:ln w="0">
            <a:noFill/>
          </a:ln>
        </p:spPr>
        <p:txBody>
          <a:bodyPr anchor="t">
            <a:noAutofit/>
          </a:bodyPr>
          <a:lstStyle/>
          <a:p>
            <a:pPr>
              <a:defRPr sz="1275" b="0">
                <a:solidFill>
                  <a:srgbClr val="53687A"/>
                </a:solidFill>
                <a:latin typeface="DejaVu Sans"/>
                <a:ea typeface="DejaVu Sans"/>
                <a:cs typeface="DejaVu Sans"/>
              </a:defRPr>
            </a:pPr>
            <a:r>
              <a:rPr sz="1275" b="0">
                <a:solidFill>
                  <a:srgbClr val="53687A"/>
                </a:solidFill>
                <a:latin typeface="DejaVu Sans"/>
                <a:ea typeface="DejaVu Sans"/>
                <a:cs typeface="DejaVu Sans"/>
              </a:rPr>
              <a:t>Week 3     60</a:t>
            </a:r>
          </a:p>
        </p:txBody>
      </p:sp>
    </p:spTree>
    <p:extLst>
      <p:ext uri="{BB962C8B-B14F-4D97-AF65-F5344CB8AC3E}">
        <p14:creationId xmlns:p14="http://schemas.microsoft.com/office/powerpoint/2010/main" val="109560777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95AF873-C87F-40DD-B054-8A2FA916EE41}"/>
              </a:ext>
            </a:extLst>
          </p:cNvPr>
          <p:cNvSpPr>
            <a:spLocks noGrp="1"/>
          </p:cNvSpPr>
          <p:nvPr/>
        </p:nvSpPr>
        <p:spPr>
          <a:xfrm>
            <a:off x="685800" y="495300"/>
            <a:ext cx="10858500" cy="857250"/>
          </a:xfrm>
          <a:prstGeom prst="rect">
            <a:avLst/>
          </a:prstGeom>
          <a:noFill/>
          <a:ln w="0">
            <a:noFill/>
          </a:ln>
        </p:spPr>
        <p:txBody>
          <a:bodyPr anchor="t">
            <a:noAutofit/>
          </a:bodyPr>
          <a:lstStyle/>
          <a:p>
            <a:pPr>
              <a:defRPr sz="3300" b="1">
                <a:solidFill>
                  <a:srgbClr val="132C43"/>
                </a:solidFill>
                <a:latin typeface="DejaVu Sans"/>
                <a:ea typeface="DejaVu Sans"/>
                <a:cs typeface="DejaVu Sans"/>
              </a:defRPr>
            </a:pPr>
            <a:r>
              <a:rPr sz="3300" b="1">
                <a:solidFill>
                  <a:srgbClr val="132C43"/>
                </a:solidFill>
                <a:latin typeface="DejaVu Sans"/>
                <a:ea typeface="DejaVu Sans"/>
                <a:cs typeface="DejaVu Sans"/>
              </a:rPr>
              <a:t>Reading and visual credits</a:t>
            </a:r>
          </a:p>
        </p:txBody>
      </p:sp>
      <p:sp>
        <p:nvSpPr>
          <p:cNvPr id="2" name="Rectangle 1">
            <a:extLst>
              <a:ext uri="{FF2B5EF4-FFF2-40B4-BE49-F238E27FC236}">
                <a16:creationId xmlns:a16="http://schemas.microsoft.com/office/drawing/2014/main" id="{5DCF32FC-3FDD-4E4B-9030-73983319F92D}"/>
              </a:ext>
            </a:extLst>
          </p:cNvPr>
          <p:cNvSpPr>
            <a:spLocks noGrp="1"/>
          </p:cNvSpPr>
          <p:nvPr/>
        </p:nvSpPr>
        <p:spPr>
          <a:xfrm>
            <a:off x="685800" y="1666875"/>
            <a:ext cx="10820400" cy="3905250"/>
          </a:xfrm>
          <a:prstGeom prst="rect">
            <a:avLst/>
          </a:prstGeom>
          <a:noFill/>
          <a:ln w="0">
            <a:noFill/>
          </a:ln>
        </p:spPr>
        <p:txBody>
          <a:bodyPr anchor="t">
            <a:noAutofit/>
          </a:bodyPr>
          <a:lstStyle/>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Course text: Operating System Concepts, 9th ed., Ch. 1–3</a:t>
            </a:r>
          </a:p>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Stallings: chapters specified in your outline</a:t>
            </a:r>
          </a:p>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Supplement: OSTEP, process and CPU-mechanism chapters</a:t>
            </a:r>
          </a:p>
          <a:p>
            <a:pPr>
              <a:defRPr sz="2400" b="0">
                <a:solidFill>
                  <a:srgbClr val="132C43"/>
                </a:solidFill>
                <a:latin typeface="DejaVu Sans"/>
                <a:ea typeface="DejaVu Sans"/>
                <a:cs typeface="DejaVu Sans"/>
              </a:defRPr>
            </a:pPr>
            <a:r>
              <a:rPr sz="2400" b="0">
                <a:solidFill>
                  <a:srgbClr val="132C43"/>
                </a:solidFill>
                <a:latin typeface="DejaVu Sans"/>
                <a:ea typeface="DejaVu Sans"/>
                <a:cs typeface="DejaVu Sans"/>
              </a:rPr>
              <a:t>Technical checks: Intel, Linux, Apple and Android docs</a:t>
            </a:r>
          </a:p>
        </p:txBody>
      </p:sp>
      <p:sp>
        <p:nvSpPr>
          <p:cNvPr id="3" name="Rectangle 2">
            <a:extLst>
              <a:ext uri="{FF2B5EF4-FFF2-40B4-BE49-F238E27FC236}">
                <a16:creationId xmlns:a16="http://schemas.microsoft.com/office/drawing/2014/main" id="{9FBE0BA2-E70B-4079-B5FD-00EFDC7FA0B1}"/>
              </a:ext>
            </a:extLst>
          </p:cNvPr>
          <p:cNvSpPr>
            <a:spLocks noGrp="1"/>
          </p:cNvSpPr>
          <p:nvPr/>
        </p:nvSpPr>
        <p:spPr>
          <a:xfrm>
            <a:off x="685800" y="6381750"/>
            <a:ext cx="10820400" cy="238125"/>
          </a:xfrm>
          <a:prstGeom prst="rect">
            <a:avLst/>
          </a:prstGeom>
          <a:noFill/>
          <a:ln w="0">
            <a:noFill/>
          </a:ln>
        </p:spPr>
        <p:txBody>
          <a:bodyPr anchor="t">
            <a:noAutofit/>
          </a:bodyPr>
          <a:lstStyle/>
          <a:p>
            <a:pPr>
              <a:defRPr sz="1275" b="0">
                <a:solidFill>
                  <a:srgbClr val="53687A"/>
                </a:solidFill>
                <a:latin typeface="DejaVu Sans"/>
                <a:ea typeface="DejaVu Sans"/>
                <a:cs typeface="DejaVu Sans"/>
              </a:defRPr>
            </a:pPr>
            <a:r>
              <a:rPr sz="1275" b="0">
                <a:solidFill>
                  <a:srgbClr val="53687A"/>
                </a:solidFill>
                <a:latin typeface="DejaVu Sans"/>
                <a:ea typeface="DejaVu Sans"/>
                <a:cs typeface="DejaVu Sans"/>
              </a:rPr>
              <a:t>AR332     61</a:t>
            </a:r>
          </a:p>
        </p:txBody>
      </p:sp>
    </p:spTree>
    <p:extLst>
      <p:ext uri="{BB962C8B-B14F-4D97-AF65-F5344CB8AC3E}">
        <p14:creationId xmlns:p14="http://schemas.microsoft.com/office/powerpoint/2010/main" val="78588954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9605</Words>
  <Application>Microsoft Office PowerPoint</Application>
  <DocSecurity>0</DocSecurity>
  <PresentationFormat>Widescreen</PresentationFormat>
  <Paragraphs>945</Paragraphs>
  <Slides>62</Slides>
  <Notes>61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62</vt:i4>
      </vt:variant>
    </vt:vector>
  </HeadingPairs>
  <TitlesOfParts>
    <vt:vector size="66" baseType="lpstr">
      <vt:lpstr>Aptos</vt:lpstr>
      <vt:lpstr>DejaVu Sans</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Syed Nisar Ali</cp:lastModifiedBy>
  <cp:revision>1</cp:revision>
  <dcterms:created xsi:type="dcterms:W3CDTF">2026-10-05T11:16:45Z</dcterms:created>
  <dcterms:modified xsi:type="dcterms:W3CDTF">2026-10-06T03:44:01Z</dcterms:modified>
</cp:coreProperties>
</file>