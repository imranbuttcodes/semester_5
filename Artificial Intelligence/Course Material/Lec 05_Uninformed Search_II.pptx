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7"/>
  </p:notesMasterIdLst>
  <p:sldIdLst>
    <p:sldId id="256" r:id="rId5"/>
    <p:sldId id="311" r:id="rId6"/>
    <p:sldId id="313" r:id="rId7"/>
    <p:sldId id="325" r:id="rId8"/>
    <p:sldId id="304" r:id="rId9"/>
    <p:sldId id="305" r:id="rId10"/>
    <p:sldId id="306" r:id="rId11"/>
    <p:sldId id="307" r:id="rId12"/>
    <p:sldId id="330" r:id="rId13"/>
    <p:sldId id="331" r:id="rId14"/>
    <p:sldId id="341" r:id="rId15"/>
    <p:sldId id="332" r:id="rId16"/>
    <p:sldId id="333" r:id="rId17"/>
    <p:sldId id="334" r:id="rId18"/>
    <p:sldId id="336" r:id="rId19"/>
    <p:sldId id="337" r:id="rId20"/>
    <p:sldId id="338" r:id="rId21"/>
    <p:sldId id="340" r:id="rId22"/>
    <p:sldId id="308" r:id="rId23"/>
    <p:sldId id="309" r:id="rId24"/>
    <p:sldId id="344" r:id="rId25"/>
    <p:sldId id="342" r:id="rId26"/>
    <p:sldId id="343" r:id="rId27"/>
    <p:sldId id="345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10" r:id="rId45"/>
    <p:sldId id="31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15:20:09.0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FE424-80AD-47A8-8383-E37A90A62B5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F50CE-2441-46EA-9D41-95BA3A10F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7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44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Uniform Cost name because always expand nodes </a:t>
            </a:r>
            <a:r>
              <a:rPr lang="en-US"/>
              <a:t>in order of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32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breadth first, but with costs. Label with cumulative cost.</a:t>
            </a:r>
          </a:p>
          <a:p>
            <a:r>
              <a:rPr lang="en-US" dirty="0"/>
              <a:t>Goal</a:t>
            </a:r>
            <a:r>
              <a:rPr lang="en-US" baseline="0" dirty="0"/>
              <a:t> path not victory until try to expanded.</a:t>
            </a:r>
            <a:endParaRPr lang="en-US" dirty="0"/>
          </a:p>
          <a:p>
            <a:r>
              <a:rPr lang="en-US" dirty="0"/>
              <a:t>Contours</a:t>
            </a:r>
            <a:r>
              <a:rPr lang="en-US" baseline="0" dirty="0"/>
              <a:t> show equal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33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42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FD549D34-9FA6-44AF-8862-E060EE74E80B}" type="slidenum">
              <a:rPr lang="en-US" smtClean="0"/>
              <a:pPr defTabSz="965200"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84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3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4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3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0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2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2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7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07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418" y="361951"/>
            <a:ext cx="10877549" cy="1108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1418" y="1758950"/>
            <a:ext cx="10689167" cy="4440238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83EE1-5052-4EDD-BC63-C0262161656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6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B436F-96FC-435D-8090-234E07DD559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02EBA-231E-452F-A98C-84BFD4CD6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7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0748" y="191032"/>
            <a:ext cx="9144000" cy="2387600"/>
          </a:xfrm>
        </p:spPr>
        <p:txBody>
          <a:bodyPr/>
          <a:lstStyle/>
          <a:p>
            <a:r>
              <a:rPr lang="en-US" dirty="0"/>
              <a:t>Uninformed Search-II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0748" y="2670707"/>
            <a:ext cx="9144000" cy="1655762"/>
          </a:xfrm>
        </p:spPr>
        <p:txBody>
          <a:bodyPr/>
          <a:lstStyle/>
          <a:p>
            <a:r>
              <a:rPr lang="en-US" dirty="0"/>
              <a:t>Depth First Search and its Variants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7614" y="3285622"/>
            <a:ext cx="2964990" cy="3144415"/>
          </a:xfrm>
          <a:prstGeom prst="rect">
            <a:avLst/>
          </a:prstGeom>
          <a:noFill/>
        </p:spPr>
      </p:pic>
      <p:sp>
        <p:nvSpPr>
          <p:cNvPr id="5" name="Freeform 4"/>
          <p:cNvSpPr/>
          <p:nvPr/>
        </p:nvSpPr>
        <p:spPr>
          <a:xfrm>
            <a:off x="4266438" y="4910179"/>
            <a:ext cx="3712136" cy="1448159"/>
          </a:xfrm>
          <a:custGeom>
            <a:avLst/>
            <a:gdLst>
              <a:gd name="connsiteX0" fmla="*/ 542192 w 4618893"/>
              <a:gd name="connsiteY0" fmla="*/ 1100505 h 2384182"/>
              <a:gd name="connsiteX1" fmla="*/ 14654 w 4618893"/>
              <a:gd name="connsiteY1" fmla="*/ 1698382 h 2384182"/>
              <a:gd name="connsiteX2" fmla="*/ 454269 w 4618893"/>
              <a:gd name="connsiteY2" fmla="*/ 2287466 h 2384182"/>
              <a:gd name="connsiteX3" fmla="*/ 2036885 w 4618893"/>
              <a:gd name="connsiteY3" fmla="*/ 2225920 h 2384182"/>
              <a:gd name="connsiteX4" fmla="*/ 2256692 w 4618893"/>
              <a:gd name="connsiteY4" fmla="*/ 1337897 h 2384182"/>
              <a:gd name="connsiteX5" fmla="*/ 2916115 w 4618893"/>
              <a:gd name="connsiteY5" fmla="*/ 1170843 h 2384182"/>
              <a:gd name="connsiteX6" fmla="*/ 3223846 w 4618893"/>
              <a:gd name="connsiteY6" fmla="*/ 2155582 h 2384182"/>
              <a:gd name="connsiteX7" fmla="*/ 4437185 w 4618893"/>
              <a:gd name="connsiteY7" fmla="*/ 2111620 h 2384182"/>
              <a:gd name="connsiteX8" fmla="*/ 4314092 w 4618893"/>
              <a:gd name="connsiteY8" fmla="*/ 907074 h 2384182"/>
              <a:gd name="connsiteX9" fmla="*/ 2898531 w 4618893"/>
              <a:gd name="connsiteY9" fmla="*/ 89389 h 2384182"/>
              <a:gd name="connsiteX10" fmla="*/ 1843454 w 4618893"/>
              <a:gd name="connsiteY10" fmla="*/ 370743 h 2384182"/>
              <a:gd name="connsiteX11" fmla="*/ 1852246 w 4618893"/>
              <a:gd name="connsiteY11" fmla="*/ 1100505 h 2384182"/>
              <a:gd name="connsiteX12" fmla="*/ 542192 w 4618893"/>
              <a:gd name="connsiteY12" fmla="*/ 1100505 h 2384182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916115 w 4618893"/>
              <a:gd name="connsiteY5" fmla="*/ 936381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9720"/>
              <a:gd name="connsiteX1" fmla="*/ 14654 w 4618893"/>
              <a:gd name="connsiteY1" fmla="*/ 1463920 h 2149720"/>
              <a:gd name="connsiteX2" fmla="*/ 454269 w 4618893"/>
              <a:gd name="connsiteY2" fmla="*/ 2053004 h 2149720"/>
              <a:gd name="connsiteX3" fmla="*/ 2036885 w 4618893"/>
              <a:gd name="connsiteY3" fmla="*/ 1991458 h 2149720"/>
              <a:gd name="connsiteX4" fmla="*/ 2256692 w 4618893"/>
              <a:gd name="connsiteY4" fmla="*/ 1103435 h 2149720"/>
              <a:gd name="connsiteX5" fmla="*/ 2883877 w 4618893"/>
              <a:gd name="connsiteY5" fmla="*/ 1384789 h 2149720"/>
              <a:gd name="connsiteX6" fmla="*/ 3223846 w 4618893"/>
              <a:gd name="connsiteY6" fmla="*/ 1921120 h 2149720"/>
              <a:gd name="connsiteX7" fmla="*/ 4437185 w 4618893"/>
              <a:gd name="connsiteY7" fmla="*/ 1877158 h 2149720"/>
              <a:gd name="connsiteX8" fmla="*/ 4314092 w 4618893"/>
              <a:gd name="connsiteY8" fmla="*/ 672612 h 2149720"/>
              <a:gd name="connsiteX9" fmla="*/ 2655277 w 4618893"/>
              <a:gd name="connsiteY9" fmla="*/ 89389 h 2149720"/>
              <a:gd name="connsiteX10" fmla="*/ 1843454 w 4618893"/>
              <a:gd name="connsiteY10" fmla="*/ 136281 h 2149720"/>
              <a:gd name="connsiteX11" fmla="*/ 1852246 w 4618893"/>
              <a:gd name="connsiteY11" fmla="*/ 866043 h 2149720"/>
              <a:gd name="connsiteX12" fmla="*/ 542192 w 4618893"/>
              <a:gd name="connsiteY12" fmla="*/ 866043 h 2149720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883877 w 4618893"/>
              <a:gd name="connsiteY5" fmla="*/ 1384789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66043 h 2140927"/>
              <a:gd name="connsiteX1" fmla="*/ 14654 w 4618893"/>
              <a:gd name="connsiteY1" fmla="*/ 1463920 h 2140927"/>
              <a:gd name="connsiteX2" fmla="*/ 454269 w 4618893"/>
              <a:gd name="connsiteY2" fmla="*/ 2053004 h 2140927"/>
              <a:gd name="connsiteX3" fmla="*/ 2036885 w 4618893"/>
              <a:gd name="connsiteY3" fmla="*/ 1991458 h 2140927"/>
              <a:gd name="connsiteX4" fmla="*/ 2350477 w 4618893"/>
              <a:gd name="connsiteY4" fmla="*/ 1537189 h 2140927"/>
              <a:gd name="connsiteX5" fmla="*/ 2960077 w 4618893"/>
              <a:gd name="connsiteY5" fmla="*/ 1537190 h 2140927"/>
              <a:gd name="connsiteX6" fmla="*/ 3223846 w 4618893"/>
              <a:gd name="connsiteY6" fmla="*/ 1921120 h 2140927"/>
              <a:gd name="connsiteX7" fmla="*/ 4437185 w 4618893"/>
              <a:gd name="connsiteY7" fmla="*/ 1877158 h 2140927"/>
              <a:gd name="connsiteX8" fmla="*/ 4314092 w 4618893"/>
              <a:gd name="connsiteY8" fmla="*/ 672612 h 2140927"/>
              <a:gd name="connsiteX9" fmla="*/ 2655277 w 4618893"/>
              <a:gd name="connsiteY9" fmla="*/ 89389 h 2140927"/>
              <a:gd name="connsiteX10" fmla="*/ 1843454 w 4618893"/>
              <a:gd name="connsiteY10" fmla="*/ 136281 h 2140927"/>
              <a:gd name="connsiteX11" fmla="*/ 1852246 w 4618893"/>
              <a:gd name="connsiteY11" fmla="*/ 866043 h 2140927"/>
              <a:gd name="connsiteX12" fmla="*/ 542192 w 4618893"/>
              <a:gd name="connsiteY12" fmla="*/ 866043 h 2140927"/>
              <a:gd name="connsiteX0" fmla="*/ 542192 w 4618893"/>
              <a:gd name="connsiteY0" fmla="*/ 895839 h 2170723"/>
              <a:gd name="connsiteX1" fmla="*/ 14654 w 4618893"/>
              <a:gd name="connsiteY1" fmla="*/ 1493716 h 2170723"/>
              <a:gd name="connsiteX2" fmla="*/ 454269 w 4618893"/>
              <a:gd name="connsiteY2" fmla="*/ 2082800 h 2170723"/>
              <a:gd name="connsiteX3" fmla="*/ 2036885 w 4618893"/>
              <a:gd name="connsiteY3" fmla="*/ 2021254 h 2170723"/>
              <a:gd name="connsiteX4" fmla="*/ 2350477 w 4618893"/>
              <a:gd name="connsiteY4" fmla="*/ 1566985 h 2170723"/>
              <a:gd name="connsiteX5" fmla="*/ 2960077 w 4618893"/>
              <a:gd name="connsiteY5" fmla="*/ 1566986 h 2170723"/>
              <a:gd name="connsiteX6" fmla="*/ 3223846 w 4618893"/>
              <a:gd name="connsiteY6" fmla="*/ 1950916 h 2170723"/>
              <a:gd name="connsiteX7" fmla="*/ 4437185 w 4618893"/>
              <a:gd name="connsiteY7" fmla="*/ 1906954 h 2170723"/>
              <a:gd name="connsiteX8" fmla="*/ 4314092 w 4618893"/>
              <a:gd name="connsiteY8" fmla="*/ 702408 h 2170723"/>
              <a:gd name="connsiteX9" fmla="*/ 2807677 w 4618893"/>
              <a:gd name="connsiteY9" fmla="*/ 881186 h 2170723"/>
              <a:gd name="connsiteX10" fmla="*/ 2655277 w 4618893"/>
              <a:gd name="connsiteY10" fmla="*/ 119185 h 2170723"/>
              <a:gd name="connsiteX11" fmla="*/ 1843454 w 4618893"/>
              <a:gd name="connsiteY11" fmla="*/ 166077 h 2170723"/>
              <a:gd name="connsiteX12" fmla="*/ 1852246 w 4618893"/>
              <a:gd name="connsiteY12" fmla="*/ 895839 h 2170723"/>
              <a:gd name="connsiteX13" fmla="*/ 542192 w 4618893"/>
              <a:gd name="connsiteY13" fmla="*/ 895839 h 2170723"/>
              <a:gd name="connsiteX0" fmla="*/ 542192 w 4755662"/>
              <a:gd name="connsiteY0" fmla="*/ 895839 h 2170723"/>
              <a:gd name="connsiteX1" fmla="*/ 14654 w 4755662"/>
              <a:gd name="connsiteY1" fmla="*/ 1493716 h 2170723"/>
              <a:gd name="connsiteX2" fmla="*/ 454269 w 4755662"/>
              <a:gd name="connsiteY2" fmla="*/ 2082800 h 2170723"/>
              <a:gd name="connsiteX3" fmla="*/ 2036885 w 4755662"/>
              <a:gd name="connsiteY3" fmla="*/ 2021254 h 2170723"/>
              <a:gd name="connsiteX4" fmla="*/ 2350477 w 4755662"/>
              <a:gd name="connsiteY4" fmla="*/ 1566985 h 2170723"/>
              <a:gd name="connsiteX5" fmla="*/ 2960077 w 4755662"/>
              <a:gd name="connsiteY5" fmla="*/ 1566986 h 2170723"/>
              <a:gd name="connsiteX6" fmla="*/ 3223846 w 4755662"/>
              <a:gd name="connsiteY6" fmla="*/ 1950916 h 2170723"/>
              <a:gd name="connsiteX7" fmla="*/ 4437185 w 4755662"/>
              <a:gd name="connsiteY7" fmla="*/ 1906954 h 2170723"/>
              <a:gd name="connsiteX8" fmla="*/ 4484077 w 4755662"/>
              <a:gd name="connsiteY8" fmla="*/ 957386 h 2170723"/>
              <a:gd name="connsiteX9" fmla="*/ 2807677 w 4755662"/>
              <a:gd name="connsiteY9" fmla="*/ 881186 h 2170723"/>
              <a:gd name="connsiteX10" fmla="*/ 2655277 w 4755662"/>
              <a:gd name="connsiteY10" fmla="*/ 119185 h 2170723"/>
              <a:gd name="connsiteX11" fmla="*/ 1843454 w 4755662"/>
              <a:gd name="connsiteY11" fmla="*/ 166077 h 2170723"/>
              <a:gd name="connsiteX12" fmla="*/ 1852246 w 4755662"/>
              <a:gd name="connsiteY12" fmla="*/ 895839 h 2170723"/>
              <a:gd name="connsiteX13" fmla="*/ 542192 w 4755662"/>
              <a:gd name="connsiteY13" fmla="*/ 895839 h 2170723"/>
              <a:gd name="connsiteX0" fmla="*/ 542192 w 4984261"/>
              <a:gd name="connsiteY0" fmla="*/ 895839 h 2170723"/>
              <a:gd name="connsiteX1" fmla="*/ 14654 w 4984261"/>
              <a:gd name="connsiteY1" fmla="*/ 1493716 h 2170723"/>
              <a:gd name="connsiteX2" fmla="*/ 454269 w 4984261"/>
              <a:gd name="connsiteY2" fmla="*/ 2082800 h 2170723"/>
              <a:gd name="connsiteX3" fmla="*/ 2036885 w 4984261"/>
              <a:gd name="connsiteY3" fmla="*/ 2021254 h 2170723"/>
              <a:gd name="connsiteX4" fmla="*/ 2350477 w 4984261"/>
              <a:gd name="connsiteY4" fmla="*/ 1566985 h 2170723"/>
              <a:gd name="connsiteX5" fmla="*/ 2960077 w 4984261"/>
              <a:gd name="connsiteY5" fmla="*/ 1566986 h 2170723"/>
              <a:gd name="connsiteX6" fmla="*/ 3223846 w 4984261"/>
              <a:gd name="connsiteY6" fmla="*/ 1950916 h 2170723"/>
              <a:gd name="connsiteX7" fmla="*/ 4437185 w 4984261"/>
              <a:gd name="connsiteY7" fmla="*/ 1906954 h 2170723"/>
              <a:gd name="connsiteX8" fmla="*/ 4712676 w 4984261"/>
              <a:gd name="connsiteY8" fmla="*/ 957386 h 2170723"/>
              <a:gd name="connsiteX9" fmla="*/ 2807677 w 4984261"/>
              <a:gd name="connsiteY9" fmla="*/ 881186 h 2170723"/>
              <a:gd name="connsiteX10" fmla="*/ 2655277 w 4984261"/>
              <a:gd name="connsiteY10" fmla="*/ 119185 h 2170723"/>
              <a:gd name="connsiteX11" fmla="*/ 1843454 w 4984261"/>
              <a:gd name="connsiteY11" fmla="*/ 166077 h 2170723"/>
              <a:gd name="connsiteX12" fmla="*/ 1852246 w 4984261"/>
              <a:gd name="connsiteY12" fmla="*/ 895839 h 2170723"/>
              <a:gd name="connsiteX13" fmla="*/ 542192 w 4984261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7 w 5030176"/>
              <a:gd name="connsiteY4" fmla="*/ 1566985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7 w 5030176"/>
              <a:gd name="connsiteY5" fmla="*/ 15669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  <a:gd name="connsiteX0" fmla="*/ 542192 w 5030176"/>
              <a:gd name="connsiteY0" fmla="*/ 895839 h 2170723"/>
              <a:gd name="connsiteX1" fmla="*/ 14654 w 5030176"/>
              <a:gd name="connsiteY1" fmla="*/ 1493716 h 2170723"/>
              <a:gd name="connsiteX2" fmla="*/ 454269 w 5030176"/>
              <a:gd name="connsiteY2" fmla="*/ 2082800 h 2170723"/>
              <a:gd name="connsiteX3" fmla="*/ 2036885 w 5030176"/>
              <a:gd name="connsiteY3" fmla="*/ 2021254 h 2170723"/>
              <a:gd name="connsiteX4" fmla="*/ 2350475 w 5030176"/>
              <a:gd name="connsiteY4" fmla="*/ 1490786 h 2170723"/>
              <a:gd name="connsiteX5" fmla="*/ 2960075 w 5030176"/>
              <a:gd name="connsiteY5" fmla="*/ 1414586 h 2170723"/>
              <a:gd name="connsiteX6" fmla="*/ 3223846 w 5030176"/>
              <a:gd name="connsiteY6" fmla="*/ 1950916 h 2170723"/>
              <a:gd name="connsiteX7" fmla="*/ 4712676 w 5030176"/>
              <a:gd name="connsiteY7" fmla="*/ 1871786 h 2170723"/>
              <a:gd name="connsiteX8" fmla="*/ 4712676 w 5030176"/>
              <a:gd name="connsiteY8" fmla="*/ 957386 h 2170723"/>
              <a:gd name="connsiteX9" fmla="*/ 2807677 w 5030176"/>
              <a:gd name="connsiteY9" fmla="*/ 881186 h 2170723"/>
              <a:gd name="connsiteX10" fmla="*/ 2655277 w 5030176"/>
              <a:gd name="connsiteY10" fmla="*/ 119185 h 2170723"/>
              <a:gd name="connsiteX11" fmla="*/ 1843454 w 5030176"/>
              <a:gd name="connsiteY11" fmla="*/ 166077 h 2170723"/>
              <a:gd name="connsiteX12" fmla="*/ 1852246 w 5030176"/>
              <a:gd name="connsiteY12" fmla="*/ 895839 h 2170723"/>
              <a:gd name="connsiteX13" fmla="*/ 542192 w 5030176"/>
              <a:gd name="connsiteY13" fmla="*/ 895839 h 21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30176" h="2170723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1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Depth-Limited Search (DLS)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DFS with a depth bound</a:t>
            </a:r>
          </a:p>
          <a:p>
            <a:pPr lvl="1"/>
            <a:r>
              <a:rPr lang="en-US" dirty="0"/>
              <a:t>Searching is not permitted beyond the depth bound.</a:t>
            </a:r>
          </a:p>
          <a:p>
            <a:endParaRPr lang="en-US" dirty="0"/>
          </a:p>
          <a:p>
            <a:r>
              <a:rPr lang="en-US" dirty="0"/>
              <a:t>Works well if we know what is the depth of the solution.</a:t>
            </a:r>
          </a:p>
          <a:p>
            <a:endParaRPr lang="en-US" altLang="x-none" dirty="0"/>
          </a:p>
          <a:p>
            <a:r>
              <a:rPr lang="en-US" altLang="x-none" dirty="0"/>
              <a:t>If the solution is beneath the depth bound, the search cannot find the goal (hence this search algorithm is </a:t>
            </a:r>
            <a:r>
              <a:rPr lang="en-US" altLang="x-none" dirty="0">
                <a:solidFill>
                  <a:srgbClr val="FF0000"/>
                </a:solidFill>
              </a:rPr>
              <a:t>incomplete</a:t>
            </a:r>
            <a:r>
              <a:rPr lang="en-US" altLang="x-none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1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Depth-Limited Search (DLS)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2818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x-none" b="1" dirty="0"/>
                  <a:t>Main idea</a:t>
                </a:r>
                <a:r>
                  <a:rPr lang="en-US" altLang="x-none" i="1" dirty="0"/>
                  <a:t>: </a:t>
                </a:r>
              </a:p>
              <a:p>
                <a:pPr lvl="1"/>
                <a:r>
                  <a:rPr lang="en-US" altLang="x-none" i="1" dirty="0"/>
                  <a:t>Expand node at the deepest level, but limit depth to D.</a:t>
                </a:r>
              </a:p>
              <a:p>
                <a:r>
                  <a:rPr lang="en-US" altLang="x-none" b="1" dirty="0"/>
                  <a:t>Implementation</a:t>
                </a:r>
                <a:r>
                  <a:rPr lang="en-US" altLang="x-none" dirty="0"/>
                  <a:t>: </a:t>
                </a:r>
              </a:p>
              <a:p>
                <a:pPr lvl="1"/>
                <a:r>
                  <a:rPr lang="en-US" altLang="x-none" i="1" dirty="0" err="1"/>
                  <a:t>Enqueue</a:t>
                </a:r>
                <a:r>
                  <a:rPr lang="en-US" altLang="x-none" i="1" dirty="0"/>
                  <a:t> nodes in LIFO (last-in, first-out) order. But limit depth to D</a:t>
                </a:r>
              </a:p>
              <a:p>
                <a:endParaRPr lang="en-US" altLang="x-none" i="1" dirty="0"/>
              </a:p>
              <a:p>
                <a:r>
                  <a:rPr lang="en-US" altLang="x-none" i="1" dirty="0"/>
                  <a:t>Complete?</a:t>
                </a:r>
              </a:p>
              <a:p>
                <a:pPr lvl="1"/>
                <a:r>
                  <a:rPr lang="en-US" altLang="x-none" dirty="0"/>
                  <a:t>No</a:t>
                </a:r>
              </a:p>
              <a:p>
                <a:pPr lvl="1"/>
                <a:r>
                  <a:rPr lang="en-US" altLang="x-none" dirty="0"/>
                  <a:t>Yes: if there is a goal state at a depth less than D</a:t>
                </a:r>
              </a:p>
              <a:p>
                <a:pPr eaLnBrk="0" hangingPunct="0">
                  <a:buFontTx/>
                  <a:buChar char="•"/>
                </a:pPr>
                <a:r>
                  <a:rPr lang="en-US" altLang="x-none" dirty="0"/>
                  <a:t>Optimal? </a:t>
                </a:r>
              </a:p>
              <a:p>
                <a:pPr lvl="1" eaLnBrk="0" hangingPunct="0">
                  <a:buFontTx/>
                  <a:buChar char="•"/>
                </a:pPr>
                <a:r>
                  <a:rPr lang="en-US" altLang="x-none" dirty="0"/>
                  <a:t>No</a:t>
                </a:r>
              </a:p>
              <a:p>
                <a:pPr eaLnBrk="0" hangingPunct="0">
                  <a:buFontTx/>
                  <a:buChar char="•"/>
                </a:pPr>
                <a:r>
                  <a:rPr lang="en-US" altLang="x-none" dirty="0"/>
                  <a:t>Time Complexity: </a:t>
                </a:r>
              </a:p>
              <a:p>
                <a:pPr lvl="1" eaLnBrk="0" hangingPunct="0"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x-none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x-non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x-non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x-non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x-non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x-none" dirty="0"/>
                  <a:t>, where D is the cutoff.</a:t>
                </a:r>
              </a:p>
              <a:p>
                <a:pPr eaLnBrk="0" hangingPunct="0">
                  <a:buFontTx/>
                  <a:buChar char="•"/>
                </a:pPr>
                <a:r>
                  <a:rPr lang="en-US" altLang="x-none" dirty="0"/>
                  <a:t>Space Complexity: </a:t>
                </a:r>
              </a:p>
              <a:p>
                <a:pPr lvl="1" eaLnBrk="0" hangingPunct="0">
                  <a:buFontTx/>
                  <a:buChar char="•"/>
                </a:pPr>
                <a:r>
                  <a:rPr lang="en-US" dirty="0"/>
                  <a:t>DFS and DLS store only a single path so </a:t>
                </a:r>
                <a14:m>
                  <m:oMath xmlns:m="http://schemas.openxmlformats.org/officeDocument/2006/math">
                    <m:r>
                      <a:rPr lang="en-US" altLang="x-none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x-non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x-non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x-non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x-non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x-none" dirty="0"/>
                  <a:t>, where D is the cutoff.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28184"/>
              </a:xfrm>
              <a:blipFill>
                <a:blip r:embed="rId2"/>
                <a:stretch>
                  <a:fillRect l="-928" t="-3026" b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42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Deepening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avoid the infinite depth problem of DFS:</a:t>
            </a:r>
          </a:p>
          <a:p>
            <a:pPr lvl="1"/>
            <a:r>
              <a:rPr lang="en-US" dirty="0"/>
              <a:t>Only search until depth L</a:t>
            </a:r>
          </a:p>
          <a:p>
            <a:pPr lvl="1"/>
            <a:r>
              <a:rPr lang="en-US" dirty="0" err="1"/>
              <a:t>i.e</a:t>
            </a:r>
            <a:r>
              <a:rPr lang="en-US" dirty="0"/>
              <a:t>, don’t expand nodes beyond depth L</a:t>
            </a:r>
          </a:p>
          <a:p>
            <a:pPr lvl="1"/>
            <a:r>
              <a:rPr lang="en-US" dirty="0"/>
              <a:t>Depth-Limited Search</a:t>
            </a:r>
          </a:p>
          <a:p>
            <a:r>
              <a:rPr lang="en-US" dirty="0"/>
              <a:t>What if solution is deeper than L?</a:t>
            </a:r>
          </a:p>
          <a:p>
            <a:pPr lvl="1"/>
            <a:r>
              <a:rPr lang="en-US" dirty="0"/>
              <a:t>Increase depth iteratively</a:t>
            </a:r>
          </a:p>
          <a:p>
            <a:pPr lvl="1"/>
            <a:r>
              <a:rPr lang="en-US" dirty="0"/>
              <a:t>Iterative Deepening Search (IDS)</a:t>
            </a:r>
          </a:p>
          <a:p>
            <a:r>
              <a:rPr lang="en-US" dirty="0"/>
              <a:t>IDS</a:t>
            </a:r>
          </a:p>
          <a:p>
            <a:pPr lvl="1"/>
            <a:r>
              <a:rPr lang="en-US" dirty="0"/>
              <a:t>Inherits the memory advantage of depth-first search</a:t>
            </a:r>
          </a:p>
          <a:p>
            <a:pPr lvl="1"/>
            <a:r>
              <a:rPr lang="en-US" dirty="0"/>
              <a:t>Has the completeness property of breadth-first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51067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C1C7F234-BF9F-452B-BFE2-87B30D0141B8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5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Iterative deepening search </a:t>
            </a:r>
            <a:r>
              <a:rPr lang="en-US" i="1" dirty="0"/>
              <a:t>l </a:t>
            </a:r>
            <a:r>
              <a:rPr lang="en-US" dirty="0"/>
              <a:t>=0</a:t>
            </a:r>
          </a:p>
        </p:txBody>
      </p:sp>
      <p:pic>
        <p:nvPicPr>
          <p:cNvPr id="30725" name="Picture 4" descr="ids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0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 noGrp="1"/>
          </p:cNvSpPr>
          <p:nvPr/>
        </p:nvSpPr>
        <p:spPr>
          <a:xfrm>
            <a:off x="1981200" y="6416676"/>
            <a:ext cx="2133600" cy="365125"/>
          </a:xfrm>
          <a:prstGeom prst="rect">
            <a:avLst/>
          </a:prstGeom>
          <a:noFill/>
        </p:spPr>
        <p:txBody>
          <a:bodyPr anchor="b"/>
          <a:lstStyle/>
          <a:p>
            <a:pPr>
              <a:defRPr/>
            </a:pPr>
            <a:endParaRPr lang="en-US" sz="1200" dirty="0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A6467A3B-4F36-45B6-8FA6-85FD84CA3A0A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6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Iterative deepening search </a:t>
            </a:r>
            <a:r>
              <a:rPr lang="en-US" i="1"/>
              <a:t>l </a:t>
            </a:r>
            <a:r>
              <a:rPr lang="en-US"/>
              <a:t>=1</a:t>
            </a:r>
          </a:p>
        </p:txBody>
      </p:sp>
      <p:pic>
        <p:nvPicPr>
          <p:cNvPr id="31749" name="Picture 4" descr="ids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6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067F3C64-082F-44FA-8AA6-DF37F06BC691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7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Iterative deepening search </a:t>
            </a:r>
            <a:r>
              <a:rPr lang="en-US" i="1"/>
              <a:t>l </a:t>
            </a:r>
            <a:r>
              <a:rPr lang="en-US"/>
              <a:t>=2</a:t>
            </a:r>
          </a:p>
        </p:txBody>
      </p:sp>
      <p:pic>
        <p:nvPicPr>
          <p:cNvPr id="32773" name="Picture 4" descr="ids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2589"/>
            <a:ext cx="76200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0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689719A8-39B3-4808-A0A9-7D7AF00031A5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8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Iterative deepening search </a:t>
            </a:r>
            <a:r>
              <a:rPr lang="en-US" i="1"/>
              <a:t>l </a:t>
            </a:r>
            <a:r>
              <a:rPr lang="en-US"/>
              <a:t>=3</a:t>
            </a:r>
          </a:p>
        </p:txBody>
      </p:sp>
      <p:pic>
        <p:nvPicPr>
          <p:cNvPr id="33797" name="Picture 4" descr="ids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2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87" y="450093"/>
            <a:ext cx="8744170" cy="562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7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417" y="1913133"/>
            <a:ext cx="7267165" cy="467758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Bound = 0</a:t>
            </a:r>
          </a:p>
        </p:txBody>
      </p:sp>
    </p:spTree>
    <p:extLst>
      <p:ext uri="{BB962C8B-B14F-4D97-AF65-F5344CB8AC3E}">
        <p14:creationId xmlns:p14="http://schemas.microsoft.com/office/powerpoint/2010/main" val="104791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Bound =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420" y="1690688"/>
            <a:ext cx="8009160" cy="491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44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Bound =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09E389-B4AA-9D62-83DD-D6833CB6B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1359818"/>
            <a:ext cx="75152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63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753" y="970597"/>
            <a:ext cx="8647010" cy="55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6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243" y="928394"/>
            <a:ext cx="8792308" cy="56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7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519237"/>
            <a:ext cx="59626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41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519237"/>
            <a:ext cx="59626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86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657" y="1690688"/>
            <a:ext cx="7820685" cy="476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38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7" y="313280"/>
            <a:ext cx="9059594" cy="63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28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6961BC6F-26DD-4EBD-B453-7AFE2DA08D4F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19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Properties of Iterative Deepening Search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u="sng" dirty="0">
                <a:solidFill>
                  <a:srgbClr val="FF0000"/>
                </a:solidFill>
              </a:rPr>
              <a:t>Complete?</a:t>
            </a:r>
            <a:r>
              <a:rPr lang="en-US" altLang="x-none" dirty="0">
                <a:solidFill>
                  <a:srgbClr val="002060"/>
                </a:solidFill>
              </a:rPr>
              <a:t> </a:t>
            </a: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Yes 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even in infinite or cyclic state spaces, because of depth limit reset)</a:t>
            </a:r>
            <a:endParaRPr lang="en-US" altLang="x-none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x-none" u="sng" dirty="0">
              <a:solidFill>
                <a:srgbClr val="FF0000"/>
              </a:solidFill>
            </a:endParaRPr>
          </a:p>
          <a:p>
            <a:r>
              <a:rPr lang="en-US" altLang="x-none" u="sng" dirty="0">
                <a:solidFill>
                  <a:srgbClr val="FF0000"/>
                </a:solidFill>
              </a:rPr>
              <a:t>Time?</a:t>
            </a:r>
            <a:r>
              <a:rPr lang="en-US" altLang="x-none" dirty="0">
                <a:solidFill>
                  <a:srgbClr val="CC0099"/>
                </a:solidFill>
              </a:rPr>
              <a:t> </a:t>
            </a:r>
            <a:r>
              <a:rPr lang="en-US" altLang="x-none" i="1" dirty="0">
                <a:solidFill>
                  <a:srgbClr val="002060"/>
                </a:solidFill>
              </a:rPr>
              <a:t>O(</a:t>
            </a:r>
            <a:r>
              <a:rPr lang="en-US" altLang="x-none" i="1" dirty="0" err="1">
                <a:solidFill>
                  <a:srgbClr val="002060"/>
                </a:solidFill>
              </a:rPr>
              <a:t>b</a:t>
            </a:r>
            <a:r>
              <a:rPr lang="en-US" altLang="x-none" i="1" baseline="30000" dirty="0" err="1">
                <a:solidFill>
                  <a:srgbClr val="002060"/>
                </a:solidFill>
              </a:rPr>
              <a:t>d</a:t>
            </a:r>
            <a:r>
              <a:rPr lang="en-US" altLang="x-none" i="1" dirty="0">
                <a:solidFill>
                  <a:srgbClr val="002060"/>
                </a:solidFill>
              </a:rPr>
              <a:t>)</a:t>
            </a:r>
            <a:endParaRPr lang="en-US" altLang="x-none" dirty="0">
              <a:solidFill>
                <a:srgbClr val="002060"/>
              </a:solidFill>
            </a:endParaRPr>
          </a:p>
          <a:p>
            <a:endParaRPr lang="en-US" altLang="x-none" u="sng" dirty="0">
              <a:solidFill>
                <a:srgbClr val="CC0099"/>
              </a:solidFill>
            </a:endParaRPr>
          </a:p>
          <a:p>
            <a:r>
              <a:rPr lang="en-US" altLang="x-none" u="sng" dirty="0">
                <a:solidFill>
                  <a:srgbClr val="FF0000"/>
                </a:solidFill>
              </a:rPr>
              <a:t>Space?</a:t>
            </a:r>
            <a:r>
              <a:rPr lang="en-US" altLang="x-none" dirty="0">
                <a:solidFill>
                  <a:srgbClr val="002060"/>
                </a:solidFill>
              </a:rPr>
              <a:t> </a:t>
            </a:r>
            <a:r>
              <a:rPr lang="en-US" altLang="x-none" i="1" dirty="0">
                <a:solidFill>
                  <a:srgbClr val="002060"/>
                </a:solidFill>
              </a:rPr>
              <a:t>O(</a:t>
            </a:r>
            <a:r>
              <a:rPr lang="en-US" altLang="x-none" i="1" dirty="0" err="1">
                <a:solidFill>
                  <a:srgbClr val="002060"/>
                </a:solidFill>
              </a:rPr>
              <a:t>bd</a:t>
            </a:r>
            <a:r>
              <a:rPr lang="en-US" altLang="x-none" i="1" dirty="0">
                <a:solidFill>
                  <a:srgbClr val="002060"/>
                </a:solidFill>
              </a:rPr>
              <a:t>)</a:t>
            </a:r>
            <a:endParaRPr lang="en-US" altLang="x-none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x-none" dirty="0">
              <a:solidFill>
                <a:srgbClr val="002060"/>
              </a:solidFill>
            </a:endParaRPr>
          </a:p>
          <a:p>
            <a:r>
              <a:rPr lang="en-US" altLang="x-none" u="sng" dirty="0">
                <a:solidFill>
                  <a:srgbClr val="FF0000"/>
                </a:solidFill>
              </a:rPr>
              <a:t>Optimal?</a:t>
            </a:r>
            <a:r>
              <a:rPr lang="en-US" altLang="x-none" dirty="0">
                <a:solidFill>
                  <a:srgbClr val="002060"/>
                </a:solidFill>
              </a:rPr>
              <a:t> Yes,</a:t>
            </a:r>
            <a:r>
              <a:rPr lang="en-US" altLang="x-none" sz="2400" dirty="0">
                <a:solidFill>
                  <a:srgbClr val="002060"/>
                </a:solidFill>
              </a:rPr>
              <a:t> (if step cost = 1 i.e. identical step cost)</a:t>
            </a:r>
            <a:endParaRPr lang="en-US" altLang="x-none" dirty="0">
              <a:solidFill>
                <a:srgbClr val="002060"/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819C-4FBF-414A-B199-7B5360CB0F4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78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36637" y="73895"/>
            <a:ext cx="5062284" cy="1143000"/>
          </a:xfrm>
        </p:spPr>
        <p:txBody>
          <a:bodyPr>
            <a:normAutofit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00200" y="1447800"/>
            <a:ext cx="8915400" cy="483232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Do it on notebook</a:t>
            </a:r>
          </a:p>
          <a:p>
            <a:r>
              <a:rPr lang="en-US" sz="2000" dirty="0"/>
              <a:t>Start Node: A</a:t>
            </a:r>
          </a:p>
          <a:p>
            <a:r>
              <a:rPr lang="en-US" sz="2000" dirty="0"/>
              <a:t>Goal Node: G</a:t>
            </a:r>
            <a:endParaRPr lang="en-US" dirty="0"/>
          </a:p>
          <a:p>
            <a:pPr marL="0" indent="0">
              <a:buNone/>
            </a:pPr>
            <a:r>
              <a:rPr lang="en-US" sz="2000" b="1" u="sng" dirty="0"/>
              <a:t>Step 	Frontier              			Expand[*]  Explored: a set of nodes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6553200" y="629056"/>
            <a:ext cx="2514600" cy="1905000"/>
            <a:chOff x="1405890" y="237490"/>
            <a:chExt cx="2329815" cy="1636395"/>
          </a:xfrm>
        </p:grpSpPr>
        <p:sp>
          <p:nvSpPr>
            <p:cNvPr id="8" name="Text Box 2"/>
            <p:cNvSpPr txBox="1"/>
            <p:nvPr/>
          </p:nvSpPr>
          <p:spPr>
            <a:xfrm>
              <a:off x="2374900" y="237490"/>
              <a:ext cx="27114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a typeface="Calibri"/>
                  <a:cs typeface="Arial"/>
                </a:rPr>
                <a:t>A</a:t>
              </a:r>
            </a:p>
          </p:txBody>
        </p:sp>
        <p:sp>
          <p:nvSpPr>
            <p:cNvPr id="9" name="Text Box 2"/>
            <p:cNvSpPr txBox="1"/>
            <p:nvPr/>
          </p:nvSpPr>
          <p:spPr>
            <a:xfrm>
              <a:off x="1899920" y="676910"/>
              <a:ext cx="29019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latin typeface="Times New Roman"/>
                  <a:ea typeface="Calibri"/>
                  <a:cs typeface="Arial"/>
                </a:rPr>
                <a:t>D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  <p:sp>
          <p:nvSpPr>
            <p:cNvPr id="10" name="Text Box 2"/>
            <p:cNvSpPr txBox="1"/>
            <p:nvPr/>
          </p:nvSpPr>
          <p:spPr>
            <a:xfrm>
              <a:off x="2705100" y="688975"/>
              <a:ext cx="28257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B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1" name="Text Box 2"/>
            <p:cNvSpPr txBox="1"/>
            <p:nvPr/>
          </p:nvSpPr>
          <p:spPr>
            <a:xfrm>
              <a:off x="1424940" y="1068705"/>
              <a:ext cx="26733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F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2" name="Text Box 2"/>
            <p:cNvSpPr txBox="1"/>
            <p:nvPr/>
          </p:nvSpPr>
          <p:spPr>
            <a:xfrm>
              <a:off x="1405890" y="1543685"/>
              <a:ext cx="290195" cy="2374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solidFill>
                    <a:srgbClr val="FF0000"/>
                  </a:solidFill>
                  <a:latin typeface="Times New Roman"/>
                  <a:ea typeface="Calibri"/>
                  <a:cs typeface="Arial"/>
                </a:rPr>
                <a:t>G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3" name="Text Box 2"/>
            <p:cNvSpPr txBox="1"/>
            <p:nvPr/>
          </p:nvSpPr>
          <p:spPr>
            <a:xfrm>
              <a:off x="2190115" y="1068705"/>
              <a:ext cx="27495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E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4" name="Text Box 2"/>
            <p:cNvSpPr txBox="1"/>
            <p:nvPr/>
          </p:nvSpPr>
          <p:spPr>
            <a:xfrm>
              <a:off x="2190115" y="1543685"/>
              <a:ext cx="28257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B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5" name="Text Box 2"/>
            <p:cNvSpPr txBox="1"/>
            <p:nvPr/>
          </p:nvSpPr>
          <p:spPr>
            <a:xfrm>
              <a:off x="3460750" y="1636395"/>
              <a:ext cx="27495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E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6" name="Text Box 2"/>
            <p:cNvSpPr txBox="1"/>
            <p:nvPr/>
          </p:nvSpPr>
          <p:spPr>
            <a:xfrm>
              <a:off x="3161030" y="1151890"/>
              <a:ext cx="28257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C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cxnSp>
          <p:nvCxnSpPr>
            <p:cNvPr id="17" name="Straight Connector 16"/>
            <p:cNvCxnSpPr>
              <a:stCxn id="8" idx="2"/>
              <a:endCxn id="9" idx="0"/>
            </p:cNvCxnSpPr>
            <p:nvPr/>
          </p:nvCxnSpPr>
          <p:spPr>
            <a:xfrm flipH="1">
              <a:off x="2045018" y="474980"/>
              <a:ext cx="465455" cy="201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10" idx="0"/>
            </p:cNvCxnSpPr>
            <p:nvPr/>
          </p:nvCxnSpPr>
          <p:spPr>
            <a:xfrm>
              <a:off x="2510473" y="474980"/>
              <a:ext cx="335915" cy="2139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9" idx="2"/>
              <a:endCxn id="11" idx="0"/>
            </p:cNvCxnSpPr>
            <p:nvPr/>
          </p:nvCxnSpPr>
          <p:spPr>
            <a:xfrm flipH="1">
              <a:off x="1558608" y="914400"/>
              <a:ext cx="486410" cy="154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endCxn id="13" idx="0"/>
            </p:cNvCxnSpPr>
            <p:nvPr/>
          </p:nvCxnSpPr>
          <p:spPr>
            <a:xfrm>
              <a:off x="2045018" y="926465"/>
              <a:ext cx="282575" cy="142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1" idx="2"/>
              <a:endCxn id="12" idx="0"/>
            </p:cNvCxnSpPr>
            <p:nvPr/>
          </p:nvCxnSpPr>
          <p:spPr>
            <a:xfrm flipH="1">
              <a:off x="1550988" y="1306195"/>
              <a:ext cx="7620" cy="23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3" idx="2"/>
              <a:endCxn id="14" idx="0"/>
            </p:cNvCxnSpPr>
            <p:nvPr/>
          </p:nvCxnSpPr>
          <p:spPr>
            <a:xfrm>
              <a:off x="2327593" y="1306195"/>
              <a:ext cx="3810" cy="23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0" idx="2"/>
              <a:endCxn id="17" idx="0"/>
            </p:cNvCxnSpPr>
            <p:nvPr/>
          </p:nvCxnSpPr>
          <p:spPr>
            <a:xfrm>
              <a:off x="2846388" y="926465"/>
              <a:ext cx="455930" cy="2254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7" idx="2"/>
            </p:cNvCxnSpPr>
            <p:nvPr/>
          </p:nvCxnSpPr>
          <p:spPr>
            <a:xfrm flipH="1">
              <a:off x="3078163" y="1389380"/>
              <a:ext cx="224155" cy="23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7" idx="2"/>
              <a:endCxn id="15" idx="0"/>
            </p:cNvCxnSpPr>
            <p:nvPr/>
          </p:nvCxnSpPr>
          <p:spPr>
            <a:xfrm>
              <a:off x="3302318" y="1389380"/>
              <a:ext cx="295910" cy="2470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 Box 2"/>
            <p:cNvSpPr txBox="1"/>
            <p:nvPr/>
          </p:nvSpPr>
          <p:spPr>
            <a:xfrm>
              <a:off x="2933065" y="1626870"/>
              <a:ext cx="290195" cy="2374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solidFill>
                    <a:srgbClr val="FF0000"/>
                  </a:solidFill>
                  <a:latin typeface="Times New Roman"/>
                  <a:ea typeface="Calibri"/>
                  <a:cs typeface="Arial"/>
                </a:rPr>
                <a:t>G</a:t>
              </a:r>
              <a:endParaRPr lang="en-US" sz="1200">
                <a:latin typeface="Times New Roman"/>
                <a:ea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30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Cost-Sensitive Search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486401"/>
            <a:ext cx="12192000" cy="1227139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BFS finds the shortest path in terms of number of actions.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It does not find the least-cost path.  We will now cover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/>
              <a:t>a similar algorithm which does find the least-cost path.  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27672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dirty="0"/>
                  <a:t>START</a:t>
                </a:r>
              </a:p>
            </p:txBody>
          </p:sp>
          <p:sp>
            <p:nvSpPr>
              <p:cNvPr id="27673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dirty="0"/>
                  <a:t>GOAL</a:t>
                </a:r>
              </a:p>
            </p:txBody>
          </p:sp>
          <p:sp>
            <p:nvSpPr>
              <p:cNvPr id="27674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d</a:t>
                </a:r>
              </a:p>
            </p:txBody>
          </p:sp>
          <p:sp>
            <p:nvSpPr>
              <p:cNvPr id="27675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b</a:t>
                </a:r>
              </a:p>
            </p:txBody>
          </p:sp>
          <p:sp>
            <p:nvSpPr>
              <p:cNvPr id="27676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p</a:t>
                </a:r>
              </a:p>
            </p:txBody>
          </p:sp>
          <p:sp>
            <p:nvSpPr>
              <p:cNvPr id="27677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q</a:t>
                </a:r>
              </a:p>
            </p:txBody>
          </p:sp>
          <p:sp>
            <p:nvSpPr>
              <p:cNvPr id="27678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c</a:t>
                </a:r>
              </a:p>
            </p:txBody>
          </p:sp>
          <p:sp>
            <p:nvSpPr>
              <p:cNvPr id="27679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e</a:t>
                </a:r>
              </a:p>
            </p:txBody>
          </p:sp>
          <p:sp>
            <p:nvSpPr>
              <p:cNvPr id="27680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h</a:t>
                </a:r>
              </a:p>
            </p:txBody>
          </p:sp>
          <p:sp>
            <p:nvSpPr>
              <p:cNvPr id="27681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a</a:t>
                </a:r>
              </a:p>
            </p:txBody>
          </p:sp>
          <p:sp>
            <p:nvSpPr>
              <p:cNvPr id="27682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f</a:t>
                </a:r>
              </a:p>
            </p:txBody>
          </p:sp>
          <p:sp>
            <p:nvSpPr>
              <p:cNvPr id="27683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/>
                  <a:t>r</a:t>
                </a:r>
              </a:p>
            </p:txBody>
          </p:sp>
          <p:cxnSp>
            <p:nvCxnSpPr>
              <p:cNvPr id="27684" name="AutoShape 18"/>
              <p:cNvCxnSpPr>
                <a:cxnSpLocks noChangeShapeType="1"/>
                <a:stCxn id="27672" idx="5"/>
                <a:endCxn id="27676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5" name="AutoShape 19"/>
              <p:cNvCxnSpPr>
                <a:cxnSpLocks noChangeShapeType="1"/>
                <a:stCxn id="27676" idx="5"/>
                <a:endCxn id="27677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6" name="AutoShape 20"/>
              <p:cNvCxnSpPr>
                <a:cxnSpLocks noChangeShapeType="1"/>
                <a:stCxn id="27680" idx="3"/>
                <a:endCxn id="27677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7" name="AutoShape 21"/>
              <p:cNvCxnSpPr>
                <a:cxnSpLocks noChangeShapeType="1"/>
                <a:stCxn id="27680" idx="2"/>
                <a:endCxn id="27676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8" name="AutoShape 22"/>
              <p:cNvCxnSpPr>
                <a:cxnSpLocks noChangeShapeType="1"/>
                <a:stCxn id="27679" idx="4"/>
                <a:endCxn id="27680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9" name="AutoShape 23"/>
              <p:cNvCxnSpPr>
                <a:cxnSpLocks noChangeShapeType="1"/>
                <a:stCxn id="27679" idx="5"/>
                <a:endCxn id="27683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0" name="AutoShape 24"/>
              <p:cNvCxnSpPr>
                <a:cxnSpLocks noChangeShapeType="1"/>
                <a:stCxn id="27683" idx="0"/>
                <a:endCxn id="27682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1" name="AutoShape 25"/>
              <p:cNvCxnSpPr>
                <a:cxnSpLocks noChangeShapeType="1"/>
                <a:stCxn id="27682" idx="0"/>
                <a:endCxn id="27673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2" name="AutoShape 26"/>
              <p:cNvCxnSpPr>
                <a:cxnSpLocks noChangeShapeType="1"/>
                <a:stCxn id="27672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3" name="AutoShape 27"/>
              <p:cNvCxnSpPr>
                <a:cxnSpLocks noChangeShapeType="1"/>
                <a:stCxn id="27674" idx="1"/>
                <a:endCxn id="27675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4" name="AutoShape 28"/>
              <p:cNvCxnSpPr>
                <a:cxnSpLocks noChangeShapeType="1"/>
                <a:endCxn id="27681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5" name="AutoShape 29"/>
              <p:cNvCxnSpPr>
                <a:cxnSpLocks noChangeShapeType="1"/>
                <a:stCxn id="27678" idx="2"/>
                <a:endCxn id="27681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6" name="AutoShape 30"/>
              <p:cNvCxnSpPr>
                <a:cxnSpLocks noChangeShapeType="1"/>
                <a:stCxn id="27674" idx="7"/>
                <a:endCxn id="27678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7" name="AutoShape 31"/>
              <p:cNvCxnSpPr>
                <a:cxnSpLocks noChangeShapeType="1"/>
                <a:stCxn id="27674" idx="6"/>
                <a:endCxn id="27679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8" name="AutoShape 32"/>
              <p:cNvCxnSpPr>
                <a:cxnSpLocks noChangeShapeType="1"/>
                <a:stCxn id="27682" idx="1"/>
                <a:endCxn id="27678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9" name="AutoShape 33"/>
              <p:cNvCxnSpPr>
                <a:cxnSpLocks noChangeShapeType="1"/>
                <a:stCxn id="27672" idx="6"/>
                <a:endCxn id="27679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7654" name="Text Box 34"/>
            <p:cNvSpPr txBox="1">
              <a:spLocks noChangeArrowheads="1"/>
            </p:cNvSpPr>
            <p:nvPr/>
          </p:nvSpPr>
          <p:spPr bwMode="auto">
            <a:xfrm>
              <a:off x="1440" y="91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55" name="Text Box 35"/>
            <p:cNvSpPr txBox="1">
              <a:spLocks noChangeArrowheads="1"/>
            </p:cNvSpPr>
            <p:nvPr/>
          </p:nvSpPr>
          <p:spPr bwMode="auto">
            <a:xfrm>
              <a:off x="2544" y="196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27656" name="Text Box 36"/>
            <p:cNvSpPr txBox="1">
              <a:spLocks noChangeArrowheads="1"/>
            </p:cNvSpPr>
            <p:nvPr/>
          </p:nvSpPr>
          <p:spPr bwMode="auto">
            <a:xfrm>
              <a:off x="4032" y="2016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57" name="Text Box 37"/>
            <p:cNvSpPr txBox="1">
              <a:spLocks noChangeArrowheads="1"/>
            </p:cNvSpPr>
            <p:nvPr/>
          </p:nvSpPr>
          <p:spPr bwMode="auto">
            <a:xfrm>
              <a:off x="2449" y="1440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7658" name="Text Box 38"/>
            <p:cNvSpPr txBox="1">
              <a:spLocks noChangeArrowheads="1"/>
            </p:cNvSpPr>
            <p:nvPr/>
          </p:nvSpPr>
          <p:spPr bwMode="auto">
            <a:xfrm>
              <a:off x="1728" y="144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7659" name="Text Box 39"/>
            <p:cNvSpPr txBox="1">
              <a:spLocks noChangeArrowheads="1"/>
            </p:cNvSpPr>
            <p:nvPr/>
          </p:nvSpPr>
          <p:spPr bwMode="auto">
            <a:xfrm>
              <a:off x="3648" y="1968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7660" name="Text Box 40"/>
            <p:cNvSpPr txBox="1">
              <a:spLocks noChangeArrowheads="1"/>
            </p:cNvSpPr>
            <p:nvPr/>
          </p:nvSpPr>
          <p:spPr bwMode="auto">
            <a:xfrm>
              <a:off x="2592" y="96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61" name="Text Box 41"/>
            <p:cNvSpPr txBox="1">
              <a:spLocks noChangeArrowheads="1"/>
            </p:cNvSpPr>
            <p:nvPr/>
          </p:nvSpPr>
          <p:spPr bwMode="auto">
            <a:xfrm>
              <a:off x="1344" y="1824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7662" name="Text Box 42"/>
            <p:cNvSpPr txBox="1">
              <a:spLocks noChangeArrowheads="1"/>
            </p:cNvSpPr>
            <p:nvPr/>
          </p:nvSpPr>
          <p:spPr bwMode="auto">
            <a:xfrm>
              <a:off x="451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7663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7664" name="Text Box 44"/>
            <p:cNvSpPr txBox="1">
              <a:spLocks noChangeArrowheads="1"/>
            </p:cNvSpPr>
            <p:nvPr/>
          </p:nvSpPr>
          <p:spPr bwMode="auto">
            <a:xfrm>
              <a:off x="3024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235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7666" name="Text Box 46"/>
            <p:cNvSpPr txBox="1">
              <a:spLocks noChangeArrowheads="1"/>
            </p:cNvSpPr>
            <p:nvPr/>
          </p:nvSpPr>
          <p:spPr bwMode="auto">
            <a:xfrm>
              <a:off x="2208" y="2640"/>
              <a:ext cx="28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15</a:t>
              </a:r>
            </a:p>
          </p:txBody>
        </p: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1248" y="235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7668" name="Text Box 48"/>
            <p:cNvSpPr txBox="1">
              <a:spLocks noChangeArrowheads="1"/>
            </p:cNvSpPr>
            <p:nvPr/>
          </p:nvSpPr>
          <p:spPr bwMode="auto">
            <a:xfrm>
              <a:off x="4080" y="124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7669" name="Text Box 49"/>
            <p:cNvSpPr txBox="1">
              <a:spLocks noChangeArrowheads="1"/>
            </p:cNvSpPr>
            <p:nvPr/>
          </p:nvSpPr>
          <p:spPr bwMode="auto">
            <a:xfrm>
              <a:off x="4704" y="13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cxnSp>
          <p:nvCxnSpPr>
            <p:cNvPr id="27670" name="AutoShape 50"/>
            <p:cNvCxnSpPr>
              <a:cxnSpLocks noChangeShapeType="1"/>
              <a:stCxn id="27677" idx="6"/>
              <a:endCxn id="27683" idx="2"/>
            </p:cNvCxnSpPr>
            <p:nvPr/>
          </p:nvCxnSpPr>
          <p:spPr bwMode="auto">
            <a:xfrm flipV="1">
              <a:off x="2918" y="2707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sp>
          <p:nvSpPr>
            <p:cNvPr id="27671" name="Text Box 51"/>
            <p:cNvSpPr txBox="1">
              <a:spLocks noChangeArrowheads="1"/>
            </p:cNvSpPr>
            <p:nvPr/>
          </p:nvSpPr>
          <p:spPr bwMode="auto">
            <a:xfrm>
              <a:off x="2929" y="1632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7304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74851"/>
            <a:ext cx="10515600" cy="1404523"/>
          </a:xfrm>
        </p:spPr>
        <p:txBody>
          <a:bodyPr/>
          <a:lstStyle/>
          <a:p>
            <a:pPr algn="ctr"/>
            <a:r>
              <a:rPr lang="en-US" dirty="0"/>
              <a:t>Uniform Cost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8210" y="874851"/>
            <a:ext cx="7802880" cy="5852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0548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Breadth-First Search find the shallowest goal state, but this may not always be the least-cost solution.</a:t>
            </a:r>
          </a:p>
          <a:p>
            <a:r>
              <a:rPr lang="en-US" dirty="0"/>
              <a:t>Uniform-Cost Search modifies the Breadth-First Search strategy by always expanding the lowest path cost g(n) node on the fringe (outlier).</a:t>
            </a:r>
          </a:p>
          <a:p>
            <a:r>
              <a:rPr lang="en-US" i="1" dirty="0"/>
              <a:t>Frontier </a:t>
            </a:r>
            <a:r>
              <a:rPr lang="en-US" dirty="0"/>
              <a:t>is a priority queue, i.e., new successors are merged into the queue sorted by g(n).</a:t>
            </a:r>
          </a:p>
          <a:p>
            <a:pPr lvl="1"/>
            <a:r>
              <a:rPr lang="en-US" dirty="0"/>
              <a:t>Can remove successors already on queue w/higher g(n).</a:t>
            </a:r>
          </a:p>
          <a:p>
            <a:pPr lvl="1"/>
            <a:r>
              <a:rPr lang="en-US" dirty="0"/>
              <a:t>Saves memory, costs time; another space-time trade-off.</a:t>
            </a:r>
          </a:p>
        </p:txBody>
      </p:sp>
    </p:spTree>
    <p:extLst>
      <p:ext uri="{BB962C8B-B14F-4D97-AF65-F5344CB8AC3E}">
        <p14:creationId xmlns:p14="http://schemas.microsoft.com/office/powerpoint/2010/main" val="1962674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55186" y="3408368"/>
            <a:ext cx="5037535" cy="3349625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44564"/>
          </a:xfrm>
        </p:spPr>
        <p:txBody>
          <a:bodyPr/>
          <a:lstStyle/>
          <a:p>
            <a:pPr eaLnBrk="1" hangingPunct="1"/>
            <a:r>
              <a:rPr lang="en-US" dirty="0"/>
              <a:t>Uniform Cost Search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944541" y="3381375"/>
            <a:ext cx="41148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1524004" y="3276600"/>
            <a:ext cx="9143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06729" y="3425827"/>
            <a:ext cx="217884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07924" y="3427411"/>
            <a:ext cx="217885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4399361" y="3921128"/>
            <a:ext cx="217884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494861" y="3854452"/>
            <a:ext cx="217884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7803361" y="3870328"/>
            <a:ext cx="217885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1809753" y="1447801"/>
            <a:ext cx="2196703" cy="1615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Strategy: expand a cheapest node first:</a:t>
            </a:r>
          </a:p>
          <a:p>
            <a:pPr>
              <a:spcBef>
                <a:spcPct val="50000"/>
              </a:spcBef>
            </a:pPr>
            <a:r>
              <a:rPr lang="en-US" i="1" dirty="0"/>
              <a:t>Fringe is a priority queue (priority: cumulative cost)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4953001" y="1270003"/>
            <a:ext cx="2403872" cy="1768475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724401" y="3868738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6792517" y="3798887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074822" y="379571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7802166" y="3868735"/>
            <a:ext cx="217884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7815268" y="4381504"/>
            <a:ext cx="217885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093872" y="4303715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981456" y="4398961"/>
            <a:ext cx="217885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4494611" y="4397380"/>
            <a:ext cx="217884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5116116" y="4389435"/>
            <a:ext cx="217884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4198147" y="435451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639867" y="4506915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337574" y="4327526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4399361" y="3921128"/>
            <a:ext cx="217884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981456" y="4398961"/>
            <a:ext cx="217885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967168" y="4945061"/>
            <a:ext cx="217885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968354" y="4945061"/>
            <a:ext cx="217884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5114931" y="4391028"/>
            <a:ext cx="217885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851797" y="4918080"/>
            <a:ext cx="217884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359004" y="4926011"/>
            <a:ext cx="217884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564983" y="486251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5038726" y="4868864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360199" y="4927604"/>
            <a:ext cx="217885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357818" y="5453061"/>
            <a:ext cx="217885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556649" y="5397502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359004" y="5454655"/>
            <a:ext cx="217884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555461" y="5981704"/>
            <a:ext cx="217885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755483" y="5924551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885135" y="5924551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5169699" y="5962655"/>
            <a:ext cx="217885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491293" y="3856035"/>
            <a:ext cx="217885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740129" y="4384680"/>
            <a:ext cx="217884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13872" y="4383085"/>
            <a:ext cx="217884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390085" y="4327527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6927058" y="4316415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555461" y="5983285"/>
            <a:ext cx="217885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436522" y="3352802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4189810" y="4867275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5187553" y="197485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932885" y="2128839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5075635" y="262255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442346" y="165735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300662" y="1219202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838826" y="1639890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536533" y="2252666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6784180" y="2125666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624515" y="2851155"/>
            <a:ext cx="403622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179469" y="2371727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191376" y="1720854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2956324" y="3613147"/>
            <a:ext cx="297656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1834748" y="4827589"/>
            <a:ext cx="1244209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24576" y="1827215"/>
            <a:ext cx="40362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332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533400"/>
            <a:ext cx="7543800" cy="1143000"/>
          </a:xfrm>
          <a:noFill/>
          <a:ln/>
        </p:spPr>
        <p:txBody>
          <a:bodyPr/>
          <a:lstStyle/>
          <a:p>
            <a:r>
              <a:rPr lang="en-US" altLang="x-none" dirty="0"/>
              <a:t>Uniform Cost Search (UCS)</a:t>
            </a:r>
          </a:p>
        </p:txBody>
      </p:sp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3D09-4028-49B4-8420-C93FB29F2D6C}" type="slidenum">
              <a:rPr lang="en-GB" altLang="x-none"/>
              <a:pPr/>
              <a:t>25</a:t>
            </a:fld>
            <a:endParaRPr lang="en-GB" altLang="x-none"/>
          </a:p>
        </p:txBody>
      </p:sp>
      <p:sp>
        <p:nvSpPr>
          <p:cNvPr id="177198" name="Oval 46"/>
          <p:cNvSpPr>
            <a:spLocks noChangeArrowheads="1"/>
          </p:cNvSpPr>
          <p:nvPr/>
        </p:nvSpPr>
        <p:spPr bwMode="auto">
          <a:xfrm>
            <a:off x="5605463" y="2209800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199" name="Text Box 47"/>
          <p:cNvSpPr txBox="1">
            <a:spLocks noChangeArrowheads="1"/>
          </p:cNvSpPr>
          <p:nvPr/>
        </p:nvSpPr>
        <p:spPr bwMode="auto">
          <a:xfrm>
            <a:off x="5612316" y="2209801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A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77201" name="Oval 49"/>
          <p:cNvSpPr>
            <a:spLocks noChangeArrowheads="1"/>
          </p:cNvSpPr>
          <p:nvPr/>
        </p:nvSpPr>
        <p:spPr bwMode="auto">
          <a:xfrm>
            <a:off x="4413250" y="3051175"/>
            <a:ext cx="427038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02" name="Text Box 50"/>
          <p:cNvSpPr txBox="1">
            <a:spLocks noChangeArrowheads="1"/>
          </p:cNvSpPr>
          <p:nvPr/>
        </p:nvSpPr>
        <p:spPr bwMode="auto">
          <a:xfrm>
            <a:off x="4412000" y="3048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B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77204" name="Oval 52"/>
          <p:cNvSpPr>
            <a:spLocks noChangeArrowheads="1"/>
          </p:cNvSpPr>
          <p:nvPr/>
        </p:nvSpPr>
        <p:spPr bwMode="auto">
          <a:xfrm>
            <a:off x="7231063" y="3051175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05" name="Text Box 53"/>
          <p:cNvSpPr txBox="1">
            <a:spLocks noChangeArrowheads="1"/>
          </p:cNvSpPr>
          <p:nvPr/>
        </p:nvSpPr>
        <p:spPr bwMode="auto">
          <a:xfrm>
            <a:off x="7232988" y="3048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C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77207" name="Oval 55"/>
          <p:cNvSpPr>
            <a:spLocks noChangeArrowheads="1"/>
          </p:cNvSpPr>
          <p:nvPr/>
        </p:nvSpPr>
        <p:spPr bwMode="auto">
          <a:xfrm>
            <a:off x="7948614" y="4191000"/>
            <a:ext cx="427037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08" name="Text Box 56"/>
          <p:cNvSpPr txBox="1">
            <a:spLocks noChangeArrowheads="1"/>
          </p:cNvSpPr>
          <p:nvPr/>
        </p:nvSpPr>
        <p:spPr bwMode="auto">
          <a:xfrm>
            <a:off x="7940133" y="4186536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G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77210" name="Oval 58"/>
          <p:cNvSpPr>
            <a:spLocks noChangeArrowheads="1"/>
          </p:cNvSpPr>
          <p:nvPr/>
        </p:nvSpPr>
        <p:spPr bwMode="auto">
          <a:xfrm>
            <a:off x="6513513" y="4191000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11" name="Text Box 59"/>
          <p:cNvSpPr txBox="1">
            <a:spLocks noChangeArrowheads="1"/>
          </p:cNvSpPr>
          <p:nvPr/>
        </p:nvSpPr>
        <p:spPr bwMode="auto">
          <a:xfrm>
            <a:off x="6578012" y="4186536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F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77212" name="Line 60"/>
          <p:cNvSpPr>
            <a:spLocks noChangeShapeType="1"/>
          </p:cNvSpPr>
          <p:nvPr/>
        </p:nvSpPr>
        <p:spPr bwMode="auto">
          <a:xfrm flipH="1">
            <a:off x="4797425" y="2557463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13" name="Line 61"/>
          <p:cNvSpPr>
            <a:spLocks noChangeShapeType="1"/>
          </p:cNvSpPr>
          <p:nvPr/>
        </p:nvSpPr>
        <p:spPr bwMode="auto">
          <a:xfrm flipH="1">
            <a:off x="6864350" y="3468688"/>
            <a:ext cx="46990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14" name="Line 62"/>
          <p:cNvSpPr>
            <a:spLocks noChangeShapeType="1"/>
          </p:cNvSpPr>
          <p:nvPr/>
        </p:nvSpPr>
        <p:spPr bwMode="auto">
          <a:xfrm>
            <a:off x="7542213" y="3489326"/>
            <a:ext cx="442912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15" name="Line 63"/>
          <p:cNvSpPr>
            <a:spLocks noChangeShapeType="1"/>
          </p:cNvSpPr>
          <p:nvPr/>
        </p:nvSpPr>
        <p:spPr bwMode="auto">
          <a:xfrm>
            <a:off x="5978526" y="2574926"/>
            <a:ext cx="1249363" cy="70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7257" name="Group 105"/>
          <p:cNvGrpSpPr>
            <a:grpSpLocks/>
          </p:cNvGrpSpPr>
          <p:nvPr/>
        </p:nvGrpSpPr>
        <p:grpSpPr bwMode="auto">
          <a:xfrm>
            <a:off x="7207251" y="5410378"/>
            <a:ext cx="428625" cy="461897"/>
            <a:chOff x="2400" y="858"/>
            <a:chExt cx="432" cy="449"/>
          </a:xfrm>
        </p:grpSpPr>
        <p:sp>
          <p:nvSpPr>
            <p:cNvPr id="177258" name="Oval 106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7259" name="Text Box 107"/>
            <p:cNvSpPr txBox="1">
              <a:spLocks noChangeArrowheads="1"/>
            </p:cNvSpPr>
            <p:nvPr/>
          </p:nvSpPr>
          <p:spPr bwMode="auto">
            <a:xfrm>
              <a:off x="2509" y="858"/>
              <a:ext cx="29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I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177260" name="Group 108"/>
          <p:cNvGrpSpPr>
            <a:grpSpLocks/>
          </p:cNvGrpSpPr>
          <p:nvPr/>
        </p:nvGrpSpPr>
        <p:grpSpPr bwMode="auto">
          <a:xfrm>
            <a:off x="5768979" y="5405234"/>
            <a:ext cx="436563" cy="461897"/>
            <a:chOff x="2392" y="853"/>
            <a:chExt cx="440" cy="449"/>
          </a:xfrm>
        </p:grpSpPr>
        <p:sp>
          <p:nvSpPr>
            <p:cNvPr id="177261" name="Oval 109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7262" name="Text Box 110"/>
            <p:cNvSpPr txBox="1">
              <a:spLocks noChangeArrowheads="1"/>
            </p:cNvSpPr>
            <p:nvPr/>
          </p:nvSpPr>
          <p:spPr bwMode="auto">
            <a:xfrm>
              <a:off x="2392" y="853"/>
              <a:ext cx="411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H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177263" name="Group 111"/>
          <p:cNvGrpSpPr>
            <a:grpSpLocks/>
          </p:cNvGrpSpPr>
          <p:nvPr/>
        </p:nvGrpSpPr>
        <p:grpSpPr bwMode="auto">
          <a:xfrm>
            <a:off x="6092825" y="4694239"/>
            <a:ext cx="1150938" cy="801687"/>
            <a:chOff x="896" y="1363"/>
            <a:chExt cx="1156" cy="778"/>
          </a:xfrm>
        </p:grpSpPr>
        <p:sp>
          <p:nvSpPr>
            <p:cNvPr id="177264" name="Line 112"/>
            <p:cNvSpPr>
              <a:spLocks noChangeShapeType="1"/>
            </p:cNvSpPr>
            <p:nvPr/>
          </p:nvSpPr>
          <p:spPr bwMode="auto">
            <a:xfrm flipH="1">
              <a:off x="896" y="1363"/>
              <a:ext cx="534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7265" name="Line 113"/>
            <p:cNvSpPr>
              <a:spLocks noChangeShapeType="1"/>
            </p:cNvSpPr>
            <p:nvPr/>
          </p:nvSpPr>
          <p:spPr bwMode="auto">
            <a:xfrm>
              <a:off x="1674" y="1378"/>
              <a:ext cx="378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7266" name="Text Box 114"/>
          <p:cNvSpPr txBox="1">
            <a:spLocks noChangeArrowheads="1"/>
          </p:cNvSpPr>
          <p:nvPr/>
        </p:nvSpPr>
        <p:spPr bwMode="auto">
          <a:xfrm>
            <a:off x="6470650" y="2514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2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67" name="Text Box 115"/>
          <p:cNvSpPr txBox="1">
            <a:spLocks noChangeArrowheads="1"/>
          </p:cNvSpPr>
          <p:nvPr/>
        </p:nvSpPr>
        <p:spPr bwMode="auto">
          <a:xfrm>
            <a:off x="4914900" y="2514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68" name="Text Box 116"/>
          <p:cNvSpPr txBox="1">
            <a:spLocks noChangeArrowheads="1"/>
          </p:cNvSpPr>
          <p:nvPr/>
        </p:nvSpPr>
        <p:spPr bwMode="auto">
          <a:xfrm>
            <a:off x="681990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69" name="Text Box 117"/>
          <p:cNvSpPr txBox="1">
            <a:spLocks noChangeArrowheads="1"/>
          </p:cNvSpPr>
          <p:nvPr/>
        </p:nvSpPr>
        <p:spPr bwMode="auto">
          <a:xfrm>
            <a:off x="7766050" y="3657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7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0" name="Text Box 118"/>
          <p:cNvSpPr txBox="1">
            <a:spLocks noChangeArrowheads="1"/>
          </p:cNvSpPr>
          <p:nvPr/>
        </p:nvSpPr>
        <p:spPr bwMode="auto">
          <a:xfrm>
            <a:off x="6056314" y="4724400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4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1" name="Text Box 119"/>
          <p:cNvSpPr txBox="1">
            <a:spLocks noChangeArrowheads="1"/>
          </p:cNvSpPr>
          <p:nvPr/>
        </p:nvSpPr>
        <p:spPr bwMode="auto">
          <a:xfrm>
            <a:off x="7004050" y="4724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3" name="Text Box 121"/>
          <p:cNvSpPr txBox="1">
            <a:spLocks noChangeArrowheads="1"/>
          </p:cNvSpPr>
          <p:nvPr/>
        </p:nvSpPr>
        <p:spPr bwMode="auto">
          <a:xfrm>
            <a:off x="3879850" y="3048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[5]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4" name="Text Box 122"/>
          <p:cNvSpPr txBox="1">
            <a:spLocks noChangeArrowheads="1"/>
          </p:cNvSpPr>
          <p:nvPr/>
        </p:nvSpPr>
        <p:spPr bwMode="auto">
          <a:xfrm>
            <a:off x="7842250" y="29718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[2]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5" name="Text Box 123"/>
          <p:cNvSpPr txBox="1">
            <a:spLocks noChangeArrowheads="1"/>
          </p:cNvSpPr>
          <p:nvPr/>
        </p:nvSpPr>
        <p:spPr bwMode="auto">
          <a:xfrm>
            <a:off x="8528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6" name="Text Box 124"/>
          <p:cNvSpPr txBox="1">
            <a:spLocks noChangeArrowheads="1"/>
          </p:cNvSpPr>
          <p:nvPr/>
        </p:nvSpPr>
        <p:spPr bwMode="auto">
          <a:xfrm>
            <a:off x="5861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[3]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7" name="Text Box 125"/>
          <p:cNvSpPr txBox="1">
            <a:spLocks noChangeArrowheads="1"/>
          </p:cNvSpPr>
          <p:nvPr/>
        </p:nvSpPr>
        <p:spPr bwMode="auto">
          <a:xfrm>
            <a:off x="5099050" y="54102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[7]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8" name="Text Box 126"/>
          <p:cNvSpPr txBox="1">
            <a:spLocks noChangeArrowheads="1"/>
          </p:cNvSpPr>
          <p:nvPr/>
        </p:nvSpPr>
        <p:spPr bwMode="auto">
          <a:xfrm>
            <a:off x="7766050" y="54102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[8]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79" name="Line 127"/>
          <p:cNvSpPr>
            <a:spLocks noChangeShapeType="1"/>
          </p:cNvSpPr>
          <p:nvPr/>
        </p:nvSpPr>
        <p:spPr bwMode="auto">
          <a:xfrm flipH="1">
            <a:off x="3651250" y="3429000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80" name="Line 128"/>
          <p:cNvSpPr>
            <a:spLocks noChangeShapeType="1"/>
          </p:cNvSpPr>
          <p:nvPr/>
        </p:nvSpPr>
        <p:spPr bwMode="auto">
          <a:xfrm>
            <a:off x="4718051" y="3505201"/>
            <a:ext cx="442913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281" name="Oval 129"/>
          <p:cNvSpPr>
            <a:spLocks noChangeArrowheads="1"/>
          </p:cNvSpPr>
          <p:nvPr/>
        </p:nvSpPr>
        <p:spPr bwMode="auto">
          <a:xfrm>
            <a:off x="3346451" y="4038600"/>
            <a:ext cx="430213" cy="444500"/>
          </a:xfrm>
          <a:prstGeom prst="ellipse">
            <a:avLst/>
          </a:prstGeom>
          <a:solidFill>
            <a:schemeClr val="hlink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D</a:t>
            </a:r>
          </a:p>
        </p:txBody>
      </p:sp>
      <p:sp>
        <p:nvSpPr>
          <p:cNvPr id="177282" name="Text Box 130"/>
          <p:cNvSpPr txBox="1">
            <a:spLocks noChangeArrowheads="1"/>
          </p:cNvSpPr>
          <p:nvPr/>
        </p:nvSpPr>
        <p:spPr bwMode="auto">
          <a:xfrm>
            <a:off x="3651250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83" name="Text Box 131"/>
          <p:cNvSpPr txBox="1">
            <a:spLocks noChangeArrowheads="1"/>
          </p:cNvSpPr>
          <p:nvPr/>
        </p:nvSpPr>
        <p:spPr bwMode="auto">
          <a:xfrm>
            <a:off x="487045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4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84" name="Oval 132"/>
          <p:cNvSpPr>
            <a:spLocks noChangeArrowheads="1"/>
          </p:cNvSpPr>
          <p:nvPr/>
        </p:nvSpPr>
        <p:spPr bwMode="auto">
          <a:xfrm>
            <a:off x="5022851" y="4343400"/>
            <a:ext cx="430213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sz="2000" dirty="0"/>
              <a:t>E</a:t>
            </a:r>
            <a:endParaRPr lang="x-none" altLang="x-none"/>
          </a:p>
        </p:txBody>
      </p:sp>
      <p:sp>
        <p:nvSpPr>
          <p:cNvPr id="177285" name="Text Box 133"/>
          <p:cNvSpPr txBox="1">
            <a:spLocks noChangeArrowheads="1"/>
          </p:cNvSpPr>
          <p:nvPr/>
        </p:nvSpPr>
        <p:spPr bwMode="auto">
          <a:xfrm>
            <a:off x="4413250" y="43434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86" name="Text Box 134"/>
          <p:cNvSpPr txBox="1">
            <a:spLocks noChangeArrowheads="1"/>
          </p:cNvSpPr>
          <p:nvPr/>
        </p:nvSpPr>
        <p:spPr bwMode="auto">
          <a:xfrm>
            <a:off x="2813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[6]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77289" name="Text Box 137"/>
          <p:cNvSpPr txBox="1">
            <a:spLocks noChangeArrowheads="1"/>
          </p:cNvSpPr>
          <p:nvPr/>
        </p:nvSpPr>
        <p:spPr bwMode="auto">
          <a:xfrm>
            <a:off x="2209800" y="5410201"/>
            <a:ext cx="25146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/>
              <a:t>[x] = g(n) </a:t>
            </a:r>
          </a:p>
          <a:p>
            <a:pPr>
              <a:spcBef>
                <a:spcPct val="50000"/>
              </a:spcBef>
            </a:pPr>
            <a:r>
              <a:rPr lang="en-US" altLang="x-none" b="1"/>
              <a:t>path cost of node n</a:t>
            </a:r>
            <a:endParaRPr lang="en-GB" altLang="x-none" b="1"/>
          </a:p>
        </p:txBody>
      </p:sp>
      <p:sp>
        <p:nvSpPr>
          <p:cNvPr id="177290" name="Text Box 138"/>
          <p:cNvSpPr txBox="1">
            <a:spLocks noChangeArrowheads="1"/>
          </p:cNvSpPr>
          <p:nvPr/>
        </p:nvSpPr>
        <p:spPr bwMode="auto">
          <a:xfrm>
            <a:off x="2895600" y="4572001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/>
              <a:t>Goal state</a:t>
            </a:r>
            <a:endParaRPr lang="en-GB" altLang="x-none" b="1"/>
          </a:p>
        </p:txBody>
      </p:sp>
    </p:spTree>
    <p:extLst>
      <p:ext uri="{BB962C8B-B14F-4D97-AF65-F5344CB8AC3E}">
        <p14:creationId xmlns:p14="http://schemas.microsoft.com/office/powerpoint/2010/main" val="1984766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5CA2-D96D-438E-9897-4635C333DF22}" type="slidenum">
              <a:rPr lang="en-GB" altLang="x-none"/>
              <a:pPr/>
              <a:t>26</a:t>
            </a:fld>
            <a:endParaRPr lang="en-GB" altLang="x-none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x-none"/>
              <a:t>Uniform Cost Search (UCS)</a:t>
            </a:r>
          </a:p>
        </p:txBody>
      </p:sp>
      <p:grpSp>
        <p:nvGrpSpPr>
          <p:cNvPr id="205872" name="Group 48"/>
          <p:cNvGrpSpPr>
            <a:grpSpLocks/>
          </p:cNvGrpSpPr>
          <p:nvPr/>
        </p:nvGrpSpPr>
        <p:grpSpPr bwMode="auto">
          <a:xfrm>
            <a:off x="3879850" y="2209801"/>
            <a:ext cx="4502150" cy="1300163"/>
            <a:chOff x="1484" y="1392"/>
            <a:chExt cx="2836" cy="819"/>
          </a:xfrm>
        </p:grpSpPr>
        <p:sp>
          <p:nvSpPr>
            <p:cNvPr id="205828" name="Oval 4"/>
            <p:cNvSpPr>
              <a:spLocks noChangeArrowheads="1"/>
            </p:cNvSpPr>
            <p:nvPr/>
          </p:nvSpPr>
          <p:spPr bwMode="auto">
            <a:xfrm>
              <a:off x="2571" y="1392"/>
              <a:ext cx="271" cy="2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29" name="Text Box 5"/>
            <p:cNvSpPr txBox="1">
              <a:spLocks noChangeArrowheads="1"/>
            </p:cNvSpPr>
            <p:nvPr/>
          </p:nvSpPr>
          <p:spPr bwMode="auto">
            <a:xfrm>
              <a:off x="2566" y="1392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A</a:t>
              </a:r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5830" name="Oval 6"/>
            <p:cNvSpPr>
              <a:spLocks noChangeArrowheads="1"/>
            </p:cNvSpPr>
            <p:nvPr/>
          </p:nvSpPr>
          <p:spPr bwMode="auto">
            <a:xfrm>
              <a:off x="1820" y="1922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1" name="Text Box 7"/>
            <p:cNvSpPr txBox="1">
              <a:spLocks noChangeArrowheads="1"/>
            </p:cNvSpPr>
            <p:nvPr/>
          </p:nvSpPr>
          <p:spPr bwMode="auto">
            <a:xfrm>
              <a:off x="1819" y="1920"/>
              <a:ext cx="2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B</a:t>
              </a:r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5832" name="Oval 8"/>
            <p:cNvSpPr>
              <a:spLocks noChangeArrowheads="1"/>
            </p:cNvSpPr>
            <p:nvPr/>
          </p:nvSpPr>
          <p:spPr bwMode="auto"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33" name="Text Box 9"/>
            <p:cNvSpPr txBox="1">
              <a:spLocks noChangeArrowheads="1"/>
            </p:cNvSpPr>
            <p:nvPr/>
          </p:nvSpPr>
          <p:spPr bwMode="auto">
            <a:xfrm>
              <a:off x="3596" y="1920"/>
              <a:ext cx="2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C</a:t>
              </a:r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5838" name="Line 14"/>
            <p:cNvSpPr>
              <a:spLocks noChangeShapeType="1"/>
            </p:cNvSpPr>
            <p:nvPr/>
          </p:nvSpPr>
          <p:spPr bwMode="auto">
            <a:xfrm flipH="1">
              <a:off x="2062" y="1611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41" name="Line 17"/>
            <p:cNvSpPr>
              <a:spLocks noChangeShapeType="1"/>
            </p:cNvSpPr>
            <p:nvPr/>
          </p:nvSpPr>
          <p:spPr bwMode="auto">
            <a:xfrm>
              <a:off x="2806" y="1622"/>
              <a:ext cx="787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51" name="Text Box 27"/>
            <p:cNvSpPr txBox="1">
              <a:spLocks noChangeArrowheads="1"/>
            </p:cNvSpPr>
            <p:nvPr/>
          </p:nvSpPr>
          <p:spPr bwMode="auto"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5852" name="Text Box 28"/>
            <p:cNvSpPr txBox="1">
              <a:spLocks noChangeArrowheads="1"/>
            </p:cNvSpPr>
            <p:nvPr/>
          </p:nvSpPr>
          <p:spPr bwMode="auto"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5857" name="Text Box 33"/>
            <p:cNvSpPr txBox="1">
              <a:spLocks noChangeArrowheads="1"/>
            </p:cNvSpPr>
            <p:nvPr/>
          </p:nvSpPr>
          <p:spPr bwMode="auto"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[5]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5858" name="Text Box 34"/>
            <p:cNvSpPr txBox="1">
              <a:spLocks noChangeArrowheads="1"/>
            </p:cNvSpPr>
            <p:nvPr/>
          </p:nvSpPr>
          <p:spPr bwMode="auto"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accent1"/>
                  </a:solidFill>
                  <a:latin typeface="Times New Roman" pitchFamily="18" charset="0"/>
                </a:rPr>
                <a:t>[2]</a:t>
              </a:r>
              <a:endParaRPr lang="en-US" altLang="x-none" sz="240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3083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8D7D-4C3F-428E-A3F1-43E1A3A5E60D}" type="slidenum">
              <a:rPr lang="en-GB" altLang="x-none"/>
              <a:pPr/>
              <a:t>27</a:t>
            </a:fld>
            <a:endParaRPr lang="en-GB" altLang="x-none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x-none"/>
              <a:t>Uniform Cost Search (UCS)</a:t>
            </a:r>
          </a:p>
        </p:txBody>
      </p:sp>
      <p:sp>
        <p:nvSpPr>
          <p:cNvPr id="206852" name="Oval 4"/>
          <p:cNvSpPr>
            <a:spLocks noChangeArrowheads="1"/>
          </p:cNvSpPr>
          <p:nvPr/>
        </p:nvSpPr>
        <p:spPr bwMode="auto">
          <a:xfrm>
            <a:off x="5605463" y="2209800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5596983" y="2209801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A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6854" name="Oval 6"/>
          <p:cNvSpPr>
            <a:spLocks noChangeArrowheads="1"/>
          </p:cNvSpPr>
          <p:nvPr/>
        </p:nvSpPr>
        <p:spPr bwMode="auto">
          <a:xfrm>
            <a:off x="4413250" y="3051175"/>
            <a:ext cx="427038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4412000" y="3048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B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6856" name="Oval 8"/>
          <p:cNvSpPr>
            <a:spLocks noChangeArrowheads="1"/>
          </p:cNvSpPr>
          <p:nvPr/>
        </p:nvSpPr>
        <p:spPr bwMode="auto">
          <a:xfrm>
            <a:off x="7231063" y="3051175"/>
            <a:ext cx="430212" cy="4445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57" name="Text Box 9"/>
          <p:cNvSpPr txBox="1">
            <a:spLocks noChangeArrowheads="1"/>
          </p:cNvSpPr>
          <p:nvPr/>
        </p:nvSpPr>
        <p:spPr bwMode="auto">
          <a:xfrm>
            <a:off x="7232988" y="3048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C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6858" name="Oval 10"/>
          <p:cNvSpPr>
            <a:spLocks noChangeArrowheads="1"/>
          </p:cNvSpPr>
          <p:nvPr/>
        </p:nvSpPr>
        <p:spPr bwMode="auto">
          <a:xfrm>
            <a:off x="7948614" y="4191000"/>
            <a:ext cx="427037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59" name="Text Box 11"/>
          <p:cNvSpPr txBox="1">
            <a:spLocks noChangeArrowheads="1"/>
          </p:cNvSpPr>
          <p:nvPr/>
        </p:nvSpPr>
        <p:spPr bwMode="auto">
          <a:xfrm>
            <a:off x="7974516" y="4191001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G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6860" name="Oval 12"/>
          <p:cNvSpPr>
            <a:spLocks noChangeArrowheads="1"/>
          </p:cNvSpPr>
          <p:nvPr/>
        </p:nvSpPr>
        <p:spPr bwMode="auto">
          <a:xfrm>
            <a:off x="6513513" y="4191000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61" name="Text Box 13"/>
          <p:cNvSpPr txBox="1">
            <a:spLocks noChangeArrowheads="1"/>
          </p:cNvSpPr>
          <p:nvPr/>
        </p:nvSpPr>
        <p:spPr bwMode="auto">
          <a:xfrm>
            <a:off x="6532269" y="4191001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F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6862" name="Line 14"/>
          <p:cNvSpPr>
            <a:spLocks noChangeShapeType="1"/>
          </p:cNvSpPr>
          <p:nvPr/>
        </p:nvSpPr>
        <p:spPr bwMode="auto">
          <a:xfrm flipH="1">
            <a:off x="4797425" y="2557463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63" name="Line 15"/>
          <p:cNvSpPr>
            <a:spLocks noChangeShapeType="1"/>
          </p:cNvSpPr>
          <p:nvPr/>
        </p:nvSpPr>
        <p:spPr bwMode="auto">
          <a:xfrm flipH="1">
            <a:off x="6864350" y="3468688"/>
            <a:ext cx="46990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64" name="Line 16"/>
          <p:cNvSpPr>
            <a:spLocks noChangeShapeType="1"/>
          </p:cNvSpPr>
          <p:nvPr/>
        </p:nvSpPr>
        <p:spPr bwMode="auto">
          <a:xfrm>
            <a:off x="7542213" y="3489326"/>
            <a:ext cx="442912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65" name="Line 17"/>
          <p:cNvSpPr>
            <a:spLocks noChangeShapeType="1"/>
          </p:cNvSpPr>
          <p:nvPr/>
        </p:nvSpPr>
        <p:spPr bwMode="auto">
          <a:xfrm>
            <a:off x="5978526" y="2574926"/>
            <a:ext cx="1249363" cy="70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875" name="Text Box 27"/>
          <p:cNvSpPr txBox="1">
            <a:spLocks noChangeArrowheads="1"/>
          </p:cNvSpPr>
          <p:nvPr/>
        </p:nvSpPr>
        <p:spPr bwMode="auto">
          <a:xfrm>
            <a:off x="6470650" y="2514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2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76" name="Text Box 28"/>
          <p:cNvSpPr txBox="1">
            <a:spLocks noChangeArrowheads="1"/>
          </p:cNvSpPr>
          <p:nvPr/>
        </p:nvSpPr>
        <p:spPr bwMode="auto">
          <a:xfrm>
            <a:off x="4914900" y="2514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77" name="Text Box 29"/>
          <p:cNvSpPr txBox="1">
            <a:spLocks noChangeArrowheads="1"/>
          </p:cNvSpPr>
          <p:nvPr/>
        </p:nvSpPr>
        <p:spPr bwMode="auto">
          <a:xfrm>
            <a:off x="681990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78" name="Text Box 30"/>
          <p:cNvSpPr txBox="1">
            <a:spLocks noChangeArrowheads="1"/>
          </p:cNvSpPr>
          <p:nvPr/>
        </p:nvSpPr>
        <p:spPr bwMode="auto">
          <a:xfrm>
            <a:off x="7766050" y="3657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7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81" name="Text Box 33"/>
          <p:cNvSpPr txBox="1">
            <a:spLocks noChangeArrowheads="1"/>
          </p:cNvSpPr>
          <p:nvPr/>
        </p:nvSpPr>
        <p:spPr bwMode="auto">
          <a:xfrm>
            <a:off x="3879850" y="3048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[5]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82" name="Text Box 34"/>
          <p:cNvSpPr txBox="1">
            <a:spLocks noChangeArrowheads="1"/>
          </p:cNvSpPr>
          <p:nvPr/>
        </p:nvSpPr>
        <p:spPr bwMode="auto">
          <a:xfrm>
            <a:off x="7842250" y="29718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[2]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83" name="Text Box 35"/>
          <p:cNvSpPr txBox="1">
            <a:spLocks noChangeArrowheads="1"/>
          </p:cNvSpPr>
          <p:nvPr/>
        </p:nvSpPr>
        <p:spPr bwMode="auto">
          <a:xfrm>
            <a:off x="8528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6884" name="Text Box 36"/>
          <p:cNvSpPr txBox="1">
            <a:spLocks noChangeArrowheads="1"/>
          </p:cNvSpPr>
          <p:nvPr/>
        </p:nvSpPr>
        <p:spPr bwMode="auto">
          <a:xfrm>
            <a:off x="5861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solidFill>
                  <a:schemeClr val="accent1"/>
                </a:solidFill>
                <a:latin typeface="Times New Roman" pitchFamily="18" charset="0"/>
              </a:rPr>
              <a:t>[3]</a:t>
            </a:r>
            <a:endParaRPr lang="en-US" altLang="x-none" sz="2400">
              <a:solidFill>
                <a:schemeClr val="accent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80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61C31-9377-4F75-A477-CB4FDC366945}" type="slidenum">
              <a:rPr lang="en-GB" altLang="x-none"/>
              <a:pPr/>
              <a:t>28</a:t>
            </a:fld>
            <a:endParaRPr lang="en-GB" altLang="x-none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x-none"/>
              <a:t>Uniform Cost Search (UCS)</a:t>
            </a:r>
          </a:p>
        </p:txBody>
      </p:sp>
      <p:sp>
        <p:nvSpPr>
          <p:cNvPr id="207876" name="Oval 4"/>
          <p:cNvSpPr>
            <a:spLocks noChangeArrowheads="1"/>
          </p:cNvSpPr>
          <p:nvPr/>
        </p:nvSpPr>
        <p:spPr bwMode="auto">
          <a:xfrm>
            <a:off x="5605463" y="2209800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77" name="Text Box 5"/>
          <p:cNvSpPr txBox="1">
            <a:spLocks noChangeArrowheads="1"/>
          </p:cNvSpPr>
          <p:nvPr/>
        </p:nvSpPr>
        <p:spPr bwMode="auto">
          <a:xfrm>
            <a:off x="5596983" y="2209801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A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7878" name="Oval 6"/>
          <p:cNvSpPr>
            <a:spLocks noChangeArrowheads="1"/>
          </p:cNvSpPr>
          <p:nvPr/>
        </p:nvSpPr>
        <p:spPr bwMode="auto">
          <a:xfrm>
            <a:off x="4413250" y="3051175"/>
            <a:ext cx="427038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79" name="Text Box 7"/>
          <p:cNvSpPr txBox="1">
            <a:spLocks noChangeArrowheads="1"/>
          </p:cNvSpPr>
          <p:nvPr/>
        </p:nvSpPr>
        <p:spPr bwMode="auto">
          <a:xfrm>
            <a:off x="4412000" y="3048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B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7880" name="Oval 8"/>
          <p:cNvSpPr>
            <a:spLocks noChangeArrowheads="1"/>
          </p:cNvSpPr>
          <p:nvPr/>
        </p:nvSpPr>
        <p:spPr bwMode="auto">
          <a:xfrm>
            <a:off x="7231063" y="3051175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81" name="Text Box 9"/>
          <p:cNvSpPr txBox="1">
            <a:spLocks noChangeArrowheads="1"/>
          </p:cNvSpPr>
          <p:nvPr/>
        </p:nvSpPr>
        <p:spPr bwMode="auto">
          <a:xfrm>
            <a:off x="7232988" y="3048001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C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7882" name="Oval 10"/>
          <p:cNvSpPr>
            <a:spLocks noChangeArrowheads="1"/>
          </p:cNvSpPr>
          <p:nvPr/>
        </p:nvSpPr>
        <p:spPr bwMode="auto">
          <a:xfrm>
            <a:off x="7948614" y="4191000"/>
            <a:ext cx="427037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83" name="Text Box 11"/>
          <p:cNvSpPr txBox="1">
            <a:spLocks noChangeArrowheads="1"/>
          </p:cNvSpPr>
          <p:nvPr/>
        </p:nvSpPr>
        <p:spPr bwMode="auto">
          <a:xfrm>
            <a:off x="7940133" y="4191001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G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7884" name="Oval 12"/>
          <p:cNvSpPr>
            <a:spLocks noChangeArrowheads="1"/>
          </p:cNvSpPr>
          <p:nvPr/>
        </p:nvSpPr>
        <p:spPr bwMode="auto">
          <a:xfrm>
            <a:off x="6513513" y="4191000"/>
            <a:ext cx="430212" cy="4445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85" name="Text Box 13"/>
          <p:cNvSpPr txBox="1">
            <a:spLocks noChangeArrowheads="1"/>
          </p:cNvSpPr>
          <p:nvPr/>
        </p:nvSpPr>
        <p:spPr bwMode="auto">
          <a:xfrm>
            <a:off x="6532269" y="4191001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F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207886" name="Line 14"/>
          <p:cNvSpPr>
            <a:spLocks noChangeShapeType="1"/>
          </p:cNvSpPr>
          <p:nvPr/>
        </p:nvSpPr>
        <p:spPr bwMode="auto">
          <a:xfrm flipH="1">
            <a:off x="4797425" y="2557463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87" name="Line 15"/>
          <p:cNvSpPr>
            <a:spLocks noChangeShapeType="1"/>
          </p:cNvSpPr>
          <p:nvPr/>
        </p:nvSpPr>
        <p:spPr bwMode="auto">
          <a:xfrm flipH="1">
            <a:off x="6864350" y="3468688"/>
            <a:ext cx="46990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88" name="Line 16"/>
          <p:cNvSpPr>
            <a:spLocks noChangeShapeType="1"/>
          </p:cNvSpPr>
          <p:nvPr/>
        </p:nvSpPr>
        <p:spPr bwMode="auto">
          <a:xfrm>
            <a:off x="7542213" y="3489326"/>
            <a:ext cx="442912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89" name="Line 17"/>
          <p:cNvSpPr>
            <a:spLocks noChangeShapeType="1"/>
          </p:cNvSpPr>
          <p:nvPr/>
        </p:nvSpPr>
        <p:spPr bwMode="auto">
          <a:xfrm>
            <a:off x="5978526" y="2574926"/>
            <a:ext cx="1249363" cy="70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7890" name="Group 18"/>
          <p:cNvGrpSpPr>
            <a:grpSpLocks/>
          </p:cNvGrpSpPr>
          <p:nvPr/>
        </p:nvGrpSpPr>
        <p:grpSpPr bwMode="auto">
          <a:xfrm>
            <a:off x="7207251" y="5410378"/>
            <a:ext cx="428625" cy="461897"/>
            <a:chOff x="2400" y="858"/>
            <a:chExt cx="432" cy="449"/>
          </a:xfrm>
        </p:grpSpPr>
        <p:sp>
          <p:nvSpPr>
            <p:cNvPr id="207891" name="Oval 19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2" name="Text Box 20"/>
            <p:cNvSpPr txBox="1">
              <a:spLocks noChangeArrowheads="1"/>
            </p:cNvSpPr>
            <p:nvPr/>
          </p:nvSpPr>
          <p:spPr bwMode="auto">
            <a:xfrm>
              <a:off x="2450" y="858"/>
              <a:ext cx="29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I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207893" name="Group 21"/>
          <p:cNvGrpSpPr>
            <a:grpSpLocks/>
          </p:cNvGrpSpPr>
          <p:nvPr/>
        </p:nvGrpSpPr>
        <p:grpSpPr bwMode="auto">
          <a:xfrm>
            <a:off x="5768979" y="5410378"/>
            <a:ext cx="436563" cy="461897"/>
            <a:chOff x="2392" y="858"/>
            <a:chExt cx="440" cy="449"/>
          </a:xfrm>
        </p:grpSpPr>
        <p:sp>
          <p:nvSpPr>
            <p:cNvPr id="207894" name="Oval 22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5" name="Text Box 23"/>
            <p:cNvSpPr txBox="1">
              <a:spLocks noChangeArrowheads="1"/>
            </p:cNvSpPr>
            <p:nvPr/>
          </p:nvSpPr>
          <p:spPr bwMode="auto">
            <a:xfrm>
              <a:off x="2392" y="858"/>
              <a:ext cx="411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H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207896" name="Group 24"/>
          <p:cNvGrpSpPr>
            <a:grpSpLocks/>
          </p:cNvGrpSpPr>
          <p:nvPr/>
        </p:nvGrpSpPr>
        <p:grpSpPr bwMode="auto">
          <a:xfrm>
            <a:off x="6092825" y="4694239"/>
            <a:ext cx="1150938" cy="801687"/>
            <a:chOff x="896" y="1363"/>
            <a:chExt cx="1156" cy="778"/>
          </a:xfrm>
        </p:grpSpPr>
        <p:sp>
          <p:nvSpPr>
            <p:cNvPr id="207897" name="Line 25"/>
            <p:cNvSpPr>
              <a:spLocks noChangeShapeType="1"/>
            </p:cNvSpPr>
            <p:nvPr/>
          </p:nvSpPr>
          <p:spPr bwMode="auto">
            <a:xfrm flipH="1">
              <a:off x="896" y="1363"/>
              <a:ext cx="534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8" name="Line 26"/>
            <p:cNvSpPr>
              <a:spLocks noChangeShapeType="1"/>
            </p:cNvSpPr>
            <p:nvPr/>
          </p:nvSpPr>
          <p:spPr bwMode="auto">
            <a:xfrm>
              <a:off x="1674" y="1378"/>
              <a:ext cx="378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7899" name="Text Box 27"/>
          <p:cNvSpPr txBox="1">
            <a:spLocks noChangeArrowheads="1"/>
          </p:cNvSpPr>
          <p:nvPr/>
        </p:nvSpPr>
        <p:spPr bwMode="auto">
          <a:xfrm>
            <a:off x="6470650" y="2514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2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0" name="Text Box 28"/>
          <p:cNvSpPr txBox="1">
            <a:spLocks noChangeArrowheads="1"/>
          </p:cNvSpPr>
          <p:nvPr/>
        </p:nvSpPr>
        <p:spPr bwMode="auto">
          <a:xfrm>
            <a:off x="4914900" y="2514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1" name="Text Box 29"/>
          <p:cNvSpPr txBox="1">
            <a:spLocks noChangeArrowheads="1"/>
          </p:cNvSpPr>
          <p:nvPr/>
        </p:nvSpPr>
        <p:spPr bwMode="auto">
          <a:xfrm>
            <a:off x="681990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2" name="Text Box 30"/>
          <p:cNvSpPr txBox="1">
            <a:spLocks noChangeArrowheads="1"/>
          </p:cNvSpPr>
          <p:nvPr/>
        </p:nvSpPr>
        <p:spPr bwMode="auto">
          <a:xfrm>
            <a:off x="7766050" y="3657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7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3" name="Text Box 31"/>
          <p:cNvSpPr txBox="1">
            <a:spLocks noChangeArrowheads="1"/>
          </p:cNvSpPr>
          <p:nvPr/>
        </p:nvSpPr>
        <p:spPr bwMode="auto">
          <a:xfrm>
            <a:off x="6056314" y="4724400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4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4" name="Text Box 32"/>
          <p:cNvSpPr txBox="1">
            <a:spLocks noChangeArrowheads="1"/>
          </p:cNvSpPr>
          <p:nvPr/>
        </p:nvSpPr>
        <p:spPr bwMode="auto">
          <a:xfrm>
            <a:off x="7004050" y="4724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5" name="Text Box 33"/>
          <p:cNvSpPr txBox="1">
            <a:spLocks noChangeArrowheads="1"/>
          </p:cNvSpPr>
          <p:nvPr/>
        </p:nvSpPr>
        <p:spPr bwMode="auto">
          <a:xfrm>
            <a:off x="3879850" y="3048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solidFill>
                  <a:schemeClr val="accent1"/>
                </a:solidFill>
                <a:latin typeface="Times New Roman" pitchFamily="18" charset="0"/>
              </a:rPr>
              <a:t>[5]</a:t>
            </a:r>
            <a:endParaRPr lang="en-US" altLang="x-none" sz="2400">
              <a:solidFill>
                <a:schemeClr val="accent1"/>
              </a:solidFill>
              <a:latin typeface="Times New Roman" pitchFamily="18" charset="0"/>
            </a:endParaRPr>
          </a:p>
        </p:txBody>
      </p:sp>
      <p:sp>
        <p:nvSpPr>
          <p:cNvPr id="207906" name="Text Box 34"/>
          <p:cNvSpPr txBox="1">
            <a:spLocks noChangeArrowheads="1"/>
          </p:cNvSpPr>
          <p:nvPr/>
        </p:nvSpPr>
        <p:spPr bwMode="auto">
          <a:xfrm>
            <a:off x="7842250" y="29718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[2]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7" name="Text Box 35"/>
          <p:cNvSpPr txBox="1">
            <a:spLocks noChangeArrowheads="1"/>
          </p:cNvSpPr>
          <p:nvPr/>
        </p:nvSpPr>
        <p:spPr bwMode="auto">
          <a:xfrm>
            <a:off x="8528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8" name="Text Box 36"/>
          <p:cNvSpPr txBox="1">
            <a:spLocks noChangeArrowheads="1"/>
          </p:cNvSpPr>
          <p:nvPr/>
        </p:nvSpPr>
        <p:spPr bwMode="auto">
          <a:xfrm>
            <a:off x="5861050" y="41910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[3]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09" name="Text Box 37"/>
          <p:cNvSpPr txBox="1">
            <a:spLocks noChangeArrowheads="1"/>
          </p:cNvSpPr>
          <p:nvPr/>
        </p:nvSpPr>
        <p:spPr bwMode="auto">
          <a:xfrm>
            <a:off x="5099050" y="54102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[7]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207910" name="Text Box 38"/>
          <p:cNvSpPr txBox="1">
            <a:spLocks noChangeArrowheads="1"/>
          </p:cNvSpPr>
          <p:nvPr/>
        </p:nvSpPr>
        <p:spPr bwMode="auto">
          <a:xfrm>
            <a:off x="7766050" y="54102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[8]</a:t>
            </a:r>
            <a:endParaRPr lang="en-US" altLang="x-none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26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0BC3E-0F91-40A8-B0E1-9A1CBBC43317}" type="slidenum">
              <a:rPr lang="en-GB" altLang="x-none"/>
              <a:pPr/>
              <a:t>29</a:t>
            </a:fld>
            <a:endParaRPr lang="en-GB" altLang="x-none"/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x-none"/>
              <a:t>Uniform Cost Search (UCS)</a:t>
            </a:r>
          </a:p>
        </p:txBody>
      </p:sp>
      <p:grpSp>
        <p:nvGrpSpPr>
          <p:cNvPr id="209968" name="Group 48"/>
          <p:cNvGrpSpPr>
            <a:grpSpLocks/>
          </p:cNvGrpSpPr>
          <p:nvPr/>
        </p:nvGrpSpPr>
        <p:grpSpPr bwMode="auto">
          <a:xfrm>
            <a:off x="2813050" y="2209801"/>
            <a:ext cx="6254750" cy="3776663"/>
            <a:chOff x="812" y="1392"/>
            <a:chExt cx="3940" cy="2379"/>
          </a:xfrm>
        </p:grpSpPr>
        <p:sp>
          <p:nvSpPr>
            <p:cNvPr id="209924" name="Oval 4"/>
            <p:cNvSpPr>
              <a:spLocks noChangeArrowheads="1"/>
            </p:cNvSpPr>
            <p:nvPr/>
          </p:nvSpPr>
          <p:spPr bwMode="auto">
            <a:xfrm>
              <a:off x="2571" y="139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5" name="Text Box 5"/>
            <p:cNvSpPr txBox="1">
              <a:spLocks noChangeArrowheads="1"/>
            </p:cNvSpPr>
            <p:nvPr/>
          </p:nvSpPr>
          <p:spPr bwMode="auto"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9926" name="Oval 6"/>
            <p:cNvSpPr>
              <a:spLocks noChangeArrowheads="1"/>
            </p:cNvSpPr>
            <p:nvPr/>
          </p:nvSpPr>
          <p:spPr bwMode="auto">
            <a:xfrm>
              <a:off x="1820" y="1922"/>
              <a:ext cx="269" cy="2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7" name="Text Box 7"/>
            <p:cNvSpPr txBox="1">
              <a:spLocks noChangeArrowheads="1"/>
            </p:cNvSpPr>
            <p:nvPr/>
          </p:nvSpPr>
          <p:spPr bwMode="auto"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9928" name="Oval 8"/>
            <p:cNvSpPr>
              <a:spLocks noChangeArrowheads="1"/>
            </p:cNvSpPr>
            <p:nvPr/>
          </p:nvSpPr>
          <p:spPr bwMode="auto"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29" name="Text Box 9"/>
            <p:cNvSpPr txBox="1">
              <a:spLocks noChangeArrowheads="1"/>
            </p:cNvSpPr>
            <p:nvPr/>
          </p:nvSpPr>
          <p:spPr bwMode="auto"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9930" name="Oval 10"/>
            <p:cNvSpPr>
              <a:spLocks noChangeArrowheads="1"/>
            </p:cNvSpPr>
            <p:nvPr/>
          </p:nvSpPr>
          <p:spPr bwMode="auto">
            <a:xfrm>
              <a:off x="4047" y="2640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1" name="Text Box 11"/>
            <p:cNvSpPr txBox="1">
              <a:spLocks noChangeArrowheads="1"/>
            </p:cNvSpPr>
            <p:nvPr/>
          </p:nvSpPr>
          <p:spPr bwMode="auto">
            <a:xfrm>
              <a:off x="4112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9932" name="Oval 12"/>
            <p:cNvSpPr>
              <a:spLocks noChangeArrowheads="1"/>
            </p:cNvSpPr>
            <p:nvPr/>
          </p:nvSpPr>
          <p:spPr bwMode="auto">
            <a:xfrm>
              <a:off x="3143" y="2640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3" name="Text Box 13"/>
            <p:cNvSpPr txBox="1">
              <a:spLocks noChangeArrowheads="1"/>
            </p:cNvSpPr>
            <p:nvPr/>
          </p:nvSpPr>
          <p:spPr bwMode="auto">
            <a:xfrm>
              <a:off x="3209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9934" name="Line 14"/>
            <p:cNvSpPr>
              <a:spLocks noChangeShapeType="1"/>
            </p:cNvSpPr>
            <p:nvPr/>
          </p:nvSpPr>
          <p:spPr bwMode="auto">
            <a:xfrm flipH="1">
              <a:off x="2062" y="1611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5" name="Line 15"/>
            <p:cNvSpPr>
              <a:spLocks noChangeShapeType="1"/>
            </p:cNvSpPr>
            <p:nvPr/>
          </p:nvSpPr>
          <p:spPr bwMode="auto">
            <a:xfrm flipH="1">
              <a:off x="3364" y="2185"/>
              <a:ext cx="296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6" name="Line 16"/>
            <p:cNvSpPr>
              <a:spLocks noChangeShapeType="1"/>
            </p:cNvSpPr>
            <p:nvPr/>
          </p:nvSpPr>
          <p:spPr bwMode="auto">
            <a:xfrm>
              <a:off x="3791" y="219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37" name="Line 17"/>
            <p:cNvSpPr>
              <a:spLocks noChangeShapeType="1"/>
            </p:cNvSpPr>
            <p:nvPr/>
          </p:nvSpPr>
          <p:spPr bwMode="auto">
            <a:xfrm>
              <a:off x="2806" y="1622"/>
              <a:ext cx="787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9938" name="Group 18"/>
            <p:cNvGrpSpPr>
              <a:grpSpLocks/>
            </p:cNvGrpSpPr>
            <p:nvPr/>
          </p:nvGrpSpPr>
          <p:grpSpPr bwMode="auto">
            <a:xfrm>
              <a:off x="3580" y="3412"/>
              <a:ext cx="270" cy="359"/>
              <a:chOff x="2400" y="864"/>
              <a:chExt cx="432" cy="554"/>
            </a:xfrm>
          </p:grpSpPr>
          <p:sp>
            <p:nvSpPr>
              <p:cNvPr id="209939" name="Oval 19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40" name="Text Box 20"/>
              <p:cNvSpPr txBox="1">
                <a:spLocks noChangeArrowheads="1"/>
              </p:cNvSpPr>
              <p:nvPr/>
            </p:nvSpPr>
            <p:spPr bwMode="auto"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09941" name="Group 21"/>
            <p:cNvGrpSpPr>
              <a:grpSpLocks/>
            </p:cNvGrpSpPr>
            <p:nvPr/>
          </p:nvGrpSpPr>
          <p:grpSpPr bwMode="auto">
            <a:xfrm>
              <a:off x="2679" y="3412"/>
              <a:ext cx="270" cy="359"/>
              <a:chOff x="2400" y="864"/>
              <a:chExt cx="432" cy="554"/>
            </a:xfrm>
          </p:grpSpPr>
          <p:sp>
            <p:nvSpPr>
              <p:cNvPr id="209942" name="Oval 22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43" name="Text Box 23"/>
              <p:cNvSpPr txBox="1">
                <a:spLocks noChangeArrowheads="1"/>
              </p:cNvSpPr>
              <p:nvPr/>
            </p:nvSpPr>
            <p:spPr bwMode="auto"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09944" name="Group 24"/>
            <p:cNvGrpSpPr>
              <a:grpSpLocks/>
            </p:cNvGrpSpPr>
            <p:nvPr/>
          </p:nvGrpSpPr>
          <p:grpSpPr bwMode="auto">
            <a:xfrm>
              <a:off x="2878" y="2957"/>
              <a:ext cx="725" cy="505"/>
              <a:chOff x="896" y="1363"/>
              <a:chExt cx="1156" cy="778"/>
            </a:xfrm>
          </p:grpSpPr>
          <p:sp>
            <p:nvSpPr>
              <p:cNvPr id="209945" name="Line 25"/>
              <p:cNvSpPr>
                <a:spLocks noChangeShapeType="1"/>
              </p:cNvSpPr>
              <p:nvPr/>
            </p:nvSpPr>
            <p:spPr bwMode="auto">
              <a:xfrm flipH="1">
                <a:off x="896" y="1363"/>
                <a:ext cx="534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46" name="Line 26"/>
              <p:cNvSpPr>
                <a:spLocks noChangeShapeType="1"/>
              </p:cNvSpPr>
              <p:nvPr/>
            </p:nvSpPr>
            <p:spPr bwMode="auto">
              <a:xfrm>
                <a:off x="1674" y="1378"/>
                <a:ext cx="378" cy="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9947" name="Text Box 27"/>
            <p:cNvSpPr txBox="1">
              <a:spLocks noChangeArrowheads="1"/>
            </p:cNvSpPr>
            <p:nvPr/>
          </p:nvSpPr>
          <p:spPr bwMode="auto"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48" name="Text Box 28"/>
            <p:cNvSpPr txBox="1">
              <a:spLocks noChangeArrowheads="1"/>
            </p:cNvSpPr>
            <p:nvPr/>
          </p:nvSpPr>
          <p:spPr bwMode="auto"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49" name="Text Box 29"/>
            <p:cNvSpPr txBox="1">
              <a:spLocks noChangeArrowheads="1"/>
            </p:cNvSpPr>
            <p:nvPr/>
          </p:nvSpPr>
          <p:spPr bwMode="auto">
            <a:xfrm>
              <a:off x="3336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0" name="Text Box 30"/>
            <p:cNvSpPr txBox="1">
              <a:spLocks noChangeArrowheads="1"/>
            </p:cNvSpPr>
            <p:nvPr/>
          </p:nvSpPr>
          <p:spPr bwMode="auto">
            <a:xfrm>
              <a:off x="3932" y="230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1" name="Text Box 31"/>
            <p:cNvSpPr txBox="1">
              <a:spLocks noChangeArrowheads="1"/>
            </p:cNvSpPr>
            <p:nvPr/>
          </p:nvSpPr>
          <p:spPr bwMode="auto">
            <a:xfrm>
              <a:off x="2855" y="2976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2" name="Text Box 32"/>
            <p:cNvSpPr txBox="1">
              <a:spLocks noChangeArrowheads="1"/>
            </p:cNvSpPr>
            <p:nvPr/>
          </p:nvSpPr>
          <p:spPr bwMode="auto">
            <a:xfrm>
              <a:off x="3452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3" name="Text Box 33"/>
            <p:cNvSpPr txBox="1">
              <a:spLocks noChangeArrowheads="1"/>
            </p:cNvSpPr>
            <p:nvPr/>
          </p:nvSpPr>
          <p:spPr bwMode="auto"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[5]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4" name="Text Box 34"/>
            <p:cNvSpPr txBox="1">
              <a:spLocks noChangeArrowheads="1"/>
            </p:cNvSpPr>
            <p:nvPr/>
          </p:nvSpPr>
          <p:spPr bwMode="auto"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[2]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5" name="Text Box 35"/>
            <p:cNvSpPr txBox="1">
              <a:spLocks noChangeArrowheads="1"/>
            </p:cNvSpPr>
            <p:nvPr/>
          </p:nvSpPr>
          <p:spPr bwMode="auto">
            <a:xfrm>
              <a:off x="441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6" name="Text Box 36"/>
            <p:cNvSpPr txBox="1">
              <a:spLocks noChangeArrowheads="1"/>
            </p:cNvSpPr>
            <p:nvPr/>
          </p:nvSpPr>
          <p:spPr bwMode="auto">
            <a:xfrm>
              <a:off x="273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[3]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7" name="Text Box 37"/>
            <p:cNvSpPr txBox="1">
              <a:spLocks noChangeArrowheads="1"/>
            </p:cNvSpPr>
            <p:nvPr/>
          </p:nvSpPr>
          <p:spPr bwMode="auto">
            <a:xfrm>
              <a:off x="225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[7]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8" name="Text Box 38"/>
            <p:cNvSpPr txBox="1">
              <a:spLocks noChangeArrowheads="1"/>
            </p:cNvSpPr>
            <p:nvPr/>
          </p:nvSpPr>
          <p:spPr bwMode="auto">
            <a:xfrm>
              <a:off x="393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[8]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59" name="Line 39"/>
            <p:cNvSpPr>
              <a:spLocks noChangeShapeType="1"/>
            </p:cNvSpPr>
            <p:nvPr/>
          </p:nvSpPr>
          <p:spPr bwMode="auto">
            <a:xfrm flipH="1">
              <a:off x="1340" y="2160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0" name="Line 40"/>
            <p:cNvSpPr>
              <a:spLocks noChangeShapeType="1"/>
            </p:cNvSpPr>
            <p:nvPr/>
          </p:nvSpPr>
          <p:spPr bwMode="auto">
            <a:xfrm>
              <a:off x="2012" y="220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61" name="Oval 41"/>
            <p:cNvSpPr>
              <a:spLocks noChangeArrowheads="1"/>
            </p:cNvSpPr>
            <p:nvPr/>
          </p:nvSpPr>
          <p:spPr bwMode="auto">
            <a:xfrm>
              <a:off x="1148" y="2544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400" b="1" dirty="0">
                  <a:latin typeface="Times" pitchFamily="2" charset="0"/>
                </a:rPr>
                <a:t>D</a:t>
              </a:r>
            </a:p>
          </p:txBody>
        </p:sp>
        <p:sp>
          <p:nvSpPr>
            <p:cNvPr id="209962" name="Text Box 42"/>
            <p:cNvSpPr txBox="1">
              <a:spLocks noChangeArrowheads="1"/>
            </p:cNvSpPr>
            <p:nvPr/>
          </p:nvSpPr>
          <p:spPr bwMode="auto">
            <a:xfrm>
              <a:off x="1340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63" name="Text Box 43"/>
            <p:cNvSpPr txBox="1">
              <a:spLocks noChangeArrowheads="1"/>
            </p:cNvSpPr>
            <p:nvPr/>
          </p:nvSpPr>
          <p:spPr bwMode="auto">
            <a:xfrm>
              <a:off x="2108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64" name="Oval 44"/>
            <p:cNvSpPr>
              <a:spLocks noChangeArrowheads="1"/>
            </p:cNvSpPr>
            <p:nvPr/>
          </p:nvSpPr>
          <p:spPr bwMode="auto">
            <a:xfrm>
              <a:off x="2204" y="2736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x-none" sz="2400" dirty="0">
                  <a:latin typeface="Times" pitchFamily="2" charset="0"/>
                </a:rPr>
                <a:t>E</a:t>
              </a:r>
              <a:endParaRPr lang="x-none" altLang="x-none" sz="2000">
                <a:latin typeface="Times" pitchFamily="2" charset="0"/>
              </a:endParaRPr>
            </a:p>
          </p:txBody>
        </p:sp>
        <p:sp>
          <p:nvSpPr>
            <p:cNvPr id="209965" name="Text Box 45"/>
            <p:cNvSpPr txBox="1">
              <a:spLocks noChangeArrowheads="1"/>
            </p:cNvSpPr>
            <p:nvPr/>
          </p:nvSpPr>
          <p:spPr bwMode="auto">
            <a:xfrm>
              <a:off x="1820" y="273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9966" name="Text Box 46"/>
            <p:cNvSpPr txBox="1">
              <a:spLocks noChangeArrowheads="1"/>
            </p:cNvSpPr>
            <p:nvPr/>
          </p:nvSpPr>
          <p:spPr bwMode="auto">
            <a:xfrm>
              <a:off x="81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accent1"/>
                  </a:solidFill>
                  <a:latin typeface="Times New Roman" pitchFamily="18" charset="0"/>
                </a:rPr>
                <a:t>[6]</a:t>
              </a:r>
              <a:endParaRPr lang="en-US" altLang="x-none" sz="240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</p:grpSp>
      <p:sp>
        <p:nvSpPr>
          <p:cNvPr id="48" name="Oval 4"/>
          <p:cNvSpPr>
            <a:spLocks noChangeArrowheads="1"/>
          </p:cNvSpPr>
          <p:nvPr/>
        </p:nvSpPr>
        <p:spPr bwMode="auto">
          <a:xfrm>
            <a:off x="5611813" y="2204926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5"/>
          <p:cNvSpPr txBox="1">
            <a:spLocks noChangeArrowheads="1"/>
          </p:cNvSpPr>
          <p:nvPr/>
        </p:nvSpPr>
        <p:spPr bwMode="auto">
          <a:xfrm>
            <a:off x="5603333" y="2204927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A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50" name="Oval 6"/>
          <p:cNvSpPr>
            <a:spLocks noChangeArrowheads="1"/>
          </p:cNvSpPr>
          <p:nvPr/>
        </p:nvSpPr>
        <p:spPr bwMode="auto">
          <a:xfrm>
            <a:off x="4419600" y="3046301"/>
            <a:ext cx="427038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4418350" y="3043127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B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52" name="Oval 8"/>
          <p:cNvSpPr>
            <a:spLocks noChangeArrowheads="1"/>
          </p:cNvSpPr>
          <p:nvPr/>
        </p:nvSpPr>
        <p:spPr bwMode="auto">
          <a:xfrm>
            <a:off x="7237413" y="3046301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7239338" y="3043127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C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54" name="Oval 10"/>
          <p:cNvSpPr>
            <a:spLocks noChangeArrowheads="1"/>
          </p:cNvSpPr>
          <p:nvPr/>
        </p:nvSpPr>
        <p:spPr bwMode="auto">
          <a:xfrm>
            <a:off x="7954964" y="4186126"/>
            <a:ext cx="427037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Text Box 11"/>
          <p:cNvSpPr txBox="1">
            <a:spLocks noChangeArrowheads="1"/>
          </p:cNvSpPr>
          <p:nvPr/>
        </p:nvSpPr>
        <p:spPr bwMode="auto">
          <a:xfrm>
            <a:off x="7946483" y="4186127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G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56" name="Oval 12"/>
          <p:cNvSpPr>
            <a:spLocks noChangeArrowheads="1"/>
          </p:cNvSpPr>
          <p:nvPr/>
        </p:nvSpPr>
        <p:spPr bwMode="auto">
          <a:xfrm>
            <a:off x="6519863" y="4186126"/>
            <a:ext cx="430212" cy="4445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Text Box 13"/>
          <p:cNvSpPr txBox="1">
            <a:spLocks noChangeArrowheads="1"/>
          </p:cNvSpPr>
          <p:nvPr/>
        </p:nvSpPr>
        <p:spPr bwMode="auto">
          <a:xfrm>
            <a:off x="6538619" y="4186127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F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 flipH="1">
            <a:off x="4803775" y="2552589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15"/>
          <p:cNvSpPr>
            <a:spLocks noChangeShapeType="1"/>
          </p:cNvSpPr>
          <p:nvPr/>
        </p:nvSpPr>
        <p:spPr bwMode="auto">
          <a:xfrm flipH="1">
            <a:off x="6870700" y="3463814"/>
            <a:ext cx="46990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7548563" y="3484452"/>
            <a:ext cx="442912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5984876" y="2570052"/>
            <a:ext cx="1249363" cy="70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" name="Group 18"/>
          <p:cNvGrpSpPr>
            <a:grpSpLocks/>
          </p:cNvGrpSpPr>
          <p:nvPr/>
        </p:nvGrpSpPr>
        <p:grpSpPr bwMode="auto">
          <a:xfrm>
            <a:off x="7213601" y="5405504"/>
            <a:ext cx="428625" cy="461897"/>
            <a:chOff x="2400" y="858"/>
            <a:chExt cx="432" cy="449"/>
          </a:xfrm>
        </p:grpSpPr>
        <p:sp>
          <p:nvSpPr>
            <p:cNvPr id="63" name="Oval 19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Text Box 20"/>
            <p:cNvSpPr txBox="1">
              <a:spLocks noChangeArrowheads="1"/>
            </p:cNvSpPr>
            <p:nvPr/>
          </p:nvSpPr>
          <p:spPr bwMode="auto">
            <a:xfrm>
              <a:off x="2450" y="858"/>
              <a:ext cx="29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I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65" name="Group 21"/>
          <p:cNvGrpSpPr>
            <a:grpSpLocks/>
          </p:cNvGrpSpPr>
          <p:nvPr/>
        </p:nvGrpSpPr>
        <p:grpSpPr bwMode="auto">
          <a:xfrm>
            <a:off x="5775329" y="5405504"/>
            <a:ext cx="436563" cy="461897"/>
            <a:chOff x="2392" y="858"/>
            <a:chExt cx="440" cy="449"/>
          </a:xfrm>
        </p:grpSpPr>
        <p:sp>
          <p:nvSpPr>
            <p:cNvPr id="66" name="Oval 22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Text Box 23"/>
            <p:cNvSpPr txBox="1">
              <a:spLocks noChangeArrowheads="1"/>
            </p:cNvSpPr>
            <p:nvPr/>
          </p:nvSpPr>
          <p:spPr bwMode="auto">
            <a:xfrm>
              <a:off x="2392" y="858"/>
              <a:ext cx="411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H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68" name="Group 24"/>
          <p:cNvGrpSpPr>
            <a:grpSpLocks/>
          </p:cNvGrpSpPr>
          <p:nvPr/>
        </p:nvGrpSpPr>
        <p:grpSpPr bwMode="auto">
          <a:xfrm>
            <a:off x="6099175" y="4689365"/>
            <a:ext cx="1150938" cy="801687"/>
            <a:chOff x="896" y="1363"/>
            <a:chExt cx="1156" cy="778"/>
          </a:xfrm>
        </p:grpSpPr>
        <p:sp>
          <p:nvSpPr>
            <p:cNvPr id="69" name="Line 25"/>
            <p:cNvSpPr>
              <a:spLocks noChangeShapeType="1"/>
            </p:cNvSpPr>
            <p:nvPr/>
          </p:nvSpPr>
          <p:spPr bwMode="auto">
            <a:xfrm flipH="1">
              <a:off x="896" y="1363"/>
              <a:ext cx="534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Line 26"/>
            <p:cNvSpPr>
              <a:spLocks noChangeShapeType="1"/>
            </p:cNvSpPr>
            <p:nvPr/>
          </p:nvSpPr>
          <p:spPr bwMode="auto">
            <a:xfrm>
              <a:off x="1674" y="1378"/>
              <a:ext cx="378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" name="Text Box 27"/>
          <p:cNvSpPr txBox="1">
            <a:spLocks noChangeArrowheads="1"/>
          </p:cNvSpPr>
          <p:nvPr/>
        </p:nvSpPr>
        <p:spPr bwMode="auto">
          <a:xfrm>
            <a:off x="6477000" y="2509726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2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2" name="Text Box 28"/>
          <p:cNvSpPr txBox="1">
            <a:spLocks noChangeArrowheads="1"/>
          </p:cNvSpPr>
          <p:nvPr/>
        </p:nvSpPr>
        <p:spPr bwMode="auto">
          <a:xfrm>
            <a:off x="4921250" y="25097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3" name="Text Box 29"/>
          <p:cNvSpPr txBox="1">
            <a:spLocks noChangeArrowheads="1"/>
          </p:cNvSpPr>
          <p:nvPr/>
        </p:nvSpPr>
        <p:spPr bwMode="auto">
          <a:xfrm>
            <a:off x="6826250" y="357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4" name="Text Box 30"/>
          <p:cNvSpPr txBox="1">
            <a:spLocks noChangeArrowheads="1"/>
          </p:cNvSpPr>
          <p:nvPr/>
        </p:nvSpPr>
        <p:spPr bwMode="auto">
          <a:xfrm>
            <a:off x="7772400" y="3652726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7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5" name="Text Box 31"/>
          <p:cNvSpPr txBox="1">
            <a:spLocks noChangeArrowheads="1"/>
          </p:cNvSpPr>
          <p:nvPr/>
        </p:nvSpPr>
        <p:spPr bwMode="auto">
          <a:xfrm>
            <a:off x="6062664" y="4719526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4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7010400" y="4719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7" name="Text Box 33"/>
          <p:cNvSpPr txBox="1">
            <a:spLocks noChangeArrowheads="1"/>
          </p:cNvSpPr>
          <p:nvPr/>
        </p:nvSpPr>
        <p:spPr bwMode="auto">
          <a:xfrm>
            <a:off x="3886200" y="3043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solidFill>
                  <a:schemeClr val="accent1"/>
                </a:solidFill>
                <a:latin typeface="Times New Roman" pitchFamily="18" charset="0"/>
              </a:rPr>
              <a:t>[5]</a:t>
            </a:r>
            <a:endParaRPr lang="en-US" altLang="x-none" sz="2400">
              <a:solidFill>
                <a:schemeClr val="accent1"/>
              </a:solidFill>
              <a:latin typeface="Times New Roman" pitchFamily="18" charset="0"/>
            </a:endParaRPr>
          </a:p>
        </p:txBody>
      </p:sp>
      <p:sp>
        <p:nvSpPr>
          <p:cNvPr id="78" name="Text Box 34"/>
          <p:cNvSpPr txBox="1">
            <a:spLocks noChangeArrowheads="1"/>
          </p:cNvSpPr>
          <p:nvPr/>
        </p:nvSpPr>
        <p:spPr bwMode="auto">
          <a:xfrm>
            <a:off x="7848600" y="29669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[2]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79" name="Text Box 35"/>
          <p:cNvSpPr txBox="1">
            <a:spLocks noChangeArrowheads="1"/>
          </p:cNvSpPr>
          <p:nvPr/>
        </p:nvSpPr>
        <p:spPr bwMode="auto">
          <a:xfrm>
            <a:off x="8534400" y="4186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80" name="Text Box 36"/>
          <p:cNvSpPr txBox="1">
            <a:spLocks noChangeArrowheads="1"/>
          </p:cNvSpPr>
          <p:nvPr/>
        </p:nvSpPr>
        <p:spPr bwMode="auto">
          <a:xfrm>
            <a:off x="5867400" y="4186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[3]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81" name="Text Box 37"/>
          <p:cNvSpPr txBox="1">
            <a:spLocks noChangeArrowheads="1"/>
          </p:cNvSpPr>
          <p:nvPr/>
        </p:nvSpPr>
        <p:spPr bwMode="auto">
          <a:xfrm>
            <a:off x="5105400" y="54053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[7]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82" name="Text Box 38"/>
          <p:cNvSpPr txBox="1">
            <a:spLocks noChangeArrowheads="1"/>
          </p:cNvSpPr>
          <p:nvPr/>
        </p:nvSpPr>
        <p:spPr bwMode="auto">
          <a:xfrm>
            <a:off x="7772400" y="54053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[8]</a:t>
            </a:r>
            <a:endParaRPr lang="en-US" altLang="x-none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08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4CA11-2A2F-481F-AE0D-9D7EC7156D68}" type="slidenum">
              <a:rPr lang="en-GB" altLang="x-none"/>
              <a:pPr/>
              <a:t>30</a:t>
            </a:fld>
            <a:endParaRPr lang="en-GB" altLang="x-none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x-none"/>
              <a:t>Uniform Cost Search (UCS)</a:t>
            </a:r>
          </a:p>
        </p:txBody>
      </p:sp>
      <p:grpSp>
        <p:nvGrpSpPr>
          <p:cNvPr id="208944" name="Group 48"/>
          <p:cNvGrpSpPr>
            <a:grpSpLocks/>
          </p:cNvGrpSpPr>
          <p:nvPr/>
        </p:nvGrpSpPr>
        <p:grpSpPr bwMode="auto">
          <a:xfrm>
            <a:off x="2057400" y="2209801"/>
            <a:ext cx="7010400" cy="3776663"/>
            <a:chOff x="336" y="1392"/>
            <a:chExt cx="4416" cy="2379"/>
          </a:xfrm>
        </p:grpSpPr>
        <p:sp>
          <p:nvSpPr>
            <p:cNvPr id="208900" name="Oval 4"/>
            <p:cNvSpPr>
              <a:spLocks noChangeArrowheads="1"/>
            </p:cNvSpPr>
            <p:nvPr/>
          </p:nvSpPr>
          <p:spPr bwMode="auto">
            <a:xfrm>
              <a:off x="2571" y="139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01" name="Text Box 5"/>
            <p:cNvSpPr txBox="1">
              <a:spLocks noChangeArrowheads="1"/>
            </p:cNvSpPr>
            <p:nvPr/>
          </p:nvSpPr>
          <p:spPr bwMode="auto"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8902" name="Oval 6"/>
            <p:cNvSpPr>
              <a:spLocks noChangeArrowheads="1"/>
            </p:cNvSpPr>
            <p:nvPr/>
          </p:nvSpPr>
          <p:spPr bwMode="auto">
            <a:xfrm>
              <a:off x="1820" y="1922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03" name="Text Box 7"/>
            <p:cNvSpPr txBox="1">
              <a:spLocks noChangeArrowheads="1"/>
            </p:cNvSpPr>
            <p:nvPr/>
          </p:nvSpPr>
          <p:spPr bwMode="auto"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8904" name="Oval 8"/>
            <p:cNvSpPr>
              <a:spLocks noChangeArrowheads="1"/>
            </p:cNvSpPr>
            <p:nvPr/>
          </p:nvSpPr>
          <p:spPr bwMode="auto"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05" name="Text Box 9"/>
            <p:cNvSpPr txBox="1">
              <a:spLocks noChangeArrowheads="1"/>
            </p:cNvSpPr>
            <p:nvPr/>
          </p:nvSpPr>
          <p:spPr bwMode="auto"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8906" name="Oval 10"/>
            <p:cNvSpPr>
              <a:spLocks noChangeArrowheads="1"/>
            </p:cNvSpPr>
            <p:nvPr/>
          </p:nvSpPr>
          <p:spPr bwMode="auto">
            <a:xfrm>
              <a:off x="4047" y="2640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07" name="Text Box 11"/>
            <p:cNvSpPr txBox="1">
              <a:spLocks noChangeArrowheads="1"/>
            </p:cNvSpPr>
            <p:nvPr/>
          </p:nvSpPr>
          <p:spPr bwMode="auto">
            <a:xfrm>
              <a:off x="4112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8908" name="Oval 12"/>
            <p:cNvSpPr>
              <a:spLocks noChangeArrowheads="1"/>
            </p:cNvSpPr>
            <p:nvPr/>
          </p:nvSpPr>
          <p:spPr bwMode="auto">
            <a:xfrm>
              <a:off x="3143" y="2640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09" name="Text Box 13"/>
            <p:cNvSpPr txBox="1">
              <a:spLocks noChangeArrowheads="1"/>
            </p:cNvSpPr>
            <p:nvPr/>
          </p:nvSpPr>
          <p:spPr bwMode="auto">
            <a:xfrm>
              <a:off x="3209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08910" name="Line 14"/>
            <p:cNvSpPr>
              <a:spLocks noChangeShapeType="1"/>
            </p:cNvSpPr>
            <p:nvPr/>
          </p:nvSpPr>
          <p:spPr bwMode="auto">
            <a:xfrm flipH="1">
              <a:off x="2062" y="1611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11" name="Line 15"/>
            <p:cNvSpPr>
              <a:spLocks noChangeShapeType="1"/>
            </p:cNvSpPr>
            <p:nvPr/>
          </p:nvSpPr>
          <p:spPr bwMode="auto">
            <a:xfrm flipH="1">
              <a:off x="3364" y="2185"/>
              <a:ext cx="296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12" name="Line 16"/>
            <p:cNvSpPr>
              <a:spLocks noChangeShapeType="1"/>
            </p:cNvSpPr>
            <p:nvPr/>
          </p:nvSpPr>
          <p:spPr bwMode="auto">
            <a:xfrm>
              <a:off x="3791" y="219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13" name="Line 17"/>
            <p:cNvSpPr>
              <a:spLocks noChangeShapeType="1"/>
            </p:cNvSpPr>
            <p:nvPr/>
          </p:nvSpPr>
          <p:spPr bwMode="auto">
            <a:xfrm>
              <a:off x="2806" y="1622"/>
              <a:ext cx="787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8914" name="Group 18"/>
            <p:cNvGrpSpPr>
              <a:grpSpLocks/>
            </p:cNvGrpSpPr>
            <p:nvPr/>
          </p:nvGrpSpPr>
          <p:grpSpPr bwMode="auto">
            <a:xfrm>
              <a:off x="3580" y="3412"/>
              <a:ext cx="270" cy="359"/>
              <a:chOff x="2400" y="864"/>
              <a:chExt cx="432" cy="554"/>
            </a:xfrm>
          </p:grpSpPr>
          <p:sp>
            <p:nvSpPr>
              <p:cNvPr id="208915" name="Oval 19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8916" name="Text Box 20"/>
              <p:cNvSpPr txBox="1">
                <a:spLocks noChangeArrowheads="1"/>
              </p:cNvSpPr>
              <p:nvPr/>
            </p:nvSpPr>
            <p:spPr bwMode="auto"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08917" name="Group 21"/>
            <p:cNvGrpSpPr>
              <a:grpSpLocks/>
            </p:cNvGrpSpPr>
            <p:nvPr/>
          </p:nvGrpSpPr>
          <p:grpSpPr bwMode="auto">
            <a:xfrm>
              <a:off x="2679" y="3412"/>
              <a:ext cx="270" cy="359"/>
              <a:chOff x="2400" y="864"/>
              <a:chExt cx="432" cy="554"/>
            </a:xfrm>
          </p:grpSpPr>
          <p:sp>
            <p:nvSpPr>
              <p:cNvPr id="208918" name="Oval 22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8919" name="Text Box 23"/>
              <p:cNvSpPr txBox="1">
                <a:spLocks noChangeArrowheads="1"/>
              </p:cNvSpPr>
              <p:nvPr/>
            </p:nvSpPr>
            <p:spPr bwMode="auto"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08920" name="Group 24"/>
            <p:cNvGrpSpPr>
              <a:grpSpLocks/>
            </p:cNvGrpSpPr>
            <p:nvPr/>
          </p:nvGrpSpPr>
          <p:grpSpPr bwMode="auto">
            <a:xfrm>
              <a:off x="2878" y="2957"/>
              <a:ext cx="725" cy="505"/>
              <a:chOff x="896" y="1363"/>
              <a:chExt cx="1156" cy="778"/>
            </a:xfrm>
          </p:grpSpPr>
          <p:sp>
            <p:nvSpPr>
              <p:cNvPr id="208921" name="Line 25"/>
              <p:cNvSpPr>
                <a:spLocks noChangeShapeType="1"/>
              </p:cNvSpPr>
              <p:nvPr/>
            </p:nvSpPr>
            <p:spPr bwMode="auto">
              <a:xfrm flipH="1">
                <a:off x="896" y="1363"/>
                <a:ext cx="534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8922" name="Line 26"/>
              <p:cNvSpPr>
                <a:spLocks noChangeShapeType="1"/>
              </p:cNvSpPr>
              <p:nvPr/>
            </p:nvSpPr>
            <p:spPr bwMode="auto">
              <a:xfrm>
                <a:off x="1674" y="1378"/>
                <a:ext cx="378" cy="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8923" name="Text Box 27"/>
            <p:cNvSpPr txBox="1">
              <a:spLocks noChangeArrowheads="1"/>
            </p:cNvSpPr>
            <p:nvPr/>
          </p:nvSpPr>
          <p:spPr bwMode="auto"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24" name="Text Box 28"/>
            <p:cNvSpPr txBox="1">
              <a:spLocks noChangeArrowheads="1"/>
            </p:cNvSpPr>
            <p:nvPr/>
          </p:nvSpPr>
          <p:spPr bwMode="auto"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25" name="Text Box 29"/>
            <p:cNvSpPr txBox="1">
              <a:spLocks noChangeArrowheads="1"/>
            </p:cNvSpPr>
            <p:nvPr/>
          </p:nvSpPr>
          <p:spPr bwMode="auto">
            <a:xfrm>
              <a:off x="3336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26" name="Text Box 30"/>
            <p:cNvSpPr txBox="1">
              <a:spLocks noChangeArrowheads="1"/>
            </p:cNvSpPr>
            <p:nvPr/>
          </p:nvSpPr>
          <p:spPr bwMode="auto">
            <a:xfrm>
              <a:off x="3932" y="230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27" name="Text Box 31"/>
            <p:cNvSpPr txBox="1">
              <a:spLocks noChangeArrowheads="1"/>
            </p:cNvSpPr>
            <p:nvPr/>
          </p:nvSpPr>
          <p:spPr bwMode="auto">
            <a:xfrm>
              <a:off x="2855" y="2976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28" name="Text Box 32"/>
            <p:cNvSpPr txBox="1">
              <a:spLocks noChangeArrowheads="1"/>
            </p:cNvSpPr>
            <p:nvPr/>
          </p:nvSpPr>
          <p:spPr bwMode="auto">
            <a:xfrm>
              <a:off x="3452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29" name="Text Box 33"/>
            <p:cNvSpPr txBox="1">
              <a:spLocks noChangeArrowheads="1"/>
            </p:cNvSpPr>
            <p:nvPr/>
          </p:nvSpPr>
          <p:spPr bwMode="auto"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[5]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0" name="Text Box 34"/>
            <p:cNvSpPr txBox="1">
              <a:spLocks noChangeArrowheads="1"/>
            </p:cNvSpPr>
            <p:nvPr/>
          </p:nvSpPr>
          <p:spPr bwMode="auto"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[2]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1" name="Text Box 35"/>
            <p:cNvSpPr txBox="1">
              <a:spLocks noChangeArrowheads="1"/>
            </p:cNvSpPr>
            <p:nvPr/>
          </p:nvSpPr>
          <p:spPr bwMode="auto">
            <a:xfrm>
              <a:off x="441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2" name="Text Box 36"/>
            <p:cNvSpPr txBox="1">
              <a:spLocks noChangeArrowheads="1"/>
            </p:cNvSpPr>
            <p:nvPr/>
          </p:nvSpPr>
          <p:spPr bwMode="auto">
            <a:xfrm>
              <a:off x="273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[3]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3" name="Text Box 37"/>
            <p:cNvSpPr txBox="1">
              <a:spLocks noChangeArrowheads="1"/>
            </p:cNvSpPr>
            <p:nvPr/>
          </p:nvSpPr>
          <p:spPr bwMode="auto">
            <a:xfrm>
              <a:off x="225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[7]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4" name="Text Box 38"/>
            <p:cNvSpPr txBox="1">
              <a:spLocks noChangeArrowheads="1"/>
            </p:cNvSpPr>
            <p:nvPr/>
          </p:nvSpPr>
          <p:spPr bwMode="auto">
            <a:xfrm>
              <a:off x="393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[8]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5" name="Line 39"/>
            <p:cNvSpPr>
              <a:spLocks noChangeShapeType="1"/>
            </p:cNvSpPr>
            <p:nvPr/>
          </p:nvSpPr>
          <p:spPr bwMode="auto">
            <a:xfrm flipH="1">
              <a:off x="1340" y="2160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36" name="Line 40"/>
            <p:cNvSpPr>
              <a:spLocks noChangeShapeType="1"/>
            </p:cNvSpPr>
            <p:nvPr/>
          </p:nvSpPr>
          <p:spPr bwMode="auto">
            <a:xfrm>
              <a:off x="2012" y="220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37" name="Oval 41"/>
            <p:cNvSpPr>
              <a:spLocks noChangeArrowheads="1"/>
            </p:cNvSpPr>
            <p:nvPr/>
          </p:nvSpPr>
          <p:spPr bwMode="auto">
            <a:xfrm>
              <a:off x="1148" y="2544"/>
              <a:ext cx="271" cy="280"/>
            </a:xfrm>
            <a:prstGeom prst="ellipse">
              <a:avLst/>
            </a:prstGeom>
            <a:solidFill>
              <a:schemeClr val="hlink">
                <a:alpha val="50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938" name="Text Box 42"/>
            <p:cNvSpPr txBox="1">
              <a:spLocks noChangeArrowheads="1"/>
            </p:cNvSpPr>
            <p:nvPr/>
          </p:nvSpPr>
          <p:spPr bwMode="auto">
            <a:xfrm>
              <a:off x="1340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39" name="Text Box 43"/>
            <p:cNvSpPr txBox="1">
              <a:spLocks noChangeArrowheads="1"/>
            </p:cNvSpPr>
            <p:nvPr/>
          </p:nvSpPr>
          <p:spPr bwMode="auto">
            <a:xfrm>
              <a:off x="2108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40" name="Oval 44"/>
            <p:cNvSpPr>
              <a:spLocks noChangeArrowheads="1"/>
            </p:cNvSpPr>
            <p:nvPr/>
          </p:nvSpPr>
          <p:spPr bwMode="auto">
            <a:xfrm>
              <a:off x="2204" y="2736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C0C0C0"/>
                </a:solidFill>
              </a:endParaRPr>
            </a:p>
          </p:txBody>
        </p:sp>
        <p:sp>
          <p:nvSpPr>
            <p:cNvPr id="208941" name="Text Box 45"/>
            <p:cNvSpPr txBox="1">
              <a:spLocks noChangeArrowheads="1"/>
            </p:cNvSpPr>
            <p:nvPr/>
          </p:nvSpPr>
          <p:spPr bwMode="auto">
            <a:xfrm>
              <a:off x="1820" y="273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8942" name="Text Box 46"/>
            <p:cNvSpPr txBox="1">
              <a:spLocks noChangeArrowheads="1"/>
            </p:cNvSpPr>
            <p:nvPr/>
          </p:nvSpPr>
          <p:spPr bwMode="auto">
            <a:xfrm>
              <a:off x="336" y="2132"/>
              <a:ext cx="96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x-none" sz="2400" b="1" dirty="0">
                  <a:solidFill>
                    <a:schemeClr val="hlink"/>
                  </a:solidFill>
                  <a:latin typeface="Times New Roman" pitchFamily="18" charset="0"/>
                </a:rPr>
                <a:t>Goal state path cost g(n)=[6]</a:t>
              </a:r>
              <a:endParaRPr lang="en-US" altLang="x-none" sz="2400" dirty="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8" name="Group 48"/>
          <p:cNvGrpSpPr>
            <a:grpSpLocks/>
          </p:cNvGrpSpPr>
          <p:nvPr/>
        </p:nvGrpSpPr>
        <p:grpSpPr bwMode="auto">
          <a:xfrm>
            <a:off x="3346450" y="2209801"/>
            <a:ext cx="5721350" cy="3776663"/>
            <a:chOff x="1148" y="1392"/>
            <a:chExt cx="3604" cy="2379"/>
          </a:xfrm>
        </p:grpSpPr>
        <p:sp>
          <p:nvSpPr>
            <p:cNvPr id="49" name="Oval 4"/>
            <p:cNvSpPr>
              <a:spLocks noChangeArrowheads="1"/>
            </p:cNvSpPr>
            <p:nvPr/>
          </p:nvSpPr>
          <p:spPr bwMode="auto">
            <a:xfrm>
              <a:off x="2571" y="139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5"/>
            <p:cNvSpPr txBox="1">
              <a:spLocks noChangeArrowheads="1"/>
            </p:cNvSpPr>
            <p:nvPr/>
          </p:nvSpPr>
          <p:spPr bwMode="auto"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1" name="Oval 6"/>
            <p:cNvSpPr>
              <a:spLocks noChangeArrowheads="1"/>
            </p:cNvSpPr>
            <p:nvPr/>
          </p:nvSpPr>
          <p:spPr bwMode="auto">
            <a:xfrm>
              <a:off x="1820" y="1922"/>
              <a:ext cx="269" cy="2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7"/>
            <p:cNvSpPr txBox="1">
              <a:spLocks noChangeArrowheads="1"/>
            </p:cNvSpPr>
            <p:nvPr/>
          </p:nvSpPr>
          <p:spPr bwMode="auto"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3" name="Oval 8"/>
            <p:cNvSpPr>
              <a:spLocks noChangeArrowheads="1"/>
            </p:cNvSpPr>
            <p:nvPr/>
          </p:nvSpPr>
          <p:spPr bwMode="auto"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Text Box 9"/>
            <p:cNvSpPr txBox="1">
              <a:spLocks noChangeArrowheads="1"/>
            </p:cNvSpPr>
            <p:nvPr/>
          </p:nvSpPr>
          <p:spPr bwMode="auto"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5" name="Oval 10"/>
            <p:cNvSpPr>
              <a:spLocks noChangeArrowheads="1"/>
            </p:cNvSpPr>
            <p:nvPr/>
          </p:nvSpPr>
          <p:spPr bwMode="auto">
            <a:xfrm>
              <a:off x="4047" y="2640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Text Box 11"/>
            <p:cNvSpPr txBox="1">
              <a:spLocks noChangeArrowheads="1"/>
            </p:cNvSpPr>
            <p:nvPr/>
          </p:nvSpPr>
          <p:spPr bwMode="auto">
            <a:xfrm>
              <a:off x="4112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7" name="Oval 12"/>
            <p:cNvSpPr>
              <a:spLocks noChangeArrowheads="1"/>
            </p:cNvSpPr>
            <p:nvPr/>
          </p:nvSpPr>
          <p:spPr bwMode="auto">
            <a:xfrm>
              <a:off x="3143" y="2640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13"/>
            <p:cNvSpPr txBox="1">
              <a:spLocks noChangeArrowheads="1"/>
            </p:cNvSpPr>
            <p:nvPr/>
          </p:nvSpPr>
          <p:spPr bwMode="auto">
            <a:xfrm>
              <a:off x="3209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9" name="Line 14"/>
            <p:cNvSpPr>
              <a:spLocks noChangeShapeType="1"/>
            </p:cNvSpPr>
            <p:nvPr/>
          </p:nvSpPr>
          <p:spPr bwMode="auto">
            <a:xfrm flipH="1">
              <a:off x="2062" y="1611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5"/>
            <p:cNvSpPr>
              <a:spLocks noChangeShapeType="1"/>
            </p:cNvSpPr>
            <p:nvPr/>
          </p:nvSpPr>
          <p:spPr bwMode="auto">
            <a:xfrm flipH="1">
              <a:off x="3364" y="2185"/>
              <a:ext cx="296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16"/>
            <p:cNvSpPr>
              <a:spLocks noChangeShapeType="1"/>
            </p:cNvSpPr>
            <p:nvPr/>
          </p:nvSpPr>
          <p:spPr bwMode="auto">
            <a:xfrm>
              <a:off x="3791" y="219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17"/>
            <p:cNvSpPr>
              <a:spLocks noChangeShapeType="1"/>
            </p:cNvSpPr>
            <p:nvPr/>
          </p:nvSpPr>
          <p:spPr bwMode="auto">
            <a:xfrm>
              <a:off x="2806" y="1622"/>
              <a:ext cx="787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3" name="Group 18"/>
            <p:cNvGrpSpPr>
              <a:grpSpLocks/>
            </p:cNvGrpSpPr>
            <p:nvPr/>
          </p:nvGrpSpPr>
          <p:grpSpPr bwMode="auto">
            <a:xfrm>
              <a:off x="3580" y="3412"/>
              <a:ext cx="270" cy="359"/>
              <a:chOff x="2400" y="864"/>
              <a:chExt cx="432" cy="554"/>
            </a:xfrm>
          </p:grpSpPr>
          <p:sp>
            <p:nvSpPr>
              <p:cNvPr id="90" name="Oval 19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Text Box 20"/>
              <p:cNvSpPr txBox="1">
                <a:spLocks noChangeArrowheads="1"/>
              </p:cNvSpPr>
              <p:nvPr/>
            </p:nvSpPr>
            <p:spPr bwMode="auto"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64" name="Group 21"/>
            <p:cNvGrpSpPr>
              <a:grpSpLocks/>
            </p:cNvGrpSpPr>
            <p:nvPr/>
          </p:nvGrpSpPr>
          <p:grpSpPr bwMode="auto">
            <a:xfrm>
              <a:off x="2679" y="3412"/>
              <a:ext cx="270" cy="359"/>
              <a:chOff x="2400" y="864"/>
              <a:chExt cx="432" cy="554"/>
            </a:xfrm>
          </p:grpSpPr>
          <p:sp>
            <p:nvSpPr>
              <p:cNvPr id="88" name="Oval 22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Text Box 23"/>
              <p:cNvSpPr txBox="1">
                <a:spLocks noChangeArrowheads="1"/>
              </p:cNvSpPr>
              <p:nvPr/>
            </p:nvSpPr>
            <p:spPr bwMode="auto"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65" name="Group 24"/>
            <p:cNvGrpSpPr>
              <a:grpSpLocks/>
            </p:cNvGrpSpPr>
            <p:nvPr/>
          </p:nvGrpSpPr>
          <p:grpSpPr bwMode="auto">
            <a:xfrm>
              <a:off x="2878" y="2957"/>
              <a:ext cx="725" cy="505"/>
              <a:chOff x="896" y="1363"/>
              <a:chExt cx="1156" cy="778"/>
            </a:xfrm>
          </p:grpSpPr>
          <p:sp>
            <p:nvSpPr>
              <p:cNvPr id="86" name="Line 25"/>
              <p:cNvSpPr>
                <a:spLocks noChangeShapeType="1"/>
              </p:cNvSpPr>
              <p:nvPr/>
            </p:nvSpPr>
            <p:spPr bwMode="auto">
              <a:xfrm flipH="1">
                <a:off x="896" y="1363"/>
                <a:ext cx="534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Line 26"/>
              <p:cNvSpPr>
                <a:spLocks noChangeShapeType="1"/>
              </p:cNvSpPr>
              <p:nvPr/>
            </p:nvSpPr>
            <p:spPr bwMode="auto">
              <a:xfrm>
                <a:off x="1674" y="1378"/>
                <a:ext cx="378" cy="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6" name="Text Box 27"/>
            <p:cNvSpPr txBox="1">
              <a:spLocks noChangeArrowheads="1"/>
            </p:cNvSpPr>
            <p:nvPr/>
          </p:nvSpPr>
          <p:spPr bwMode="auto"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" name="Text Box 28"/>
            <p:cNvSpPr txBox="1">
              <a:spLocks noChangeArrowheads="1"/>
            </p:cNvSpPr>
            <p:nvPr/>
          </p:nvSpPr>
          <p:spPr bwMode="auto"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8" name="Text Box 29"/>
            <p:cNvSpPr txBox="1">
              <a:spLocks noChangeArrowheads="1"/>
            </p:cNvSpPr>
            <p:nvPr/>
          </p:nvSpPr>
          <p:spPr bwMode="auto">
            <a:xfrm>
              <a:off x="3336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9" name="Text Box 30"/>
            <p:cNvSpPr txBox="1">
              <a:spLocks noChangeArrowheads="1"/>
            </p:cNvSpPr>
            <p:nvPr/>
          </p:nvSpPr>
          <p:spPr bwMode="auto">
            <a:xfrm>
              <a:off x="3932" y="230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0" name="Text Box 31"/>
            <p:cNvSpPr txBox="1">
              <a:spLocks noChangeArrowheads="1"/>
            </p:cNvSpPr>
            <p:nvPr/>
          </p:nvSpPr>
          <p:spPr bwMode="auto">
            <a:xfrm>
              <a:off x="2855" y="2976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1" name="Text Box 32"/>
            <p:cNvSpPr txBox="1">
              <a:spLocks noChangeArrowheads="1"/>
            </p:cNvSpPr>
            <p:nvPr/>
          </p:nvSpPr>
          <p:spPr bwMode="auto">
            <a:xfrm>
              <a:off x="3452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2" name="Text Box 33"/>
            <p:cNvSpPr txBox="1">
              <a:spLocks noChangeArrowheads="1"/>
            </p:cNvSpPr>
            <p:nvPr/>
          </p:nvSpPr>
          <p:spPr bwMode="auto"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[5]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3" name="Text Box 34"/>
            <p:cNvSpPr txBox="1">
              <a:spLocks noChangeArrowheads="1"/>
            </p:cNvSpPr>
            <p:nvPr/>
          </p:nvSpPr>
          <p:spPr bwMode="auto"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[2]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4" name="Text Box 35"/>
            <p:cNvSpPr txBox="1">
              <a:spLocks noChangeArrowheads="1"/>
            </p:cNvSpPr>
            <p:nvPr/>
          </p:nvSpPr>
          <p:spPr bwMode="auto">
            <a:xfrm>
              <a:off x="441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273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[3]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6" name="Text Box 37"/>
            <p:cNvSpPr txBox="1">
              <a:spLocks noChangeArrowheads="1"/>
            </p:cNvSpPr>
            <p:nvPr/>
          </p:nvSpPr>
          <p:spPr bwMode="auto">
            <a:xfrm>
              <a:off x="225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[7]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7" name="Text Box 38"/>
            <p:cNvSpPr txBox="1">
              <a:spLocks noChangeArrowheads="1"/>
            </p:cNvSpPr>
            <p:nvPr/>
          </p:nvSpPr>
          <p:spPr bwMode="auto">
            <a:xfrm>
              <a:off x="393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[8]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8" name="Line 39"/>
            <p:cNvSpPr>
              <a:spLocks noChangeShapeType="1"/>
            </p:cNvSpPr>
            <p:nvPr/>
          </p:nvSpPr>
          <p:spPr bwMode="auto">
            <a:xfrm flipH="1">
              <a:off x="1340" y="2160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40"/>
            <p:cNvSpPr>
              <a:spLocks noChangeShapeType="1"/>
            </p:cNvSpPr>
            <p:nvPr/>
          </p:nvSpPr>
          <p:spPr bwMode="auto">
            <a:xfrm>
              <a:off x="2012" y="220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Oval 41"/>
            <p:cNvSpPr>
              <a:spLocks noChangeArrowheads="1"/>
            </p:cNvSpPr>
            <p:nvPr/>
          </p:nvSpPr>
          <p:spPr bwMode="auto">
            <a:xfrm>
              <a:off x="1148" y="2544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400" b="1" dirty="0">
                  <a:latin typeface="Times" pitchFamily="2" charset="0"/>
                </a:rPr>
                <a:t>D</a:t>
              </a:r>
            </a:p>
          </p:txBody>
        </p:sp>
        <p:sp>
          <p:nvSpPr>
            <p:cNvPr id="81" name="Text Box 42"/>
            <p:cNvSpPr txBox="1">
              <a:spLocks noChangeArrowheads="1"/>
            </p:cNvSpPr>
            <p:nvPr/>
          </p:nvSpPr>
          <p:spPr bwMode="auto">
            <a:xfrm>
              <a:off x="1340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82" name="Text Box 43"/>
            <p:cNvSpPr txBox="1">
              <a:spLocks noChangeArrowheads="1"/>
            </p:cNvSpPr>
            <p:nvPr/>
          </p:nvSpPr>
          <p:spPr bwMode="auto">
            <a:xfrm>
              <a:off x="2108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83" name="Oval 44"/>
            <p:cNvSpPr>
              <a:spLocks noChangeArrowheads="1"/>
            </p:cNvSpPr>
            <p:nvPr/>
          </p:nvSpPr>
          <p:spPr bwMode="auto">
            <a:xfrm>
              <a:off x="2204" y="2736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x-none" sz="2400" dirty="0">
                  <a:latin typeface="Times" pitchFamily="2" charset="0"/>
                </a:rPr>
                <a:t>E</a:t>
              </a:r>
              <a:endParaRPr lang="x-none" altLang="x-none" sz="2000">
                <a:latin typeface="Times" pitchFamily="2" charset="0"/>
              </a:endParaRPr>
            </a:p>
          </p:txBody>
        </p:sp>
        <p:sp>
          <p:nvSpPr>
            <p:cNvPr id="84" name="Text Box 45"/>
            <p:cNvSpPr txBox="1">
              <a:spLocks noChangeArrowheads="1"/>
            </p:cNvSpPr>
            <p:nvPr/>
          </p:nvSpPr>
          <p:spPr bwMode="auto">
            <a:xfrm>
              <a:off x="1820" y="273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</p:grpSp>
      <p:sp>
        <p:nvSpPr>
          <p:cNvPr id="92" name="Oval 4"/>
          <p:cNvSpPr>
            <a:spLocks noChangeArrowheads="1"/>
          </p:cNvSpPr>
          <p:nvPr/>
        </p:nvSpPr>
        <p:spPr bwMode="auto">
          <a:xfrm>
            <a:off x="5611813" y="2204926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Text Box 5"/>
          <p:cNvSpPr txBox="1">
            <a:spLocks noChangeArrowheads="1"/>
          </p:cNvSpPr>
          <p:nvPr/>
        </p:nvSpPr>
        <p:spPr bwMode="auto">
          <a:xfrm>
            <a:off x="5603333" y="2204927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A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94" name="Oval 6"/>
          <p:cNvSpPr>
            <a:spLocks noChangeArrowheads="1"/>
          </p:cNvSpPr>
          <p:nvPr/>
        </p:nvSpPr>
        <p:spPr bwMode="auto">
          <a:xfrm>
            <a:off x="4419600" y="3046301"/>
            <a:ext cx="427038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Text Box 7"/>
          <p:cNvSpPr txBox="1">
            <a:spLocks noChangeArrowheads="1"/>
          </p:cNvSpPr>
          <p:nvPr/>
        </p:nvSpPr>
        <p:spPr bwMode="auto">
          <a:xfrm>
            <a:off x="4418350" y="3043127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B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96" name="Oval 8"/>
          <p:cNvSpPr>
            <a:spLocks noChangeArrowheads="1"/>
          </p:cNvSpPr>
          <p:nvPr/>
        </p:nvSpPr>
        <p:spPr bwMode="auto">
          <a:xfrm>
            <a:off x="7237413" y="3046301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Text Box 9"/>
          <p:cNvSpPr txBox="1">
            <a:spLocks noChangeArrowheads="1"/>
          </p:cNvSpPr>
          <p:nvPr/>
        </p:nvSpPr>
        <p:spPr bwMode="auto">
          <a:xfrm>
            <a:off x="7239338" y="3043127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C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98" name="Oval 10"/>
          <p:cNvSpPr>
            <a:spLocks noChangeArrowheads="1"/>
          </p:cNvSpPr>
          <p:nvPr/>
        </p:nvSpPr>
        <p:spPr bwMode="auto">
          <a:xfrm>
            <a:off x="7954964" y="4186126"/>
            <a:ext cx="427037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Text Box 11"/>
          <p:cNvSpPr txBox="1">
            <a:spLocks noChangeArrowheads="1"/>
          </p:cNvSpPr>
          <p:nvPr/>
        </p:nvSpPr>
        <p:spPr bwMode="auto">
          <a:xfrm>
            <a:off x="7946483" y="4186127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G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00" name="Oval 12"/>
          <p:cNvSpPr>
            <a:spLocks noChangeArrowheads="1"/>
          </p:cNvSpPr>
          <p:nvPr/>
        </p:nvSpPr>
        <p:spPr bwMode="auto">
          <a:xfrm>
            <a:off x="6519863" y="4186126"/>
            <a:ext cx="430212" cy="4445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Text Box 13"/>
          <p:cNvSpPr txBox="1">
            <a:spLocks noChangeArrowheads="1"/>
          </p:cNvSpPr>
          <p:nvPr/>
        </p:nvSpPr>
        <p:spPr bwMode="auto">
          <a:xfrm>
            <a:off x="6538619" y="4186127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F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02" name="Line 14"/>
          <p:cNvSpPr>
            <a:spLocks noChangeShapeType="1"/>
          </p:cNvSpPr>
          <p:nvPr/>
        </p:nvSpPr>
        <p:spPr bwMode="auto">
          <a:xfrm flipH="1">
            <a:off x="4803775" y="2552589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Line 15"/>
          <p:cNvSpPr>
            <a:spLocks noChangeShapeType="1"/>
          </p:cNvSpPr>
          <p:nvPr/>
        </p:nvSpPr>
        <p:spPr bwMode="auto">
          <a:xfrm flipH="1">
            <a:off x="6870700" y="3463814"/>
            <a:ext cx="46990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Line 16"/>
          <p:cNvSpPr>
            <a:spLocks noChangeShapeType="1"/>
          </p:cNvSpPr>
          <p:nvPr/>
        </p:nvSpPr>
        <p:spPr bwMode="auto">
          <a:xfrm>
            <a:off x="7548563" y="3484452"/>
            <a:ext cx="442912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" name="Line 17"/>
          <p:cNvSpPr>
            <a:spLocks noChangeShapeType="1"/>
          </p:cNvSpPr>
          <p:nvPr/>
        </p:nvSpPr>
        <p:spPr bwMode="auto">
          <a:xfrm>
            <a:off x="5984876" y="2570052"/>
            <a:ext cx="1249363" cy="70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6" name="Group 18"/>
          <p:cNvGrpSpPr>
            <a:grpSpLocks/>
          </p:cNvGrpSpPr>
          <p:nvPr/>
        </p:nvGrpSpPr>
        <p:grpSpPr bwMode="auto">
          <a:xfrm>
            <a:off x="7213601" y="5405504"/>
            <a:ext cx="428625" cy="461897"/>
            <a:chOff x="2400" y="858"/>
            <a:chExt cx="432" cy="449"/>
          </a:xfrm>
        </p:grpSpPr>
        <p:sp>
          <p:nvSpPr>
            <p:cNvPr id="107" name="Oval 19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Text Box 20"/>
            <p:cNvSpPr txBox="1">
              <a:spLocks noChangeArrowheads="1"/>
            </p:cNvSpPr>
            <p:nvPr/>
          </p:nvSpPr>
          <p:spPr bwMode="auto">
            <a:xfrm>
              <a:off x="2450" y="858"/>
              <a:ext cx="29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I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109" name="Group 21"/>
          <p:cNvGrpSpPr>
            <a:grpSpLocks/>
          </p:cNvGrpSpPr>
          <p:nvPr/>
        </p:nvGrpSpPr>
        <p:grpSpPr bwMode="auto">
          <a:xfrm>
            <a:off x="5775329" y="5405504"/>
            <a:ext cx="436563" cy="461897"/>
            <a:chOff x="2392" y="858"/>
            <a:chExt cx="440" cy="449"/>
          </a:xfrm>
        </p:grpSpPr>
        <p:sp>
          <p:nvSpPr>
            <p:cNvPr id="110" name="Oval 22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Text Box 23"/>
            <p:cNvSpPr txBox="1">
              <a:spLocks noChangeArrowheads="1"/>
            </p:cNvSpPr>
            <p:nvPr/>
          </p:nvSpPr>
          <p:spPr bwMode="auto">
            <a:xfrm>
              <a:off x="2392" y="858"/>
              <a:ext cx="411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H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112" name="Group 24"/>
          <p:cNvGrpSpPr>
            <a:grpSpLocks/>
          </p:cNvGrpSpPr>
          <p:nvPr/>
        </p:nvGrpSpPr>
        <p:grpSpPr bwMode="auto">
          <a:xfrm>
            <a:off x="6099175" y="4689365"/>
            <a:ext cx="1150938" cy="801687"/>
            <a:chOff x="896" y="1363"/>
            <a:chExt cx="1156" cy="778"/>
          </a:xfrm>
        </p:grpSpPr>
        <p:sp>
          <p:nvSpPr>
            <p:cNvPr id="113" name="Line 25"/>
            <p:cNvSpPr>
              <a:spLocks noChangeShapeType="1"/>
            </p:cNvSpPr>
            <p:nvPr/>
          </p:nvSpPr>
          <p:spPr bwMode="auto">
            <a:xfrm flipH="1">
              <a:off x="896" y="1363"/>
              <a:ext cx="534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Line 26"/>
            <p:cNvSpPr>
              <a:spLocks noChangeShapeType="1"/>
            </p:cNvSpPr>
            <p:nvPr/>
          </p:nvSpPr>
          <p:spPr bwMode="auto">
            <a:xfrm>
              <a:off x="1674" y="1378"/>
              <a:ext cx="378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5" name="Text Box 27"/>
          <p:cNvSpPr txBox="1">
            <a:spLocks noChangeArrowheads="1"/>
          </p:cNvSpPr>
          <p:nvPr/>
        </p:nvSpPr>
        <p:spPr bwMode="auto">
          <a:xfrm>
            <a:off x="6477000" y="2509726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2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6" name="Text Box 28"/>
          <p:cNvSpPr txBox="1">
            <a:spLocks noChangeArrowheads="1"/>
          </p:cNvSpPr>
          <p:nvPr/>
        </p:nvSpPr>
        <p:spPr bwMode="auto">
          <a:xfrm>
            <a:off x="4921250" y="25097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7" name="Text Box 29"/>
          <p:cNvSpPr txBox="1">
            <a:spLocks noChangeArrowheads="1"/>
          </p:cNvSpPr>
          <p:nvPr/>
        </p:nvSpPr>
        <p:spPr bwMode="auto">
          <a:xfrm>
            <a:off x="6826250" y="357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8" name="Text Box 30"/>
          <p:cNvSpPr txBox="1">
            <a:spLocks noChangeArrowheads="1"/>
          </p:cNvSpPr>
          <p:nvPr/>
        </p:nvSpPr>
        <p:spPr bwMode="auto">
          <a:xfrm>
            <a:off x="7772400" y="3652726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7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9" name="Text Box 31"/>
          <p:cNvSpPr txBox="1">
            <a:spLocks noChangeArrowheads="1"/>
          </p:cNvSpPr>
          <p:nvPr/>
        </p:nvSpPr>
        <p:spPr bwMode="auto">
          <a:xfrm>
            <a:off x="6062664" y="4719526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4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0" name="Text Box 32"/>
          <p:cNvSpPr txBox="1">
            <a:spLocks noChangeArrowheads="1"/>
          </p:cNvSpPr>
          <p:nvPr/>
        </p:nvSpPr>
        <p:spPr bwMode="auto">
          <a:xfrm>
            <a:off x="7010400" y="4719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1" name="Text Box 33"/>
          <p:cNvSpPr txBox="1">
            <a:spLocks noChangeArrowheads="1"/>
          </p:cNvSpPr>
          <p:nvPr/>
        </p:nvSpPr>
        <p:spPr bwMode="auto">
          <a:xfrm>
            <a:off x="3886200" y="3043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solidFill>
                  <a:schemeClr val="accent1"/>
                </a:solidFill>
                <a:latin typeface="Times New Roman" pitchFamily="18" charset="0"/>
              </a:rPr>
              <a:t>[5]</a:t>
            </a:r>
            <a:endParaRPr lang="en-US" altLang="x-none" sz="2400">
              <a:solidFill>
                <a:schemeClr val="accent1"/>
              </a:solidFill>
              <a:latin typeface="Times New Roman" pitchFamily="18" charset="0"/>
            </a:endParaRPr>
          </a:p>
        </p:txBody>
      </p:sp>
      <p:sp>
        <p:nvSpPr>
          <p:cNvPr id="122" name="Text Box 34"/>
          <p:cNvSpPr txBox="1">
            <a:spLocks noChangeArrowheads="1"/>
          </p:cNvSpPr>
          <p:nvPr/>
        </p:nvSpPr>
        <p:spPr bwMode="auto">
          <a:xfrm>
            <a:off x="7848600" y="29669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[2]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3" name="Text Box 35"/>
          <p:cNvSpPr txBox="1">
            <a:spLocks noChangeArrowheads="1"/>
          </p:cNvSpPr>
          <p:nvPr/>
        </p:nvSpPr>
        <p:spPr bwMode="auto">
          <a:xfrm>
            <a:off x="8534400" y="4186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4" name="Text Box 36"/>
          <p:cNvSpPr txBox="1">
            <a:spLocks noChangeArrowheads="1"/>
          </p:cNvSpPr>
          <p:nvPr/>
        </p:nvSpPr>
        <p:spPr bwMode="auto">
          <a:xfrm>
            <a:off x="5867400" y="4186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[3]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5" name="Text Box 37"/>
          <p:cNvSpPr txBox="1">
            <a:spLocks noChangeArrowheads="1"/>
          </p:cNvSpPr>
          <p:nvPr/>
        </p:nvSpPr>
        <p:spPr bwMode="auto">
          <a:xfrm>
            <a:off x="5105400" y="54053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[7]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6" name="Text Box 38"/>
          <p:cNvSpPr txBox="1">
            <a:spLocks noChangeArrowheads="1"/>
          </p:cNvSpPr>
          <p:nvPr/>
        </p:nvSpPr>
        <p:spPr bwMode="auto">
          <a:xfrm>
            <a:off x="7772400" y="54053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[8]</a:t>
            </a:r>
            <a:endParaRPr lang="en-US" altLang="x-none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50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CC14-7593-4241-AACE-8173981F4052}" type="slidenum">
              <a:rPr lang="en-GB" altLang="x-none"/>
              <a:pPr/>
              <a:t>31</a:t>
            </a:fld>
            <a:endParaRPr lang="en-GB" altLang="x-none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x-none" dirty="0"/>
              <a:t>Uniform Cost Search (UCS)</a:t>
            </a:r>
          </a:p>
        </p:txBody>
      </p:sp>
      <p:grpSp>
        <p:nvGrpSpPr>
          <p:cNvPr id="210947" name="Group 3"/>
          <p:cNvGrpSpPr>
            <a:grpSpLocks/>
          </p:cNvGrpSpPr>
          <p:nvPr/>
        </p:nvGrpSpPr>
        <p:grpSpPr bwMode="auto">
          <a:xfrm>
            <a:off x="2813050" y="2209801"/>
            <a:ext cx="6254750" cy="3776663"/>
            <a:chOff x="576" y="1392"/>
            <a:chExt cx="3940" cy="2379"/>
          </a:xfrm>
        </p:grpSpPr>
        <p:sp>
          <p:nvSpPr>
            <p:cNvPr id="210948" name="Oval 4"/>
            <p:cNvSpPr>
              <a:spLocks noChangeArrowheads="1"/>
            </p:cNvSpPr>
            <p:nvPr/>
          </p:nvSpPr>
          <p:spPr bwMode="auto">
            <a:xfrm>
              <a:off x="2335" y="139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49" name="Text Box 5"/>
            <p:cNvSpPr txBox="1">
              <a:spLocks noChangeArrowheads="1"/>
            </p:cNvSpPr>
            <p:nvPr/>
          </p:nvSpPr>
          <p:spPr bwMode="auto">
            <a:xfrm>
              <a:off x="2400" y="146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10950" name="Oval 6"/>
            <p:cNvSpPr>
              <a:spLocks noChangeArrowheads="1"/>
            </p:cNvSpPr>
            <p:nvPr/>
          </p:nvSpPr>
          <p:spPr bwMode="auto">
            <a:xfrm>
              <a:off x="1584" y="1922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1" name="Text Box 7"/>
            <p:cNvSpPr txBox="1">
              <a:spLocks noChangeArrowheads="1"/>
            </p:cNvSpPr>
            <p:nvPr/>
          </p:nvSpPr>
          <p:spPr bwMode="auto">
            <a:xfrm>
              <a:off x="1648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10952" name="Oval 8"/>
            <p:cNvSpPr>
              <a:spLocks noChangeArrowheads="1"/>
            </p:cNvSpPr>
            <p:nvPr/>
          </p:nvSpPr>
          <p:spPr bwMode="auto">
            <a:xfrm>
              <a:off x="3359" y="192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3" name="Text Box 9"/>
            <p:cNvSpPr txBox="1">
              <a:spLocks noChangeArrowheads="1"/>
            </p:cNvSpPr>
            <p:nvPr/>
          </p:nvSpPr>
          <p:spPr bwMode="auto">
            <a:xfrm>
              <a:off x="3425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10954" name="Oval 10"/>
            <p:cNvSpPr>
              <a:spLocks noChangeArrowheads="1"/>
            </p:cNvSpPr>
            <p:nvPr/>
          </p:nvSpPr>
          <p:spPr bwMode="auto">
            <a:xfrm>
              <a:off x="3811" y="2640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5" name="Text Box 11"/>
            <p:cNvSpPr txBox="1">
              <a:spLocks noChangeArrowheads="1"/>
            </p:cNvSpPr>
            <p:nvPr/>
          </p:nvSpPr>
          <p:spPr bwMode="auto">
            <a:xfrm>
              <a:off x="3876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10956" name="Oval 12"/>
            <p:cNvSpPr>
              <a:spLocks noChangeArrowheads="1"/>
            </p:cNvSpPr>
            <p:nvPr/>
          </p:nvSpPr>
          <p:spPr bwMode="auto">
            <a:xfrm>
              <a:off x="2907" y="2640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7" name="Text Box 13"/>
            <p:cNvSpPr txBox="1">
              <a:spLocks noChangeArrowheads="1"/>
            </p:cNvSpPr>
            <p:nvPr/>
          </p:nvSpPr>
          <p:spPr bwMode="auto">
            <a:xfrm>
              <a:off x="2973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210958" name="Line 14"/>
            <p:cNvSpPr>
              <a:spLocks noChangeShapeType="1"/>
            </p:cNvSpPr>
            <p:nvPr/>
          </p:nvSpPr>
          <p:spPr bwMode="auto">
            <a:xfrm flipH="1">
              <a:off x="1826" y="1611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9" name="Line 15"/>
            <p:cNvSpPr>
              <a:spLocks noChangeShapeType="1"/>
            </p:cNvSpPr>
            <p:nvPr/>
          </p:nvSpPr>
          <p:spPr bwMode="auto">
            <a:xfrm flipH="1">
              <a:off x="3128" y="2185"/>
              <a:ext cx="296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60" name="Line 16"/>
            <p:cNvSpPr>
              <a:spLocks noChangeShapeType="1"/>
            </p:cNvSpPr>
            <p:nvPr/>
          </p:nvSpPr>
          <p:spPr bwMode="auto">
            <a:xfrm>
              <a:off x="3555" y="219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61" name="Line 17"/>
            <p:cNvSpPr>
              <a:spLocks noChangeShapeType="1"/>
            </p:cNvSpPr>
            <p:nvPr/>
          </p:nvSpPr>
          <p:spPr bwMode="auto">
            <a:xfrm>
              <a:off x="2570" y="1622"/>
              <a:ext cx="787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0962" name="Group 18"/>
            <p:cNvGrpSpPr>
              <a:grpSpLocks/>
            </p:cNvGrpSpPr>
            <p:nvPr/>
          </p:nvGrpSpPr>
          <p:grpSpPr bwMode="auto">
            <a:xfrm>
              <a:off x="3344" y="3412"/>
              <a:ext cx="270" cy="359"/>
              <a:chOff x="2400" y="864"/>
              <a:chExt cx="432" cy="554"/>
            </a:xfrm>
          </p:grpSpPr>
          <p:sp>
            <p:nvSpPr>
              <p:cNvPr id="210963" name="Oval 19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64" name="Text Box 20"/>
              <p:cNvSpPr txBox="1">
                <a:spLocks noChangeArrowheads="1"/>
              </p:cNvSpPr>
              <p:nvPr/>
            </p:nvSpPr>
            <p:spPr bwMode="auto"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10965" name="Group 21"/>
            <p:cNvGrpSpPr>
              <a:grpSpLocks/>
            </p:cNvGrpSpPr>
            <p:nvPr/>
          </p:nvGrpSpPr>
          <p:grpSpPr bwMode="auto">
            <a:xfrm>
              <a:off x="2443" y="3412"/>
              <a:ext cx="270" cy="359"/>
              <a:chOff x="2400" y="864"/>
              <a:chExt cx="432" cy="554"/>
            </a:xfrm>
          </p:grpSpPr>
          <p:sp>
            <p:nvSpPr>
              <p:cNvPr id="210966" name="Oval 22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67" name="Text Box 23"/>
              <p:cNvSpPr txBox="1">
                <a:spLocks noChangeArrowheads="1"/>
              </p:cNvSpPr>
              <p:nvPr/>
            </p:nvSpPr>
            <p:spPr bwMode="auto"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210968" name="Group 24"/>
            <p:cNvGrpSpPr>
              <a:grpSpLocks/>
            </p:cNvGrpSpPr>
            <p:nvPr/>
          </p:nvGrpSpPr>
          <p:grpSpPr bwMode="auto">
            <a:xfrm>
              <a:off x="2642" y="2957"/>
              <a:ext cx="725" cy="505"/>
              <a:chOff x="896" y="1363"/>
              <a:chExt cx="1156" cy="778"/>
            </a:xfrm>
          </p:grpSpPr>
          <p:sp>
            <p:nvSpPr>
              <p:cNvPr id="210969" name="Line 25"/>
              <p:cNvSpPr>
                <a:spLocks noChangeShapeType="1"/>
              </p:cNvSpPr>
              <p:nvPr/>
            </p:nvSpPr>
            <p:spPr bwMode="auto">
              <a:xfrm flipH="1">
                <a:off x="896" y="1363"/>
                <a:ext cx="534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70" name="Line 26"/>
              <p:cNvSpPr>
                <a:spLocks noChangeShapeType="1"/>
              </p:cNvSpPr>
              <p:nvPr/>
            </p:nvSpPr>
            <p:spPr bwMode="auto">
              <a:xfrm>
                <a:off x="1674" y="1378"/>
                <a:ext cx="378" cy="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971" name="Text Box 27"/>
            <p:cNvSpPr txBox="1">
              <a:spLocks noChangeArrowheads="1"/>
            </p:cNvSpPr>
            <p:nvPr/>
          </p:nvSpPr>
          <p:spPr bwMode="auto">
            <a:xfrm>
              <a:off x="2880" y="15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72" name="Text Box 28"/>
            <p:cNvSpPr txBox="1">
              <a:spLocks noChangeArrowheads="1"/>
            </p:cNvSpPr>
            <p:nvPr/>
          </p:nvSpPr>
          <p:spPr bwMode="auto">
            <a:xfrm>
              <a:off x="1900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73" name="Text Box 29"/>
            <p:cNvSpPr txBox="1">
              <a:spLocks noChangeArrowheads="1"/>
            </p:cNvSpPr>
            <p:nvPr/>
          </p:nvSpPr>
          <p:spPr bwMode="auto">
            <a:xfrm>
              <a:off x="3100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74" name="Text Box 30"/>
            <p:cNvSpPr txBox="1">
              <a:spLocks noChangeArrowheads="1"/>
            </p:cNvSpPr>
            <p:nvPr/>
          </p:nvSpPr>
          <p:spPr bwMode="auto">
            <a:xfrm>
              <a:off x="3696" y="230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75" name="Text Box 31"/>
            <p:cNvSpPr txBox="1">
              <a:spLocks noChangeArrowheads="1"/>
            </p:cNvSpPr>
            <p:nvPr/>
          </p:nvSpPr>
          <p:spPr bwMode="auto">
            <a:xfrm>
              <a:off x="2619" y="2976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76" name="Text Box 32"/>
            <p:cNvSpPr txBox="1">
              <a:spLocks noChangeArrowheads="1"/>
            </p:cNvSpPr>
            <p:nvPr/>
          </p:nvSpPr>
          <p:spPr bwMode="auto">
            <a:xfrm>
              <a:off x="3216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77" name="Text Box 33"/>
            <p:cNvSpPr txBox="1">
              <a:spLocks noChangeArrowheads="1"/>
            </p:cNvSpPr>
            <p:nvPr/>
          </p:nvSpPr>
          <p:spPr bwMode="auto">
            <a:xfrm>
              <a:off x="1248" y="192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accent1"/>
                  </a:solidFill>
                  <a:latin typeface="Times New Roman" pitchFamily="18" charset="0"/>
                </a:rPr>
                <a:t>[5]</a:t>
              </a:r>
              <a:endParaRPr lang="en-US" altLang="x-none" sz="240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  <p:sp>
          <p:nvSpPr>
            <p:cNvPr id="210978" name="Text Box 34"/>
            <p:cNvSpPr txBox="1">
              <a:spLocks noChangeArrowheads="1"/>
            </p:cNvSpPr>
            <p:nvPr/>
          </p:nvSpPr>
          <p:spPr bwMode="auto">
            <a:xfrm>
              <a:off x="3744" y="1872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accent1"/>
                  </a:solidFill>
                  <a:latin typeface="Times New Roman" pitchFamily="18" charset="0"/>
                </a:rPr>
                <a:t>[2]</a:t>
              </a:r>
              <a:endParaRPr lang="en-US" altLang="x-none" sz="240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  <p:sp>
          <p:nvSpPr>
            <p:cNvPr id="210979" name="Text Box 35"/>
            <p:cNvSpPr txBox="1">
              <a:spLocks noChangeArrowheads="1"/>
            </p:cNvSpPr>
            <p:nvPr/>
          </p:nvSpPr>
          <p:spPr bwMode="auto">
            <a:xfrm>
              <a:off x="4176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80" name="Text Box 36"/>
            <p:cNvSpPr txBox="1">
              <a:spLocks noChangeArrowheads="1"/>
            </p:cNvSpPr>
            <p:nvPr/>
          </p:nvSpPr>
          <p:spPr bwMode="auto">
            <a:xfrm>
              <a:off x="2496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accent1"/>
                  </a:solidFill>
                  <a:latin typeface="Times New Roman" pitchFamily="18" charset="0"/>
                </a:rPr>
                <a:t>[3]</a:t>
              </a:r>
              <a:endParaRPr lang="en-US" altLang="x-none" sz="240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  <p:sp>
          <p:nvSpPr>
            <p:cNvPr id="210981" name="Text Box 37"/>
            <p:cNvSpPr txBox="1">
              <a:spLocks noChangeArrowheads="1"/>
            </p:cNvSpPr>
            <p:nvPr/>
          </p:nvSpPr>
          <p:spPr bwMode="auto">
            <a:xfrm>
              <a:off x="2016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[7]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82" name="Text Box 38"/>
            <p:cNvSpPr txBox="1">
              <a:spLocks noChangeArrowheads="1"/>
            </p:cNvSpPr>
            <p:nvPr/>
          </p:nvSpPr>
          <p:spPr bwMode="auto">
            <a:xfrm>
              <a:off x="3696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[8]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83" name="Line 39"/>
            <p:cNvSpPr>
              <a:spLocks noChangeShapeType="1"/>
            </p:cNvSpPr>
            <p:nvPr/>
          </p:nvSpPr>
          <p:spPr bwMode="auto">
            <a:xfrm flipH="1">
              <a:off x="1104" y="2160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84" name="Line 40"/>
            <p:cNvSpPr>
              <a:spLocks noChangeShapeType="1"/>
            </p:cNvSpPr>
            <p:nvPr/>
          </p:nvSpPr>
          <p:spPr bwMode="auto">
            <a:xfrm>
              <a:off x="1776" y="220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85" name="Oval 41"/>
            <p:cNvSpPr>
              <a:spLocks noChangeArrowheads="1"/>
            </p:cNvSpPr>
            <p:nvPr/>
          </p:nvSpPr>
          <p:spPr bwMode="auto">
            <a:xfrm>
              <a:off x="912" y="2544"/>
              <a:ext cx="271" cy="280"/>
            </a:xfrm>
            <a:prstGeom prst="ellipse">
              <a:avLst/>
            </a:prstGeom>
            <a:solidFill>
              <a:schemeClr val="hlink">
                <a:alpha val="50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86" name="Text Box 42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87" name="Text Box 43"/>
            <p:cNvSpPr txBox="1">
              <a:spLocks noChangeArrowheads="1"/>
            </p:cNvSpPr>
            <p:nvPr/>
          </p:nvSpPr>
          <p:spPr bwMode="auto">
            <a:xfrm>
              <a:off x="1872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88" name="Oval 44"/>
            <p:cNvSpPr>
              <a:spLocks noChangeArrowheads="1"/>
            </p:cNvSpPr>
            <p:nvPr/>
          </p:nvSpPr>
          <p:spPr bwMode="auto">
            <a:xfrm>
              <a:off x="1968" y="2736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C0C0C0"/>
                </a:solidFill>
              </a:endParaRPr>
            </a:p>
          </p:txBody>
        </p:sp>
        <p:sp>
          <p:nvSpPr>
            <p:cNvPr id="210989" name="Text Box 45"/>
            <p:cNvSpPr txBox="1">
              <a:spLocks noChangeArrowheads="1"/>
            </p:cNvSpPr>
            <p:nvPr/>
          </p:nvSpPr>
          <p:spPr bwMode="auto">
            <a:xfrm>
              <a:off x="1584" y="273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0990" name="Text Box 46"/>
            <p:cNvSpPr txBox="1">
              <a:spLocks noChangeArrowheads="1"/>
            </p:cNvSpPr>
            <p:nvPr/>
          </p:nvSpPr>
          <p:spPr bwMode="auto">
            <a:xfrm>
              <a:off x="576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hlink"/>
                  </a:solidFill>
                  <a:latin typeface="Times New Roman" pitchFamily="18" charset="0"/>
                </a:rPr>
                <a:t>[6]</a:t>
              </a:r>
              <a:endParaRPr lang="en-US" altLang="x-none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210991" name="Freeform 47"/>
            <p:cNvSpPr>
              <a:spLocks/>
            </p:cNvSpPr>
            <p:nvPr/>
          </p:nvSpPr>
          <p:spPr bwMode="auto">
            <a:xfrm>
              <a:off x="1248" y="1768"/>
              <a:ext cx="1952" cy="920"/>
            </a:xfrm>
            <a:custGeom>
              <a:avLst/>
              <a:gdLst>
                <a:gd name="T0" fmla="*/ 1408 w 1952"/>
                <a:gd name="T1" fmla="*/ 0 h 920"/>
                <a:gd name="T2" fmla="*/ 1936 w 1952"/>
                <a:gd name="T3" fmla="*/ 432 h 920"/>
                <a:gd name="T4" fmla="*/ 1504 w 1952"/>
                <a:gd name="T5" fmla="*/ 864 h 920"/>
                <a:gd name="T6" fmla="*/ 496 w 1952"/>
                <a:gd name="T7" fmla="*/ 480 h 920"/>
                <a:gd name="T8" fmla="*/ 64 w 1952"/>
                <a:gd name="T9" fmla="*/ 816 h 920"/>
                <a:gd name="T10" fmla="*/ 112 w 1952"/>
                <a:gd name="T11" fmla="*/ 912 h 920"/>
                <a:gd name="T12" fmla="*/ 64 w 1952"/>
                <a:gd name="T13" fmla="*/ 864 h 920"/>
                <a:gd name="T14" fmla="*/ 112 w 1952"/>
                <a:gd name="T15" fmla="*/ 912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2" h="920">
                  <a:moveTo>
                    <a:pt x="1408" y="0"/>
                  </a:moveTo>
                  <a:cubicBezTo>
                    <a:pt x="1664" y="144"/>
                    <a:pt x="1920" y="288"/>
                    <a:pt x="1936" y="432"/>
                  </a:cubicBezTo>
                  <a:cubicBezTo>
                    <a:pt x="1952" y="576"/>
                    <a:pt x="1744" y="856"/>
                    <a:pt x="1504" y="864"/>
                  </a:cubicBezTo>
                  <a:cubicBezTo>
                    <a:pt x="1264" y="872"/>
                    <a:pt x="736" y="488"/>
                    <a:pt x="496" y="480"/>
                  </a:cubicBezTo>
                  <a:cubicBezTo>
                    <a:pt x="256" y="472"/>
                    <a:pt x="128" y="744"/>
                    <a:pt x="64" y="816"/>
                  </a:cubicBezTo>
                  <a:cubicBezTo>
                    <a:pt x="0" y="888"/>
                    <a:pt x="112" y="904"/>
                    <a:pt x="112" y="912"/>
                  </a:cubicBezTo>
                  <a:cubicBezTo>
                    <a:pt x="112" y="920"/>
                    <a:pt x="64" y="864"/>
                    <a:pt x="64" y="864"/>
                  </a:cubicBezTo>
                  <a:cubicBezTo>
                    <a:pt x="64" y="864"/>
                    <a:pt x="104" y="904"/>
                    <a:pt x="112" y="912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>
            <a:grpSpLocks/>
          </p:cNvGrpSpPr>
          <p:nvPr/>
        </p:nvGrpSpPr>
        <p:grpSpPr bwMode="auto">
          <a:xfrm>
            <a:off x="2813050" y="2209801"/>
            <a:ext cx="6254750" cy="3776663"/>
            <a:chOff x="812" y="1392"/>
            <a:chExt cx="3940" cy="2379"/>
          </a:xfrm>
        </p:grpSpPr>
        <p:sp>
          <p:nvSpPr>
            <p:cNvPr id="50" name="Oval 4"/>
            <p:cNvSpPr>
              <a:spLocks noChangeArrowheads="1"/>
            </p:cNvSpPr>
            <p:nvPr/>
          </p:nvSpPr>
          <p:spPr bwMode="auto">
            <a:xfrm>
              <a:off x="2571" y="139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Text Box 5"/>
            <p:cNvSpPr txBox="1">
              <a:spLocks noChangeArrowheads="1"/>
            </p:cNvSpPr>
            <p:nvPr/>
          </p:nvSpPr>
          <p:spPr bwMode="auto">
            <a:xfrm>
              <a:off x="2636" y="146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2" name="Oval 6"/>
            <p:cNvSpPr>
              <a:spLocks noChangeArrowheads="1"/>
            </p:cNvSpPr>
            <p:nvPr/>
          </p:nvSpPr>
          <p:spPr bwMode="auto">
            <a:xfrm>
              <a:off x="1820" y="1922"/>
              <a:ext cx="269" cy="28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7"/>
            <p:cNvSpPr txBox="1">
              <a:spLocks noChangeArrowheads="1"/>
            </p:cNvSpPr>
            <p:nvPr/>
          </p:nvSpPr>
          <p:spPr bwMode="auto">
            <a:xfrm>
              <a:off x="1884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4" name="Oval 8"/>
            <p:cNvSpPr>
              <a:spLocks noChangeArrowheads="1"/>
            </p:cNvSpPr>
            <p:nvPr/>
          </p:nvSpPr>
          <p:spPr bwMode="auto">
            <a:xfrm>
              <a:off x="3595" y="1922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9"/>
            <p:cNvSpPr txBox="1">
              <a:spLocks noChangeArrowheads="1"/>
            </p:cNvSpPr>
            <p:nvPr/>
          </p:nvSpPr>
          <p:spPr bwMode="auto">
            <a:xfrm>
              <a:off x="3661" y="199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4047" y="2640"/>
              <a:ext cx="269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Text Box 11"/>
            <p:cNvSpPr txBox="1">
              <a:spLocks noChangeArrowheads="1"/>
            </p:cNvSpPr>
            <p:nvPr/>
          </p:nvSpPr>
          <p:spPr bwMode="auto">
            <a:xfrm>
              <a:off x="4112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58" name="Oval 12"/>
            <p:cNvSpPr>
              <a:spLocks noChangeArrowheads="1"/>
            </p:cNvSpPr>
            <p:nvPr/>
          </p:nvSpPr>
          <p:spPr bwMode="auto">
            <a:xfrm>
              <a:off x="3143" y="2640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Text Box 13"/>
            <p:cNvSpPr txBox="1">
              <a:spLocks noChangeArrowheads="1"/>
            </p:cNvSpPr>
            <p:nvPr/>
          </p:nvSpPr>
          <p:spPr bwMode="auto">
            <a:xfrm>
              <a:off x="3209" y="271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60" name="Line 14"/>
            <p:cNvSpPr>
              <a:spLocks noChangeShapeType="1"/>
            </p:cNvSpPr>
            <p:nvPr/>
          </p:nvSpPr>
          <p:spPr bwMode="auto">
            <a:xfrm flipH="1">
              <a:off x="2062" y="1611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15"/>
            <p:cNvSpPr>
              <a:spLocks noChangeShapeType="1"/>
            </p:cNvSpPr>
            <p:nvPr/>
          </p:nvSpPr>
          <p:spPr bwMode="auto">
            <a:xfrm flipH="1">
              <a:off x="3364" y="2185"/>
              <a:ext cx="296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16"/>
            <p:cNvSpPr>
              <a:spLocks noChangeShapeType="1"/>
            </p:cNvSpPr>
            <p:nvPr/>
          </p:nvSpPr>
          <p:spPr bwMode="auto">
            <a:xfrm>
              <a:off x="3791" y="219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17"/>
            <p:cNvSpPr>
              <a:spLocks noChangeShapeType="1"/>
            </p:cNvSpPr>
            <p:nvPr/>
          </p:nvSpPr>
          <p:spPr bwMode="auto">
            <a:xfrm>
              <a:off x="2806" y="1622"/>
              <a:ext cx="787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4" name="Group 18"/>
            <p:cNvGrpSpPr>
              <a:grpSpLocks/>
            </p:cNvGrpSpPr>
            <p:nvPr/>
          </p:nvGrpSpPr>
          <p:grpSpPr bwMode="auto">
            <a:xfrm>
              <a:off x="3580" y="3412"/>
              <a:ext cx="270" cy="359"/>
              <a:chOff x="2400" y="864"/>
              <a:chExt cx="432" cy="554"/>
            </a:xfrm>
          </p:grpSpPr>
          <p:sp>
            <p:nvSpPr>
              <p:cNvPr id="91" name="Oval 19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Text Box 20"/>
              <p:cNvSpPr txBox="1">
                <a:spLocks noChangeArrowheads="1"/>
              </p:cNvSpPr>
              <p:nvPr/>
            </p:nvSpPr>
            <p:spPr bwMode="auto">
              <a:xfrm>
                <a:off x="2502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65" name="Group 21"/>
            <p:cNvGrpSpPr>
              <a:grpSpLocks/>
            </p:cNvGrpSpPr>
            <p:nvPr/>
          </p:nvGrpSpPr>
          <p:grpSpPr bwMode="auto">
            <a:xfrm>
              <a:off x="2679" y="3412"/>
              <a:ext cx="270" cy="359"/>
              <a:chOff x="2400" y="864"/>
              <a:chExt cx="432" cy="554"/>
            </a:xfrm>
          </p:grpSpPr>
          <p:sp>
            <p:nvSpPr>
              <p:cNvPr id="89" name="Oval 22"/>
              <p:cNvSpPr>
                <a:spLocks noChangeArrowheads="1"/>
              </p:cNvSpPr>
              <p:nvPr/>
            </p:nvSpPr>
            <p:spPr bwMode="auto">
              <a:xfrm>
                <a:off x="2400" y="864"/>
                <a:ext cx="432" cy="432"/>
              </a:xfrm>
              <a:prstGeom prst="ellipse">
                <a:avLst/>
              </a:prstGeom>
              <a:solidFill>
                <a:srgbClr val="C0C0C0">
                  <a:alpha val="50000"/>
                </a:srgbClr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Text Box 23"/>
              <p:cNvSpPr txBox="1">
                <a:spLocks noChangeArrowheads="1"/>
              </p:cNvSpPr>
              <p:nvPr/>
            </p:nvSpPr>
            <p:spPr bwMode="auto">
              <a:xfrm>
                <a:off x="2504" y="973"/>
                <a:ext cx="186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x-none" altLang="x-none" sz="2400">
                  <a:latin typeface="Times New Roman" pitchFamily="18" charset="0"/>
                </a:endParaRPr>
              </a:p>
            </p:txBody>
          </p:sp>
        </p:grpSp>
        <p:grpSp>
          <p:nvGrpSpPr>
            <p:cNvPr id="66" name="Group 24"/>
            <p:cNvGrpSpPr>
              <a:grpSpLocks/>
            </p:cNvGrpSpPr>
            <p:nvPr/>
          </p:nvGrpSpPr>
          <p:grpSpPr bwMode="auto">
            <a:xfrm>
              <a:off x="2878" y="2957"/>
              <a:ext cx="725" cy="505"/>
              <a:chOff x="896" y="1363"/>
              <a:chExt cx="1156" cy="778"/>
            </a:xfrm>
          </p:grpSpPr>
          <p:sp>
            <p:nvSpPr>
              <p:cNvPr id="87" name="Line 25"/>
              <p:cNvSpPr>
                <a:spLocks noChangeShapeType="1"/>
              </p:cNvSpPr>
              <p:nvPr/>
            </p:nvSpPr>
            <p:spPr bwMode="auto">
              <a:xfrm flipH="1">
                <a:off x="896" y="1363"/>
                <a:ext cx="534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26"/>
              <p:cNvSpPr>
                <a:spLocks noChangeShapeType="1"/>
              </p:cNvSpPr>
              <p:nvPr/>
            </p:nvSpPr>
            <p:spPr bwMode="auto">
              <a:xfrm>
                <a:off x="1674" y="1378"/>
                <a:ext cx="378" cy="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" name="Text Box 27"/>
            <p:cNvSpPr txBox="1">
              <a:spLocks noChangeArrowheads="1"/>
            </p:cNvSpPr>
            <p:nvPr/>
          </p:nvSpPr>
          <p:spPr bwMode="auto">
            <a:xfrm>
              <a:off x="3116" y="15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8" name="Text Box 28"/>
            <p:cNvSpPr txBox="1">
              <a:spLocks noChangeArrowheads="1"/>
            </p:cNvSpPr>
            <p:nvPr/>
          </p:nvSpPr>
          <p:spPr bwMode="auto">
            <a:xfrm>
              <a:off x="2136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9" name="Text Box 29"/>
            <p:cNvSpPr txBox="1">
              <a:spLocks noChangeArrowheads="1"/>
            </p:cNvSpPr>
            <p:nvPr/>
          </p:nvSpPr>
          <p:spPr bwMode="auto">
            <a:xfrm>
              <a:off x="3336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0" name="Text Box 30"/>
            <p:cNvSpPr txBox="1">
              <a:spLocks noChangeArrowheads="1"/>
            </p:cNvSpPr>
            <p:nvPr/>
          </p:nvSpPr>
          <p:spPr bwMode="auto">
            <a:xfrm>
              <a:off x="3932" y="230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1" name="Text Box 31"/>
            <p:cNvSpPr txBox="1">
              <a:spLocks noChangeArrowheads="1"/>
            </p:cNvSpPr>
            <p:nvPr/>
          </p:nvSpPr>
          <p:spPr bwMode="auto">
            <a:xfrm>
              <a:off x="2855" y="2976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2" name="Text Box 32"/>
            <p:cNvSpPr txBox="1">
              <a:spLocks noChangeArrowheads="1"/>
            </p:cNvSpPr>
            <p:nvPr/>
          </p:nvSpPr>
          <p:spPr bwMode="auto">
            <a:xfrm>
              <a:off x="3452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3" name="Text Box 33"/>
            <p:cNvSpPr txBox="1">
              <a:spLocks noChangeArrowheads="1"/>
            </p:cNvSpPr>
            <p:nvPr/>
          </p:nvSpPr>
          <p:spPr bwMode="auto">
            <a:xfrm>
              <a:off x="1484" y="192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[5]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4" name="Text Box 34"/>
            <p:cNvSpPr txBox="1">
              <a:spLocks noChangeArrowheads="1"/>
            </p:cNvSpPr>
            <p:nvPr/>
          </p:nvSpPr>
          <p:spPr bwMode="auto">
            <a:xfrm>
              <a:off x="3980" y="1872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[2]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5" name="Text Box 35"/>
            <p:cNvSpPr txBox="1">
              <a:spLocks noChangeArrowheads="1"/>
            </p:cNvSpPr>
            <p:nvPr/>
          </p:nvSpPr>
          <p:spPr bwMode="auto">
            <a:xfrm>
              <a:off x="441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273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[3]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7" name="Text Box 37"/>
            <p:cNvSpPr txBox="1">
              <a:spLocks noChangeArrowheads="1"/>
            </p:cNvSpPr>
            <p:nvPr/>
          </p:nvSpPr>
          <p:spPr bwMode="auto">
            <a:xfrm>
              <a:off x="225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[7]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8" name="Text Box 38"/>
            <p:cNvSpPr txBox="1">
              <a:spLocks noChangeArrowheads="1"/>
            </p:cNvSpPr>
            <p:nvPr/>
          </p:nvSpPr>
          <p:spPr bwMode="auto">
            <a:xfrm>
              <a:off x="3932" y="340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[8]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79" name="Line 39"/>
            <p:cNvSpPr>
              <a:spLocks noChangeShapeType="1"/>
            </p:cNvSpPr>
            <p:nvPr/>
          </p:nvSpPr>
          <p:spPr bwMode="auto">
            <a:xfrm flipH="1">
              <a:off x="1340" y="2160"/>
              <a:ext cx="52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40"/>
            <p:cNvSpPr>
              <a:spLocks noChangeShapeType="1"/>
            </p:cNvSpPr>
            <p:nvPr/>
          </p:nvSpPr>
          <p:spPr bwMode="auto">
            <a:xfrm>
              <a:off x="2012" y="2208"/>
              <a:ext cx="279" cy="5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Oval 41"/>
            <p:cNvSpPr>
              <a:spLocks noChangeArrowheads="1"/>
            </p:cNvSpPr>
            <p:nvPr/>
          </p:nvSpPr>
          <p:spPr bwMode="auto">
            <a:xfrm>
              <a:off x="1148" y="2544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400" b="1" dirty="0">
                  <a:latin typeface="Times" pitchFamily="2" charset="0"/>
                </a:rPr>
                <a:t>D</a:t>
              </a:r>
            </a:p>
          </p:txBody>
        </p:sp>
        <p:sp>
          <p:nvSpPr>
            <p:cNvPr id="82" name="Text Box 42"/>
            <p:cNvSpPr txBox="1">
              <a:spLocks noChangeArrowheads="1"/>
            </p:cNvSpPr>
            <p:nvPr/>
          </p:nvSpPr>
          <p:spPr bwMode="auto">
            <a:xfrm>
              <a:off x="1340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83" name="Text Box 43"/>
            <p:cNvSpPr txBox="1">
              <a:spLocks noChangeArrowheads="1"/>
            </p:cNvSpPr>
            <p:nvPr/>
          </p:nvSpPr>
          <p:spPr bwMode="auto">
            <a:xfrm>
              <a:off x="2108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84" name="Oval 44"/>
            <p:cNvSpPr>
              <a:spLocks noChangeArrowheads="1"/>
            </p:cNvSpPr>
            <p:nvPr/>
          </p:nvSpPr>
          <p:spPr bwMode="auto">
            <a:xfrm>
              <a:off x="2204" y="2736"/>
              <a:ext cx="271" cy="280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x-none" sz="2400" dirty="0">
                  <a:latin typeface="Times" pitchFamily="2" charset="0"/>
                </a:rPr>
                <a:t>E</a:t>
              </a:r>
              <a:endParaRPr lang="x-none" altLang="x-none" sz="2000">
                <a:latin typeface="Times" pitchFamily="2" charset="0"/>
              </a:endParaRPr>
            </a:p>
          </p:txBody>
        </p:sp>
        <p:sp>
          <p:nvSpPr>
            <p:cNvPr id="85" name="Text Box 45"/>
            <p:cNvSpPr txBox="1">
              <a:spLocks noChangeArrowheads="1"/>
            </p:cNvSpPr>
            <p:nvPr/>
          </p:nvSpPr>
          <p:spPr bwMode="auto">
            <a:xfrm>
              <a:off x="1820" y="273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latin typeface="Times New Roman" pitchFamily="18" charset="0"/>
                </a:rPr>
                <a:t>[9]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86" name="Text Box 46"/>
            <p:cNvSpPr txBox="1">
              <a:spLocks noChangeArrowheads="1"/>
            </p:cNvSpPr>
            <p:nvPr/>
          </p:nvSpPr>
          <p:spPr bwMode="auto">
            <a:xfrm>
              <a:off x="812" y="264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x-none" sz="2400" b="1">
                  <a:solidFill>
                    <a:schemeClr val="accent1"/>
                  </a:solidFill>
                  <a:latin typeface="Times New Roman" pitchFamily="18" charset="0"/>
                </a:rPr>
                <a:t>[6]</a:t>
              </a:r>
              <a:endParaRPr lang="en-US" altLang="x-none" sz="240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</p:grpSp>
      <p:sp>
        <p:nvSpPr>
          <p:cNvPr id="93" name="Oval 4"/>
          <p:cNvSpPr>
            <a:spLocks noChangeArrowheads="1"/>
          </p:cNvSpPr>
          <p:nvPr/>
        </p:nvSpPr>
        <p:spPr bwMode="auto">
          <a:xfrm>
            <a:off x="5611813" y="2204926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5603333" y="2204927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A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95" name="Oval 6"/>
          <p:cNvSpPr>
            <a:spLocks noChangeArrowheads="1"/>
          </p:cNvSpPr>
          <p:nvPr/>
        </p:nvSpPr>
        <p:spPr bwMode="auto">
          <a:xfrm>
            <a:off x="4419600" y="3046301"/>
            <a:ext cx="427038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Text Box 7"/>
          <p:cNvSpPr txBox="1">
            <a:spLocks noChangeArrowheads="1"/>
          </p:cNvSpPr>
          <p:nvPr/>
        </p:nvSpPr>
        <p:spPr bwMode="auto">
          <a:xfrm>
            <a:off x="4418350" y="3043127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B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97" name="Oval 8"/>
          <p:cNvSpPr>
            <a:spLocks noChangeArrowheads="1"/>
          </p:cNvSpPr>
          <p:nvPr/>
        </p:nvSpPr>
        <p:spPr bwMode="auto">
          <a:xfrm>
            <a:off x="7237413" y="3046301"/>
            <a:ext cx="430212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" name="Text Box 9"/>
          <p:cNvSpPr txBox="1">
            <a:spLocks noChangeArrowheads="1"/>
          </p:cNvSpPr>
          <p:nvPr/>
        </p:nvSpPr>
        <p:spPr bwMode="auto">
          <a:xfrm>
            <a:off x="7239338" y="3043127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C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99" name="Oval 10"/>
          <p:cNvSpPr>
            <a:spLocks noChangeArrowheads="1"/>
          </p:cNvSpPr>
          <p:nvPr/>
        </p:nvSpPr>
        <p:spPr bwMode="auto">
          <a:xfrm>
            <a:off x="7954964" y="4186126"/>
            <a:ext cx="427037" cy="444500"/>
          </a:xfrm>
          <a:prstGeom prst="ellipse">
            <a:avLst/>
          </a:prstGeom>
          <a:solidFill>
            <a:srgbClr val="C0C0C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Text Box 11"/>
          <p:cNvSpPr txBox="1">
            <a:spLocks noChangeArrowheads="1"/>
          </p:cNvSpPr>
          <p:nvPr/>
        </p:nvSpPr>
        <p:spPr bwMode="auto">
          <a:xfrm>
            <a:off x="7946483" y="4186127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G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01" name="Oval 12"/>
          <p:cNvSpPr>
            <a:spLocks noChangeArrowheads="1"/>
          </p:cNvSpPr>
          <p:nvPr/>
        </p:nvSpPr>
        <p:spPr bwMode="auto">
          <a:xfrm>
            <a:off x="6519863" y="4186126"/>
            <a:ext cx="430212" cy="4445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Text Box 13"/>
          <p:cNvSpPr txBox="1">
            <a:spLocks noChangeArrowheads="1"/>
          </p:cNvSpPr>
          <p:nvPr/>
        </p:nvSpPr>
        <p:spPr bwMode="auto">
          <a:xfrm>
            <a:off x="6538619" y="4186127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x-none" sz="2400" dirty="0">
                <a:latin typeface="Times New Roman" pitchFamily="18" charset="0"/>
              </a:rPr>
              <a:t>F</a:t>
            </a:r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03" name="Line 14"/>
          <p:cNvSpPr>
            <a:spLocks noChangeShapeType="1"/>
          </p:cNvSpPr>
          <p:nvPr/>
        </p:nvSpPr>
        <p:spPr bwMode="auto">
          <a:xfrm flipH="1">
            <a:off x="4803775" y="2552589"/>
            <a:ext cx="82550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Line 15"/>
          <p:cNvSpPr>
            <a:spLocks noChangeShapeType="1"/>
          </p:cNvSpPr>
          <p:nvPr/>
        </p:nvSpPr>
        <p:spPr bwMode="auto">
          <a:xfrm flipH="1">
            <a:off x="6870700" y="3463814"/>
            <a:ext cx="46990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7548563" y="3484452"/>
            <a:ext cx="442912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Line 17"/>
          <p:cNvSpPr>
            <a:spLocks noChangeShapeType="1"/>
          </p:cNvSpPr>
          <p:nvPr/>
        </p:nvSpPr>
        <p:spPr bwMode="auto">
          <a:xfrm>
            <a:off x="5984876" y="2570052"/>
            <a:ext cx="1249363" cy="70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7" name="Group 18"/>
          <p:cNvGrpSpPr>
            <a:grpSpLocks/>
          </p:cNvGrpSpPr>
          <p:nvPr/>
        </p:nvGrpSpPr>
        <p:grpSpPr bwMode="auto">
          <a:xfrm>
            <a:off x="7213601" y="5405504"/>
            <a:ext cx="428625" cy="461897"/>
            <a:chOff x="2400" y="858"/>
            <a:chExt cx="432" cy="449"/>
          </a:xfrm>
        </p:grpSpPr>
        <p:sp>
          <p:nvSpPr>
            <p:cNvPr id="108" name="Oval 19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Text Box 20"/>
            <p:cNvSpPr txBox="1">
              <a:spLocks noChangeArrowheads="1"/>
            </p:cNvSpPr>
            <p:nvPr/>
          </p:nvSpPr>
          <p:spPr bwMode="auto">
            <a:xfrm>
              <a:off x="2450" y="858"/>
              <a:ext cx="29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I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110" name="Group 21"/>
          <p:cNvGrpSpPr>
            <a:grpSpLocks/>
          </p:cNvGrpSpPr>
          <p:nvPr/>
        </p:nvGrpSpPr>
        <p:grpSpPr bwMode="auto">
          <a:xfrm>
            <a:off x="5775329" y="5405504"/>
            <a:ext cx="436563" cy="461897"/>
            <a:chOff x="2392" y="858"/>
            <a:chExt cx="440" cy="449"/>
          </a:xfrm>
        </p:grpSpPr>
        <p:sp>
          <p:nvSpPr>
            <p:cNvPr id="111" name="Oval 22"/>
            <p:cNvSpPr>
              <a:spLocks noChangeArrowheads="1"/>
            </p:cNvSpPr>
            <p:nvPr/>
          </p:nvSpPr>
          <p:spPr bwMode="auto">
            <a:xfrm>
              <a:off x="2400" y="864"/>
              <a:ext cx="432" cy="43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Text Box 23"/>
            <p:cNvSpPr txBox="1">
              <a:spLocks noChangeArrowheads="1"/>
            </p:cNvSpPr>
            <p:nvPr/>
          </p:nvSpPr>
          <p:spPr bwMode="auto">
            <a:xfrm>
              <a:off x="2392" y="858"/>
              <a:ext cx="411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x-none" sz="2400" dirty="0">
                  <a:latin typeface="Times New Roman" pitchFamily="18" charset="0"/>
                </a:rPr>
                <a:t>H</a:t>
              </a:r>
              <a:endParaRPr lang="x-none" altLang="x-none" sz="2400">
                <a:latin typeface="Times New Roman" pitchFamily="18" charset="0"/>
              </a:endParaRPr>
            </a:p>
          </p:txBody>
        </p:sp>
      </p:grpSp>
      <p:grpSp>
        <p:nvGrpSpPr>
          <p:cNvPr id="113" name="Group 24"/>
          <p:cNvGrpSpPr>
            <a:grpSpLocks/>
          </p:cNvGrpSpPr>
          <p:nvPr/>
        </p:nvGrpSpPr>
        <p:grpSpPr bwMode="auto">
          <a:xfrm>
            <a:off x="6099175" y="4689365"/>
            <a:ext cx="1150938" cy="801687"/>
            <a:chOff x="896" y="1363"/>
            <a:chExt cx="1156" cy="778"/>
          </a:xfrm>
        </p:grpSpPr>
        <p:sp>
          <p:nvSpPr>
            <p:cNvPr id="114" name="Line 25"/>
            <p:cNvSpPr>
              <a:spLocks noChangeShapeType="1"/>
            </p:cNvSpPr>
            <p:nvPr/>
          </p:nvSpPr>
          <p:spPr bwMode="auto">
            <a:xfrm flipH="1">
              <a:off x="896" y="1363"/>
              <a:ext cx="534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Line 26"/>
            <p:cNvSpPr>
              <a:spLocks noChangeShapeType="1"/>
            </p:cNvSpPr>
            <p:nvPr/>
          </p:nvSpPr>
          <p:spPr bwMode="auto">
            <a:xfrm>
              <a:off x="1674" y="1378"/>
              <a:ext cx="378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6" name="Text Box 27"/>
          <p:cNvSpPr txBox="1">
            <a:spLocks noChangeArrowheads="1"/>
          </p:cNvSpPr>
          <p:nvPr/>
        </p:nvSpPr>
        <p:spPr bwMode="auto">
          <a:xfrm>
            <a:off x="6477000" y="2509726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2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7" name="Text Box 28"/>
          <p:cNvSpPr txBox="1">
            <a:spLocks noChangeArrowheads="1"/>
          </p:cNvSpPr>
          <p:nvPr/>
        </p:nvSpPr>
        <p:spPr bwMode="auto">
          <a:xfrm>
            <a:off x="4921250" y="25097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8" name="Text Box 29"/>
          <p:cNvSpPr txBox="1">
            <a:spLocks noChangeArrowheads="1"/>
          </p:cNvSpPr>
          <p:nvPr/>
        </p:nvSpPr>
        <p:spPr bwMode="auto">
          <a:xfrm>
            <a:off x="6826250" y="357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1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19" name="Text Box 30"/>
          <p:cNvSpPr txBox="1">
            <a:spLocks noChangeArrowheads="1"/>
          </p:cNvSpPr>
          <p:nvPr/>
        </p:nvSpPr>
        <p:spPr bwMode="auto">
          <a:xfrm>
            <a:off x="7772400" y="3652726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7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0" name="Text Box 31"/>
          <p:cNvSpPr txBox="1">
            <a:spLocks noChangeArrowheads="1"/>
          </p:cNvSpPr>
          <p:nvPr/>
        </p:nvSpPr>
        <p:spPr bwMode="auto">
          <a:xfrm>
            <a:off x="6062664" y="4719526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4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1" name="Text Box 32"/>
          <p:cNvSpPr txBox="1">
            <a:spLocks noChangeArrowheads="1"/>
          </p:cNvSpPr>
          <p:nvPr/>
        </p:nvSpPr>
        <p:spPr bwMode="auto">
          <a:xfrm>
            <a:off x="7010400" y="4719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5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2" name="Text Box 33"/>
          <p:cNvSpPr txBox="1">
            <a:spLocks noChangeArrowheads="1"/>
          </p:cNvSpPr>
          <p:nvPr/>
        </p:nvSpPr>
        <p:spPr bwMode="auto">
          <a:xfrm>
            <a:off x="3886200" y="3043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solidFill>
                  <a:schemeClr val="accent1"/>
                </a:solidFill>
                <a:latin typeface="Times New Roman" pitchFamily="18" charset="0"/>
              </a:rPr>
              <a:t>[5]</a:t>
            </a:r>
            <a:endParaRPr lang="en-US" altLang="x-none" sz="2400">
              <a:solidFill>
                <a:schemeClr val="accent1"/>
              </a:solidFill>
              <a:latin typeface="Times New Roman" pitchFamily="18" charset="0"/>
            </a:endParaRPr>
          </a:p>
        </p:txBody>
      </p:sp>
      <p:sp>
        <p:nvSpPr>
          <p:cNvPr id="123" name="Text Box 34"/>
          <p:cNvSpPr txBox="1">
            <a:spLocks noChangeArrowheads="1"/>
          </p:cNvSpPr>
          <p:nvPr/>
        </p:nvSpPr>
        <p:spPr bwMode="auto">
          <a:xfrm>
            <a:off x="7848600" y="29669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[2]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4" name="Text Box 35"/>
          <p:cNvSpPr txBox="1">
            <a:spLocks noChangeArrowheads="1"/>
          </p:cNvSpPr>
          <p:nvPr/>
        </p:nvSpPr>
        <p:spPr bwMode="auto">
          <a:xfrm>
            <a:off x="8534400" y="4186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[9]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5" name="Text Box 36"/>
          <p:cNvSpPr txBox="1">
            <a:spLocks noChangeArrowheads="1"/>
          </p:cNvSpPr>
          <p:nvPr/>
        </p:nvSpPr>
        <p:spPr bwMode="auto">
          <a:xfrm>
            <a:off x="5867400" y="41861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[3]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6" name="Text Box 37"/>
          <p:cNvSpPr txBox="1">
            <a:spLocks noChangeArrowheads="1"/>
          </p:cNvSpPr>
          <p:nvPr/>
        </p:nvSpPr>
        <p:spPr bwMode="auto">
          <a:xfrm>
            <a:off x="5105400" y="54053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[7]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127" name="Text Box 38"/>
          <p:cNvSpPr txBox="1">
            <a:spLocks noChangeArrowheads="1"/>
          </p:cNvSpPr>
          <p:nvPr/>
        </p:nvSpPr>
        <p:spPr bwMode="auto">
          <a:xfrm>
            <a:off x="7772400" y="5405326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[8]</a:t>
            </a:r>
            <a:endParaRPr lang="en-US" altLang="x-none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22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1" y="2209800"/>
            <a:ext cx="8915400" cy="4572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Start Node: A</a:t>
            </a:r>
          </a:p>
          <a:p>
            <a:r>
              <a:rPr lang="en-US" dirty="0"/>
              <a:t>Goal Node: G</a:t>
            </a:r>
          </a:p>
          <a:p>
            <a:pPr marL="0" indent="0">
              <a:buNone/>
            </a:pPr>
            <a:r>
              <a:rPr lang="en-US" b="1" u="sng" dirty="0"/>
              <a:t>Step 	Frontier              			Expand[*]  Explored: a set of nodes</a:t>
            </a:r>
          </a:p>
          <a:p>
            <a:pPr marL="0" indent="0">
              <a:buNone/>
            </a:pPr>
            <a:r>
              <a:rPr lang="en-US" dirty="0"/>
              <a:t>1 	{(A,0)} 				A 		∅</a:t>
            </a:r>
          </a:p>
          <a:p>
            <a:pPr marL="0" indent="0">
              <a:buNone/>
            </a:pPr>
            <a:r>
              <a:rPr lang="en-US" dirty="0"/>
              <a:t>2 	{(A-D,3),(A-B,5)} 			D 		{A}</a:t>
            </a:r>
          </a:p>
          <a:p>
            <a:pPr marL="0" indent="0">
              <a:buNone/>
            </a:pPr>
            <a:r>
              <a:rPr lang="en-US" dirty="0"/>
              <a:t>3 	{(A-B,5),(A-D-E,5),(A-D-F,5)} 		B 		{A,D}</a:t>
            </a:r>
          </a:p>
          <a:p>
            <a:pPr marL="0" indent="0">
              <a:buNone/>
            </a:pPr>
            <a:r>
              <a:rPr lang="en-US" dirty="0"/>
              <a:t>4 	{(A-D-E,5),(A-D-F,5),(A-B-C,6)} 	E 		{A,D,B}</a:t>
            </a:r>
          </a:p>
          <a:p>
            <a:pPr marL="0" indent="0">
              <a:buNone/>
            </a:pPr>
            <a:r>
              <a:rPr lang="en-US" dirty="0"/>
              <a:t>5 	{(A-D-F,5),(A-B-C,6),(</a:t>
            </a:r>
            <a:r>
              <a:rPr lang="en-US" strike="sngStrike" dirty="0"/>
              <a:t>A-D-E-B,9)*}</a:t>
            </a:r>
            <a:r>
              <a:rPr lang="en-US" dirty="0"/>
              <a:t>	F 		{A,D,B,E}</a:t>
            </a:r>
          </a:p>
          <a:p>
            <a:pPr marL="0" indent="0">
              <a:buNone/>
            </a:pPr>
            <a:r>
              <a:rPr lang="en-US" dirty="0"/>
              <a:t>6 	{(A-B-C,6),(A-D-F-G,8)                	 C 		{A,D,B,E,F}</a:t>
            </a:r>
          </a:p>
          <a:p>
            <a:pPr marL="0" indent="0">
              <a:buNone/>
            </a:pPr>
            <a:r>
              <a:rPr lang="en-US" dirty="0"/>
              <a:t>7 	(A-D-F-G,8),(A-B-C-G,14)		</a:t>
            </a:r>
            <a:r>
              <a:rPr lang="en-US" dirty="0">
                <a:solidFill>
                  <a:srgbClr val="FF0000"/>
                </a:solidFill>
              </a:rPr>
              <a:t>G </a:t>
            </a:r>
            <a:r>
              <a:rPr lang="en-US" dirty="0"/>
              <a:t>		{A,D,B,E,F,C}</a:t>
            </a:r>
          </a:p>
          <a:p>
            <a:pPr marL="0" indent="0">
              <a:buNone/>
            </a:pPr>
            <a:r>
              <a:rPr lang="en-US" dirty="0"/>
              <a:t>8 	∅ 		</a:t>
            </a:r>
          </a:p>
          <a:p>
            <a:endParaRPr lang="en-US" sz="1000" dirty="0"/>
          </a:p>
          <a:p>
            <a:r>
              <a:rPr lang="en-US" dirty="0"/>
              <a:t>Found the path: A -&gt; D -&gt; F -&gt; G. </a:t>
            </a:r>
          </a:p>
          <a:p>
            <a:r>
              <a:rPr lang="en-US" dirty="0"/>
              <a:t>*B is not added to the frontier because it is found in the explored 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32</a:t>
            </a:fld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990" y="76201"/>
            <a:ext cx="3285811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345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11" y="1690688"/>
            <a:ext cx="7373178" cy="505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29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890" y="2641324"/>
            <a:ext cx="3910220" cy="23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13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945" y="1690688"/>
            <a:ext cx="7790110" cy="48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11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9144001" y="1828801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9296401" y="1828802"/>
            <a:ext cx="1371600" cy="19048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907589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 (UCS)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838200" y="1825624"/>
            <a:ext cx="6351587" cy="472094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What nodes does UCS expand?</a:t>
            </a:r>
          </a:p>
          <a:p>
            <a:pPr lvl="1"/>
            <a:r>
              <a:rPr lang="en-US" sz="2000" dirty="0"/>
              <a:t>Processes all nodes with cost less than cheapest solution!</a:t>
            </a:r>
          </a:p>
          <a:p>
            <a:pPr lvl="1"/>
            <a:r>
              <a:rPr lang="en-US" sz="2000" dirty="0"/>
              <a:t>If that solution costs </a:t>
            </a:r>
            <a:r>
              <a:rPr lang="en-US" sz="2000" i="1" dirty="0">
                <a:latin typeface="Times New Roman" pitchFamily="18" charset="0"/>
              </a:rPr>
              <a:t>C* </a:t>
            </a:r>
            <a:r>
              <a:rPr lang="en-US" sz="2000" dirty="0"/>
              <a:t>and arcs cost at least 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 </a:t>
            </a:r>
            <a:r>
              <a:rPr lang="en-US" sz="2000" i="1" dirty="0">
                <a:sym typeface="Symbol" pitchFamily="18" charset="2"/>
              </a:rPr>
              <a:t>,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then the “effective depth” is roughly </a:t>
            </a:r>
            <a:r>
              <a:rPr lang="en-US" sz="2000" i="1" dirty="0">
                <a:latin typeface="Times New Roman" pitchFamily="18" charset="0"/>
              </a:rPr>
              <a:t>C*/</a:t>
            </a:r>
            <a:r>
              <a:rPr lang="en-US" sz="2000" i="1" dirty="0">
                <a:latin typeface="Times New Roman" pitchFamily="18" charset="0"/>
                <a:sym typeface="Symbol" pitchFamily="18" charset="2"/>
              </a:rPr>
              <a:t></a:t>
            </a:r>
            <a:endParaRPr lang="en-US" sz="2000" dirty="0"/>
          </a:p>
          <a:p>
            <a:pPr lvl="1"/>
            <a:r>
              <a:rPr lang="en-US" sz="2000" dirty="0"/>
              <a:t>Takes time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 (exponential in effective depth)</a:t>
            </a:r>
          </a:p>
          <a:p>
            <a:pPr lvl="3"/>
            <a:endParaRPr lang="en-US" sz="1200" dirty="0"/>
          </a:p>
          <a:p>
            <a:r>
              <a:rPr lang="en-US" sz="2400" dirty="0"/>
              <a:t>How much space does the fringe take?</a:t>
            </a:r>
          </a:p>
          <a:p>
            <a:pPr lvl="1"/>
            <a:r>
              <a:rPr lang="en-US" sz="2000" dirty="0"/>
              <a:t>Has roughly the last tier, so O(</a:t>
            </a:r>
            <a:r>
              <a:rPr lang="en-US" sz="2000" dirty="0" err="1"/>
              <a:t>b</a:t>
            </a:r>
            <a:r>
              <a:rPr lang="en-US" sz="2000" i="1" baseline="30000" dirty="0" err="1">
                <a:latin typeface="Times New Roman" pitchFamily="18" charset="0"/>
              </a:rPr>
              <a:t>C</a:t>
            </a:r>
            <a:r>
              <a:rPr lang="en-US" sz="2000" i="1" baseline="30000" dirty="0">
                <a:latin typeface="Times New Roman" pitchFamily="18" charset="0"/>
              </a:rPr>
              <a:t>*/</a:t>
            </a:r>
            <a:r>
              <a:rPr lang="en-US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000" dirty="0"/>
              <a:t>)</a:t>
            </a:r>
          </a:p>
          <a:p>
            <a:pPr lvl="3"/>
            <a:endParaRPr lang="en-US" sz="1200" dirty="0"/>
          </a:p>
          <a:p>
            <a:r>
              <a:rPr lang="en-US" sz="2400" dirty="0"/>
              <a:t>Is it complete?</a:t>
            </a:r>
          </a:p>
          <a:p>
            <a:pPr lvl="1"/>
            <a:r>
              <a:rPr lang="en-US" sz="2000" dirty="0"/>
              <a:t>Assuming best solution has a finite cost and minimum arc cost is positive, yes!</a:t>
            </a:r>
          </a:p>
          <a:p>
            <a:pPr lvl="2"/>
            <a:endParaRPr lang="en-US" sz="800" dirty="0"/>
          </a:p>
          <a:p>
            <a:r>
              <a:rPr lang="en-US" sz="2400" dirty="0"/>
              <a:t>Is it optimal?</a:t>
            </a:r>
          </a:p>
          <a:p>
            <a:pPr lvl="1"/>
            <a:r>
              <a:rPr lang="en-US" sz="2000" dirty="0"/>
              <a:t>Yes!  (Proof next lecture via A*)</a:t>
            </a:r>
          </a:p>
          <a:p>
            <a:endParaRPr lang="en-US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655051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890123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9601201" y="198120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8534400" y="1828800"/>
            <a:ext cx="265112" cy="198120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239000" y="2602472"/>
            <a:ext cx="1447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</a:rPr>
              <a:t>C*/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dirty="0"/>
              <a:t>  “tiers”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9601200" y="1905162"/>
            <a:ext cx="838200" cy="12190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0995027" y="2865436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820402" y="2470148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0604502" y="2092324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271172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Uniform Cost Issues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Remember: UCS explores increasing cost contours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good: UCS is complete and optimal!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The bad: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Explores options in every “direction”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No information about goal location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800" dirty="0"/>
              <a:t>We’ll fix that soon!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9113839" y="5006979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Start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0363200" y="5030791"/>
            <a:ext cx="914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Goal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9007479" y="454977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31747" name="Freeform 3"/>
            <p:cNvSpPr>
              <a:spLocks/>
            </p:cNvSpPr>
            <p:nvPr/>
          </p:nvSpPr>
          <p:spPr bwMode="auto">
            <a:xfrm>
              <a:off x="8516935" y="1412876"/>
              <a:ext cx="1616075" cy="2381251"/>
            </a:xfrm>
            <a:custGeom>
              <a:avLst/>
              <a:gdLst>
                <a:gd name="T0" fmla="*/ 2147483647 w 1018"/>
                <a:gd name="T1" fmla="*/ 2147483647 h 1500"/>
                <a:gd name="T2" fmla="*/ 2147483647 w 1018"/>
                <a:gd name="T3" fmla="*/ 2147483647 h 1500"/>
                <a:gd name="T4" fmla="*/ 2147483647 w 1018"/>
                <a:gd name="T5" fmla="*/ 2147483647 h 1500"/>
                <a:gd name="T6" fmla="*/ 2147483647 w 1018"/>
                <a:gd name="T7" fmla="*/ 2147483647 h 1500"/>
                <a:gd name="T8" fmla="*/ 2147483647 w 1018"/>
                <a:gd name="T9" fmla="*/ 2147483647 h 1500"/>
                <a:gd name="T10" fmla="*/ 2147483647 w 1018"/>
                <a:gd name="T11" fmla="*/ 2147483647 h 1500"/>
                <a:gd name="T12" fmla="*/ 2147483647 w 1018"/>
                <a:gd name="T13" fmla="*/ 2147483647 h 1500"/>
                <a:gd name="T14" fmla="*/ 2147483647 w 1018"/>
                <a:gd name="T15" fmla="*/ 2147483647 h 1500"/>
                <a:gd name="T16" fmla="*/ 2147483647 w 1018"/>
                <a:gd name="T17" fmla="*/ 2147483647 h 1500"/>
                <a:gd name="T18" fmla="*/ 0 w 1018"/>
                <a:gd name="T19" fmla="*/ 2147483647 h 1500"/>
                <a:gd name="T20" fmla="*/ 2147483647 w 1018"/>
                <a:gd name="T21" fmla="*/ 2147483647 h 1500"/>
                <a:gd name="T22" fmla="*/ 2147483647 w 1018"/>
                <a:gd name="T23" fmla="*/ 2147483647 h 15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8"/>
                <a:gd name="T37" fmla="*/ 0 h 1500"/>
                <a:gd name="T38" fmla="*/ 1018 w 1018"/>
                <a:gd name="T39" fmla="*/ 1500 h 15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8" h="1500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54" name="Freeform 10"/>
            <p:cNvSpPr>
              <a:spLocks/>
            </p:cNvSpPr>
            <p:nvPr/>
          </p:nvSpPr>
          <p:spPr bwMode="auto">
            <a:xfrm>
              <a:off x="8023224" y="1560515"/>
              <a:ext cx="2927351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55" name="Oval 11"/>
            <p:cNvSpPr>
              <a:spLocks noChangeArrowheads="1"/>
            </p:cNvSpPr>
            <p:nvPr/>
          </p:nvSpPr>
          <p:spPr bwMode="auto"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6" name="Oval 12"/>
            <p:cNvSpPr>
              <a:spLocks noChangeArrowheads="1"/>
            </p:cNvSpPr>
            <p:nvPr/>
          </p:nvSpPr>
          <p:spPr bwMode="auto"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9275761" y="1766891"/>
              <a:ext cx="274639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…</a:t>
              </a:r>
            </a:p>
          </p:txBody>
        </p:sp>
        <p:sp>
          <p:nvSpPr>
            <p:cNvPr id="31758" name="Oval 14"/>
            <p:cNvSpPr>
              <a:spLocks noChangeArrowheads="1"/>
            </p:cNvSpPr>
            <p:nvPr/>
          </p:nvSpPr>
          <p:spPr bwMode="auto"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en-US"/>
            </a:p>
          </p:txBody>
        </p:sp>
        <p:sp>
          <p:nvSpPr>
            <p:cNvPr id="31763" name="Freeform 19"/>
            <p:cNvSpPr>
              <a:spLocks/>
            </p:cNvSpPr>
            <p:nvPr/>
          </p:nvSpPr>
          <p:spPr bwMode="auto">
            <a:xfrm>
              <a:off x="8805861" y="2395539"/>
              <a:ext cx="1181100" cy="557212"/>
            </a:xfrm>
            <a:custGeom>
              <a:avLst/>
              <a:gdLst>
                <a:gd name="T0" fmla="*/ 2147483647 w 744"/>
                <a:gd name="T1" fmla="*/ 0 h 351"/>
                <a:gd name="T2" fmla="*/ 2147483647 w 744"/>
                <a:gd name="T3" fmla="*/ 2147483647 h 351"/>
                <a:gd name="T4" fmla="*/ 2147483647 w 744"/>
                <a:gd name="T5" fmla="*/ 2147483647 h 351"/>
                <a:gd name="T6" fmla="*/ 2147483647 w 744"/>
                <a:gd name="T7" fmla="*/ 2147483647 h 351"/>
                <a:gd name="T8" fmla="*/ 0 w 744"/>
                <a:gd name="T9" fmla="*/ 2147483647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351"/>
                <a:gd name="T17" fmla="*/ 744 w 744"/>
                <a:gd name="T18" fmla="*/ 351 h 3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351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64" name="Freeform 20"/>
            <p:cNvSpPr>
              <a:spLocks/>
            </p:cNvSpPr>
            <p:nvPr/>
          </p:nvSpPr>
          <p:spPr bwMode="auto">
            <a:xfrm>
              <a:off x="9061449" y="2127251"/>
              <a:ext cx="747712" cy="293688"/>
            </a:xfrm>
            <a:custGeom>
              <a:avLst/>
              <a:gdLst>
                <a:gd name="T0" fmla="*/ 2147483647 w 471"/>
                <a:gd name="T1" fmla="*/ 0 h 185"/>
                <a:gd name="T2" fmla="*/ 2147483647 w 471"/>
                <a:gd name="T3" fmla="*/ 2147483647 h 185"/>
                <a:gd name="T4" fmla="*/ 0 w 471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471"/>
                <a:gd name="T10" fmla="*/ 0 h 185"/>
                <a:gd name="T11" fmla="*/ 471 w 471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1" h="185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10299700" y="2495551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3</a:t>
              </a: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10172700" y="2100263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2</a:t>
              </a:r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9972673" y="1722440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 </a:t>
              </a:r>
              <a:r>
                <a:rPr lang="en-US">
                  <a:sym typeface="Symbol" pitchFamily="18" charset="2"/>
                </a:rPr>
                <a:t>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76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0" grpId="0" animBg="1"/>
      <p:bldP spid="31751" grpId="0"/>
      <p:bldP spid="31752" grpId="0" animBg="1"/>
      <p:bldP spid="31753" grpId="0"/>
      <p:bldP spid="3176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                     </a:t>
            </a:r>
            <a:r>
              <a:rPr lang="en-US" dirty="0">
                <a:solidFill>
                  <a:srgbClr val="FF0000"/>
                </a:solidFill>
              </a:rPr>
              <a:t>(Activity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83" y="3861770"/>
            <a:ext cx="10515600" cy="1459189"/>
          </a:xfrm>
        </p:spPr>
        <p:txBody>
          <a:bodyPr/>
          <a:lstStyle/>
          <a:p>
            <a:r>
              <a:rPr lang="en-US" dirty="0"/>
              <a:t>The graph above shows the step-costs for different paths going from the start (S) to the goal (G).</a:t>
            </a:r>
          </a:p>
          <a:p>
            <a:r>
              <a:rPr lang="en-US" dirty="0"/>
              <a:t>Use uniform cost search to find the optimal path to the goal.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605" y="1537041"/>
            <a:ext cx="5116789" cy="2194732"/>
          </a:xfrm>
          <a:prstGeom prst="rect">
            <a:avLst/>
          </a:prstGeom>
        </p:spPr>
      </p:pic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0970582C-E534-653F-124F-6DDE07B08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30515"/>
              </p:ext>
            </p:extLst>
          </p:nvPr>
        </p:nvGraphicFramePr>
        <p:xfrm>
          <a:off x="1739769" y="5375268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184052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60664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14533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85325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35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3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46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945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96" y="160728"/>
            <a:ext cx="5116789" cy="21947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066597"/>
              </p:ext>
            </p:extLst>
          </p:nvPr>
        </p:nvGraphicFramePr>
        <p:xfrm>
          <a:off x="715818" y="2728575"/>
          <a:ext cx="916247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6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6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(S-C,1) (S-B,2)(S-A,3)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(S-B,2)(S-A,3)(S-C-G,21)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(S-A,3)(S-C-G,21)(S-B-E,6)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(S-C-G,21)(S-B-E,6)(S-A-D,9)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S,C,B,A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(S-C-G,21) (S-A-D,9) (S-B-E-G,14)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S,C,B,A,E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(S-C-G,21) (S-B-E-G,14) (S-A-D-F,10)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S,C,B,A,E,D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(S-C-G,21) (S-B-E-G,14) (S-A-D-F-G,11)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S-A-D-F-G,11    Goal</a:t>
                      </a:r>
                      <a:r>
                        <a:rPr lang="en-US" baseline="0" dirty="0"/>
                        <a:t> Found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S,C,B,A,E,D,F,G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85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238"/>
            <a:ext cx="4378745" cy="36319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85322"/>
              </p:ext>
            </p:extLst>
          </p:nvPr>
        </p:nvGraphicFramePr>
        <p:xfrm>
          <a:off x="3810249" y="2098084"/>
          <a:ext cx="8707901" cy="4621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2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4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Step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Frontier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Expand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Explored: a set of Nodes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(S,0)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Ø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(S-C,2) (S-D,2) (S-A,3)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(S-D,2) (S-A,3)(S-C-F,3)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S,C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(S-A,3)(S-C-F,3)(S-D-B,5)(S-D-G,10)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S,C,D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(S-C-F,3)(S-D-B,5)(S-D-G,10)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S,C,D,A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(S-D-B,5)(</a:t>
                      </a:r>
                      <a:r>
                        <a:rPr lang="en-US" sz="1800" strike="sng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S-D-G,10)(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S-C-F-E,3)(S-C-F-G,7)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S,C,D,A,F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(S-D-B,5</a:t>
                      </a:r>
                      <a:r>
                        <a:rPr lang="en-US" sz="1800" strike="sng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)(S-D-G,10) (S-C-F-G,7) 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(S-C-F-E-G,5)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S,C,D,A,F,E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trike="sng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(S-D-G,10) (S-C-F-G,7) 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(S-C-F-E-G,5)</a:t>
                      </a:r>
                      <a:r>
                        <a:rPr lang="en-US" sz="1800" strike="sng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(S-D-B-E,7)</a:t>
                      </a:r>
                      <a:r>
                        <a:rPr lang="en-US" sz="1800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already visited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S,C,D,A,F,E,B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4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(S-C-F-E-G,5)</a:t>
                      </a:r>
                      <a:r>
                        <a:rPr lang="en-US" sz="1800" strike="noStrike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Goal Found</a:t>
                      </a:r>
                      <a:endParaRPr lang="en-US" sz="18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AC3C06-28F1-7513-10CD-9A232B112871}"/>
              </a:ext>
            </a:extLst>
          </p:cNvPr>
          <p:cNvSpPr txBox="1"/>
          <p:nvPr/>
        </p:nvSpPr>
        <p:spPr>
          <a:xfrm>
            <a:off x="8323868" y="810705"/>
            <a:ext cx="131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Activity 2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2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64D76512-7601-41F5-9F03-DD27D7F2FD7D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41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-152400"/>
            <a:ext cx="8991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Summary of Algorithms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792436" y="3276600"/>
            <a:ext cx="6122964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r>
              <a:rPr lang="en-US" sz="2800" i="1" dirty="0"/>
              <a:t>b</a:t>
            </a:r>
            <a:r>
              <a:rPr lang="en-US" sz="2800" dirty="0"/>
              <a:t>	branching factor</a:t>
            </a:r>
          </a:p>
          <a:p>
            <a:r>
              <a:rPr lang="en-US" sz="2800" i="1" dirty="0"/>
              <a:t>d</a:t>
            </a:r>
            <a:r>
              <a:rPr lang="en-US" sz="2800" dirty="0"/>
              <a:t>	depth of the shallowest solution</a:t>
            </a:r>
          </a:p>
          <a:p>
            <a:r>
              <a:rPr lang="en-US" sz="2800" i="1" dirty="0"/>
              <a:t>m</a:t>
            </a:r>
            <a:r>
              <a:rPr lang="en-US" sz="2800" dirty="0"/>
              <a:t>	maximum depth of the search tree</a:t>
            </a:r>
          </a:p>
          <a:p>
            <a:r>
              <a:rPr lang="en-US" sz="2800" i="1" dirty="0"/>
              <a:t>l</a:t>
            </a:r>
            <a:r>
              <a:rPr lang="en-US" sz="2800" dirty="0"/>
              <a:t>	 depth limit 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3" t="25605" r="20993" b="45870"/>
          <a:stretch/>
        </p:blipFill>
        <p:spPr bwMode="auto">
          <a:xfrm>
            <a:off x="1555955" y="914401"/>
            <a:ext cx="8959645" cy="2480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76400" y="4953000"/>
            <a:ext cx="8915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Superscripts:</a:t>
            </a:r>
          </a:p>
          <a:p>
            <a:r>
              <a:rPr lang="en-US" sz="2800" dirty="0"/>
              <a:t>	</a:t>
            </a:r>
            <a:r>
              <a:rPr lang="en-US" sz="2800" i="1" dirty="0"/>
              <a:t>a</a:t>
            </a:r>
            <a:r>
              <a:rPr lang="en-US" sz="2800" dirty="0"/>
              <a:t> 	complete if b is finite</a:t>
            </a:r>
          </a:p>
          <a:p>
            <a:r>
              <a:rPr lang="en-US" sz="2800" dirty="0"/>
              <a:t>	</a:t>
            </a:r>
            <a:r>
              <a:rPr lang="en-US" sz="2800" i="1" dirty="0"/>
              <a:t>b</a:t>
            </a:r>
            <a:r>
              <a:rPr lang="en-US" sz="2800" dirty="0"/>
              <a:t> 	complete if step costs ≥ epsilon for +</a:t>
            </a:r>
            <a:r>
              <a:rPr lang="en-US" sz="2800" dirty="0" err="1"/>
              <a:t>ve</a:t>
            </a:r>
            <a:r>
              <a:rPr lang="en-US" sz="2800" dirty="0"/>
              <a:t> epsilon</a:t>
            </a:r>
          </a:p>
          <a:p>
            <a:r>
              <a:rPr lang="en-US" sz="2800" dirty="0"/>
              <a:t>	</a:t>
            </a:r>
            <a:r>
              <a:rPr lang="en-US" sz="2800" i="1" dirty="0"/>
              <a:t>c</a:t>
            </a:r>
            <a:r>
              <a:rPr lang="en-US" sz="2800" dirty="0"/>
              <a:t> 	optimal if step costs are all identical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B007CC-1DA6-08CA-068F-1F02CD923606}"/>
                  </a:ext>
                </a:extLst>
              </p14:cNvPr>
              <p14:cNvContentPartPr/>
              <p14:nvPr/>
            </p14:nvContentPartPr>
            <p14:xfrm>
              <a:off x="-1070150" y="209112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B007CC-1DA6-08CA-068F-1F02CD9236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88150" y="207348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705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905" y="2069204"/>
            <a:ext cx="9540189" cy="3509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Algorithms</a:t>
            </a:r>
          </a:p>
        </p:txBody>
      </p:sp>
    </p:spTree>
    <p:extLst>
      <p:ext uri="{BB962C8B-B14F-4D97-AF65-F5344CB8AC3E}">
        <p14:creationId xmlns:p14="http://schemas.microsoft.com/office/powerpoint/2010/main" val="61703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05CE4E-0E43-4F2E-88DE-E700C9F01795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2.xml><?xml version="1.0" encoding="utf-8"?>
<ds:datastoreItem xmlns:ds="http://schemas.openxmlformats.org/officeDocument/2006/customXml" ds:itemID="{7A88B94D-C963-4391-931A-749C897689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98BF6E-980B-4A47-8ACE-D96B614989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6314</TotalTime>
  <Words>1995</Words>
  <Application>Microsoft Office PowerPoint</Application>
  <PresentationFormat>Widescreen</PresentationFormat>
  <Paragraphs>574</Paragraphs>
  <Slides>42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Symbol</vt:lpstr>
      <vt:lpstr>Times</vt:lpstr>
      <vt:lpstr>Times New Roman</vt:lpstr>
      <vt:lpstr>Wingdings</vt:lpstr>
      <vt:lpstr>Office Theme</vt:lpstr>
      <vt:lpstr>Uninformed Search-II</vt:lpstr>
      <vt:lpstr>Depth-Limited Search (DLS)</vt:lpstr>
      <vt:lpstr>Depth-Limited Search (DLS)</vt:lpstr>
      <vt:lpstr>Iterative Deepening Search</vt:lpstr>
      <vt:lpstr>Iterative deepening search l =0</vt:lpstr>
      <vt:lpstr>Iterative deepening search l =1</vt:lpstr>
      <vt:lpstr>Iterative deepening search l =2</vt:lpstr>
      <vt:lpstr>Iterative deepening search l =3</vt:lpstr>
      <vt:lpstr>PowerPoint Presentation</vt:lpstr>
      <vt:lpstr>Depth Bound = 0</vt:lpstr>
      <vt:lpstr>Depth Bound = 1</vt:lpstr>
      <vt:lpstr>Depth Bound = 1</vt:lpstr>
      <vt:lpstr>PowerPoint Presentation</vt:lpstr>
      <vt:lpstr>PowerPoint Presentation</vt:lpstr>
      <vt:lpstr>PowerPoint Presentation</vt:lpstr>
      <vt:lpstr>PowerPoint Presentation</vt:lpstr>
      <vt:lpstr>Depth 2</vt:lpstr>
      <vt:lpstr>PowerPoint Presentation</vt:lpstr>
      <vt:lpstr>Properties of Iterative Deepening Search</vt:lpstr>
      <vt:lpstr>Activity</vt:lpstr>
      <vt:lpstr>Cost-Sensitive Search</vt:lpstr>
      <vt:lpstr>Uniform Cost Search</vt:lpstr>
      <vt:lpstr>Uniform Cost Search</vt:lpstr>
      <vt:lpstr>Uniform Cost Search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PowerPoint Presentation</vt:lpstr>
      <vt:lpstr>Uniform Cost Search</vt:lpstr>
      <vt:lpstr>Uniform Cost Search</vt:lpstr>
      <vt:lpstr>Uniform Cost Search</vt:lpstr>
      <vt:lpstr>Uniform Cost Search (UCS) Properties</vt:lpstr>
      <vt:lpstr>Uniform Cost Issues</vt:lpstr>
      <vt:lpstr>Uniform Cost Search                      (Activity 1)</vt:lpstr>
      <vt:lpstr>PowerPoint Presentation</vt:lpstr>
      <vt:lpstr>PowerPoint Presentation</vt:lpstr>
      <vt:lpstr>Summary of Algorithms</vt:lpstr>
      <vt:lpstr>Summary of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Uninformed Search-II</dc:title>
  <dc:creator>FARHAN DAWOOD</dc:creator>
  <cp:lastModifiedBy>Misbah Naz</cp:lastModifiedBy>
  <cp:revision>92</cp:revision>
  <dcterms:created xsi:type="dcterms:W3CDTF">2019-03-21T06:56:57Z</dcterms:created>
  <dcterms:modified xsi:type="dcterms:W3CDTF">2026-08-19T09:54:07Z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