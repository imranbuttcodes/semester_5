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56" r:id="rId5"/>
    <p:sldId id="257" r:id="rId6"/>
    <p:sldId id="303" r:id="rId7"/>
    <p:sldId id="307" r:id="rId8"/>
    <p:sldId id="312" r:id="rId9"/>
    <p:sldId id="309" r:id="rId10"/>
    <p:sldId id="313" r:id="rId11"/>
    <p:sldId id="314" r:id="rId12"/>
    <p:sldId id="310" r:id="rId13"/>
    <p:sldId id="311" r:id="rId14"/>
    <p:sldId id="315" r:id="rId15"/>
    <p:sldId id="316" r:id="rId16"/>
    <p:sldId id="317" r:id="rId17"/>
    <p:sldId id="318" r:id="rId18"/>
    <p:sldId id="308" r:id="rId19"/>
    <p:sldId id="297" r:id="rId20"/>
    <p:sldId id="298" r:id="rId21"/>
    <p:sldId id="299" r:id="rId22"/>
    <p:sldId id="261" r:id="rId23"/>
    <p:sldId id="262" r:id="rId24"/>
    <p:sldId id="263" r:id="rId25"/>
    <p:sldId id="264" r:id="rId26"/>
    <p:sldId id="265" r:id="rId27"/>
    <p:sldId id="281" r:id="rId28"/>
    <p:sldId id="282" r:id="rId29"/>
    <p:sldId id="283" r:id="rId30"/>
    <p:sldId id="304" r:id="rId31"/>
    <p:sldId id="305" r:id="rId32"/>
    <p:sldId id="306" r:id="rId33"/>
    <p:sldId id="284" r:id="rId34"/>
    <p:sldId id="302" r:id="rId35"/>
    <p:sldId id="31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ink/ink1.xml><?xml version="1.0" encoding="utf-8"?>
<inkml:ink xmlns:inkml="http://www.w3.org/2003/InkML">
  <inkml:definitions>
    <inkml:context xml:id="ctx0">
      <inkml:inkSource xml:id="inkSrc0">
        <inkml:traceFormat>
          <inkml:channel name="X" type="integer" max="1360" units="cm"/>
          <inkml:channel name="Y" type="integer" max="768" units="cm"/>
          <inkml:channel name="T" type="integer" max="2.14748E9" units="dev"/>
        </inkml:traceFormat>
        <inkml:channelProperties>
          <inkml:channelProperty channel="X" name="resolution" value="39.76608" units="1/cm"/>
          <inkml:channelProperty channel="Y" name="resolution" value="39.58763" units="1/cm"/>
          <inkml:channelProperty channel="T" name="resolution" value="1" units="1/dev"/>
        </inkml:channelProperties>
      </inkml:inkSource>
      <inkml:timestamp xml:id="ts0" timeString="2020-12-25T10:16:23.889"/>
    </inkml:context>
    <inkml:brush xml:id="br0">
      <inkml:brushProperty name="width" value="0.05292" units="cm"/>
      <inkml:brushProperty name="height" value="0.05292" units="cm"/>
      <inkml:brushProperty name="color" value="#0070C0"/>
    </inkml:brush>
  </inkml:definitions>
  <inkml:trace contextRef="#ctx0" brushRef="#br0">8143 11206 0,'0'-25'31,"-25"25"-16,25 25 95,0 0-79,0 0-15,-25-25-16,25 25 15,0 0-15,0 0 16,0 0-16,-25 0 16,25 0-16,0-1 0,0 1 15,0 0-15,0 0 16,0 0-16,0 0 0,0 0 15,0 0-15,0 0 16,0 0-16,0-1 16,0 1-16,0 0 0,0 0 15,0 0-15,0 0 16,0 0-16,0 0 0,0 0 16,0 0-16,0-1 15,0 1-15,0 0 0,0 0 16,0 0-16,0 0 15,0 0-15,0 0 16,0 0 0,0 0-16,0-1 15,0 1 1,-25 0 0,25 0-1,0 0 1,0 0-1</inkml:trace>
  <inkml:trace contextRef="#ctx0" brushRef="#br0" timeOffset="1680.14">11779 10982 0,'-25'0'31,"25"25"1,-25 0-17,25 0 1,0 0-1,-25 0 1,25 0 0,0 0-16,0-1 15,0 1 1,0 0 0,0 0-1,0 0-15,0 0 16,0 0-16,0 0 0,0 0 15,0 0-15,0-1 16,0 1-16,0 0 0,0 0 16,0 0-16,0 25 0,0-25 15,0 0-15,0 0 16,0-1-16,0 1 0,0 0 16,0 25-16,0-25 15,0 0-15,0 0 0,0 0 16,0 0-16,0 24 15,-25-24-15,25 25 0,0-25 16,0 25-16,0-25 0,0 24 16,0-24-16,0 0 15,0 25-15,0-25 0,0 0 16,0 0-16,0 0 16,0 0-16,0 0 0,0-1 15,0 1-15,0 0 16,0 0-16,0 0 15,0 0 1,0 0 15,0 0 1</inkml:trace>
  <inkml:trace contextRef="#ctx0" brushRef="#br0" timeOffset="16007.83">12127 8990 0,'-25'25'0,"25"0"16,-25-25 0,25 25-16,0 0 15,-24 0 1,24-1-16,-25-24 16,25 25-16,0 0 0,-25 25 15,25-25-15,0 0 0,-25 0 16,25 25-16,-25-26 15,25 1-15,0 0 0,-25 0 16,25 0-16,0 0 16,0 0-16,0 0 15</inkml:trace>
  <inkml:trace contextRef="#ctx0" brushRef="#br0" timeOffset="16679.76">12127 8965 0,'0'0'0,"0"25"31,0 0 0,0 0-31,25 0 16,-25 0-16,25 0 15,-25-1-15,0 1 16,25 0-16,-25 0 0,25-25 16,-25 25-16,25 0 15,0 0-15,0-25 16,-25 25-1,24-25-15,-24-25 16,25 25-16,-25-25 0,25 0 16,0 25-16,-25-50 15,25 25-15,0 0 0,-25 1 16,25-26-16,0 25 0,-25-25 16,25 25-16,0 0 15,-25 0-15,24 0 0,1 1 16,-25-1-16,25 0 15,-25 0-15,0 50 63,0 0-47,0 0-16,0-1 15,0 1-15,0 0 0,0 0 16,-25 0-16,25 25 15,0-25-15,0 0 0,0 24 16,0-24-16,0 0 0,0 25 16,0-25-16,0 0 15,0 0-15,0 0 0,0 0 16,0-1 0,25-24-16,-25 25 0</inkml:trace>
  <inkml:trace contextRef="#ctx0" brushRef="#br0" timeOffset="17405.28">12999 9115 0,'-25'0'16,"25"24"-1,-25-24 16,25 25-31,0 0 16,0 0 0,0 0-16,0 0 15,0 0 1,0 0-16,0 0 16,25-25-1,-25 25-15,25-25 16,0 0-16,0 0 15,-25-25 1,25 25-16,-1-25 16,1 25-16,-25-25 0,0 0 15,25 0-15,-25 0 16,0 0-16,0 0 16,25 0-16,-25 1 15,0-1-15,0 0 31,0 50 32,0 0-47,0-1-16,0 1 15,0 0-15,0 0 16,0 0-16,25 0 15,-25 0-15,25 0 0,0-25 16,-25 25-16,25 0 0,0-1 16,0 1-1,-1-25-15,1 0 0,0 0 16,0 0-16</inkml:trace>
  <inkml:trace contextRef="#ctx0" brushRef="#br0" timeOffset="17774.53">13696 8716 0,'-25'0'0,"25"25"0,-25-25 16,25 25-1,-25-25-15,25 25 16,0 0 0,-25 0-16,25 0 15,0-1-15,0 26 0,0-25 16,0 0-16,0 25 15,0-25-15,0 0 0,0 0 16,0 24-16,0-24 16,0 0-16,25 0 0,-25 0 15,0 0-15,25 0 0</inkml:trace>
  <inkml:trace contextRef="#ctx0" brushRef="#br0" timeOffset="18866">13621 9164 0,'0'0'15,"25"0"-15,0 0 0,25 0 16,-25 0-16,25-25 0,-1 25 16,-24 0-16,25-24 15,0 24-15,-25 0 0,25-25 16,-25 25-16,0-25 0,-1 25 15,1 0-15,-25-25 32,-25 25-17,1 25 1,-1-25-16,0 25 16,0-25-16,0 25 15,0-25-15,25 24 0,-25-24 16,0 25-16,0 0 15,0 0-15,25 0 16,0 0-16,0 0 31,25-25-15,0 0-16,0-25 16,0 25-1,0-25-15,0 0 16,0 0-16,0 0 15,0 25-15,-25-25 0,24 1 16,1-1-16,0 0 16,-25 0-16,0 0 15,0 50 32,-25-25-31,25 25-1,0 0 1,0 0-16,0-1 16,25-24-1,-25 25-15,25-25 0,0 0 16,0 0 0,0 0-16,0 0 0,0 0 15,24-25-15,-24 1 0,25 24 16,0-50-16,-25 25 15,25 0-15,-25-25 0,24 25 16,-24-25-16,0 1 16,0-1-16,0 25 0,0-25 15,-25 25-15,0-25 0,0 26 16,0-1-16,0 0 16,0 0-16,0 0 15,-25 25 16,25 25-31,-25 0 32,25 0-32,0 0 15,0-1-15,0 1 16,0 0-16,0 0 16,0 0-16,0 0 0,0 0 15,0 0-15,0 0 0,0 0 16,0-1-16,0 1 15,25 0-15,-25 0 0,0 0 16,0 0-16,0 0 16</inkml:trace>
  <inkml:trace contextRef="#ctx0" brushRef="#br0" timeOffset="19303.16">14642 8866 0,'-25'0'0,"50"0"47,0 0-32,0 0-15,0 0 16,0 0-16,0 0 0,25 0 16,-25 0-16,24 0 15,-24-25-15,25 25 0,-25 0 16,0-25-16,25 25 16,-25-25-16,-1 25 0,1-25 15,0 25-15,-25-25 16,0 50 15,-25-25-15,25 25-16,-25-25 0,25 25 15,0 0-15,0 0 0,-24-25 16,24 24-16,0 1 0,0 0 16,0 0-1</inkml:trace>
  <inkml:trace contextRef="#ctx0" brushRef="#br0" timeOffset="19461.27">15389 8517 0,'-24'0'0</inkml:trace>
  <inkml:trace contextRef="#ctx0" brushRef="#br0" timeOffset="20241.5">15539 8691 0,'0'25'0,"-25"-25"0,25 25 15,-25-25-15,25 25 16,-25 0-16,25 0 15,-25-25 1,25 25-16,0 0 16,0-1-1,25-24 1,0 0 0,0 0-1,0-24 1,0 24-16,0-25 15,-25 0-15,25 25 16,-25-25-16,24 0 0,1 0 16,0 0-1,-25 0-15,25 25 0,-25-25 16,25 25-16,0-25 16,0 50-1,-25 0 16,0 0-31,0 0 16,0 0-16,0 0 16,0 0-1,0 0 1,0-50 0,25 25-1,0 0-15,-25-25 0,25 0 16,-1 0-1,1 0-15,0 0 0,25 0 16,-25 25-16,0-25 16,0 25-16,25-24 0,-26 24 15,1 0-15,-25 24 16,25-24-16,-25 25 16,0 0-1,0 0-15,0 0 16,0 0-16,0 0 15,0 0-15,0 0 16,0 0 0</inkml:trace>
  <inkml:trace contextRef="#ctx0" brushRef="#br0" timeOffset="21028.48">12501 9787 0,'0'25'31,"25"-25"0,0-25-31,24 25 16,-24 0-16,25 0 0,25-25 15,-25 25-15,24-25 16,1 25-16,25-25 0,-26 25 16,51-25-16,-26 0 15,1 25-15,25-25 0,-1 1 16,1 24-16,-1-25 16,1 0-16,24 25 0,-24-25 15,-1 25-15,25-25 0,-24 25 16,-1-25-16,1 25 15,-1-25-15,-24 25 0,0 0 16,-1-25-16,-24 25 0,0 0 16,-25 0-16,-1-25 15,1 25-15,-25 0 0</inkml:trace>
  <inkml:trace contextRef="#ctx0" brushRef="#br0" timeOffset="21467.7">12974 10086 0,'0'0'16,"-25"0"-16,-25 25 0,25-25 16,-24 0-16,24 25 0,0-25 15,0 0 1,25 24-16,25-24 31,25 0-31,-26 0 16,26 0-16,25 0 0,0 0 15,-1-24-15,26 24 16,0-25-16,-1 25 0,26-25 16,-1 0-16,-24 25 0,24-25 15,1 0-15,-1 25 16,-24-25-16,0 25 0,24-25 15,-24 25-15</inkml:trace>
</inkml:ink>
</file>

<file path=ppt/ink/ink2.xml><?xml version="1.0" encoding="utf-8"?>
<inkml:ink xmlns:inkml="http://www.w3.org/2003/InkML">
  <inkml:definitions>
    <inkml:context xml:id="ctx0">
      <inkml:inkSource xml:id="inkSrc0">
        <inkml:traceFormat>
          <inkml:channel name="X" type="integer" max="1360" units="cm"/>
          <inkml:channel name="Y" type="integer" max="768" units="cm"/>
          <inkml:channel name="T" type="integer" max="2.14748E9" units="dev"/>
        </inkml:traceFormat>
        <inkml:channelProperties>
          <inkml:channelProperty channel="X" name="resolution" value="39.76608" units="1/cm"/>
          <inkml:channelProperty channel="Y" name="resolution" value="39.58763" units="1/cm"/>
          <inkml:channelProperty channel="T" name="resolution" value="1" units="1/dev"/>
        </inkml:channelProperties>
      </inkml:inkSource>
      <inkml:timestamp xml:id="ts0" timeString="2021-06-07T06:57:05.863"/>
    </inkml:context>
    <inkml:brush xml:id="br0">
      <inkml:brushProperty name="width" value="0.05292" units="cm"/>
      <inkml:brushProperty name="height" value="0.05292" units="cm"/>
      <inkml:brushProperty name="color" value="#0070C0"/>
    </inkml:brush>
  </inkml:definitions>
  <inkml:trace contextRef="#ctx0" brushRef="#br0">9762 9314 0,'0'25'15,"0"0"1,0-1 15,0 1-31,0 0 16,0 25-1,0-25-15,0 25 16,0-25 0,0 0-16,0 24 15,0-24-15,24 25 16,-24-25 0,0-50 15,0 0-16,0-74 1,-24 24 0,-1-25-1,25 26 1,0 49-16,0-25 16,0 25-16,-25 0 15,25 0-15,0 0 16,0 0-16,0 0 15,0 1-15,25-1 0,-25 0 16,25 0 0,-1 0-1,1 25 1,0 0-16,0 0 16,-25 25-16,25-25 15,25 25-15,-50 0 16,25-25-16,-25 25 0,25-1 15,0 26 1,-25 25 15,0 0-15,-100 49 15,100-99-31,-25-25 16,0 25-16,25 0 31,-25-25-31,50 0 63,0 25-48,0 0 1,50 0-1,-1 24 1,-24-49 0,-50 25-1,50-25 1,25-50 31,-25-24-32,-50 49-15,0-25 32,-25 25-32,25 0 15,-25 0 1,0 25-16,0 0 16,0 0-1,25 25 1,-25 0-1,0 0 1,25 0 0,0 0-16,0 0 15,0 0-15,0 0 16,25-25-16,-25 24 0,25 1 16,-25 0-1,50 0 1,0 0-1,-25-25 1,-25-25-16,24 25 16</inkml:trace>
  <inkml:trace contextRef="#ctx0" brushRef="#br0" timeOffset="415.07">10359 9388 0,'0'0'16,"-25"0"0,25-24-16,0 48 31,0 1-15,0 0-1,25 0 1,0 0-16,-25 0 15,25 25 1,-25-25-16,25 0 16,0-1-1,-25 1 1,25-25 0,0-25-1,-25 1 16,0-51-15,0 50-16,25-25 16,-25 25-1,0-25-15,0 26 16</inkml:trace>
  <inkml:trace contextRef="#ctx0" brushRef="#br0" timeOffset="1328.26">10658 9413 0,'0'25'15,"25"-25"17,0 0-17,0-25 1,0 25 0,0-25-1,-25 1-15,24-1 16,1 25-16,-25-25 0,0 0 15,0 0 1,-49 25 31,24 25-31,0-25-16,25 25 0,-25-25 15,25 25-15,-25 0 16,25-1-16,0 26 15,0-25 1,0 25-16,50 0 31,0 0-15,-1-50 0,-24 0-16,0-25 15,0 25 1,0-25-1,-25 0-15,25-25 16,0 25-16,-25 0 0,0-25 16,0 1-1,25-26 1,-25 50 0,0 50 15,0 0-16,0 0 1,0 0 0,25 0-1,-1-25 1,1 0-16,0 0 16,0 0-1,0 0 16,-25 24-31,25-24 32,0 0 15,-25-24-32,25-1 1</inkml:trace>
  <inkml:trace contextRef="#ctx0" brushRef="#br0" timeOffset="2195.77">11330 9040 0,'0'25'78,"0"0"-78,0 0 15,0-1 1,0 1 0,0 0-1,0 0 1,25-25-1,-25 25 1,25-25-16,0 25 16,-25 0 15,0 0-15,-25-25-1,0 25-15,0-25 16,25 25-1,-25-25-15,1 0 16,24-25 15,24 0-15,1 0 0,-25 0-16,50-25 15,-25 25 1,0 0-16,0-24 15,-25 24 1,0 0-16,0 0 31,-25 25 1,0 0-17,25 25 1,0 0-1,0 0-15,0-1 16,0 1 0,0 0-16,0 0 15,0 0-15,25 0 16,0 0 0,0 0-16,0-25 15,0 0 1</inkml:trace>
  <inkml:trace contextRef="#ctx0" brushRef="#br0" timeOffset="2863.67">10060 10185 0,'0'-25'31,"25"25"-15,0 0 0,0-24-16,0 24 15,25-25-15,0 0 16,-1 0-16,1 25 15,75-50-15,-26 25 16,-24 0-16,0 0 16,24 0-16,76 1 15,-101-1-15,1 25 0,-25-25 16,25 0-16,-51 25 16,26-25-16,-25 25 0,0 0 15,0 0-15,-50 0 31,0 25-31,0-25 16,0 25-16</inkml:trace>
</inkml:ink>
</file>

<file path=ppt/ink/ink3.xml><?xml version="1.0" encoding="utf-8"?>
<inkml:ink xmlns:inkml="http://www.w3.org/2003/InkML">
  <inkml:definitions>
    <inkml:context xml:id="ctx0">
      <inkml:inkSource xml:id="inkSrc0">
        <inkml:traceFormat>
          <inkml:channel name="X" type="integer" max="1360" units="cm"/>
          <inkml:channel name="Y" type="integer" max="768" units="cm"/>
          <inkml:channel name="T" type="integer" max="2.14748E9" units="dev"/>
        </inkml:traceFormat>
        <inkml:channelProperties>
          <inkml:channelProperty channel="X" name="resolution" value="39.76608" units="1/cm"/>
          <inkml:channelProperty channel="Y" name="resolution" value="39.58763" units="1/cm"/>
          <inkml:channelProperty channel="T" name="resolution" value="1" units="1/dev"/>
        </inkml:channelProperties>
      </inkml:inkSource>
      <inkml:timestamp xml:id="ts0" timeString="2020-12-25T10:17:03.608"/>
    </inkml:context>
    <inkml:brush xml:id="br0">
      <inkml:brushProperty name="width" value="0.05292" units="cm"/>
      <inkml:brushProperty name="height" value="0.05292" units="cm"/>
      <inkml:brushProperty name="color" value="#0070C0"/>
    </inkml:brush>
  </inkml:definitions>
  <inkml:trace contextRef="#ctx0" brushRef="#br0">18851 8168 0,'0'25'16,"-25"-25"-16,25 25 15,25-25 32,0 0-31,0-25-16,-1 25 16,1-25-16,0 0 15,0 0-15,0 1 0,0-1 16,0 0-16,0 0 0,0 0 15,0 0-15</inkml:trace>
  <inkml:trace contextRef="#ctx0" brushRef="#br0" timeOffset="541.23">19623 7272 0,'0'0'0,"0"-25"0,0 0 31,25 0 0,0 25-31,-1 0 16,1-25-16,0 25 15,25-25-15,-25 0 16,25 25-16,-25-25 0,24 1 16,1-1-16,0 0 0,0 0 15</inkml:trace>
</inkml:ink>
</file>

<file path=ppt/ink/ink4.xml><?xml version="1.0" encoding="utf-8"?>
<inkml:ink xmlns:inkml="http://www.w3.org/2003/InkML">
  <inkml:definitions>
    <inkml:context xml:id="ctx0">
      <inkml:inkSource xml:id="inkSrc0">
        <inkml:traceFormat>
          <inkml:channel name="X" type="integer" max="1360" units="cm"/>
          <inkml:channel name="Y" type="integer" max="768" units="cm"/>
          <inkml:channel name="T" type="integer" max="2.14748E9" units="dev"/>
        </inkml:traceFormat>
        <inkml:channelProperties>
          <inkml:channelProperty channel="X" name="resolution" value="39.76608" units="1/cm"/>
          <inkml:channelProperty channel="Y" name="resolution" value="39.58763" units="1/cm"/>
          <inkml:channelProperty channel="T" name="resolution" value="1" units="1/dev"/>
        </inkml:channelProperties>
      </inkml:inkSource>
      <inkml:timestamp xml:id="ts0" timeString="2020-12-25T10:18:42.832"/>
    </inkml:context>
    <inkml:brush xml:id="br0">
      <inkml:brushProperty name="width" value="0.05292" units="cm"/>
      <inkml:brushProperty name="height" value="0.05292" units="cm"/>
      <inkml:brushProperty name="color" value="#FF0000"/>
    </inkml:brush>
  </inkml:definitions>
  <inkml:trace contextRef="#ctx0" brushRef="#br0">8666 7770 0,'-25'0'0,"25"25"109,0 0-78,0 0-31,0-1 0,25 1 16,-25 0-16,0 25 0,0-25 15,25 25-15,-25-25 16,0 24-16,25-24 0,-25 25 16,0-25-16,25 25 15,-25-25-15,24 0 0,-24 24 16,0-24-16,25 0 0,-25 0 16,0 0-16,25 0 15,-25 25-15,0-25 0,0 0 16,25 0-16,-25 24 0,0-24 15,25 0-15,-25 25 16,0-25-16,0 0 0,0 0 16,25 24-16,-25-24 15,0 0-15,0 0 0,0 0 16,0 0-16,0 25 16,25-25-16,-25 0 0,0-1 15,0 1-15,0 0 0,0 25 16,0-25-16,0 0 15,0 0-15,25 0 0,-25 24 16,0-24-16,0 0 16,0 0-16,0 0 0,0 0 15,0 0-15,0 25 0,0-25 16,0-1-16,25 1 16,-25 25-16,0-25 0,0 0 15,0 25-15,0-25 0,0 0 16,0 24-16,0-24 15,25 0-15,-25 0 0,0 25 16,0-25-16,0 0 16,0 25-16,0-26 0,25 1 15,-25 25-15,0-25 0,0 0 16,0 0-16,0 25 16,0-25-16,24-1 0,-24 1 15,0 0-15,0 0 16,0 0-16,0 0 0,25 0 15,-25 0-15,0 0 16,0 0-16,0-1 16,0 1-16,0 0 15,25 0 1,-25 0-16,0 0 16,0 0-16,0 0 15</inkml:trace>
  <inkml:trace contextRef="#ctx0" brushRef="#br0" timeOffset="1442.16">13821 7745 0,'-25'0'16,"50"0"46,-25 25 1,0 0-63,0 0 16,0 0-16,24-1 15,-24 1-15,0 25 0,0-25 16,0 25-16,0 0 15,0-1-15,0 1 0,0 0 16,0 0-16,0 0 0,0-1 16,0 1-16,0 0 15,0 0-15,0 0 0,0 0 16,0-1-16,0 1 16,0 0-16,0 25 0,0-26 15,0 1-15,0 0 0,0 0 16,0 0-16,0-1 15,0 1-15,0 0 0,0 0 16,0 0-16,0-1 16,0 1-16,0 0 0,0 0 15,0 0-15,0-25 0,0 24 16,25 1-16,-25 0 0,0 0 16,0-25-16,25 25 15,-25-26-15,0 26 16,0-25-16,0 25 0,0-25 15,25 0-15,-25 25 0,0-26 16,0 1-16,0 25 16,0-25-16,0 0 0,0 25 15,-25-25-15,25 0 0,0 24 16,0-24-16,0 0 16,0 25-16,0-25 0,0 0 15,0 0-15,0 24 16,-25-24-16,25 0 0,0 0 15,0 0-15,0 0 16,0 0-16,0 0 16,0 0-16,25-25 15</inkml:trace>
  <inkml:trace contextRef="#ctx0" brushRef="#br0" timeOffset="4423.14">9338 9115 0,'-25'0'0,"0"0"31,25-25-31,25 25 109,0 0-93,0 0 0,0 0-1,0 25-15,0-25 16,0 0 0,0 0-16,0 0 15,-1 0-15,1 0 0,0 0 16,25 0-16,-25 0 0,25 0 15,-25 0-15,24 0 16,1 0-16,0 0 0,0-25 16,0 25-16,-1 0 0,1 0 15,0-25-15,0 25 16,0 0-16,-25 0 0,24-25 16,1 25-16,-25 0 15,25 0-15,-25-25 0,25 25 16,-1 0-16,-24 0 0,25 0 15,0 0-15,-25 0 16,25 0-16,-1 0 0,-24 0 16,25 0-16,0 0 0,-25 0 15,25 0-15,-1 25 16,-24-25-16,25 0 0,-25 0 16,25 0-16,0-25 15,-25 25-15,24 0 0,-24 0 16,25 0-16,0 0 15,-25-25-15,25 25 0,-1 0 16,-24 0-16,25-25 16,0 25-16,-25 0 0,25-25 15,-1 25-15,-24 0 0,25-25 16,-25 25-16,25 0 16,0 0-16,-25-25 0,24 25 15,-24 0-15,25 0 0,-25 0 16,25 0-16,-25 0 15,24-24-15,-24 24 0,0 0 16,0 0-16,0 0 0,0 0 16,0 0-16,0 0 15,0 24-15,0-24 0,-1 0 16,1 0-16,0 0 16,0 0-16,0 0 0,0 0 15,25 0-15,-25 0 16,0 0-16,24 0 0,-24 0 15,0 0-15,25 0 16,-25 0-16,25 0 0,-25 0 16</inkml:trace>
  <inkml:trace contextRef="#ctx0" brushRef="#br0" timeOffset="11970.88">18577 9787 0,'-25'0'15,"0"0"-15,25-25 16,0 0 15,25 25-31,0 0 16,0-25 15,0 25 0,-25-25-15,25 25-16,-1-25 15,1 25 1,0-25-16,0 25 16,0 0-1,0 0-15,0 0 16,0 25 0,-25 0-1,0 0-15,0 0 16,0 0-16,0 0 15,0 25-15,0-25 0,-25 0 16,25-1-16,-25 1 16,0-25-16,25 25 0,-25 0 15,25 0 1,25-50 31,0 25-47,0 0 15,0 0-15,0 0 0,0 25 16,-1-25 0,-24 25-16,25-25 0,-25 25 15,0 0-15,0 0 16,0 0-16,0-1 16,-25 1-16,25 0 15,-24-25-15,-1 25 16,25 0-16,-25-25 0,0 25 15,0-25-15,0 25 0,0-25 16,0 0-16,0 0 16,0 0-16,1 0 0,-1 0 15,0 0 1,0-25-16,0 25 16</inkml:trace>
  <inkml:trace contextRef="#ctx0" brushRef="#br0" timeOffset="13523.09">14169 10459 0,'0'25'15,"0"0"1,0 0 0,0-50 15,25 25-15,-25-25-16,25 0 15,0 0-15,0 0 16,-25 1-16,25 24 15,-25-25-15</inkml:trace>
  <inkml:trace contextRef="#ctx0" brushRef="#br0" timeOffset="14061.34">15165 10584 0,'-25'0'15,"25"25"-15,-25-25 0,25 25 16,0-1 0,25-24-1,0 0-15,-25 25 16,25-25-16,0 0 0,-25-25 15,25 25-15,0-24 0,0 24 16,0-25-16,0 0 16,-25 0-16,25 0 0</inkml:trace>
  <inkml:trace contextRef="#ctx0" brushRef="#br0" timeOffset="15322.09">19872 9662 0,'0'0'0,"0"-25"16,0 1-1,0-1 1,25 25 0,-25-25-16,25 25 31,-25-25-16,0 50 17,0 0-1,0 0-31,0-1 0,0 1 16,0 0-16,0 0 15,0 0-15,0 0 0,0 25 16,0-25-16,0 0 0,0 0 15,0-1-15,0 1 16,24-25-16,-24 25 0,25-25 31,0 0-15,0 0-16,0 0 16,0-25-16,0 25 15,0-25-15,0 1 0,0-1 16,-1 25-16,1-25 15,0 0-15,0 0 0,-25 0 16,25 0-16,-25 0 0,0 0 31,0 50 16,0 0-31,0 0-16,-25 0 15,25 0-15,0 0 0,0 0 16,0 0-16,0 24 16,0-24-16,0 0 0,0 25 15,0-25-15</inkml:trace>
  <inkml:trace contextRef="#ctx0" brushRef="#br0" timeOffset="16288.4">21241 9613 0,'0'-25'15,"0"0"1,25 25 0,0 0-1,0 0-15,-25-25 16,25 25-16,0 0 15,0 25-15,0-25 16,-25 25 0,25-25-16,-25 25 15,0-1-15,0 1 0,0 0 16,0 0-16,0 0 16,-25 0-16,25 0 0,-25 25 15,25-25-15,-25 0 16,0-1-16,25 1 15,-25-25-15,25 25 0,-25-25 16,50 0 31,-25-25-31,25 25-16,0 0 0,0-25 15,0 25-15,0-24 16,-1 24-16,1 0 0,0-25 15,0 25-15,25 0 0,-25-25 16</inkml:trace>
  <inkml:trace contextRef="#ctx0" brushRef="#br0" timeOffset="17054.87">22437 9463 0,'25'0'62,"-25"25"-62,0 0 31,0 0-15,24 0 0,-24 0-1,25-25-15,-25 25 16,25-25-16,0 0 16,-25 24-16,25-24 15,0 0-15,0 0 16,-25 25-16,25-25 0,0 0 15,0 25-15,-1-25 16,1 0-16,0 25 16,0 0-1,-25 0 1,-25 0 0,0-25-16,0 25 15,1-25 1,-1 0-16,0 0 0,25 25 15,-25-25-15,0 0 0,0 0 16,0-25 0,0 25-16</inkml:trace>
  <inkml:trace contextRef="#ctx0" brushRef="#br0" timeOffset="17294.23">22536 9364 0,'25'0'31,"-25"-25"-31,25 25 16,0 0-1,0-25-15,0 25 16,0 0-16,0 0 0,24 0 15,-24-25-15,0 25 16,0 0-16,0 0 0</inkml:trace>
  <inkml:trace contextRef="#ctx0" brushRef="#br0" timeOffset="19113.04">23806 9314 0,'-25'0'0,"50"0"47,0 0-32,0 0-15,0 0 16,0 0 0,0 0-16,0 0 0,0 0 15,-1 0-15,-24-25 0,25 25 16,0 0-16,0 0 16,0 0-1,-25 25 16,-25 0-31,25 0 16,-25-1-16,25 26 0,-25-25 16,25 0-16,-25 25 15,25-25-15,0 0 0,-24 24 16,24-24-16,0 0 16,0 0-16,0 0 15</inkml:trace>
  <inkml:trace contextRef="#ctx0" brushRef="#br0" timeOffset="19871.21">25300 9164 0,'-25'0'15,"1"0"16,-1 0-15,0 25 0,0-25-1,0 0-15,0 25 16,0 0-16,0-25 16,25 25-16,-25 0 15,25 0-15,-25 0 0,1 0 16,24-1-16,0 26 15,0-25-15,0 0 0,0 0 16,0 0-16,0 0 16,0 0-16,0 0 15,24-25-15,1 0 0,0 0 16,0 0 0,25-25-16,-25 25 0,0-25 15,25 25-15,-26-25 16,1 0-16,0 25 0,0-25 15,-25 0-15,0 0 16,-25 25-16,0-25 16,-24 25-16,24 0 15,0 0-15,-25 0 16,25 0-16,-25 25 0,25-25 16,0 0-16,1 0 0,-1 0 15</inkml:trace>
  <inkml:trace contextRef="#ctx0" brushRef="#br0" timeOffset="21764.28">26122 9189 0,'0'0'0,"25"-25"16,-25 0-1,25 25-15,0-24 32,-50 24 15,25 24-47,-25-24 0,0 25 15,0 0 1,25 0-16,-25-25 15,25 25-15,-25 0 0,25 0 16,0 0-16,0 0 16,0 0-16,0-1 15,0 1-15,25 0 16,0-25-16,0 0 16,0 0-16,0 0 0,25 0 15,-25 0-15,0 0 16,49-25-1,-49 0-15,0 25 0,-25-24 0,25-1 16,-25 0 0,-25 0-16,0 0 15,-25 0-15,25 25 16,-24-25-16,-1 0 0,0 25 16,25-25-16,-25 0 15,1 25-15,24-24 0,0 24 16,0-25-16,0 25 0,0 0 15,25-25-15,0 0 16,0 0 0,0 0-16,0 0 15,25 0-15,-25 0 16,25 0-16,0 1 16,0 24-16,0-25 15,-1 25 1,1 0-1,0 0-15,-25 25 0,25-25 16,-25 24-16,25-24 0,-25 25 16,0 0-16,25 0 15,-25 0-15,0 0 0,0 0 16,0 0-16,0 0 16,0 0-16,0-1 0,-25 1 15,0 0-15,0 0 16,25 0-16</inkml:trace>
  <inkml:trace contextRef="#ctx0" brushRef="#br0" timeOffset="22076.58">26720 8866 0,'0'24'31,"0"1"-15,25 0-1,-25 0-15,0 0 0,0 0 16,0 0-16,0 25 16,0-25-16,0 24 0,0-24 15,0 25-15,0 0 0</inkml:trace>
  <inkml:trace contextRef="#ctx0" brushRef="#br0" timeOffset="27003.2">21590 9538 0,'-25'0'31,"25"25"-31,-25-25 31,25 25-15,-25-25-16,0 25 16,0-1 15,1 1-31,-1 0 16,0-25-16,25 25 15,-25 0-15,0 0 0,0 0 16</inkml:trace>
  <inkml:trace contextRef="#ctx0" brushRef="#br0" timeOffset="28955.15">24304 9214 0,'0'25'94,"-25"-25"-94,1 25 16,-1 0-1,25 0 1,-25 0-16,0 24 15,0-24-15,0 0 16,0 0-16,0 0 0,25 0 16,-25 25-16,0-25 0,0 0 15,1-1-15,-1 1 16</inkml:trace>
  <inkml:trace contextRef="#ctx0" brushRef="#br0" timeOffset="30814.74">25325 9289 0,'-25'25'16,"0"-25"-16,1 0 16,-1 0-16,0 25 0,0-25 15,-25 25-15,25-1 0,-25 1 16,1 0-16,-1 0 15,0 0-15,0 0 0,0 0 16,1 0-16,-1 25 0,0-26 16,0 1-16,25 0 15</inkml:trace>
  <inkml:trace contextRef="#ctx0" brushRef="#br0" timeOffset="31556.55">26944 9015 0,'-25'0'63,"0"0"-48,0 25-15,0-25 16,0 25-16,1 0 0,-26 0 16,25-1-16</inkml:trace>
  <inkml:trace contextRef="#ctx0" brushRef="#br0" timeOffset="32794.57">21988 11007 0,'-24'0'16,"24"-25"0,24 25-1,-24-25 1,25 25 0,-25-25-1,25 25-15,0 0 16,0-25-1,0 25-15,0 0 0,0 0 16,0 0-16,0 0 16,-1 0-16,1 0 15,0 0-15,-25 25 0,25-25 16,-25 25-16,0 0 16,0 0-16,-25 0 0,0 25 15,0-25-15,1 0 0,-1 0 16,25-1-16,-25 1 15,0 0-15,25 0 0,-25-25 16,50 0 15,0 0-15,0 0 0,0 0-16,-1 0 15,1 0-15,-25 25 16,25 0-1,-25 0-15,0 0 0,-25 0 16,25 0 0,-25-1-16,1 1 0,24 0 15,-25 0-15,0 0 16,0-25-16,25 25 0,-25-25 16,0 25-16,0-25 0,0 0 15,25 25-15,-25-25 16,0 0-16,1 0 15,-1-25-15,0 25 16</inkml:trace>
  <inkml:trace contextRef="#ctx0" brushRef="#br0" timeOffset="33622.75">22885 10907 0,'0'-24'0,"0"-1"16,25 25 15,-25 25 1,0-1-17,0 1 1,0 0-16,0 0 15,0 0-15,0 0 0,0 0 16,0 0-16,0 0 16,0 0-16,0 0 0,25-1 15,-25 1-15,0 0 16,0 0-16,25 0 0,-25 0 16,25-25-1,-1 0 1,1 0-16,0-25 15,0 0-15,0 0 16,0 0 0,0 0-16,-25 1 0,25 24 15,-25-25-15,0 0 16,0 0 0,0 50 46,0 0-46,0 0-16,0-1 15,0 1-15,0 0 16,0 25-16,0-25 0,0 25 16,0 0-16,0-26 15,0 26-15,0-25 0</inkml:trace>
  <inkml:trace contextRef="#ctx0" brushRef="#br0" timeOffset="34827.37">24479 10907 0,'0'-24'0,"0"-1"32,25 25-17,-1 0 16,-24 25-15,0-1 0,0 1-1,0 0-15,0 0 16,0 0 0,0 0-16,25 0 15,0 0 1,-25 0-1,25-25-15,-25 25 0,25-25 16,-25 25-16,25-25 0,-25 24 16,25-24-16,-25 25 15,0 0 1,0 0 0,-25 0-1,0-25 1,0 25-16,0-25 15,0 0-15,0 25 16,1-25-16,-1-25 16,0 25-16,0-25 15,25 0-15</inkml:trace>
  <inkml:trace contextRef="#ctx0" brushRef="#br0" timeOffset="35032.05">24504 10708 0,'0'0'0,"0"-25"16,24 25 0,1 0-16,-25-25 0,25 25 15,0 0-15,0-24 16,0 24-16,0-25 0,0 25 15,0 0-15,0-25 16</inkml:trace>
  <inkml:trace contextRef="#ctx0" brushRef="#br0" timeOffset="35798.96">25400 10733 0,'-25'0'0,"0"25"16,0 0-1,25 0-15,-25-25 16,25 25-16,0 0 0,0 0 16,-25-1-1,25 1-15,0 0 16,0 0-16,0 0 0,0 0 16,0 0-1,0 0-15,25 0 16,0-25-1,0 0-15,0 0 16,0 0-16,0 0 16,0-25-1,0 25-15,0-25 0,0 25 16,-25-25-16,0 0 16,24 25-16,-24-25 0,0 0 15,0 0-15,0 0 0,-24 25 16,24-24-16,-25-1 15,25 0-15,-25 0 0,0 25 16,0-25-16,25 0 16,-25 25-16,0-25 0,25 0 15,-25 25-15,25-25 0,-25 25 16,25-25-16,0 1 16,0-1-16,25 0 15,-25 0-15,25 0 16,0 0-16,0 25 0,-25-25 15,25 0-15,0 25 0,0 0 16,-25-25-16,25 25 16,-1 0-16,1 25 15,0-25 1,-25 25-16,0 0 0,0 0 16,0 0-16,0 25 15,0-25-15,0-1 16,0 1-16,0 25 0,-25-25 15,25 0-15,-25 25 0,1-25 16,-1 0-16,-25 24 16</inkml:trace>
  <inkml:trace contextRef="#ctx0" brushRef="#br0" timeOffset="37120.21">14144 13099 0,'0'0'0,"25"25"46,0-25-30,0 0-16,25 0 16,-25 0-16,25 25 15,-1-25-15,1 0 0,0 0 16,0 0-16,24 0 16,1 0-16,0 0 0,0 0 15,-1-25-15,1 25 16,0 0-16,-1-25 0,1 25 15,0 0-15,-25 0 0,-1 0 16,-24-25-16,0 25 16,0 0-16,0 0 0,-25 25 15,-25-25 1,0 25 0,0-25-16,0 25 0,1-25 15,24 25-15</inkml:trace>
  <inkml:trace contextRef="#ctx0" brushRef="#br0" timeOffset="38107.55">6948 13099 0,'25'0'15,"-1"0"1,1 0-16,0 0 16,0 0-16,25 0 0,0 0 15,0-25-15,24 25 16,1 0-16,0 0 0,-1-25 15,1 25-15,0 0 0,0-25 16,-26 25-16,26 0 16,-25 0-16,0 0 0,-1 0 15,-24 0-15,0 0 16,0 0-16,0 0 0,-25 25 31</inkml:trace>
  <inkml:trace contextRef="#ctx0" brushRef="#br0" timeOffset="76645.95">12700 15863 0,'-25'0'0,"0"-25"15,0 25 1,25-25 0,0 0 15,-25 25 47,50 0-31,-25 25 0,25-25-32,0 0 17,0 0-17,-25 25 1,25-25-16,0 0 15,0 0 1,0 0-16,0 0 16,-1 0-16,1 25 15,0-25-15,0 0 0,0 0 16,0 0-16,25 0 16,-25 0-16,0 0 0,-1 0 15,26 25-15,-25-25 16,0 0-16,0 0 0,0 0 15,0 0-15,0 0 16,0 0-16,-1 0 0,1 0 16,0 0-16,0 0 15,0 25-15,0-25 16,0 0-16,0 0 0,25 0 16,-26 0-16,1 0 0,25 25 15,-25-25-15,0 0 16,25 0-16,-25 0 0,0 0 15,-1 0-15,26 0 16,-25 0-16,0 25 0,0-25 16,25 0-16,-25 0 15,0 0-15,0 0 0,24 0 16,-24-25-16,0 25 0,0 0 16,0 0-16,25 0 15,-25 0-15,0 0 0,24 0 16,-24 0-16,25 0 0,-25 0 15,25 0-15,-25 0 16,0 0-16,24 0 0,-24 0 16,25 0-16,-25 0 0,0 0 15,25 0-15,-25 0 16,-1 0-16,26 0 0,-25 0 16,25 0-16,-25 0 15,0 0-15,25 0 0,-26 0 16,26 0-16,-25 0 15,25 0-15</inkml:trace>
  <inkml:trace contextRef="#ctx0" brushRef="#br0" timeOffset="76993.39">16958 15788 0,'0'-25'15</inkml:trace>
  <inkml:trace contextRef="#ctx0" brushRef="#br0" timeOffset="77949.8">16485 15738 0,'0'0'0,"-25"0"16,0 0-16,0 0 0,0 25 16,1-25-16,-1 0 15,0 0-15,0 0 0,0 0 16,0 25-16,0-25 0,0 0 16,0 0-16,-24 0 15,24 0-15,0 0 0,-25 0 16,25 25-16,0-25 15,0 0-15,-25 0 0,26 0 16,-1 0-16,0 0 16,0 0-16,0 0 0,0 0 15,0 0-15,0 0 0,0 0 16,0 0-16,-24 0 16,24 0-16,0 0 0,0 0 15,0 0 1,0 0-16,0 0 15,0 0-15,0 0 16,1 0 0,-1 0-16,0 0 0,0 0 15,0 0 1,0 0-16,25 25 16,-25-25-16,0 0 0,0 0 15,0 0 16,50 0 1,0 0-1,0 0 0,0 0-15,0 0-16,0 0 0,0 0 15,0 0-15,24 0 16,1 0-16,0 0 0,0 0 16,0 0-16,-1 0 0,26 0 15,-25-25-15,0 25 16,24 0-16,-24 0 0,0 0 16,0-25-16,25 25 15,-26 0-15,1 0 0,-25 0 16,25 0-16,0 0 0,-25 0 15,-1 0-15,1 0 16,0 0-16,0 0 0,0 0 16,0 0-1,0 0-15</inkml:trace>
</inkml:ink>
</file>

<file path=ppt/ink/ink5.xml><?xml version="1.0" encoding="utf-8"?>
<inkml:ink xmlns:inkml="http://www.w3.org/2003/InkML">
  <inkml:definitions>
    <inkml:context xml:id="ctx0">
      <inkml:inkSource xml:id="inkSrc0">
        <inkml:traceFormat>
          <inkml:channel name="X" type="integer" max="1360" units="cm"/>
          <inkml:channel name="Y" type="integer" max="768" units="cm"/>
          <inkml:channel name="T" type="integer" max="2.14748E9" units="dev"/>
        </inkml:traceFormat>
        <inkml:channelProperties>
          <inkml:channelProperty channel="X" name="resolution" value="39.76608" units="1/cm"/>
          <inkml:channelProperty channel="Y" name="resolution" value="39.58763" units="1/cm"/>
          <inkml:channelProperty channel="T" name="resolution" value="1" units="1/dev"/>
        </inkml:channelProperties>
      </inkml:inkSource>
      <inkml:timestamp xml:id="ts0" timeString="2020-12-25T10:20:16.368"/>
    </inkml:context>
    <inkml:brush xml:id="br0">
      <inkml:brushProperty name="width" value="0.05292" units="cm"/>
      <inkml:brushProperty name="height" value="0.05292" units="cm"/>
      <inkml:brushProperty name="color" value="#FF0000"/>
    </inkml:brush>
  </inkml:definitions>
  <inkml:trace contextRef="#ctx0" brushRef="#br0">10309 9637 0,'-24'0'0,"-1"0"16,0 0-1,25-24 1,0-1 0,0 0-1,0 0 16,0 0 1,-25 25-17,0 0 17,0 0-17,0 0 1,0 0-1,0 0-15,0 25 16,0-25 0,1 25-16,-1-25 15,0 25-15,0-25 16,0 25-16,0-25 0,-25 24 16,25-24-16,0 25 15,1 0-15,-1 0 0,0-25 16,-25 25-16,25 0 0,0-25 15,0 25-15,0 0 16,0-25-16,25 25 0,-24-25 16,-1 25-16,25 0 15,-25-25-15,0 24 16,25 1 0,0 0-1,0 0 1,0 0-1,0 0-15,0 0 0,25 0 16,-25 0-16,0 0 0,25-1 16,0 1-16,-25 0 0,24 0 15,-24 0-15,25 0 16,0 0-16,0 0 0,0 0 16,0 0-16,0-25 15,0 24-15,0-24 16,0 0-16,-1 25 15,1-25-15,0 0 0,0 0 16,0-25-16,0 25 0,0 0 16,25-24-16,-25 24 15,-1-25-15,1 0 0,0 0 16,0 25-16,0-25 16,0 0-16,0 0 0,0 0 15,0 0-15,-25 0 0,25 1 16,-25-1-16,25 0 15,-25 0-15,24 0 0,-24 0 16,0 0-16,0 0 16,0 0-16,0 0 0,0 1 15,-24-26-15,24 25 0,-25 0 16,25 0-16,-25 0 16,0 0-16,0 0 15,0 25-15,25-25 16,-25 25-16,0 0 0,0 0 15,0 0-15,0 0 0,1 0 16</inkml:trace>
  <inkml:trace contextRef="#ctx0" brushRef="#br0" timeOffset="1800.8">14045 9687 0,'0'-25'0,"0"0"16,0 1 0,-25 24-16,25-25 15,0 0 1,-25 25-1,25-25-15,-25 25 16,25-25 0,-25 25-1,25-25 1,-25 25-16,0 0 16,0 0-1,0 0 1,1 0-16,-1 25 15,0-25-15,0 0 16,0 0-16,25 25 16,-25-25-16,0 0 0,25 25 15,-25-25-15,0 0 16,25 25-16,-25-25 0,1 0 16,24 25-16,-25-25 0,0 24 15,0-24-15,0 25 16,0 0-1,0 0 1,0 0-16,25 0 16,-25 0-1,25 0 1,-25 0-16,25 0 16,-24-25-16,24 25 15,-25-1-15,25 1 16,-25-25-16,25 25 15,-25-25-15,25 25 0,-25 0 16,25 0-16,0 0 16,-25 0-1,25 0 1,0 0-16,0-1 16,0 1-1,0 0-15,0 0 16,25-25-1,-25 25-15,25-25 0,-25 25 16,25 0 0,-25 0-16,25-25 0,-25 25 15,25 0-15,-1-1 16,1 1 0,0-25-1,-25 25-15,25-25 0,0 0 16,0 25-16,0 0 15,0-25-15,0 25 16,0-25 0,-1 0-16,1 0 15,0 0-15,0 0 16,0 0-16,0 0 16,0-25-16,0 25 15,0-25-15,0 0 16,-1 0-16,1 0 15,0 1-15,-25-1 0,25 0 16,0 0-16,-25 0 16,25 0-16,-25 0 0,25 0 15,-25 0-15,25 0 16,-25 1-16,0-1 0,0-25 16,0 25-16,0 0 0,0 0 15,0-25-15,0 25 16,0 1-16,0-1 0,0-25 15,-25 25-15,0 0 0,25 0 16,-25 0-16,0 0 16,0 0-16,0 25 15,0 0-15,1 0 16</inkml:trace>
  <inkml:trace contextRef="#ctx0" brushRef="#br0" timeOffset="11529.14">9612 9314 0,'25'0'125,"0"0"-94,0 0-31,0-25 15,0 25-15,-25-25 16,25 0-16,-1 25 16,1-25-16,-25 0 0,25 0 15</inkml:trace>
  <inkml:trace contextRef="#ctx0" brushRef="#br0" timeOffset="12379.57">13123 9339 0,'0'-25'0,"0"50"63,0 0-48,25-25-15,-25 24 16,0 1 0,25-25-1,0 0 1,0 0-16,0-25 16,-25 1-16,25 24 15,0-25-15,0 0 0,-1-25 16,1 25-16,0 0 15,0 25-15,-25-25 0,0 0 16,25 25-16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59C72-8D97-4BFA-AF57-94C3A2DAB073}"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6251F-FB04-4652-94EB-7C388D92E18A}" type="slidenum">
              <a:rPr lang="en-US" smtClean="0"/>
              <a:t>‹#›</a:t>
            </a:fld>
            <a:endParaRPr lang="en-US"/>
          </a:p>
        </p:txBody>
      </p:sp>
    </p:spTree>
    <p:extLst>
      <p:ext uri="{BB962C8B-B14F-4D97-AF65-F5344CB8AC3E}">
        <p14:creationId xmlns:p14="http://schemas.microsoft.com/office/powerpoint/2010/main" val="3768816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693C13-7FB7-4D72-9A84-BECE37A447D2}" type="slidenum">
              <a:rPr lang="en-GB" altLang="en-US"/>
              <a:pPr/>
              <a:t>5</a:t>
            </a:fld>
            <a:endParaRPr lang="en-GB" altLang="en-US"/>
          </a:p>
        </p:txBody>
      </p:sp>
      <p:sp>
        <p:nvSpPr>
          <p:cNvPr id="126978" name="Rectangle 2"/>
          <p:cNvSpPr>
            <a:spLocks noGrp="1" noRot="1" noChangeAspect="1" noChangeArrowheads="1"/>
          </p:cNvSpPr>
          <p:nvPr>
            <p:ph type="sldImg"/>
          </p:nvPr>
        </p:nvSpPr>
        <p:spPr bwMode="auto">
          <a:xfrm>
            <a:off x="2295525" y="519113"/>
            <a:ext cx="4554538" cy="25622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6979" name="Rectangle 3"/>
          <p:cNvSpPr>
            <a:spLocks noGrp="1" noChangeArrowheads="1"/>
          </p:cNvSpPr>
          <p:nvPr>
            <p:ph type="body" idx="1"/>
          </p:nvPr>
        </p:nvSpPr>
        <p:spPr bwMode="auto">
          <a:xfrm>
            <a:off x="1219200" y="3259931"/>
            <a:ext cx="6705600" cy="288726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75" tIns="44443" rIns="90475" bIns="44443"/>
          <a:lstStyle/>
          <a:p>
            <a:endParaRPr lang="nl-NL" altLang="en-US"/>
          </a:p>
        </p:txBody>
      </p:sp>
    </p:spTree>
    <p:extLst>
      <p:ext uri="{BB962C8B-B14F-4D97-AF65-F5344CB8AC3E}">
        <p14:creationId xmlns:p14="http://schemas.microsoft.com/office/powerpoint/2010/main" val="3188499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BBED39-21DD-46E2-9F9D-BBD1AF193DA5}" type="slidenum">
              <a:rPr lang="en-GB" altLang="en-US"/>
              <a:pPr/>
              <a:t>7</a:t>
            </a:fld>
            <a:endParaRPr lang="en-GB" altLang="en-US"/>
          </a:p>
        </p:txBody>
      </p:sp>
      <p:sp>
        <p:nvSpPr>
          <p:cNvPr id="129026" name="Rectangle 2"/>
          <p:cNvSpPr>
            <a:spLocks noGrp="1" noRot="1" noChangeAspect="1" noChangeArrowheads="1"/>
          </p:cNvSpPr>
          <p:nvPr>
            <p:ph type="sldImg"/>
          </p:nvPr>
        </p:nvSpPr>
        <p:spPr bwMode="auto">
          <a:xfrm>
            <a:off x="2295525" y="519113"/>
            <a:ext cx="4554538" cy="2562225"/>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9027" name="Rectangle 3"/>
          <p:cNvSpPr>
            <a:spLocks noGrp="1" noChangeArrowheads="1"/>
          </p:cNvSpPr>
          <p:nvPr>
            <p:ph type="body" idx="1"/>
          </p:nvPr>
        </p:nvSpPr>
        <p:spPr bwMode="auto">
          <a:xfrm>
            <a:off x="1219200" y="3259931"/>
            <a:ext cx="6705600" cy="288726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75" tIns="44443" rIns="90475" bIns="44443"/>
          <a:lstStyle/>
          <a:p>
            <a:endParaRPr lang="nl-NL" altLang="en-US"/>
          </a:p>
        </p:txBody>
      </p:sp>
    </p:spTree>
    <p:extLst>
      <p:ext uri="{BB962C8B-B14F-4D97-AF65-F5344CB8AC3E}">
        <p14:creationId xmlns:p14="http://schemas.microsoft.com/office/powerpoint/2010/main" val="4085364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Plassholder for lysbilde 1"/>
          <p:cNvSpPr>
            <a:spLocks noGrp="1" noRot="1" noChangeAspect="1" noTextEdit="1"/>
          </p:cNvSpPr>
          <p:nvPr>
            <p:ph type="sldImg"/>
          </p:nvPr>
        </p:nvSpPr>
        <p:spPr>
          <a:ln/>
        </p:spPr>
      </p:sp>
      <p:sp>
        <p:nvSpPr>
          <p:cNvPr id="114691" name="Plassholder for nota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b-NO" altLang="en-US"/>
          </a:p>
        </p:txBody>
      </p:sp>
      <p:sp>
        <p:nvSpPr>
          <p:cNvPr id="114692" name="Plassholder for lysbilde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766D1F6-DC28-4AFD-BD44-E113164A958C}" type="slidenum">
              <a:rPr lang="en-GB" altLang="en-US" sz="1200"/>
              <a:pPr/>
              <a:t>24</a:t>
            </a:fld>
            <a:endParaRPr lang="en-GB" altLang="en-US" sz="1200"/>
          </a:p>
        </p:txBody>
      </p:sp>
    </p:spTree>
    <p:extLst>
      <p:ext uri="{BB962C8B-B14F-4D97-AF65-F5344CB8AC3E}">
        <p14:creationId xmlns:p14="http://schemas.microsoft.com/office/powerpoint/2010/main" val="394165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Plassholder for lysbilde 1"/>
          <p:cNvSpPr>
            <a:spLocks noGrp="1" noRot="1" noChangeAspect="1" noTextEdit="1"/>
          </p:cNvSpPr>
          <p:nvPr>
            <p:ph type="sldImg"/>
          </p:nvPr>
        </p:nvSpPr>
        <p:spPr>
          <a:ln/>
        </p:spPr>
      </p:sp>
      <p:sp>
        <p:nvSpPr>
          <p:cNvPr id="115715" name="Plassholder for nota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b-NO" altLang="en-US"/>
          </a:p>
        </p:txBody>
      </p:sp>
      <p:sp>
        <p:nvSpPr>
          <p:cNvPr id="115716" name="Plassholder for lysbilde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4E74556-6261-4426-A0C5-0CA446FD0FDB}" type="slidenum">
              <a:rPr lang="en-GB" altLang="en-US" sz="1200"/>
              <a:pPr/>
              <a:t>25</a:t>
            </a:fld>
            <a:endParaRPr lang="en-GB" altLang="en-US" sz="1200"/>
          </a:p>
        </p:txBody>
      </p:sp>
    </p:spTree>
    <p:extLst>
      <p:ext uri="{BB962C8B-B14F-4D97-AF65-F5344CB8AC3E}">
        <p14:creationId xmlns:p14="http://schemas.microsoft.com/office/powerpoint/2010/main" val="1602279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Plassholder for lysbilde 1"/>
          <p:cNvSpPr>
            <a:spLocks noGrp="1" noRot="1" noChangeAspect="1" noTextEdit="1"/>
          </p:cNvSpPr>
          <p:nvPr>
            <p:ph type="sldImg"/>
          </p:nvPr>
        </p:nvSpPr>
        <p:spPr>
          <a:ln/>
        </p:spPr>
      </p:sp>
      <p:sp>
        <p:nvSpPr>
          <p:cNvPr id="116739" name="Plassholder for nota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b-NO" altLang="en-US"/>
          </a:p>
        </p:txBody>
      </p:sp>
      <p:sp>
        <p:nvSpPr>
          <p:cNvPr id="116740" name="Plassholder for lysbilde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F7CD09F-40CD-45C6-88F2-A731696BBC51}" type="slidenum">
              <a:rPr lang="en-GB" altLang="en-US" sz="1200"/>
              <a:pPr/>
              <a:t>26</a:t>
            </a:fld>
            <a:endParaRPr lang="en-GB" altLang="en-US" sz="1200"/>
          </a:p>
        </p:txBody>
      </p:sp>
    </p:spTree>
    <p:extLst>
      <p:ext uri="{BB962C8B-B14F-4D97-AF65-F5344CB8AC3E}">
        <p14:creationId xmlns:p14="http://schemas.microsoft.com/office/powerpoint/2010/main" val="2117412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Plassholder for lysbilde 1"/>
          <p:cNvSpPr>
            <a:spLocks noGrp="1" noRot="1" noChangeAspect="1" noTextEdit="1"/>
          </p:cNvSpPr>
          <p:nvPr>
            <p:ph type="sldImg"/>
          </p:nvPr>
        </p:nvSpPr>
        <p:spPr>
          <a:ln/>
        </p:spPr>
      </p:sp>
      <p:sp>
        <p:nvSpPr>
          <p:cNvPr id="117763" name="Plassholder for nota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b-NO" altLang="en-US"/>
          </a:p>
        </p:txBody>
      </p:sp>
      <p:sp>
        <p:nvSpPr>
          <p:cNvPr id="117764" name="Plassholder for lysbilde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26887BF-BED8-4076-B558-2AB1C8F316CB}" type="slidenum">
              <a:rPr lang="en-GB" altLang="en-US" sz="1200"/>
              <a:pPr/>
              <a:t>30</a:t>
            </a:fld>
            <a:endParaRPr lang="en-GB" altLang="en-US" sz="1200"/>
          </a:p>
        </p:txBody>
      </p:sp>
    </p:spTree>
    <p:extLst>
      <p:ext uri="{BB962C8B-B14F-4D97-AF65-F5344CB8AC3E}">
        <p14:creationId xmlns:p14="http://schemas.microsoft.com/office/powerpoint/2010/main" val="3413863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A9EAD-9A92-4DA9-A951-4641B6B28199}"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2108730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DA9EAD-9A92-4DA9-A951-4641B6B28199}"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1596567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DA9EAD-9A92-4DA9-A951-4641B6B28199}"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113414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DA9EAD-9A92-4DA9-A951-4641B6B28199}"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2802673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DA9EAD-9A92-4DA9-A951-4641B6B28199}"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2433132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DA9EAD-9A92-4DA9-A951-4641B6B28199}"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1909111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DA9EAD-9A92-4DA9-A951-4641B6B28199}"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4212876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DA9EAD-9A92-4DA9-A951-4641B6B28199}"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421370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DA9EAD-9A92-4DA9-A951-4641B6B28199}"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229233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DA9EAD-9A92-4DA9-A951-4641B6B28199}"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4115147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DA9EAD-9A92-4DA9-A951-4641B6B28199}"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0A638-6E56-453F-AE2F-4AAA82688543}" type="slidenum">
              <a:rPr lang="en-US" smtClean="0"/>
              <a:t>‹#›</a:t>
            </a:fld>
            <a:endParaRPr lang="en-US"/>
          </a:p>
        </p:txBody>
      </p:sp>
    </p:spTree>
    <p:extLst>
      <p:ext uri="{BB962C8B-B14F-4D97-AF65-F5344CB8AC3E}">
        <p14:creationId xmlns:p14="http://schemas.microsoft.com/office/powerpoint/2010/main" val="3162015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DA9EAD-9A92-4DA9-A951-4641B6B28199}" type="datetimeFigureOut">
              <a:rPr lang="en-US" smtClean="0"/>
              <a:t>8/19/2026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0A638-6E56-453F-AE2F-4AAA82688543}" type="slidenum">
              <a:rPr lang="en-US" smtClean="0"/>
              <a:t>‹#›</a:t>
            </a:fld>
            <a:endParaRPr lang="en-US"/>
          </a:p>
        </p:txBody>
      </p:sp>
    </p:spTree>
    <p:extLst>
      <p:ext uri="{BB962C8B-B14F-4D97-AF65-F5344CB8AC3E}">
        <p14:creationId xmlns:p14="http://schemas.microsoft.com/office/powerpoint/2010/main" val="2483800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customXml" Target="../ink/ink2.xml"/></Relationships>
</file>

<file path=ppt/slides/_rels/slide2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0.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Genetic Algorithm</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558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Lecture </a:t>
            </a:r>
          </a:p>
        </p:txBody>
      </p:sp>
      <p:sp>
        <p:nvSpPr>
          <p:cNvPr id="3" name="Content Placeholder 2"/>
          <p:cNvSpPr>
            <a:spLocks noGrp="1"/>
          </p:cNvSpPr>
          <p:nvPr>
            <p:ph idx="1"/>
          </p:nvPr>
        </p:nvSpPr>
        <p:spPr/>
        <p:txBody>
          <a:bodyPr/>
          <a:lstStyle/>
          <a:p>
            <a:r>
              <a:rPr lang="en-US" altLang="en-US" dirty="0"/>
              <a:t>Components pf Genetic Algorithm</a:t>
            </a:r>
          </a:p>
          <a:p>
            <a:pPr lvl="1"/>
            <a:r>
              <a:rPr lang="en-US" altLang="en-US" dirty="0"/>
              <a:t>Encoding principles          		(gene, chromosome)</a:t>
            </a:r>
          </a:p>
          <a:p>
            <a:pPr lvl="1"/>
            <a:r>
              <a:rPr lang="en-US" altLang="en-US" dirty="0"/>
              <a:t>Initialization procedure                      	(creation)</a:t>
            </a:r>
          </a:p>
          <a:p>
            <a:pPr lvl="1"/>
            <a:r>
              <a:rPr lang="en-US" altLang="en-US" dirty="0"/>
              <a:t>Selection of parents                    		(reproduction)</a:t>
            </a:r>
          </a:p>
          <a:p>
            <a:pPr lvl="1"/>
            <a:r>
              <a:rPr lang="en-US" altLang="en-US" dirty="0"/>
              <a:t>Genetic operators     			(mutation, recombination)</a:t>
            </a:r>
          </a:p>
          <a:p>
            <a:pPr lvl="1"/>
            <a:r>
              <a:rPr lang="en-US" altLang="en-US" dirty="0"/>
              <a:t>Evaluation function                      </a:t>
            </a:r>
          </a:p>
          <a:p>
            <a:pPr lvl="1"/>
            <a:r>
              <a:rPr lang="en-US" altLang="en-US" dirty="0"/>
              <a:t>Termination condition</a:t>
            </a:r>
          </a:p>
          <a:p>
            <a:endParaRPr lang="en-US" dirty="0"/>
          </a:p>
        </p:txBody>
      </p:sp>
    </p:spTree>
    <p:extLst>
      <p:ext uri="{BB962C8B-B14F-4D97-AF65-F5344CB8AC3E}">
        <p14:creationId xmlns:p14="http://schemas.microsoft.com/office/powerpoint/2010/main" val="317009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a:t>
            </a:r>
          </a:p>
        </p:txBody>
      </p:sp>
      <p:sp>
        <p:nvSpPr>
          <p:cNvPr id="3" name="Content Placeholder 2"/>
          <p:cNvSpPr>
            <a:spLocks noGrp="1"/>
          </p:cNvSpPr>
          <p:nvPr>
            <p:ph idx="1"/>
          </p:nvPr>
        </p:nvSpPr>
        <p:spPr>
          <a:xfrm>
            <a:off x="838200" y="1838877"/>
            <a:ext cx="10515600" cy="4351338"/>
          </a:xfrm>
        </p:spPr>
        <p:txBody>
          <a:bodyPr>
            <a:normAutofit fontScale="77500" lnSpcReduction="20000"/>
          </a:bodyPr>
          <a:lstStyle/>
          <a:p>
            <a:r>
              <a:rPr lang="en-US" dirty="0"/>
              <a:t>For the following generation compute the fitness ratio:</a:t>
            </a:r>
          </a:p>
          <a:p>
            <a:endParaRPr lang="en-US" dirty="0"/>
          </a:p>
          <a:p>
            <a:endParaRPr lang="en-US" dirty="0"/>
          </a:p>
          <a:p>
            <a:endParaRPr lang="en-US" dirty="0"/>
          </a:p>
          <a:p>
            <a:endParaRPr lang="en-US" dirty="0"/>
          </a:p>
          <a:p>
            <a:endParaRPr lang="en-US" dirty="0"/>
          </a:p>
          <a:p>
            <a:endParaRPr lang="en-US" dirty="0"/>
          </a:p>
          <a:p>
            <a:endParaRPr lang="en-US" dirty="0"/>
          </a:p>
          <a:p>
            <a:r>
              <a:rPr lang="en-US" dirty="0"/>
              <a:t>Now perform Roulette wheel selection on the same generation. Assume the random numbers generated for this method are </a:t>
            </a:r>
          </a:p>
          <a:p>
            <a:pPr lvl="1"/>
            <a:r>
              <a:rPr lang="en-US" dirty="0"/>
              <a:t>(1) 60       (2) 10     (3) 90     (4) 35</a:t>
            </a:r>
          </a:p>
          <a:p>
            <a:r>
              <a:rPr lang="en-US" dirty="0"/>
              <a:t>Apply crossover on the selected chromosomes in above question. The crossover must be applied from index 3 to index 5 (index starts from 0).</a:t>
            </a:r>
          </a:p>
        </p:txBody>
      </p:sp>
      <p:graphicFrame>
        <p:nvGraphicFramePr>
          <p:cNvPr id="5" name="Table 4"/>
          <p:cNvGraphicFramePr>
            <a:graphicFrameLocks noGrp="1"/>
          </p:cNvGraphicFramePr>
          <p:nvPr>
            <p:extLst>
              <p:ext uri="{D42A27DB-BD31-4B8C-83A1-F6EECF244321}">
                <p14:modId xmlns:p14="http://schemas.microsoft.com/office/powerpoint/2010/main" val="3280659299"/>
              </p:ext>
            </p:extLst>
          </p:nvPr>
        </p:nvGraphicFramePr>
        <p:xfrm>
          <a:off x="3077654" y="2344945"/>
          <a:ext cx="6036692" cy="2123440"/>
        </p:xfrm>
        <a:graphic>
          <a:graphicData uri="http://schemas.openxmlformats.org/drawingml/2006/table">
            <a:tbl>
              <a:tblPr firstRow="1" bandRow="1">
                <a:tableStyleId>{5C22544A-7EE6-4342-B048-85BDC9FD1C3A}</a:tableStyleId>
              </a:tblPr>
              <a:tblGrid>
                <a:gridCol w="473393">
                  <a:extLst>
                    <a:ext uri="{9D8B030D-6E8A-4147-A177-3AD203B41FA5}">
                      <a16:colId xmlns:a16="http://schemas.microsoft.com/office/drawing/2014/main" val="20000"/>
                    </a:ext>
                  </a:extLst>
                </a:gridCol>
                <a:gridCol w="1499298">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tblGrid>
              <a:tr h="370840">
                <a:tc>
                  <a:txBody>
                    <a:bodyPr/>
                    <a:lstStyle/>
                    <a:p>
                      <a:pPr algn="ctr"/>
                      <a:endParaRPr lang="en-US" dirty="0"/>
                    </a:p>
                  </a:txBody>
                  <a:tcPr/>
                </a:tc>
                <a:tc>
                  <a:txBody>
                    <a:bodyPr/>
                    <a:lstStyle/>
                    <a:p>
                      <a:pPr algn="ctr"/>
                      <a:r>
                        <a:rPr lang="en-US" dirty="0"/>
                        <a:t>Chromosome</a:t>
                      </a:r>
                    </a:p>
                  </a:txBody>
                  <a:tcPr/>
                </a:tc>
                <a:tc>
                  <a:txBody>
                    <a:bodyPr/>
                    <a:lstStyle/>
                    <a:p>
                      <a:pPr algn="ctr"/>
                      <a:r>
                        <a:rPr lang="en-US" dirty="0"/>
                        <a:t>F(x)</a:t>
                      </a:r>
                    </a:p>
                  </a:txBody>
                  <a:tcPr/>
                </a:tc>
                <a:tc>
                  <a:txBody>
                    <a:bodyPr/>
                    <a:lstStyle/>
                    <a:p>
                      <a:pPr algn="ctr"/>
                      <a:r>
                        <a:rPr lang="en-US" dirty="0"/>
                        <a:t>Fitness</a:t>
                      </a:r>
                    </a:p>
                  </a:txBody>
                  <a:tcPr/>
                </a:tc>
                <a:tc>
                  <a:txBody>
                    <a:bodyPr/>
                    <a:lstStyle/>
                    <a:p>
                      <a:pPr algn="ctr"/>
                      <a:r>
                        <a:rPr lang="en-US" dirty="0"/>
                        <a:t>Fitness</a:t>
                      </a:r>
                      <a:r>
                        <a:rPr lang="en-US" baseline="0" dirty="0"/>
                        <a:t> Ratio</a:t>
                      </a:r>
                      <a:endParaRPr lang="en-US" dirty="0"/>
                    </a:p>
                  </a:txBody>
                  <a:tcPr/>
                </a:tc>
                <a:extLst>
                  <a:ext uri="{0D108BD9-81ED-4DB2-BD59-A6C34878D82A}">
                    <a16:rowId xmlns:a16="http://schemas.microsoft.com/office/drawing/2014/main" val="10000"/>
                  </a:ext>
                </a:extLst>
              </a:tr>
              <a:tr h="370840">
                <a:tc>
                  <a:txBody>
                    <a:bodyPr/>
                    <a:lstStyle/>
                    <a:p>
                      <a:r>
                        <a:rPr lang="en-US" dirty="0"/>
                        <a:t>C1</a:t>
                      </a:r>
                    </a:p>
                  </a:txBody>
                  <a:tcPr/>
                </a:tc>
                <a:tc>
                  <a:txBody>
                    <a:bodyPr/>
                    <a:lstStyle/>
                    <a:p>
                      <a:r>
                        <a:rPr lang="en-US" dirty="0"/>
                        <a:t>65413532</a:t>
                      </a:r>
                    </a:p>
                  </a:txBody>
                  <a:tcPr/>
                </a:tc>
                <a:tc>
                  <a:txBody>
                    <a:bodyPr/>
                    <a:lstStyle/>
                    <a:p>
                      <a:r>
                        <a:rPr lang="en-US" dirty="0"/>
                        <a:t>12</a:t>
                      </a:r>
                    </a:p>
                  </a:txBody>
                  <a:tcPr/>
                </a:tc>
                <a:tc>
                  <a:txBody>
                    <a:bodyPr/>
                    <a:lstStyle/>
                    <a:p>
                      <a:r>
                        <a:rPr lang="en-US" dirty="0"/>
                        <a:t>20%</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C2</a:t>
                      </a:r>
                    </a:p>
                  </a:txBody>
                  <a:tcPr/>
                </a:tc>
                <a:tc>
                  <a:txBody>
                    <a:bodyPr/>
                    <a:lstStyle/>
                    <a:p>
                      <a:r>
                        <a:rPr lang="en-US" dirty="0"/>
                        <a:t>87126601</a:t>
                      </a:r>
                    </a:p>
                  </a:txBody>
                  <a:tcPr/>
                </a:tc>
                <a:tc>
                  <a:txBody>
                    <a:bodyPr/>
                    <a:lstStyle/>
                    <a:p>
                      <a:r>
                        <a:rPr lang="en-US" dirty="0"/>
                        <a:t>50</a:t>
                      </a:r>
                    </a:p>
                  </a:txBody>
                  <a:tcPr/>
                </a:tc>
                <a:tc>
                  <a:txBody>
                    <a:bodyPr/>
                    <a:lstStyle/>
                    <a:p>
                      <a:r>
                        <a:rPr lang="en-US" dirty="0"/>
                        <a:t>70%</a:t>
                      </a:r>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C3</a:t>
                      </a:r>
                    </a:p>
                  </a:txBody>
                  <a:tcPr/>
                </a:tc>
                <a:tc>
                  <a:txBody>
                    <a:bodyPr/>
                    <a:lstStyle/>
                    <a:p>
                      <a:r>
                        <a:rPr lang="en-US" dirty="0"/>
                        <a:t>23921285</a:t>
                      </a:r>
                    </a:p>
                  </a:txBody>
                  <a:tcPr/>
                </a:tc>
                <a:tc>
                  <a:txBody>
                    <a:bodyPr/>
                    <a:lstStyle/>
                    <a:p>
                      <a:r>
                        <a:rPr lang="en-US" dirty="0"/>
                        <a:t>5</a:t>
                      </a:r>
                    </a:p>
                  </a:txBody>
                  <a:tcPr/>
                </a:tc>
                <a:tc>
                  <a:txBody>
                    <a:bodyPr/>
                    <a:lstStyle/>
                    <a:p>
                      <a:r>
                        <a:rPr lang="en-US" dirty="0"/>
                        <a:t>5%</a:t>
                      </a:r>
                    </a:p>
                  </a:txBody>
                  <a:tcPr/>
                </a:tc>
                <a:tc>
                  <a:txBody>
                    <a:bodyPr/>
                    <a:lstStyle/>
                    <a:p>
                      <a:endParaRPr lang="en-US" dirty="0"/>
                    </a:p>
                  </a:txBody>
                  <a:tcPr/>
                </a:tc>
                <a:extLst>
                  <a:ext uri="{0D108BD9-81ED-4DB2-BD59-A6C34878D82A}">
                    <a16:rowId xmlns:a16="http://schemas.microsoft.com/office/drawing/2014/main" val="10003"/>
                  </a:ext>
                </a:extLst>
              </a:tr>
              <a:tr h="370840">
                <a:tc>
                  <a:txBody>
                    <a:bodyPr/>
                    <a:lstStyle/>
                    <a:p>
                      <a:r>
                        <a:rPr lang="en-US" dirty="0"/>
                        <a:t>C4</a:t>
                      </a:r>
                    </a:p>
                  </a:txBody>
                  <a:tcPr/>
                </a:tc>
                <a:tc>
                  <a:txBody>
                    <a:bodyPr/>
                    <a:lstStyle/>
                    <a:p>
                      <a:r>
                        <a:rPr lang="en-US" dirty="0"/>
                        <a:t>41852094</a:t>
                      </a:r>
                    </a:p>
                  </a:txBody>
                  <a:tcPr/>
                </a:tc>
                <a:tc>
                  <a:txBody>
                    <a:bodyPr/>
                    <a:lstStyle/>
                    <a:p>
                      <a:r>
                        <a:rPr lang="en-US" dirty="0"/>
                        <a:t>1</a:t>
                      </a:r>
                    </a:p>
                  </a:txBody>
                  <a:tcPr/>
                </a:tc>
                <a:tc>
                  <a:txBody>
                    <a:bodyPr/>
                    <a:lstStyle/>
                    <a:p>
                      <a:r>
                        <a:rPr lang="en-US" dirty="0"/>
                        <a:t>2%</a:t>
                      </a:r>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044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n-Queen Problem</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066086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954" name="Group 2"/>
          <p:cNvGrpSpPr>
            <a:grpSpLocks/>
          </p:cNvGrpSpPr>
          <p:nvPr/>
        </p:nvGrpSpPr>
        <p:grpSpPr bwMode="auto">
          <a:xfrm>
            <a:off x="4495800" y="2209800"/>
            <a:ext cx="3048000" cy="3048000"/>
            <a:chOff x="1958" y="973"/>
            <a:chExt cx="1920" cy="1920"/>
          </a:xfrm>
        </p:grpSpPr>
        <p:sp>
          <p:nvSpPr>
            <p:cNvPr id="125955" name="Rectangle 3"/>
            <p:cNvSpPr>
              <a:spLocks noChangeArrowheads="1"/>
            </p:cNvSpPr>
            <p:nvPr/>
          </p:nvSpPr>
          <p:spPr bwMode="auto">
            <a:xfrm>
              <a:off x="1958" y="97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56" name="Rectangle 4"/>
            <p:cNvSpPr>
              <a:spLocks noChangeArrowheads="1"/>
            </p:cNvSpPr>
            <p:nvPr/>
          </p:nvSpPr>
          <p:spPr bwMode="auto">
            <a:xfrm>
              <a:off x="219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57" name="Rectangle 5"/>
            <p:cNvSpPr>
              <a:spLocks noChangeArrowheads="1"/>
            </p:cNvSpPr>
            <p:nvPr/>
          </p:nvSpPr>
          <p:spPr bwMode="auto">
            <a:xfrm>
              <a:off x="1958" y="12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58" name="Rectangle 6"/>
            <p:cNvSpPr>
              <a:spLocks noChangeArrowheads="1"/>
            </p:cNvSpPr>
            <p:nvPr/>
          </p:nvSpPr>
          <p:spPr bwMode="auto">
            <a:xfrm>
              <a:off x="2198" y="12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59" name="Rectangle 7"/>
            <p:cNvSpPr>
              <a:spLocks noChangeArrowheads="1"/>
            </p:cNvSpPr>
            <p:nvPr/>
          </p:nvSpPr>
          <p:spPr bwMode="auto">
            <a:xfrm>
              <a:off x="243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0" name="Rectangle 8"/>
            <p:cNvSpPr>
              <a:spLocks noChangeArrowheads="1"/>
            </p:cNvSpPr>
            <p:nvPr/>
          </p:nvSpPr>
          <p:spPr bwMode="auto">
            <a:xfrm>
              <a:off x="267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1" name="Rectangle 9"/>
            <p:cNvSpPr>
              <a:spLocks noChangeArrowheads="1"/>
            </p:cNvSpPr>
            <p:nvPr/>
          </p:nvSpPr>
          <p:spPr bwMode="auto">
            <a:xfrm>
              <a:off x="2438" y="12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2" name="Rectangle 10"/>
            <p:cNvSpPr>
              <a:spLocks noChangeArrowheads="1"/>
            </p:cNvSpPr>
            <p:nvPr/>
          </p:nvSpPr>
          <p:spPr bwMode="auto">
            <a:xfrm>
              <a:off x="2678" y="12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3" name="Rectangle 11"/>
            <p:cNvSpPr>
              <a:spLocks noChangeArrowheads="1"/>
            </p:cNvSpPr>
            <p:nvPr/>
          </p:nvSpPr>
          <p:spPr bwMode="auto">
            <a:xfrm>
              <a:off x="1958" y="14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4" name="Rectangle 12"/>
            <p:cNvSpPr>
              <a:spLocks noChangeArrowheads="1"/>
            </p:cNvSpPr>
            <p:nvPr/>
          </p:nvSpPr>
          <p:spPr bwMode="auto">
            <a:xfrm>
              <a:off x="2198" y="14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5" name="Rectangle 13"/>
            <p:cNvSpPr>
              <a:spLocks noChangeArrowheads="1"/>
            </p:cNvSpPr>
            <p:nvPr/>
          </p:nvSpPr>
          <p:spPr bwMode="auto">
            <a:xfrm>
              <a:off x="1958" y="169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6" name="Rectangle 14"/>
            <p:cNvSpPr>
              <a:spLocks noChangeArrowheads="1"/>
            </p:cNvSpPr>
            <p:nvPr/>
          </p:nvSpPr>
          <p:spPr bwMode="auto">
            <a:xfrm>
              <a:off x="2198" y="169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7" name="Rectangle 15"/>
            <p:cNvSpPr>
              <a:spLocks noChangeArrowheads="1"/>
            </p:cNvSpPr>
            <p:nvPr/>
          </p:nvSpPr>
          <p:spPr bwMode="auto">
            <a:xfrm>
              <a:off x="2438" y="14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8" name="Rectangle 16"/>
            <p:cNvSpPr>
              <a:spLocks noChangeArrowheads="1"/>
            </p:cNvSpPr>
            <p:nvPr/>
          </p:nvSpPr>
          <p:spPr bwMode="auto">
            <a:xfrm>
              <a:off x="2678" y="14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69" name="Rectangle 17"/>
            <p:cNvSpPr>
              <a:spLocks noChangeArrowheads="1"/>
            </p:cNvSpPr>
            <p:nvPr/>
          </p:nvSpPr>
          <p:spPr bwMode="auto">
            <a:xfrm>
              <a:off x="2438" y="169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0" name="Rectangle 18"/>
            <p:cNvSpPr>
              <a:spLocks noChangeArrowheads="1"/>
            </p:cNvSpPr>
            <p:nvPr/>
          </p:nvSpPr>
          <p:spPr bwMode="auto">
            <a:xfrm>
              <a:off x="2678" y="169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1" name="Rectangle 19"/>
            <p:cNvSpPr>
              <a:spLocks noChangeArrowheads="1"/>
            </p:cNvSpPr>
            <p:nvPr/>
          </p:nvSpPr>
          <p:spPr bwMode="auto">
            <a:xfrm>
              <a:off x="2918" y="97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2" name="Rectangle 20"/>
            <p:cNvSpPr>
              <a:spLocks noChangeArrowheads="1"/>
            </p:cNvSpPr>
            <p:nvPr/>
          </p:nvSpPr>
          <p:spPr bwMode="auto">
            <a:xfrm>
              <a:off x="315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3" name="Rectangle 21"/>
            <p:cNvSpPr>
              <a:spLocks noChangeArrowheads="1"/>
            </p:cNvSpPr>
            <p:nvPr/>
          </p:nvSpPr>
          <p:spPr bwMode="auto">
            <a:xfrm>
              <a:off x="2918" y="12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4" name="Rectangle 22"/>
            <p:cNvSpPr>
              <a:spLocks noChangeArrowheads="1"/>
            </p:cNvSpPr>
            <p:nvPr/>
          </p:nvSpPr>
          <p:spPr bwMode="auto">
            <a:xfrm>
              <a:off x="3158" y="12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5" name="Rectangle 23"/>
            <p:cNvSpPr>
              <a:spLocks noChangeArrowheads="1"/>
            </p:cNvSpPr>
            <p:nvPr/>
          </p:nvSpPr>
          <p:spPr bwMode="auto">
            <a:xfrm>
              <a:off x="339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6" name="Rectangle 24"/>
            <p:cNvSpPr>
              <a:spLocks noChangeArrowheads="1"/>
            </p:cNvSpPr>
            <p:nvPr/>
          </p:nvSpPr>
          <p:spPr bwMode="auto">
            <a:xfrm>
              <a:off x="3638" y="9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7" name="Rectangle 25"/>
            <p:cNvSpPr>
              <a:spLocks noChangeArrowheads="1"/>
            </p:cNvSpPr>
            <p:nvPr/>
          </p:nvSpPr>
          <p:spPr bwMode="auto">
            <a:xfrm>
              <a:off x="3398" y="12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8" name="Rectangle 26"/>
            <p:cNvSpPr>
              <a:spLocks noChangeArrowheads="1"/>
            </p:cNvSpPr>
            <p:nvPr/>
          </p:nvSpPr>
          <p:spPr bwMode="auto">
            <a:xfrm>
              <a:off x="3638" y="12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79" name="Rectangle 27"/>
            <p:cNvSpPr>
              <a:spLocks noChangeArrowheads="1"/>
            </p:cNvSpPr>
            <p:nvPr/>
          </p:nvSpPr>
          <p:spPr bwMode="auto">
            <a:xfrm>
              <a:off x="2918" y="14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0" name="Rectangle 28"/>
            <p:cNvSpPr>
              <a:spLocks noChangeArrowheads="1"/>
            </p:cNvSpPr>
            <p:nvPr/>
          </p:nvSpPr>
          <p:spPr bwMode="auto">
            <a:xfrm>
              <a:off x="3158" y="14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1" name="Rectangle 29"/>
            <p:cNvSpPr>
              <a:spLocks noChangeArrowheads="1"/>
            </p:cNvSpPr>
            <p:nvPr/>
          </p:nvSpPr>
          <p:spPr bwMode="auto">
            <a:xfrm>
              <a:off x="2918" y="169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2" name="Rectangle 30"/>
            <p:cNvSpPr>
              <a:spLocks noChangeArrowheads="1"/>
            </p:cNvSpPr>
            <p:nvPr/>
          </p:nvSpPr>
          <p:spPr bwMode="auto">
            <a:xfrm>
              <a:off x="3158" y="169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3" name="Rectangle 31"/>
            <p:cNvSpPr>
              <a:spLocks noChangeArrowheads="1"/>
            </p:cNvSpPr>
            <p:nvPr/>
          </p:nvSpPr>
          <p:spPr bwMode="auto">
            <a:xfrm>
              <a:off x="3398" y="14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4" name="Rectangle 32"/>
            <p:cNvSpPr>
              <a:spLocks noChangeArrowheads="1"/>
            </p:cNvSpPr>
            <p:nvPr/>
          </p:nvSpPr>
          <p:spPr bwMode="auto">
            <a:xfrm>
              <a:off x="3638" y="14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5" name="Rectangle 33"/>
            <p:cNvSpPr>
              <a:spLocks noChangeArrowheads="1"/>
            </p:cNvSpPr>
            <p:nvPr/>
          </p:nvSpPr>
          <p:spPr bwMode="auto">
            <a:xfrm>
              <a:off x="3398" y="169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6" name="Rectangle 34"/>
            <p:cNvSpPr>
              <a:spLocks noChangeArrowheads="1"/>
            </p:cNvSpPr>
            <p:nvPr/>
          </p:nvSpPr>
          <p:spPr bwMode="auto">
            <a:xfrm>
              <a:off x="3638" y="169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7" name="Rectangle 35"/>
            <p:cNvSpPr>
              <a:spLocks noChangeArrowheads="1"/>
            </p:cNvSpPr>
            <p:nvPr/>
          </p:nvSpPr>
          <p:spPr bwMode="auto">
            <a:xfrm>
              <a:off x="195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8" name="Rectangle 36"/>
            <p:cNvSpPr>
              <a:spLocks noChangeArrowheads="1"/>
            </p:cNvSpPr>
            <p:nvPr/>
          </p:nvSpPr>
          <p:spPr bwMode="auto">
            <a:xfrm>
              <a:off x="219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89" name="Rectangle 37"/>
            <p:cNvSpPr>
              <a:spLocks noChangeArrowheads="1"/>
            </p:cNvSpPr>
            <p:nvPr/>
          </p:nvSpPr>
          <p:spPr bwMode="auto">
            <a:xfrm>
              <a:off x="1958" y="21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0" name="Rectangle 38"/>
            <p:cNvSpPr>
              <a:spLocks noChangeArrowheads="1"/>
            </p:cNvSpPr>
            <p:nvPr/>
          </p:nvSpPr>
          <p:spPr bwMode="auto">
            <a:xfrm>
              <a:off x="2198" y="21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1" name="Rectangle 39"/>
            <p:cNvSpPr>
              <a:spLocks noChangeArrowheads="1"/>
            </p:cNvSpPr>
            <p:nvPr/>
          </p:nvSpPr>
          <p:spPr bwMode="auto">
            <a:xfrm>
              <a:off x="243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2" name="Rectangle 40"/>
            <p:cNvSpPr>
              <a:spLocks noChangeArrowheads="1"/>
            </p:cNvSpPr>
            <p:nvPr/>
          </p:nvSpPr>
          <p:spPr bwMode="auto">
            <a:xfrm>
              <a:off x="267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3" name="Rectangle 41"/>
            <p:cNvSpPr>
              <a:spLocks noChangeArrowheads="1"/>
            </p:cNvSpPr>
            <p:nvPr/>
          </p:nvSpPr>
          <p:spPr bwMode="auto">
            <a:xfrm>
              <a:off x="2438" y="21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4" name="Rectangle 42"/>
            <p:cNvSpPr>
              <a:spLocks noChangeArrowheads="1"/>
            </p:cNvSpPr>
            <p:nvPr/>
          </p:nvSpPr>
          <p:spPr bwMode="auto">
            <a:xfrm>
              <a:off x="2678" y="217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5" name="Rectangle 43"/>
            <p:cNvSpPr>
              <a:spLocks noChangeArrowheads="1"/>
            </p:cNvSpPr>
            <p:nvPr/>
          </p:nvSpPr>
          <p:spPr bwMode="auto">
            <a:xfrm>
              <a:off x="1958" y="24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6" name="Rectangle 44"/>
            <p:cNvSpPr>
              <a:spLocks noChangeArrowheads="1"/>
            </p:cNvSpPr>
            <p:nvPr/>
          </p:nvSpPr>
          <p:spPr bwMode="auto">
            <a:xfrm>
              <a:off x="2198" y="24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7" name="Rectangle 45"/>
            <p:cNvSpPr>
              <a:spLocks noChangeArrowheads="1"/>
            </p:cNvSpPr>
            <p:nvPr/>
          </p:nvSpPr>
          <p:spPr bwMode="auto">
            <a:xfrm>
              <a:off x="1958" y="26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8" name="Rectangle 46"/>
            <p:cNvSpPr>
              <a:spLocks noChangeArrowheads="1"/>
            </p:cNvSpPr>
            <p:nvPr/>
          </p:nvSpPr>
          <p:spPr bwMode="auto">
            <a:xfrm>
              <a:off x="2198" y="26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999" name="Rectangle 47"/>
            <p:cNvSpPr>
              <a:spLocks noChangeArrowheads="1"/>
            </p:cNvSpPr>
            <p:nvPr/>
          </p:nvSpPr>
          <p:spPr bwMode="auto">
            <a:xfrm>
              <a:off x="2438" y="24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0" name="Rectangle 48"/>
            <p:cNvSpPr>
              <a:spLocks noChangeArrowheads="1"/>
            </p:cNvSpPr>
            <p:nvPr/>
          </p:nvSpPr>
          <p:spPr bwMode="auto">
            <a:xfrm>
              <a:off x="2678" y="24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1" name="Rectangle 49"/>
            <p:cNvSpPr>
              <a:spLocks noChangeArrowheads="1"/>
            </p:cNvSpPr>
            <p:nvPr/>
          </p:nvSpPr>
          <p:spPr bwMode="auto">
            <a:xfrm>
              <a:off x="2438" y="26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2" name="Rectangle 50"/>
            <p:cNvSpPr>
              <a:spLocks noChangeArrowheads="1"/>
            </p:cNvSpPr>
            <p:nvPr/>
          </p:nvSpPr>
          <p:spPr bwMode="auto">
            <a:xfrm>
              <a:off x="2678" y="26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3" name="Rectangle 51"/>
            <p:cNvSpPr>
              <a:spLocks noChangeArrowheads="1"/>
            </p:cNvSpPr>
            <p:nvPr/>
          </p:nvSpPr>
          <p:spPr bwMode="auto">
            <a:xfrm>
              <a:off x="291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4" name="Rectangle 52"/>
            <p:cNvSpPr>
              <a:spLocks noChangeArrowheads="1"/>
            </p:cNvSpPr>
            <p:nvPr/>
          </p:nvSpPr>
          <p:spPr bwMode="auto">
            <a:xfrm>
              <a:off x="315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5" name="Rectangle 53"/>
            <p:cNvSpPr>
              <a:spLocks noChangeArrowheads="1"/>
            </p:cNvSpPr>
            <p:nvPr/>
          </p:nvSpPr>
          <p:spPr bwMode="auto">
            <a:xfrm>
              <a:off x="2918" y="217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6" name="Rectangle 54"/>
            <p:cNvSpPr>
              <a:spLocks noChangeArrowheads="1"/>
            </p:cNvSpPr>
            <p:nvPr/>
          </p:nvSpPr>
          <p:spPr bwMode="auto">
            <a:xfrm>
              <a:off x="3158" y="217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7" name="Rectangle 55"/>
            <p:cNvSpPr>
              <a:spLocks noChangeArrowheads="1"/>
            </p:cNvSpPr>
            <p:nvPr/>
          </p:nvSpPr>
          <p:spPr bwMode="auto">
            <a:xfrm>
              <a:off x="339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8" name="Rectangle 56"/>
            <p:cNvSpPr>
              <a:spLocks noChangeArrowheads="1"/>
            </p:cNvSpPr>
            <p:nvPr/>
          </p:nvSpPr>
          <p:spPr bwMode="auto">
            <a:xfrm>
              <a:off x="3638" y="193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09" name="Rectangle 57"/>
            <p:cNvSpPr>
              <a:spLocks noChangeArrowheads="1"/>
            </p:cNvSpPr>
            <p:nvPr/>
          </p:nvSpPr>
          <p:spPr bwMode="auto">
            <a:xfrm>
              <a:off x="3398" y="21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0" name="Rectangle 58"/>
            <p:cNvSpPr>
              <a:spLocks noChangeArrowheads="1"/>
            </p:cNvSpPr>
            <p:nvPr/>
          </p:nvSpPr>
          <p:spPr bwMode="auto">
            <a:xfrm>
              <a:off x="3638" y="217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1" name="Rectangle 59"/>
            <p:cNvSpPr>
              <a:spLocks noChangeArrowheads="1"/>
            </p:cNvSpPr>
            <p:nvPr/>
          </p:nvSpPr>
          <p:spPr bwMode="auto">
            <a:xfrm>
              <a:off x="2918" y="24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2" name="Rectangle 60"/>
            <p:cNvSpPr>
              <a:spLocks noChangeArrowheads="1"/>
            </p:cNvSpPr>
            <p:nvPr/>
          </p:nvSpPr>
          <p:spPr bwMode="auto">
            <a:xfrm>
              <a:off x="3158" y="24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3" name="Rectangle 61"/>
            <p:cNvSpPr>
              <a:spLocks noChangeArrowheads="1"/>
            </p:cNvSpPr>
            <p:nvPr/>
          </p:nvSpPr>
          <p:spPr bwMode="auto">
            <a:xfrm>
              <a:off x="2918" y="26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4" name="Rectangle 62"/>
            <p:cNvSpPr>
              <a:spLocks noChangeArrowheads="1"/>
            </p:cNvSpPr>
            <p:nvPr/>
          </p:nvSpPr>
          <p:spPr bwMode="auto">
            <a:xfrm>
              <a:off x="3158" y="26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5" name="Rectangle 63"/>
            <p:cNvSpPr>
              <a:spLocks noChangeArrowheads="1"/>
            </p:cNvSpPr>
            <p:nvPr/>
          </p:nvSpPr>
          <p:spPr bwMode="auto">
            <a:xfrm>
              <a:off x="3398" y="241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6" name="Rectangle 64"/>
            <p:cNvSpPr>
              <a:spLocks noChangeArrowheads="1"/>
            </p:cNvSpPr>
            <p:nvPr/>
          </p:nvSpPr>
          <p:spPr bwMode="auto">
            <a:xfrm>
              <a:off x="3638" y="241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7" name="Rectangle 65"/>
            <p:cNvSpPr>
              <a:spLocks noChangeArrowheads="1"/>
            </p:cNvSpPr>
            <p:nvPr/>
          </p:nvSpPr>
          <p:spPr bwMode="auto">
            <a:xfrm>
              <a:off x="3398" y="2653"/>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8" name="Rectangle 66"/>
            <p:cNvSpPr>
              <a:spLocks noChangeArrowheads="1"/>
            </p:cNvSpPr>
            <p:nvPr/>
          </p:nvSpPr>
          <p:spPr bwMode="auto">
            <a:xfrm>
              <a:off x="3638" y="2653"/>
              <a:ext cx="240" cy="24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019" name="Oval 67"/>
            <p:cNvSpPr>
              <a:spLocks noChangeArrowheads="1"/>
            </p:cNvSpPr>
            <p:nvPr/>
          </p:nvSpPr>
          <p:spPr bwMode="auto">
            <a:xfrm>
              <a:off x="2934" y="1965"/>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26020" name="Text Box 68"/>
          <p:cNvSpPr txBox="1">
            <a:spLocks noChangeArrowheads="1"/>
          </p:cNvSpPr>
          <p:nvPr/>
        </p:nvSpPr>
        <p:spPr bwMode="auto">
          <a:xfrm>
            <a:off x="2362200" y="5638800"/>
            <a:ext cx="75072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dirty="0">
                <a:latin typeface="Arial" charset="0"/>
              </a:rPr>
              <a:t>Place 8 queens on an 8x8 chessboard in</a:t>
            </a:r>
          </a:p>
          <a:p>
            <a:pPr algn="l"/>
            <a:r>
              <a:rPr lang="en-US" altLang="en-US" sz="2800" dirty="0">
                <a:latin typeface="Arial" charset="0"/>
              </a:rPr>
              <a:t>such a way that they cannot check each other</a:t>
            </a:r>
          </a:p>
        </p:txBody>
      </p:sp>
      <p:sp>
        <p:nvSpPr>
          <p:cNvPr id="126021" name="Rectangle 69"/>
          <p:cNvSpPr>
            <a:spLocks noChangeArrowheads="1"/>
          </p:cNvSpPr>
          <p:nvPr/>
        </p:nvSpPr>
        <p:spPr bwMode="auto">
          <a:xfrm>
            <a:off x="2590800" y="685800"/>
            <a:ext cx="60007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fontAlgn="base">
              <a:spcBef>
                <a:spcPct val="0"/>
              </a:spcBef>
              <a:spcAft>
                <a:spcPct val="0"/>
              </a:spcAft>
              <a:defRPr sz="2400">
                <a:solidFill>
                  <a:schemeClr val="tx1"/>
                </a:solidFill>
                <a:latin typeface="Times New Roman" pitchFamily="18" charset="0"/>
              </a:defRPr>
            </a:lvl6pPr>
            <a:lvl7pPr marL="914400" fontAlgn="base">
              <a:spcBef>
                <a:spcPct val="0"/>
              </a:spcBef>
              <a:spcAft>
                <a:spcPct val="0"/>
              </a:spcAft>
              <a:defRPr sz="2400">
                <a:solidFill>
                  <a:schemeClr val="tx1"/>
                </a:solidFill>
                <a:latin typeface="Times New Roman" pitchFamily="18" charset="0"/>
              </a:defRPr>
            </a:lvl7pPr>
            <a:lvl8pPr marL="1371600" fontAlgn="base">
              <a:spcBef>
                <a:spcPct val="0"/>
              </a:spcBef>
              <a:spcAft>
                <a:spcPct val="0"/>
              </a:spcAft>
              <a:defRPr sz="2400">
                <a:solidFill>
                  <a:schemeClr val="tx1"/>
                </a:solidFill>
                <a:latin typeface="Times New Roman" pitchFamily="18" charset="0"/>
              </a:defRPr>
            </a:lvl8pPr>
            <a:lvl9pPr marL="1828800" fontAlgn="base">
              <a:spcBef>
                <a:spcPct val="0"/>
              </a:spcBef>
              <a:spcAft>
                <a:spcPct val="0"/>
              </a:spcAft>
              <a:defRPr sz="2400">
                <a:solidFill>
                  <a:schemeClr val="tx1"/>
                </a:solidFill>
                <a:latin typeface="Times New Roman" pitchFamily="18" charset="0"/>
              </a:defRPr>
            </a:lvl9pPr>
          </a:lstStyle>
          <a:p>
            <a:pPr>
              <a:lnSpc>
                <a:spcPct val="150000"/>
              </a:lnSpc>
              <a:spcBef>
                <a:spcPct val="50000"/>
              </a:spcBef>
              <a:spcAft>
                <a:spcPct val="50000"/>
              </a:spcAft>
            </a:pPr>
            <a:endParaRPr lang="en-US" altLang="en-US" sz="2800" dirty="0">
              <a:solidFill>
                <a:srgbClr val="000066"/>
              </a:solidFill>
              <a:latin typeface="Arial" charset="0"/>
            </a:endParaRPr>
          </a:p>
        </p:txBody>
      </p:sp>
      <p:sp>
        <p:nvSpPr>
          <p:cNvPr id="2" name="Title 1"/>
          <p:cNvSpPr>
            <a:spLocks noGrp="1"/>
          </p:cNvSpPr>
          <p:nvPr>
            <p:ph type="title"/>
          </p:nvPr>
        </p:nvSpPr>
        <p:spPr/>
        <p:txBody>
          <a:bodyPr>
            <a:normAutofit/>
          </a:bodyPr>
          <a:lstStyle/>
          <a:p>
            <a:r>
              <a:rPr lang="en-US" altLang="en-US" dirty="0"/>
              <a:t>Example: the 8 queens problem</a:t>
            </a:r>
            <a:endParaRPr lang="en-US" dirty="0"/>
          </a:p>
        </p:txBody>
      </p:sp>
    </p:spTree>
    <p:extLst>
      <p:ext uri="{BB962C8B-B14F-4D97-AF65-F5344CB8AC3E}">
        <p14:creationId xmlns:p14="http://schemas.microsoft.com/office/powerpoint/2010/main" val="351216765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8-Queens Problem</a:t>
            </a:r>
          </a:p>
        </p:txBody>
      </p:sp>
      <p:sp>
        <p:nvSpPr>
          <p:cNvPr id="3" name="Content Placeholder 2"/>
          <p:cNvSpPr>
            <a:spLocks noGrp="1"/>
          </p:cNvSpPr>
          <p:nvPr>
            <p:ph idx="1"/>
          </p:nvPr>
        </p:nvSpPr>
        <p:spPr/>
        <p:txBody>
          <a:bodyPr>
            <a:normAutofit fontScale="92500" lnSpcReduction="20000"/>
          </a:bodyPr>
          <a:lstStyle/>
          <a:p>
            <a:r>
              <a:rPr lang="en-US" dirty="0"/>
              <a:t>State = position of 8 queens each in a column</a:t>
            </a:r>
          </a:p>
          <a:p>
            <a:pPr lvl="1"/>
            <a:r>
              <a:rPr lang="en-US" dirty="0"/>
              <a:t>3 4 5 6 1 3 8 7</a:t>
            </a:r>
          </a:p>
          <a:p>
            <a:pPr marL="457200" lvl="1" indent="0">
              <a:buNone/>
            </a:pPr>
            <a:endParaRPr lang="en-US" dirty="0"/>
          </a:p>
          <a:p>
            <a:r>
              <a:rPr lang="en-US" altLang="en-US" dirty="0"/>
              <a:t>Start with </a:t>
            </a:r>
            <a:r>
              <a:rPr lang="en-US" altLang="en-US" i="1" dirty="0"/>
              <a:t>k</a:t>
            </a:r>
            <a:r>
              <a:rPr lang="en-US" altLang="en-US" dirty="0"/>
              <a:t> randomly generated states (</a:t>
            </a:r>
            <a:r>
              <a:rPr lang="en-US" altLang="en-US" dirty="0">
                <a:solidFill>
                  <a:srgbClr val="FF0000"/>
                </a:solidFill>
              </a:rPr>
              <a:t>population</a:t>
            </a:r>
            <a:r>
              <a:rPr lang="en-US" altLang="en-US" dirty="0"/>
              <a:t>)</a:t>
            </a:r>
          </a:p>
          <a:p>
            <a:r>
              <a:rPr lang="en-US" dirty="0"/>
              <a:t>Evaluation function (fitness function). </a:t>
            </a:r>
          </a:p>
          <a:p>
            <a:r>
              <a:rPr lang="en-US" dirty="0"/>
              <a:t>Higher values for better states.</a:t>
            </a:r>
          </a:p>
          <a:p>
            <a:pPr marL="0" indent="0">
              <a:buNone/>
            </a:pPr>
            <a:endParaRPr lang="en-US" dirty="0"/>
          </a:p>
          <a:p>
            <a:r>
              <a:rPr lang="en-US" dirty="0"/>
              <a:t>Produce the next generation of states by “simulated evolution”</a:t>
            </a:r>
          </a:p>
          <a:p>
            <a:r>
              <a:rPr lang="en-US" dirty="0"/>
              <a:t>Random selection</a:t>
            </a:r>
          </a:p>
          <a:p>
            <a:pPr lvl="1"/>
            <a:r>
              <a:rPr lang="en-US" dirty="0"/>
              <a:t>Crossover	</a:t>
            </a:r>
          </a:p>
          <a:p>
            <a:pPr lvl="1"/>
            <a:r>
              <a:rPr lang="en-US" dirty="0"/>
              <a:t>Random mutation</a:t>
            </a:r>
          </a:p>
        </p:txBody>
      </p:sp>
      <p:sp>
        <p:nvSpPr>
          <p:cNvPr id="4" name="Slide Number Placeholder 3"/>
          <p:cNvSpPr>
            <a:spLocks noGrp="1"/>
          </p:cNvSpPr>
          <p:nvPr>
            <p:ph type="sldNum" sz="quarter" idx="12"/>
          </p:nvPr>
        </p:nvSpPr>
        <p:spPr/>
        <p:txBody>
          <a:bodyPr/>
          <a:lstStyle/>
          <a:p>
            <a:fld id="{FDFCE4C1-E6A0-4AA9-9965-F1CD6F0FDCC0}" type="slidenum">
              <a:rPr lang="en-US" smtClean="0"/>
              <a:t>6</a:t>
            </a:fld>
            <a:endParaRPr lang="en-US"/>
          </a:p>
        </p:txBody>
      </p:sp>
      <p:graphicFrame>
        <p:nvGraphicFramePr>
          <p:cNvPr id="5" name="Table 4"/>
          <p:cNvGraphicFramePr>
            <a:graphicFrameLocks noGrp="1"/>
          </p:cNvGraphicFramePr>
          <p:nvPr/>
        </p:nvGraphicFramePr>
        <p:xfrm>
          <a:off x="9230360" y="1690688"/>
          <a:ext cx="2123440" cy="2240280"/>
        </p:xfrm>
        <a:graphic>
          <a:graphicData uri="http://schemas.openxmlformats.org/drawingml/2006/table">
            <a:tbl>
              <a:tblPr firstRow="1" bandRow="1">
                <a:tableStyleId>{5940675A-B579-460E-94D1-54222C63F5DA}</a:tableStyleId>
              </a:tblPr>
              <a:tblGrid>
                <a:gridCol w="265430">
                  <a:extLst>
                    <a:ext uri="{9D8B030D-6E8A-4147-A177-3AD203B41FA5}">
                      <a16:colId xmlns:a16="http://schemas.microsoft.com/office/drawing/2014/main" val="20000"/>
                    </a:ext>
                  </a:extLst>
                </a:gridCol>
                <a:gridCol w="265430">
                  <a:extLst>
                    <a:ext uri="{9D8B030D-6E8A-4147-A177-3AD203B41FA5}">
                      <a16:colId xmlns:a16="http://schemas.microsoft.com/office/drawing/2014/main" val="20001"/>
                    </a:ext>
                  </a:extLst>
                </a:gridCol>
                <a:gridCol w="265430">
                  <a:extLst>
                    <a:ext uri="{9D8B030D-6E8A-4147-A177-3AD203B41FA5}">
                      <a16:colId xmlns:a16="http://schemas.microsoft.com/office/drawing/2014/main" val="20002"/>
                    </a:ext>
                  </a:extLst>
                </a:gridCol>
                <a:gridCol w="265430">
                  <a:extLst>
                    <a:ext uri="{9D8B030D-6E8A-4147-A177-3AD203B41FA5}">
                      <a16:colId xmlns:a16="http://schemas.microsoft.com/office/drawing/2014/main" val="20003"/>
                    </a:ext>
                  </a:extLst>
                </a:gridCol>
                <a:gridCol w="265430">
                  <a:extLst>
                    <a:ext uri="{9D8B030D-6E8A-4147-A177-3AD203B41FA5}">
                      <a16:colId xmlns:a16="http://schemas.microsoft.com/office/drawing/2014/main" val="20004"/>
                    </a:ext>
                  </a:extLst>
                </a:gridCol>
                <a:gridCol w="265430">
                  <a:extLst>
                    <a:ext uri="{9D8B030D-6E8A-4147-A177-3AD203B41FA5}">
                      <a16:colId xmlns:a16="http://schemas.microsoft.com/office/drawing/2014/main" val="20005"/>
                    </a:ext>
                  </a:extLst>
                </a:gridCol>
                <a:gridCol w="265430">
                  <a:extLst>
                    <a:ext uri="{9D8B030D-6E8A-4147-A177-3AD203B41FA5}">
                      <a16:colId xmlns:a16="http://schemas.microsoft.com/office/drawing/2014/main" val="20006"/>
                    </a:ext>
                  </a:extLst>
                </a:gridCol>
                <a:gridCol w="265430">
                  <a:extLst>
                    <a:ext uri="{9D8B030D-6E8A-4147-A177-3AD203B41FA5}">
                      <a16:colId xmlns:a16="http://schemas.microsoft.com/office/drawing/2014/main" val="20007"/>
                    </a:ext>
                  </a:extLst>
                </a:gridCol>
              </a:tblGrid>
              <a:tr h="280035">
                <a:tc>
                  <a:txBody>
                    <a:bodyPr/>
                    <a:lstStyle/>
                    <a:p>
                      <a:endParaRPr lang="en-US" sz="1050" dirty="0"/>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solidFill>
                      <a:schemeClr val="tx1"/>
                    </a:solidFill>
                  </a:tcPr>
                </a:tc>
                <a:tc>
                  <a:txBody>
                    <a:bodyPr/>
                    <a:lstStyle/>
                    <a:p>
                      <a:endParaRPr lang="en-US" sz="1050" dirty="0"/>
                    </a:p>
                  </a:txBody>
                  <a:tcPr/>
                </a:tc>
                <a:tc>
                  <a:txBody>
                    <a:bodyPr/>
                    <a:lstStyle/>
                    <a:p>
                      <a:endParaRPr lang="en-US" sz="1050" dirty="0"/>
                    </a:p>
                  </a:txBody>
                  <a:tcPr/>
                </a:tc>
                <a:tc>
                  <a:txBody>
                    <a:bodyPr/>
                    <a:lstStyle/>
                    <a:p>
                      <a:endParaRPr lang="en-US" sz="1050" dirty="0"/>
                    </a:p>
                  </a:txBody>
                  <a:tcPr/>
                </a:tc>
                <a:extLst>
                  <a:ext uri="{0D108BD9-81ED-4DB2-BD59-A6C34878D82A}">
                    <a16:rowId xmlns:a16="http://schemas.microsoft.com/office/drawing/2014/main" val="10000"/>
                  </a:ext>
                </a:extLst>
              </a:tr>
              <a:tr h="280035">
                <a:tc>
                  <a:txBody>
                    <a:bodyPr/>
                    <a:lstStyle/>
                    <a:p>
                      <a:endParaRPr lang="en-US" sz="1050" dirty="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10001"/>
                  </a:ext>
                </a:extLst>
              </a:tr>
              <a:tr h="280035">
                <a:tc>
                  <a:txBody>
                    <a:bodyPr/>
                    <a:lstStyle/>
                    <a:p>
                      <a:r>
                        <a:rPr lang="en-US" sz="1050" dirty="0"/>
                        <a:t>Q</a:t>
                      </a:r>
                    </a:p>
                  </a:txBody>
                  <a:tcPr>
                    <a:solidFill>
                      <a:schemeClr val="tx1"/>
                    </a:solidFill>
                  </a:tcPr>
                </a:tc>
                <a:tc>
                  <a:txBody>
                    <a:bodyPr/>
                    <a:lstStyle/>
                    <a:p>
                      <a:endParaRPr lang="en-US" sz="1050" dirty="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solidFill>
                      <a:schemeClr val="tx1"/>
                    </a:solidFill>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10002"/>
                  </a:ext>
                </a:extLst>
              </a:tr>
              <a:tr h="280035">
                <a:tc>
                  <a:txBody>
                    <a:bodyPr/>
                    <a:lstStyle/>
                    <a:p>
                      <a:endParaRPr lang="en-US" sz="1050"/>
                    </a:p>
                  </a:txBody>
                  <a:tcPr/>
                </a:tc>
                <a:tc>
                  <a:txBody>
                    <a:bodyPr/>
                    <a:lstStyle/>
                    <a:p>
                      <a:endParaRPr lang="en-US" sz="1050" dirty="0"/>
                    </a:p>
                  </a:txBody>
                  <a:tcPr>
                    <a:solidFill>
                      <a:schemeClr val="tx1"/>
                    </a:solidFill>
                  </a:tcPr>
                </a:tc>
                <a:tc>
                  <a:txBody>
                    <a:bodyPr/>
                    <a:lstStyle/>
                    <a:p>
                      <a:endParaRPr lang="en-US" sz="1050" dirty="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10003"/>
                  </a:ext>
                </a:extLst>
              </a:tr>
              <a:tr h="280035">
                <a:tc>
                  <a:txBody>
                    <a:bodyPr/>
                    <a:lstStyle/>
                    <a:p>
                      <a:endParaRPr lang="en-US" sz="1050"/>
                    </a:p>
                  </a:txBody>
                  <a:tcPr/>
                </a:tc>
                <a:tc>
                  <a:txBody>
                    <a:bodyPr/>
                    <a:lstStyle/>
                    <a:p>
                      <a:endParaRPr lang="en-US" sz="1050"/>
                    </a:p>
                  </a:txBody>
                  <a:tcPr/>
                </a:tc>
                <a:tc>
                  <a:txBody>
                    <a:bodyPr/>
                    <a:lstStyle/>
                    <a:p>
                      <a:endParaRPr lang="en-US" sz="1050" dirty="0"/>
                    </a:p>
                  </a:txBody>
                  <a:tcPr>
                    <a:solidFill>
                      <a:schemeClr val="tx1"/>
                    </a:solidFill>
                  </a:tcPr>
                </a:tc>
                <a:tc>
                  <a:txBody>
                    <a:bodyPr/>
                    <a:lstStyle/>
                    <a:p>
                      <a:endParaRPr lang="en-US" sz="1050" dirty="0"/>
                    </a:p>
                  </a:txBody>
                  <a:tcPr/>
                </a:tc>
                <a:tc>
                  <a:txBody>
                    <a:bodyPr/>
                    <a:lstStyle/>
                    <a:p>
                      <a:endParaRPr lang="en-US" sz="1050"/>
                    </a:p>
                  </a:txBody>
                  <a:tcPr/>
                </a:tc>
                <a:tc>
                  <a:txBody>
                    <a:bodyPr/>
                    <a:lstStyle/>
                    <a:p>
                      <a:endParaRPr lang="en-US" sz="1050" dirty="0"/>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10004"/>
                  </a:ext>
                </a:extLst>
              </a:tr>
              <a:tr h="280035">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kern="1200" dirty="0">
                        <a:solidFill>
                          <a:schemeClr val="dk1"/>
                        </a:solidFill>
                        <a:latin typeface="+mn-lt"/>
                        <a:ea typeface="+mn-ea"/>
                        <a:cs typeface="+mn-cs"/>
                      </a:endParaRPr>
                    </a:p>
                  </a:txBody>
                  <a:tcPr>
                    <a:solidFill>
                      <a:schemeClr val="tx1"/>
                    </a:solidFill>
                  </a:tcPr>
                </a:tc>
                <a:tc>
                  <a:txBody>
                    <a:bodyPr/>
                    <a:lstStyle/>
                    <a:p>
                      <a:endParaRPr lang="en-US" sz="1050"/>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tc>
                <a:extLst>
                  <a:ext uri="{0D108BD9-81ED-4DB2-BD59-A6C34878D82A}">
                    <a16:rowId xmlns:a16="http://schemas.microsoft.com/office/drawing/2014/main" val="10005"/>
                  </a:ext>
                </a:extLst>
              </a:tr>
              <a:tr h="280035">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a:p>
                  </a:txBody>
                  <a:tcPr/>
                </a:tc>
                <a:tc>
                  <a:txBody>
                    <a:bodyPr/>
                    <a:lstStyle/>
                    <a:p>
                      <a:endParaRPr lang="en-US" sz="1050" dirty="0"/>
                    </a:p>
                  </a:txBody>
                  <a:tcPr/>
                </a:tc>
                <a:tc>
                  <a:txBody>
                    <a:bodyPr/>
                    <a:lstStyle/>
                    <a:p>
                      <a:endParaRPr lang="en-US" sz="1050"/>
                    </a:p>
                  </a:txBody>
                  <a:tcPr/>
                </a:tc>
                <a:tc>
                  <a:txBody>
                    <a:bodyPr/>
                    <a:lstStyle/>
                    <a:p>
                      <a:endParaRPr lang="en-US" sz="1050" dirty="0"/>
                    </a:p>
                  </a:txBody>
                  <a:tcPr>
                    <a:solidFill>
                      <a:schemeClr val="tx1"/>
                    </a:solidFill>
                  </a:tcPr>
                </a:tc>
                <a:extLst>
                  <a:ext uri="{0D108BD9-81ED-4DB2-BD59-A6C34878D82A}">
                    <a16:rowId xmlns:a16="http://schemas.microsoft.com/office/drawing/2014/main" val="10006"/>
                  </a:ext>
                </a:extLst>
              </a:tr>
              <a:tr h="280035">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dirty="0"/>
                    </a:p>
                  </a:txBody>
                  <a:tcPr>
                    <a:solidFill>
                      <a:schemeClr val="tx1"/>
                    </a:solidFill>
                  </a:tcPr>
                </a:tc>
                <a:tc>
                  <a:txBody>
                    <a:bodyPr/>
                    <a:lstStyle/>
                    <a:p>
                      <a:endParaRPr lang="en-US" sz="1050" dirty="0"/>
                    </a:p>
                  </a:txBody>
                  <a:tcPr/>
                </a:tc>
                <a:extLst>
                  <a:ext uri="{0D108BD9-81ED-4DB2-BD59-A6C34878D82A}">
                    <a16:rowId xmlns:a16="http://schemas.microsoft.com/office/drawing/2014/main" val="10007"/>
                  </a:ext>
                </a:extLst>
              </a:tr>
            </a:tbl>
          </a:graphicData>
        </a:graphic>
      </p:graphicFrame>
      <p:pic>
        <p:nvPicPr>
          <p:cNvPr id="5122" name="Picture 2" descr="http://mnemstudio.org/ai/ga/images/nqueens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5581" y="4374013"/>
            <a:ext cx="1982337" cy="1982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541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pPr>
              <a:lnSpc>
                <a:spcPct val="150000"/>
              </a:lnSpc>
              <a:spcBef>
                <a:spcPct val="50000"/>
              </a:spcBef>
              <a:spcAft>
                <a:spcPct val="50000"/>
              </a:spcAft>
            </a:pPr>
            <a:r>
              <a:rPr lang="en-US" altLang="en-US" dirty="0"/>
              <a:t>The 8 queens problem: </a:t>
            </a:r>
            <a:r>
              <a:rPr lang="en-US" altLang="en-US" sz="3200" dirty="0"/>
              <a:t>representation</a:t>
            </a:r>
          </a:p>
        </p:txBody>
      </p:sp>
      <p:sp>
        <p:nvSpPr>
          <p:cNvPr id="2" name="Content Placeholder 1"/>
          <p:cNvSpPr>
            <a:spLocks noGrp="1"/>
          </p:cNvSpPr>
          <p:nvPr>
            <p:ph idx="1"/>
          </p:nvPr>
        </p:nvSpPr>
        <p:spPr/>
        <p:txBody>
          <a:bodyPr/>
          <a:lstStyle/>
          <a:p>
            <a:endParaRPr lang="en-US" dirty="0"/>
          </a:p>
        </p:txBody>
      </p:sp>
      <p:grpSp>
        <p:nvGrpSpPr>
          <p:cNvPr id="128101" name="Group 101"/>
          <p:cNvGrpSpPr>
            <a:grpSpLocks/>
          </p:cNvGrpSpPr>
          <p:nvPr/>
        </p:nvGrpSpPr>
        <p:grpSpPr bwMode="auto">
          <a:xfrm>
            <a:off x="2082006" y="1690688"/>
            <a:ext cx="8027988" cy="4354513"/>
            <a:chOff x="240" y="1056"/>
            <a:chExt cx="5057" cy="2743"/>
          </a:xfrm>
        </p:grpSpPr>
        <p:grpSp>
          <p:nvGrpSpPr>
            <p:cNvPr id="128003" name="Group 3"/>
            <p:cNvGrpSpPr>
              <a:grpSpLocks/>
            </p:cNvGrpSpPr>
            <p:nvPr/>
          </p:nvGrpSpPr>
          <p:grpSpPr bwMode="auto">
            <a:xfrm>
              <a:off x="240" y="2928"/>
              <a:ext cx="4560" cy="871"/>
              <a:chOff x="864" y="3216"/>
              <a:chExt cx="4560" cy="871"/>
            </a:xfrm>
          </p:grpSpPr>
          <p:grpSp>
            <p:nvGrpSpPr>
              <p:cNvPr id="128004" name="Group 4"/>
              <p:cNvGrpSpPr>
                <a:grpSpLocks/>
              </p:cNvGrpSpPr>
              <p:nvPr/>
            </p:nvGrpSpPr>
            <p:grpSpPr bwMode="auto">
              <a:xfrm>
                <a:off x="3503" y="3744"/>
                <a:ext cx="1921" cy="328"/>
                <a:chOff x="431" y="1873"/>
                <a:chExt cx="1921" cy="328"/>
              </a:xfrm>
            </p:grpSpPr>
            <p:grpSp>
              <p:nvGrpSpPr>
                <p:cNvPr id="128005" name="Group 5"/>
                <p:cNvGrpSpPr>
                  <a:grpSpLocks/>
                </p:cNvGrpSpPr>
                <p:nvPr/>
              </p:nvGrpSpPr>
              <p:grpSpPr bwMode="auto">
                <a:xfrm>
                  <a:off x="432" y="1920"/>
                  <a:ext cx="1920" cy="240"/>
                  <a:chOff x="432" y="1920"/>
                  <a:chExt cx="1920" cy="240"/>
                </a:xfrm>
              </p:grpSpPr>
              <p:sp>
                <p:nvSpPr>
                  <p:cNvPr id="128006" name="Rectangle 6"/>
                  <p:cNvSpPr>
                    <a:spLocks noChangeArrowheads="1"/>
                  </p:cNvSpPr>
                  <p:nvPr/>
                </p:nvSpPr>
                <p:spPr bwMode="auto">
                  <a:xfrm>
                    <a:off x="211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7" name="Rectangle 7"/>
                  <p:cNvSpPr>
                    <a:spLocks noChangeArrowheads="1"/>
                  </p:cNvSpPr>
                  <p:nvPr/>
                </p:nvSpPr>
                <p:spPr bwMode="auto">
                  <a:xfrm>
                    <a:off x="43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8" name="Rectangle 8"/>
                  <p:cNvSpPr>
                    <a:spLocks noChangeArrowheads="1"/>
                  </p:cNvSpPr>
                  <p:nvPr/>
                </p:nvSpPr>
                <p:spPr bwMode="auto">
                  <a:xfrm>
                    <a:off x="67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9" name="Rectangle 9"/>
                  <p:cNvSpPr>
                    <a:spLocks noChangeArrowheads="1"/>
                  </p:cNvSpPr>
                  <p:nvPr/>
                </p:nvSpPr>
                <p:spPr bwMode="auto">
                  <a:xfrm>
                    <a:off x="91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10" name="Rectangle 10"/>
                  <p:cNvSpPr>
                    <a:spLocks noChangeArrowheads="1"/>
                  </p:cNvSpPr>
                  <p:nvPr/>
                </p:nvSpPr>
                <p:spPr bwMode="auto">
                  <a:xfrm>
                    <a:off x="115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11" name="Rectangle 11"/>
                  <p:cNvSpPr>
                    <a:spLocks noChangeArrowheads="1"/>
                  </p:cNvSpPr>
                  <p:nvPr/>
                </p:nvSpPr>
                <p:spPr bwMode="auto">
                  <a:xfrm>
                    <a:off x="139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12" name="Rectangle 12"/>
                  <p:cNvSpPr>
                    <a:spLocks noChangeArrowheads="1"/>
                  </p:cNvSpPr>
                  <p:nvPr/>
                </p:nvSpPr>
                <p:spPr bwMode="auto">
                  <a:xfrm>
                    <a:off x="163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13" name="Rectangle 13"/>
                  <p:cNvSpPr>
                    <a:spLocks noChangeArrowheads="1"/>
                  </p:cNvSpPr>
                  <p:nvPr/>
                </p:nvSpPr>
                <p:spPr bwMode="auto">
                  <a:xfrm>
                    <a:off x="1872" y="1920"/>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28014" name="Rectangle 14"/>
                <p:cNvSpPr>
                  <a:spLocks noChangeArrowheads="1"/>
                </p:cNvSpPr>
                <p:nvPr/>
              </p:nvSpPr>
              <p:spPr bwMode="auto">
                <a:xfrm>
                  <a:off x="43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28015" name="Rectangle 15"/>
                <p:cNvSpPr>
                  <a:spLocks noChangeArrowheads="1"/>
                </p:cNvSpPr>
                <p:nvPr/>
              </p:nvSpPr>
              <p:spPr bwMode="auto">
                <a:xfrm>
                  <a:off x="115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28016" name="Rectangle 16"/>
                <p:cNvSpPr>
                  <a:spLocks noChangeArrowheads="1"/>
                </p:cNvSpPr>
                <p:nvPr/>
              </p:nvSpPr>
              <p:spPr bwMode="auto">
                <a:xfrm>
                  <a:off x="67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28017" name="Rectangle 17"/>
                <p:cNvSpPr>
                  <a:spLocks noChangeArrowheads="1"/>
                </p:cNvSpPr>
                <p:nvPr/>
              </p:nvSpPr>
              <p:spPr bwMode="auto">
                <a:xfrm>
                  <a:off x="163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28018" name="Rectangle 18"/>
                <p:cNvSpPr>
                  <a:spLocks noChangeArrowheads="1"/>
                </p:cNvSpPr>
                <p:nvPr/>
              </p:nvSpPr>
              <p:spPr bwMode="auto">
                <a:xfrm>
                  <a:off x="91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sp>
              <p:nvSpPr>
                <p:cNvPr id="128019" name="Rectangle 19"/>
                <p:cNvSpPr>
                  <a:spLocks noChangeArrowheads="1"/>
                </p:cNvSpPr>
                <p:nvPr/>
              </p:nvSpPr>
              <p:spPr bwMode="auto">
                <a:xfrm>
                  <a:off x="139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sp>
              <p:nvSpPr>
                <p:cNvPr id="128020" name="Rectangle 20"/>
                <p:cNvSpPr>
                  <a:spLocks noChangeArrowheads="1"/>
                </p:cNvSpPr>
                <p:nvPr/>
              </p:nvSpPr>
              <p:spPr bwMode="auto">
                <a:xfrm>
                  <a:off x="187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28021" name="Rectangle 21"/>
                <p:cNvSpPr>
                  <a:spLocks noChangeArrowheads="1"/>
                </p:cNvSpPr>
                <p:nvPr/>
              </p:nvSpPr>
              <p:spPr bwMode="auto">
                <a:xfrm>
                  <a:off x="2111" y="1873"/>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grpSp>
          <p:sp>
            <p:nvSpPr>
              <p:cNvPr id="128022" name="Rectangle 22"/>
              <p:cNvSpPr>
                <a:spLocks noChangeArrowheads="1"/>
              </p:cNvSpPr>
              <p:nvPr/>
            </p:nvSpPr>
            <p:spPr bwMode="auto">
              <a:xfrm>
                <a:off x="864" y="3216"/>
                <a:ext cx="1891" cy="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800">
                    <a:solidFill>
                      <a:srgbClr val="009900"/>
                    </a:solidFill>
                    <a:latin typeface="Arial" charset="0"/>
                  </a:rPr>
                  <a:t>Genotype:</a:t>
                </a:r>
                <a:r>
                  <a:rPr lang="en-US" altLang="en-US" sz="2800">
                    <a:solidFill>
                      <a:schemeClr val="tx2"/>
                    </a:solidFill>
                    <a:latin typeface="Arial" charset="0"/>
                  </a:rPr>
                  <a:t> </a:t>
                </a:r>
              </a:p>
              <a:p>
                <a:pPr algn="l"/>
                <a:r>
                  <a:rPr lang="en-US" altLang="en-US" sz="2800">
                    <a:latin typeface="Arial" charset="0"/>
                  </a:rPr>
                  <a:t>a permutation of </a:t>
                </a:r>
              </a:p>
              <a:p>
                <a:pPr algn="l"/>
                <a:r>
                  <a:rPr lang="en-US" altLang="en-US" sz="2800">
                    <a:latin typeface="Arial" charset="0"/>
                  </a:rPr>
                  <a:t>the numbers 1 - 8</a:t>
                </a:r>
                <a:endParaRPr lang="en-US" altLang="en-US" sz="2800"/>
              </a:p>
            </p:txBody>
          </p:sp>
        </p:grpSp>
        <p:grpSp>
          <p:nvGrpSpPr>
            <p:cNvPr id="128023" name="Group 23"/>
            <p:cNvGrpSpPr>
              <a:grpSpLocks/>
            </p:cNvGrpSpPr>
            <p:nvPr/>
          </p:nvGrpSpPr>
          <p:grpSpPr bwMode="auto">
            <a:xfrm>
              <a:off x="240" y="1056"/>
              <a:ext cx="4560" cy="1920"/>
              <a:chOff x="864" y="1152"/>
              <a:chExt cx="4560" cy="1920"/>
            </a:xfrm>
          </p:grpSpPr>
          <p:sp>
            <p:nvSpPr>
              <p:cNvPr id="128024" name="Rectangle 24"/>
              <p:cNvSpPr>
                <a:spLocks noChangeArrowheads="1"/>
              </p:cNvSpPr>
              <p:nvPr/>
            </p:nvSpPr>
            <p:spPr bwMode="auto">
              <a:xfrm>
                <a:off x="864" y="1776"/>
                <a:ext cx="2308" cy="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2800" dirty="0">
                    <a:solidFill>
                      <a:srgbClr val="009900"/>
                    </a:solidFill>
                    <a:latin typeface="Arial" charset="0"/>
                  </a:rPr>
                  <a:t>Phenotype:</a:t>
                </a:r>
                <a:r>
                  <a:rPr lang="en-US" altLang="en-US" sz="2800" dirty="0">
                    <a:solidFill>
                      <a:schemeClr val="tx2"/>
                    </a:solidFill>
                    <a:latin typeface="Arial" charset="0"/>
                  </a:rPr>
                  <a:t> </a:t>
                </a:r>
              </a:p>
              <a:p>
                <a:pPr algn="l"/>
                <a:r>
                  <a:rPr lang="en-US" altLang="en-US" sz="2800" dirty="0">
                    <a:latin typeface="Arial" charset="0"/>
                  </a:rPr>
                  <a:t>a board configuration</a:t>
                </a:r>
                <a:r>
                  <a:rPr lang="en-US" altLang="en-US" sz="2800" dirty="0">
                    <a:solidFill>
                      <a:schemeClr val="tx2"/>
                    </a:solidFill>
                    <a:latin typeface="Arial" charset="0"/>
                  </a:rPr>
                  <a:t> </a:t>
                </a:r>
                <a:endParaRPr lang="en-US" altLang="en-US" sz="2800" dirty="0">
                  <a:solidFill>
                    <a:schemeClr val="tx2"/>
                  </a:solidFill>
                </a:endParaRPr>
              </a:p>
            </p:txBody>
          </p:sp>
          <p:grpSp>
            <p:nvGrpSpPr>
              <p:cNvPr id="128025" name="Group 25"/>
              <p:cNvGrpSpPr>
                <a:grpSpLocks/>
              </p:cNvGrpSpPr>
              <p:nvPr/>
            </p:nvGrpSpPr>
            <p:grpSpPr bwMode="auto">
              <a:xfrm>
                <a:off x="3504" y="1152"/>
                <a:ext cx="1920" cy="1920"/>
                <a:chOff x="3524" y="1516"/>
                <a:chExt cx="1920" cy="1920"/>
              </a:xfrm>
            </p:grpSpPr>
            <p:sp>
              <p:nvSpPr>
                <p:cNvPr id="128026" name="Rectangle 26"/>
                <p:cNvSpPr>
                  <a:spLocks noChangeArrowheads="1"/>
                </p:cNvSpPr>
                <p:nvPr/>
              </p:nvSpPr>
              <p:spPr bwMode="auto">
                <a:xfrm>
                  <a:off x="352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27" name="Rectangle 27"/>
                <p:cNvSpPr>
                  <a:spLocks noChangeArrowheads="1"/>
                </p:cNvSpPr>
                <p:nvPr/>
              </p:nvSpPr>
              <p:spPr bwMode="auto">
                <a:xfrm>
                  <a:off x="376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28" name="Rectangle 28"/>
                <p:cNvSpPr>
                  <a:spLocks noChangeArrowheads="1"/>
                </p:cNvSpPr>
                <p:nvPr/>
              </p:nvSpPr>
              <p:spPr bwMode="auto">
                <a:xfrm>
                  <a:off x="352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29" name="Rectangle 29"/>
                <p:cNvSpPr>
                  <a:spLocks noChangeArrowheads="1"/>
                </p:cNvSpPr>
                <p:nvPr/>
              </p:nvSpPr>
              <p:spPr bwMode="auto">
                <a:xfrm>
                  <a:off x="376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0" name="Rectangle 30"/>
                <p:cNvSpPr>
                  <a:spLocks noChangeArrowheads="1"/>
                </p:cNvSpPr>
                <p:nvPr/>
              </p:nvSpPr>
              <p:spPr bwMode="auto">
                <a:xfrm>
                  <a:off x="400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1" name="Rectangle 31"/>
                <p:cNvSpPr>
                  <a:spLocks noChangeArrowheads="1"/>
                </p:cNvSpPr>
                <p:nvPr/>
              </p:nvSpPr>
              <p:spPr bwMode="auto">
                <a:xfrm>
                  <a:off x="424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2" name="Rectangle 32"/>
                <p:cNvSpPr>
                  <a:spLocks noChangeArrowheads="1"/>
                </p:cNvSpPr>
                <p:nvPr/>
              </p:nvSpPr>
              <p:spPr bwMode="auto">
                <a:xfrm>
                  <a:off x="400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3" name="Rectangle 33"/>
                <p:cNvSpPr>
                  <a:spLocks noChangeArrowheads="1"/>
                </p:cNvSpPr>
                <p:nvPr/>
              </p:nvSpPr>
              <p:spPr bwMode="auto">
                <a:xfrm>
                  <a:off x="424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4" name="Rectangle 34"/>
                <p:cNvSpPr>
                  <a:spLocks noChangeArrowheads="1"/>
                </p:cNvSpPr>
                <p:nvPr/>
              </p:nvSpPr>
              <p:spPr bwMode="auto">
                <a:xfrm>
                  <a:off x="352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5" name="Rectangle 35"/>
                <p:cNvSpPr>
                  <a:spLocks noChangeArrowheads="1"/>
                </p:cNvSpPr>
                <p:nvPr/>
              </p:nvSpPr>
              <p:spPr bwMode="auto">
                <a:xfrm>
                  <a:off x="376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6" name="Rectangle 36"/>
                <p:cNvSpPr>
                  <a:spLocks noChangeArrowheads="1"/>
                </p:cNvSpPr>
                <p:nvPr/>
              </p:nvSpPr>
              <p:spPr bwMode="auto">
                <a:xfrm>
                  <a:off x="352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7" name="Rectangle 37"/>
                <p:cNvSpPr>
                  <a:spLocks noChangeArrowheads="1"/>
                </p:cNvSpPr>
                <p:nvPr/>
              </p:nvSpPr>
              <p:spPr bwMode="auto">
                <a:xfrm>
                  <a:off x="376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8" name="Rectangle 38"/>
                <p:cNvSpPr>
                  <a:spLocks noChangeArrowheads="1"/>
                </p:cNvSpPr>
                <p:nvPr/>
              </p:nvSpPr>
              <p:spPr bwMode="auto">
                <a:xfrm>
                  <a:off x="400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39" name="Rectangle 39"/>
                <p:cNvSpPr>
                  <a:spLocks noChangeArrowheads="1"/>
                </p:cNvSpPr>
                <p:nvPr/>
              </p:nvSpPr>
              <p:spPr bwMode="auto">
                <a:xfrm>
                  <a:off x="424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0" name="Rectangle 40"/>
                <p:cNvSpPr>
                  <a:spLocks noChangeArrowheads="1"/>
                </p:cNvSpPr>
                <p:nvPr/>
              </p:nvSpPr>
              <p:spPr bwMode="auto">
                <a:xfrm>
                  <a:off x="400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1" name="Rectangle 41"/>
                <p:cNvSpPr>
                  <a:spLocks noChangeArrowheads="1"/>
                </p:cNvSpPr>
                <p:nvPr/>
              </p:nvSpPr>
              <p:spPr bwMode="auto">
                <a:xfrm>
                  <a:off x="424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2" name="Rectangle 42"/>
                <p:cNvSpPr>
                  <a:spLocks noChangeArrowheads="1"/>
                </p:cNvSpPr>
                <p:nvPr/>
              </p:nvSpPr>
              <p:spPr bwMode="auto">
                <a:xfrm>
                  <a:off x="448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3" name="Rectangle 43"/>
                <p:cNvSpPr>
                  <a:spLocks noChangeArrowheads="1"/>
                </p:cNvSpPr>
                <p:nvPr/>
              </p:nvSpPr>
              <p:spPr bwMode="auto">
                <a:xfrm>
                  <a:off x="472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4" name="Rectangle 44"/>
                <p:cNvSpPr>
                  <a:spLocks noChangeArrowheads="1"/>
                </p:cNvSpPr>
                <p:nvPr/>
              </p:nvSpPr>
              <p:spPr bwMode="auto">
                <a:xfrm>
                  <a:off x="448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5" name="Rectangle 45"/>
                <p:cNvSpPr>
                  <a:spLocks noChangeArrowheads="1"/>
                </p:cNvSpPr>
                <p:nvPr/>
              </p:nvSpPr>
              <p:spPr bwMode="auto">
                <a:xfrm>
                  <a:off x="472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6" name="Rectangle 46"/>
                <p:cNvSpPr>
                  <a:spLocks noChangeArrowheads="1"/>
                </p:cNvSpPr>
                <p:nvPr/>
              </p:nvSpPr>
              <p:spPr bwMode="auto">
                <a:xfrm>
                  <a:off x="496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7" name="Rectangle 47"/>
                <p:cNvSpPr>
                  <a:spLocks noChangeArrowheads="1"/>
                </p:cNvSpPr>
                <p:nvPr/>
              </p:nvSpPr>
              <p:spPr bwMode="auto">
                <a:xfrm>
                  <a:off x="5204" y="15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8" name="Rectangle 48"/>
                <p:cNvSpPr>
                  <a:spLocks noChangeArrowheads="1"/>
                </p:cNvSpPr>
                <p:nvPr/>
              </p:nvSpPr>
              <p:spPr bwMode="auto">
                <a:xfrm>
                  <a:off x="496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49" name="Rectangle 49"/>
                <p:cNvSpPr>
                  <a:spLocks noChangeArrowheads="1"/>
                </p:cNvSpPr>
                <p:nvPr/>
              </p:nvSpPr>
              <p:spPr bwMode="auto">
                <a:xfrm>
                  <a:off x="5204" y="17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0" name="Rectangle 50"/>
                <p:cNvSpPr>
                  <a:spLocks noChangeArrowheads="1"/>
                </p:cNvSpPr>
                <p:nvPr/>
              </p:nvSpPr>
              <p:spPr bwMode="auto">
                <a:xfrm>
                  <a:off x="448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1" name="Rectangle 51"/>
                <p:cNvSpPr>
                  <a:spLocks noChangeArrowheads="1"/>
                </p:cNvSpPr>
                <p:nvPr/>
              </p:nvSpPr>
              <p:spPr bwMode="auto">
                <a:xfrm>
                  <a:off x="472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2" name="Rectangle 52"/>
                <p:cNvSpPr>
                  <a:spLocks noChangeArrowheads="1"/>
                </p:cNvSpPr>
                <p:nvPr/>
              </p:nvSpPr>
              <p:spPr bwMode="auto">
                <a:xfrm>
                  <a:off x="448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3" name="Rectangle 53"/>
                <p:cNvSpPr>
                  <a:spLocks noChangeArrowheads="1"/>
                </p:cNvSpPr>
                <p:nvPr/>
              </p:nvSpPr>
              <p:spPr bwMode="auto">
                <a:xfrm>
                  <a:off x="472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4" name="Rectangle 54"/>
                <p:cNvSpPr>
                  <a:spLocks noChangeArrowheads="1"/>
                </p:cNvSpPr>
                <p:nvPr/>
              </p:nvSpPr>
              <p:spPr bwMode="auto">
                <a:xfrm>
                  <a:off x="496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5" name="Rectangle 55"/>
                <p:cNvSpPr>
                  <a:spLocks noChangeArrowheads="1"/>
                </p:cNvSpPr>
                <p:nvPr/>
              </p:nvSpPr>
              <p:spPr bwMode="auto">
                <a:xfrm>
                  <a:off x="5204" y="19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6" name="Rectangle 56"/>
                <p:cNvSpPr>
                  <a:spLocks noChangeArrowheads="1"/>
                </p:cNvSpPr>
                <p:nvPr/>
              </p:nvSpPr>
              <p:spPr bwMode="auto">
                <a:xfrm>
                  <a:off x="496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7" name="Rectangle 57"/>
                <p:cNvSpPr>
                  <a:spLocks noChangeArrowheads="1"/>
                </p:cNvSpPr>
                <p:nvPr/>
              </p:nvSpPr>
              <p:spPr bwMode="auto">
                <a:xfrm>
                  <a:off x="5204" y="223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8" name="Rectangle 58"/>
                <p:cNvSpPr>
                  <a:spLocks noChangeArrowheads="1"/>
                </p:cNvSpPr>
                <p:nvPr/>
              </p:nvSpPr>
              <p:spPr bwMode="auto">
                <a:xfrm>
                  <a:off x="352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59" name="Rectangle 59"/>
                <p:cNvSpPr>
                  <a:spLocks noChangeArrowheads="1"/>
                </p:cNvSpPr>
                <p:nvPr/>
              </p:nvSpPr>
              <p:spPr bwMode="auto">
                <a:xfrm>
                  <a:off x="376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0" name="Rectangle 60"/>
                <p:cNvSpPr>
                  <a:spLocks noChangeArrowheads="1"/>
                </p:cNvSpPr>
                <p:nvPr/>
              </p:nvSpPr>
              <p:spPr bwMode="auto">
                <a:xfrm>
                  <a:off x="352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1" name="Rectangle 61"/>
                <p:cNvSpPr>
                  <a:spLocks noChangeArrowheads="1"/>
                </p:cNvSpPr>
                <p:nvPr/>
              </p:nvSpPr>
              <p:spPr bwMode="auto">
                <a:xfrm>
                  <a:off x="376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2" name="Rectangle 62"/>
                <p:cNvSpPr>
                  <a:spLocks noChangeArrowheads="1"/>
                </p:cNvSpPr>
                <p:nvPr/>
              </p:nvSpPr>
              <p:spPr bwMode="auto">
                <a:xfrm>
                  <a:off x="400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3" name="Rectangle 63"/>
                <p:cNvSpPr>
                  <a:spLocks noChangeArrowheads="1"/>
                </p:cNvSpPr>
                <p:nvPr/>
              </p:nvSpPr>
              <p:spPr bwMode="auto">
                <a:xfrm>
                  <a:off x="424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4" name="Rectangle 64"/>
                <p:cNvSpPr>
                  <a:spLocks noChangeArrowheads="1"/>
                </p:cNvSpPr>
                <p:nvPr/>
              </p:nvSpPr>
              <p:spPr bwMode="auto">
                <a:xfrm>
                  <a:off x="400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5" name="Rectangle 65"/>
                <p:cNvSpPr>
                  <a:spLocks noChangeArrowheads="1"/>
                </p:cNvSpPr>
                <p:nvPr/>
              </p:nvSpPr>
              <p:spPr bwMode="auto">
                <a:xfrm>
                  <a:off x="424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6" name="Rectangle 66"/>
                <p:cNvSpPr>
                  <a:spLocks noChangeArrowheads="1"/>
                </p:cNvSpPr>
                <p:nvPr/>
              </p:nvSpPr>
              <p:spPr bwMode="auto">
                <a:xfrm>
                  <a:off x="352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7" name="Rectangle 67"/>
                <p:cNvSpPr>
                  <a:spLocks noChangeArrowheads="1"/>
                </p:cNvSpPr>
                <p:nvPr/>
              </p:nvSpPr>
              <p:spPr bwMode="auto">
                <a:xfrm>
                  <a:off x="376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8" name="Rectangle 68"/>
                <p:cNvSpPr>
                  <a:spLocks noChangeArrowheads="1"/>
                </p:cNvSpPr>
                <p:nvPr/>
              </p:nvSpPr>
              <p:spPr bwMode="auto">
                <a:xfrm>
                  <a:off x="352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69" name="Rectangle 69"/>
                <p:cNvSpPr>
                  <a:spLocks noChangeArrowheads="1"/>
                </p:cNvSpPr>
                <p:nvPr/>
              </p:nvSpPr>
              <p:spPr bwMode="auto">
                <a:xfrm>
                  <a:off x="376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0" name="Rectangle 70"/>
                <p:cNvSpPr>
                  <a:spLocks noChangeArrowheads="1"/>
                </p:cNvSpPr>
                <p:nvPr/>
              </p:nvSpPr>
              <p:spPr bwMode="auto">
                <a:xfrm>
                  <a:off x="400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1" name="Rectangle 71"/>
                <p:cNvSpPr>
                  <a:spLocks noChangeArrowheads="1"/>
                </p:cNvSpPr>
                <p:nvPr/>
              </p:nvSpPr>
              <p:spPr bwMode="auto">
                <a:xfrm>
                  <a:off x="424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2" name="Rectangle 72"/>
                <p:cNvSpPr>
                  <a:spLocks noChangeArrowheads="1"/>
                </p:cNvSpPr>
                <p:nvPr/>
              </p:nvSpPr>
              <p:spPr bwMode="auto">
                <a:xfrm>
                  <a:off x="400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3" name="Rectangle 73"/>
                <p:cNvSpPr>
                  <a:spLocks noChangeArrowheads="1"/>
                </p:cNvSpPr>
                <p:nvPr/>
              </p:nvSpPr>
              <p:spPr bwMode="auto">
                <a:xfrm>
                  <a:off x="424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4" name="Rectangle 74"/>
                <p:cNvSpPr>
                  <a:spLocks noChangeArrowheads="1"/>
                </p:cNvSpPr>
                <p:nvPr/>
              </p:nvSpPr>
              <p:spPr bwMode="auto">
                <a:xfrm>
                  <a:off x="448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5" name="Rectangle 75"/>
                <p:cNvSpPr>
                  <a:spLocks noChangeArrowheads="1"/>
                </p:cNvSpPr>
                <p:nvPr/>
              </p:nvSpPr>
              <p:spPr bwMode="auto">
                <a:xfrm>
                  <a:off x="472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6" name="Rectangle 76"/>
                <p:cNvSpPr>
                  <a:spLocks noChangeArrowheads="1"/>
                </p:cNvSpPr>
                <p:nvPr/>
              </p:nvSpPr>
              <p:spPr bwMode="auto">
                <a:xfrm>
                  <a:off x="448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7" name="Rectangle 77"/>
                <p:cNvSpPr>
                  <a:spLocks noChangeArrowheads="1"/>
                </p:cNvSpPr>
                <p:nvPr/>
              </p:nvSpPr>
              <p:spPr bwMode="auto">
                <a:xfrm>
                  <a:off x="472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8" name="Rectangle 78"/>
                <p:cNvSpPr>
                  <a:spLocks noChangeArrowheads="1"/>
                </p:cNvSpPr>
                <p:nvPr/>
              </p:nvSpPr>
              <p:spPr bwMode="auto">
                <a:xfrm>
                  <a:off x="496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79" name="Rectangle 79"/>
                <p:cNvSpPr>
                  <a:spLocks noChangeArrowheads="1"/>
                </p:cNvSpPr>
                <p:nvPr/>
              </p:nvSpPr>
              <p:spPr bwMode="auto">
                <a:xfrm>
                  <a:off x="5204" y="247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0" name="Rectangle 80"/>
                <p:cNvSpPr>
                  <a:spLocks noChangeArrowheads="1"/>
                </p:cNvSpPr>
                <p:nvPr/>
              </p:nvSpPr>
              <p:spPr bwMode="auto">
                <a:xfrm>
                  <a:off x="496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1" name="Rectangle 81"/>
                <p:cNvSpPr>
                  <a:spLocks noChangeArrowheads="1"/>
                </p:cNvSpPr>
                <p:nvPr/>
              </p:nvSpPr>
              <p:spPr bwMode="auto">
                <a:xfrm>
                  <a:off x="5204" y="271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2" name="Rectangle 82"/>
                <p:cNvSpPr>
                  <a:spLocks noChangeArrowheads="1"/>
                </p:cNvSpPr>
                <p:nvPr/>
              </p:nvSpPr>
              <p:spPr bwMode="auto">
                <a:xfrm>
                  <a:off x="448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3" name="Rectangle 83"/>
                <p:cNvSpPr>
                  <a:spLocks noChangeArrowheads="1"/>
                </p:cNvSpPr>
                <p:nvPr/>
              </p:nvSpPr>
              <p:spPr bwMode="auto">
                <a:xfrm>
                  <a:off x="472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4" name="Rectangle 84"/>
                <p:cNvSpPr>
                  <a:spLocks noChangeArrowheads="1"/>
                </p:cNvSpPr>
                <p:nvPr/>
              </p:nvSpPr>
              <p:spPr bwMode="auto">
                <a:xfrm>
                  <a:off x="448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5" name="Rectangle 85"/>
                <p:cNvSpPr>
                  <a:spLocks noChangeArrowheads="1"/>
                </p:cNvSpPr>
                <p:nvPr/>
              </p:nvSpPr>
              <p:spPr bwMode="auto">
                <a:xfrm>
                  <a:off x="472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6" name="Rectangle 86"/>
                <p:cNvSpPr>
                  <a:spLocks noChangeArrowheads="1"/>
                </p:cNvSpPr>
                <p:nvPr/>
              </p:nvSpPr>
              <p:spPr bwMode="auto">
                <a:xfrm>
                  <a:off x="496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7" name="Rectangle 87"/>
                <p:cNvSpPr>
                  <a:spLocks noChangeArrowheads="1"/>
                </p:cNvSpPr>
                <p:nvPr/>
              </p:nvSpPr>
              <p:spPr bwMode="auto">
                <a:xfrm>
                  <a:off x="5204" y="295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8" name="Rectangle 88"/>
                <p:cNvSpPr>
                  <a:spLocks noChangeArrowheads="1"/>
                </p:cNvSpPr>
                <p:nvPr/>
              </p:nvSpPr>
              <p:spPr bwMode="auto">
                <a:xfrm>
                  <a:off x="496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89" name="Rectangle 89"/>
                <p:cNvSpPr>
                  <a:spLocks noChangeArrowheads="1"/>
                </p:cNvSpPr>
                <p:nvPr/>
              </p:nvSpPr>
              <p:spPr bwMode="auto">
                <a:xfrm>
                  <a:off x="5204" y="319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0" name="Oval 90"/>
                <p:cNvSpPr>
                  <a:spLocks noChangeArrowheads="1"/>
                </p:cNvSpPr>
                <p:nvPr/>
              </p:nvSpPr>
              <p:spPr bwMode="auto">
                <a:xfrm>
                  <a:off x="4507" y="2742"/>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1" name="Oval 91"/>
                <p:cNvSpPr>
                  <a:spLocks noChangeArrowheads="1"/>
                </p:cNvSpPr>
                <p:nvPr/>
              </p:nvSpPr>
              <p:spPr bwMode="auto">
                <a:xfrm>
                  <a:off x="3544" y="1544"/>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2" name="Oval 92"/>
                <p:cNvSpPr>
                  <a:spLocks noChangeArrowheads="1"/>
                </p:cNvSpPr>
                <p:nvPr/>
              </p:nvSpPr>
              <p:spPr bwMode="auto">
                <a:xfrm>
                  <a:off x="3796" y="2014"/>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3" name="Oval 93"/>
                <p:cNvSpPr>
                  <a:spLocks noChangeArrowheads="1"/>
                </p:cNvSpPr>
                <p:nvPr/>
              </p:nvSpPr>
              <p:spPr bwMode="auto">
                <a:xfrm>
                  <a:off x="4029" y="2505"/>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4" name="Oval 94"/>
                <p:cNvSpPr>
                  <a:spLocks noChangeArrowheads="1"/>
                </p:cNvSpPr>
                <p:nvPr/>
              </p:nvSpPr>
              <p:spPr bwMode="auto">
                <a:xfrm>
                  <a:off x="4272" y="1780"/>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5" name="Oval 95"/>
                <p:cNvSpPr>
                  <a:spLocks noChangeArrowheads="1"/>
                </p:cNvSpPr>
                <p:nvPr/>
              </p:nvSpPr>
              <p:spPr bwMode="auto">
                <a:xfrm>
                  <a:off x="5230" y="3221"/>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6" name="Oval 96"/>
                <p:cNvSpPr>
                  <a:spLocks noChangeArrowheads="1"/>
                </p:cNvSpPr>
                <p:nvPr/>
              </p:nvSpPr>
              <p:spPr bwMode="auto">
                <a:xfrm>
                  <a:off x="4988" y="2981"/>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97" name="Oval 97"/>
                <p:cNvSpPr>
                  <a:spLocks noChangeArrowheads="1"/>
                </p:cNvSpPr>
                <p:nvPr/>
              </p:nvSpPr>
              <p:spPr bwMode="auto">
                <a:xfrm>
                  <a:off x="4756" y="2262"/>
                  <a:ext cx="192" cy="19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28098" name="Group 98"/>
            <p:cNvGrpSpPr>
              <a:grpSpLocks/>
            </p:cNvGrpSpPr>
            <p:nvPr/>
          </p:nvGrpSpPr>
          <p:grpSpPr bwMode="auto">
            <a:xfrm>
              <a:off x="3792" y="2976"/>
              <a:ext cx="1505" cy="432"/>
              <a:chOff x="3792" y="2976"/>
              <a:chExt cx="1505" cy="432"/>
            </a:xfrm>
          </p:grpSpPr>
          <p:sp>
            <p:nvSpPr>
              <p:cNvPr id="128099" name="Line 99"/>
              <p:cNvSpPr>
                <a:spLocks noChangeShapeType="1"/>
              </p:cNvSpPr>
              <p:nvPr/>
            </p:nvSpPr>
            <p:spPr bwMode="auto">
              <a:xfrm rot="5400000">
                <a:off x="3577" y="3191"/>
                <a:ext cx="432" cy="1"/>
              </a:xfrm>
              <a:prstGeom prst="line">
                <a:avLst/>
              </a:prstGeom>
              <a:noFill/>
              <a:ln w="5080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100" name="Text Box 100"/>
              <p:cNvSpPr txBox="1">
                <a:spLocks noChangeArrowheads="1"/>
              </p:cNvSpPr>
              <p:nvPr/>
            </p:nvSpPr>
            <p:spPr bwMode="auto">
              <a:xfrm>
                <a:off x="3936" y="3072"/>
                <a:ext cx="13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sz="2000">
                    <a:solidFill>
                      <a:schemeClr val="tx2"/>
                    </a:solidFill>
                    <a:latin typeface="Arial" charset="0"/>
                  </a:rPr>
                  <a:t>Obvious mapping</a:t>
                </a:r>
              </a:p>
            </p:txBody>
          </p:sp>
        </p:grpSp>
      </p:grpSp>
    </p:spTree>
    <p:extLst>
      <p:ext uri="{BB962C8B-B14F-4D97-AF65-F5344CB8AC3E}">
        <p14:creationId xmlns:p14="http://schemas.microsoft.com/office/powerpoint/2010/main" val="285100573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2362200" y="2286001"/>
            <a:ext cx="792480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a:buFontTx/>
              <a:buChar char="•"/>
            </a:pPr>
            <a:endParaRPr lang="en-US" altLang="en-US" sz="2800" dirty="0">
              <a:latin typeface="Arial" charset="0"/>
            </a:endParaRPr>
          </a:p>
        </p:txBody>
      </p:sp>
      <p:sp>
        <p:nvSpPr>
          <p:cNvPr id="6" name="Title 5"/>
          <p:cNvSpPr>
            <a:spLocks noGrp="1"/>
          </p:cNvSpPr>
          <p:nvPr>
            <p:ph type="title"/>
          </p:nvPr>
        </p:nvSpPr>
        <p:spPr/>
        <p:txBody>
          <a:bodyPr>
            <a:normAutofit/>
          </a:bodyPr>
          <a:lstStyle/>
          <a:p>
            <a:r>
              <a:rPr lang="en-US" altLang="en-US" dirty="0"/>
              <a:t>8 Queens Problem: Fitness evaluation</a:t>
            </a:r>
            <a:endParaRPr lang="en-US" dirty="0"/>
          </a:p>
        </p:txBody>
      </p:sp>
      <p:sp>
        <p:nvSpPr>
          <p:cNvPr id="7" name="Content Placeholder 6"/>
          <p:cNvSpPr>
            <a:spLocks noGrp="1"/>
          </p:cNvSpPr>
          <p:nvPr>
            <p:ph idx="1"/>
          </p:nvPr>
        </p:nvSpPr>
        <p:spPr/>
        <p:txBody>
          <a:bodyPr>
            <a:normAutofit fontScale="92500" lnSpcReduction="10000"/>
          </a:bodyPr>
          <a:lstStyle/>
          <a:p>
            <a:pPr>
              <a:buFontTx/>
              <a:buChar char="•"/>
            </a:pPr>
            <a:r>
              <a:rPr lang="en-US" altLang="en-US" dirty="0">
                <a:latin typeface="Arial" charset="0"/>
              </a:rPr>
              <a:t> Penalty of one queen:</a:t>
            </a:r>
          </a:p>
          <a:p>
            <a:pPr lvl="1"/>
            <a:r>
              <a:rPr lang="en-US" altLang="en-US" dirty="0">
                <a:latin typeface="Arial" charset="0"/>
              </a:rPr>
              <a:t>the number of queens she can check.</a:t>
            </a:r>
          </a:p>
          <a:p>
            <a:endParaRPr lang="en-US" altLang="en-US" dirty="0">
              <a:latin typeface="Arial" charset="0"/>
            </a:endParaRPr>
          </a:p>
          <a:p>
            <a:pPr>
              <a:buFontTx/>
              <a:buChar char="•"/>
            </a:pPr>
            <a:r>
              <a:rPr lang="en-US" altLang="en-US" dirty="0">
                <a:latin typeface="Arial" charset="0"/>
              </a:rPr>
              <a:t>  Penalty of a configuration: </a:t>
            </a:r>
          </a:p>
          <a:p>
            <a:pPr lvl="1"/>
            <a:r>
              <a:rPr lang="en-US" altLang="en-US" dirty="0">
                <a:latin typeface="Arial" charset="0"/>
              </a:rPr>
              <a:t>the sum of the penalties of all queens.</a:t>
            </a:r>
          </a:p>
          <a:p>
            <a:endParaRPr lang="en-US" altLang="en-US" dirty="0">
              <a:latin typeface="Arial" charset="0"/>
            </a:endParaRPr>
          </a:p>
          <a:p>
            <a:pPr>
              <a:buFontTx/>
              <a:buChar char="•"/>
            </a:pPr>
            <a:r>
              <a:rPr lang="en-US" altLang="en-US" dirty="0">
                <a:latin typeface="Arial" charset="0"/>
              </a:rPr>
              <a:t>  Note: penalty is to be minimized</a:t>
            </a:r>
          </a:p>
          <a:p>
            <a:endParaRPr lang="en-US" altLang="en-US" dirty="0">
              <a:latin typeface="Arial" charset="0"/>
            </a:endParaRPr>
          </a:p>
          <a:p>
            <a:pPr>
              <a:buFontTx/>
              <a:buChar char="•"/>
            </a:pPr>
            <a:r>
              <a:rPr lang="en-US" altLang="en-US" dirty="0">
                <a:latin typeface="Arial" charset="0"/>
              </a:rPr>
              <a:t>  Fitness of a configuration: </a:t>
            </a:r>
          </a:p>
          <a:p>
            <a:pPr lvl="1"/>
            <a:r>
              <a:rPr lang="en-US" altLang="en-US" dirty="0">
                <a:latin typeface="Arial" charset="0"/>
              </a:rPr>
              <a:t>inverse penalty to be maximized</a:t>
            </a:r>
            <a:endParaRPr lang="en-US" dirty="0"/>
          </a:p>
        </p:txBody>
      </p:sp>
    </p:spTree>
    <p:extLst>
      <p:ext uri="{BB962C8B-B14F-4D97-AF65-F5344CB8AC3E}">
        <p14:creationId xmlns:p14="http://schemas.microsoft.com/office/powerpoint/2010/main" val="147872278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8-Queens Problem</a:t>
            </a:r>
          </a:p>
        </p:txBody>
      </p:sp>
      <p:sp>
        <p:nvSpPr>
          <p:cNvPr id="4" name="Slide Number Placeholder 3"/>
          <p:cNvSpPr>
            <a:spLocks noGrp="1"/>
          </p:cNvSpPr>
          <p:nvPr>
            <p:ph type="sldNum" sz="quarter" idx="12"/>
          </p:nvPr>
        </p:nvSpPr>
        <p:spPr/>
        <p:txBody>
          <a:bodyPr/>
          <a:lstStyle/>
          <a:p>
            <a:fld id="{FDFCE4C1-E6A0-4AA9-9965-F1CD6F0FDCC0}" type="slidenum">
              <a:rPr lang="en-US" smtClean="0"/>
              <a:t>9</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733" t="27308" r="18477" b="28654"/>
          <a:stretch/>
        </p:blipFill>
        <p:spPr bwMode="auto">
          <a:xfrm>
            <a:off x="1678730" y="2309019"/>
            <a:ext cx="8834540"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1349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Crossover on 8-Queens</a:t>
            </a:r>
          </a:p>
        </p:txBody>
      </p:sp>
      <p:sp>
        <p:nvSpPr>
          <p:cNvPr id="4" name="Slide Number Placeholder 3"/>
          <p:cNvSpPr>
            <a:spLocks noGrp="1"/>
          </p:cNvSpPr>
          <p:nvPr>
            <p:ph type="sldNum" sz="quarter" idx="12"/>
          </p:nvPr>
        </p:nvSpPr>
        <p:spPr/>
        <p:txBody>
          <a:bodyPr/>
          <a:lstStyle/>
          <a:p>
            <a:fld id="{FDFCE4C1-E6A0-4AA9-9965-F1CD6F0FDCC0}" type="slidenum">
              <a:rPr lang="en-US" smtClean="0"/>
              <a:t>10</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520459"/>
            <a:ext cx="8763000" cy="4279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1676400" y="4191000"/>
                <a:ext cx="8153400" cy="523220"/>
              </a:xfrm>
              <a:prstGeom prst="rect">
                <a:avLst/>
              </a:prstGeom>
            </p:spPr>
            <p:txBody>
              <a:bodyPr wrap="square">
                <a:spAutoFit/>
              </a:bodyPr>
              <a:lstStyle/>
              <a:p>
                <a:pPr/>
                <a14:m>
                  <m:oMathPara xmlns:m="http://schemas.openxmlformats.org/officeDocument/2006/math">
                    <m:oMath>
                      <m:r>
                        <a:rPr lang="en-US" sz="2800" b="1" i="1" dirty="0">
                          <a:solidFill>
                            <a:srgbClr val="FF0000"/>
                          </a:solidFill>
                          <a:latin typeface="Cambria Math"/>
                        </a:rPr>
                        <m:t>𝟑𝟐𝟕</m:t>
                      </m:r>
                      <m:r>
                        <a:rPr lang="en-US" sz="2800" i="1" dirty="0">
                          <a:latin typeface="Cambria Math"/>
                        </a:rPr>
                        <m:t>52411      +            247</m:t>
                      </m:r>
                      <m:r>
                        <a:rPr lang="en-US" sz="2800" b="1" i="1" dirty="0">
                          <a:solidFill>
                            <a:srgbClr val="FF0000"/>
                          </a:solidFill>
                          <a:latin typeface="Cambria Math"/>
                        </a:rPr>
                        <m:t>𝟒𝟖𝟓𝟓𝟐</m:t>
                      </m:r>
                      <m:r>
                        <a:rPr lang="en-US" sz="2800" i="1" dirty="0">
                          <a:latin typeface="Cambria Math"/>
                        </a:rPr>
                        <m:t> =        32748552</m:t>
                      </m:r>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152400" y="4191000"/>
                <a:ext cx="8153400" cy="523220"/>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4676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31076" name="Group 4"/>
          <p:cNvGrpSpPr>
            <a:grpSpLocks/>
          </p:cNvGrpSpPr>
          <p:nvPr/>
        </p:nvGrpSpPr>
        <p:grpSpPr bwMode="auto">
          <a:xfrm>
            <a:off x="2520949" y="3464718"/>
            <a:ext cx="7150101" cy="536576"/>
            <a:chOff x="824" y="1670"/>
            <a:chExt cx="4504" cy="338"/>
          </a:xfrm>
        </p:grpSpPr>
        <p:grpSp>
          <p:nvGrpSpPr>
            <p:cNvPr id="131077" name="Group 5"/>
            <p:cNvGrpSpPr>
              <a:grpSpLocks/>
            </p:cNvGrpSpPr>
            <p:nvPr/>
          </p:nvGrpSpPr>
          <p:grpSpPr bwMode="auto">
            <a:xfrm>
              <a:off x="824" y="1670"/>
              <a:ext cx="1921" cy="328"/>
              <a:chOff x="448" y="1659"/>
              <a:chExt cx="1921" cy="328"/>
            </a:xfrm>
          </p:grpSpPr>
          <p:sp>
            <p:nvSpPr>
              <p:cNvPr id="131078" name="Rectangle 6"/>
              <p:cNvSpPr>
                <a:spLocks noChangeArrowheads="1"/>
              </p:cNvSpPr>
              <p:nvPr/>
            </p:nvSpPr>
            <p:spPr bwMode="auto">
              <a:xfrm>
                <a:off x="212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79" name="Rectangle 7"/>
              <p:cNvSpPr>
                <a:spLocks noChangeArrowheads="1"/>
              </p:cNvSpPr>
              <p:nvPr/>
            </p:nvSpPr>
            <p:spPr bwMode="auto">
              <a:xfrm>
                <a:off x="44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0" name="Rectangle 8"/>
              <p:cNvSpPr>
                <a:spLocks noChangeArrowheads="1"/>
              </p:cNvSpPr>
              <p:nvPr/>
            </p:nvSpPr>
            <p:spPr bwMode="auto">
              <a:xfrm>
                <a:off x="68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1" name="Rectangle 9"/>
              <p:cNvSpPr>
                <a:spLocks noChangeArrowheads="1"/>
              </p:cNvSpPr>
              <p:nvPr/>
            </p:nvSpPr>
            <p:spPr bwMode="auto">
              <a:xfrm>
                <a:off x="929" y="1706"/>
                <a:ext cx="240" cy="24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2" name="Rectangle 10"/>
              <p:cNvSpPr>
                <a:spLocks noChangeArrowheads="1"/>
              </p:cNvSpPr>
              <p:nvPr/>
            </p:nvSpPr>
            <p:spPr bwMode="auto">
              <a:xfrm>
                <a:off x="116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3" name="Rectangle 11"/>
              <p:cNvSpPr>
                <a:spLocks noChangeArrowheads="1"/>
              </p:cNvSpPr>
              <p:nvPr/>
            </p:nvSpPr>
            <p:spPr bwMode="auto">
              <a:xfrm>
                <a:off x="140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4" name="Rectangle 12"/>
              <p:cNvSpPr>
                <a:spLocks noChangeArrowheads="1"/>
              </p:cNvSpPr>
              <p:nvPr/>
            </p:nvSpPr>
            <p:spPr bwMode="auto">
              <a:xfrm>
                <a:off x="1649"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5" name="Rectangle 13"/>
              <p:cNvSpPr>
                <a:spLocks noChangeArrowheads="1"/>
              </p:cNvSpPr>
              <p:nvPr/>
            </p:nvSpPr>
            <p:spPr bwMode="auto">
              <a:xfrm>
                <a:off x="1889" y="1706"/>
                <a:ext cx="240" cy="24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86" name="Rectangle 14"/>
              <p:cNvSpPr>
                <a:spLocks noChangeArrowheads="1"/>
              </p:cNvSpPr>
              <p:nvPr/>
            </p:nvSpPr>
            <p:spPr bwMode="auto">
              <a:xfrm>
                <a:off x="44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31087" name="Rectangle 15"/>
              <p:cNvSpPr>
                <a:spLocks noChangeArrowheads="1"/>
              </p:cNvSpPr>
              <p:nvPr/>
            </p:nvSpPr>
            <p:spPr bwMode="auto">
              <a:xfrm>
                <a:off x="116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1088" name="Rectangle 16"/>
              <p:cNvSpPr>
                <a:spLocks noChangeArrowheads="1"/>
              </p:cNvSpPr>
              <p:nvPr/>
            </p:nvSpPr>
            <p:spPr bwMode="auto">
              <a:xfrm>
                <a:off x="68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31089" name="Rectangle 17"/>
              <p:cNvSpPr>
                <a:spLocks noChangeArrowheads="1"/>
              </p:cNvSpPr>
              <p:nvPr/>
            </p:nvSpPr>
            <p:spPr bwMode="auto">
              <a:xfrm>
                <a:off x="164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31090" name="Rectangle 18"/>
              <p:cNvSpPr>
                <a:spLocks noChangeArrowheads="1"/>
              </p:cNvSpPr>
              <p:nvPr/>
            </p:nvSpPr>
            <p:spPr bwMode="auto">
              <a:xfrm>
                <a:off x="92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sp>
            <p:nvSpPr>
              <p:cNvPr id="131091" name="Rectangle 19"/>
              <p:cNvSpPr>
                <a:spLocks noChangeArrowheads="1"/>
              </p:cNvSpPr>
              <p:nvPr/>
            </p:nvSpPr>
            <p:spPr bwMode="auto">
              <a:xfrm>
                <a:off x="140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sp>
            <p:nvSpPr>
              <p:cNvPr id="131092" name="Rectangle 20"/>
              <p:cNvSpPr>
                <a:spLocks noChangeArrowheads="1"/>
              </p:cNvSpPr>
              <p:nvPr/>
            </p:nvSpPr>
            <p:spPr bwMode="auto">
              <a:xfrm>
                <a:off x="188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1093" name="Rectangle 21"/>
              <p:cNvSpPr>
                <a:spLocks noChangeArrowheads="1"/>
              </p:cNvSpPr>
              <p:nvPr/>
            </p:nvSpPr>
            <p:spPr bwMode="auto">
              <a:xfrm>
                <a:off x="2128"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grpSp>
        <p:sp>
          <p:nvSpPr>
            <p:cNvPr id="131094" name="Line 22"/>
            <p:cNvSpPr>
              <a:spLocks noChangeShapeType="1"/>
            </p:cNvSpPr>
            <p:nvPr/>
          </p:nvSpPr>
          <p:spPr bwMode="auto">
            <a:xfrm>
              <a:off x="2832" y="1824"/>
              <a:ext cx="495" cy="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1095" name="Group 23"/>
            <p:cNvGrpSpPr>
              <a:grpSpLocks/>
            </p:cNvGrpSpPr>
            <p:nvPr/>
          </p:nvGrpSpPr>
          <p:grpSpPr bwMode="auto">
            <a:xfrm>
              <a:off x="3407" y="1680"/>
              <a:ext cx="1921" cy="328"/>
              <a:chOff x="3463" y="1659"/>
              <a:chExt cx="1921" cy="328"/>
            </a:xfrm>
          </p:grpSpPr>
          <p:sp>
            <p:nvSpPr>
              <p:cNvPr id="131096" name="Rectangle 24"/>
              <p:cNvSpPr>
                <a:spLocks noChangeArrowheads="1"/>
              </p:cNvSpPr>
              <p:nvPr/>
            </p:nvSpPr>
            <p:spPr bwMode="auto">
              <a:xfrm>
                <a:off x="514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97" name="Rectangle 25"/>
              <p:cNvSpPr>
                <a:spLocks noChangeArrowheads="1"/>
              </p:cNvSpPr>
              <p:nvPr/>
            </p:nvSpPr>
            <p:spPr bwMode="auto">
              <a:xfrm>
                <a:off x="346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98" name="Rectangle 26"/>
              <p:cNvSpPr>
                <a:spLocks noChangeArrowheads="1"/>
              </p:cNvSpPr>
              <p:nvPr/>
            </p:nvSpPr>
            <p:spPr bwMode="auto">
              <a:xfrm>
                <a:off x="370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099" name="Rectangle 27"/>
              <p:cNvSpPr>
                <a:spLocks noChangeArrowheads="1"/>
              </p:cNvSpPr>
              <p:nvPr/>
            </p:nvSpPr>
            <p:spPr bwMode="auto">
              <a:xfrm>
                <a:off x="3944" y="1706"/>
                <a:ext cx="240" cy="24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100" name="Rectangle 28"/>
              <p:cNvSpPr>
                <a:spLocks noChangeArrowheads="1"/>
              </p:cNvSpPr>
              <p:nvPr/>
            </p:nvSpPr>
            <p:spPr bwMode="auto">
              <a:xfrm>
                <a:off x="418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101" name="Rectangle 29"/>
              <p:cNvSpPr>
                <a:spLocks noChangeArrowheads="1"/>
              </p:cNvSpPr>
              <p:nvPr/>
            </p:nvSpPr>
            <p:spPr bwMode="auto">
              <a:xfrm>
                <a:off x="442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102" name="Rectangle 30"/>
              <p:cNvSpPr>
                <a:spLocks noChangeArrowheads="1"/>
              </p:cNvSpPr>
              <p:nvPr/>
            </p:nvSpPr>
            <p:spPr bwMode="auto">
              <a:xfrm>
                <a:off x="4664" y="1706"/>
                <a:ext cx="240" cy="24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103" name="Rectangle 31"/>
              <p:cNvSpPr>
                <a:spLocks noChangeArrowheads="1"/>
              </p:cNvSpPr>
              <p:nvPr/>
            </p:nvSpPr>
            <p:spPr bwMode="auto">
              <a:xfrm>
                <a:off x="4904" y="1706"/>
                <a:ext cx="240" cy="24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104" name="Rectangle 32"/>
              <p:cNvSpPr>
                <a:spLocks noChangeArrowheads="1"/>
              </p:cNvSpPr>
              <p:nvPr/>
            </p:nvSpPr>
            <p:spPr bwMode="auto">
              <a:xfrm>
                <a:off x="346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31105" name="Rectangle 33"/>
              <p:cNvSpPr>
                <a:spLocks noChangeArrowheads="1"/>
              </p:cNvSpPr>
              <p:nvPr/>
            </p:nvSpPr>
            <p:spPr bwMode="auto">
              <a:xfrm>
                <a:off x="418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1106" name="Rectangle 34"/>
              <p:cNvSpPr>
                <a:spLocks noChangeArrowheads="1"/>
              </p:cNvSpPr>
              <p:nvPr/>
            </p:nvSpPr>
            <p:spPr bwMode="auto">
              <a:xfrm>
                <a:off x="370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31107" name="Rectangle 35"/>
              <p:cNvSpPr>
                <a:spLocks noChangeArrowheads="1"/>
              </p:cNvSpPr>
              <p:nvPr/>
            </p:nvSpPr>
            <p:spPr bwMode="auto">
              <a:xfrm>
                <a:off x="466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31108" name="Rectangle 36"/>
              <p:cNvSpPr>
                <a:spLocks noChangeArrowheads="1"/>
              </p:cNvSpPr>
              <p:nvPr/>
            </p:nvSpPr>
            <p:spPr bwMode="auto">
              <a:xfrm>
                <a:off x="4915"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sp>
            <p:nvSpPr>
              <p:cNvPr id="131109" name="Rectangle 37"/>
              <p:cNvSpPr>
                <a:spLocks noChangeArrowheads="1"/>
              </p:cNvSpPr>
              <p:nvPr/>
            </p:nvSpPr>
            <p:spPr bwMode="auto">
              <a:xfrm>
                <a:off x="442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sp>
            <p:nvSpPr>
              <p:cNvPr id="131110" name="Rectangle 38"/>
              <p:cNvSpPr>
                <a:spLocks noChangeArrowheads="1"/>
              </p:cNvSpPr>
              <p:nvPr/>
            </p:nvSpPr>
            <p:spPr bwMode="auto">
              <a:xfrm>
                <a:off x="3955"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1111" name="Rectangle 39"/>
              <p:cNvSpPr>
                <a:spLocks noChangeArrowheads="1"/>
              </p:cNvSpPr>
              <p:nvPr/>
            </p:nvSpPr>
            <p:spPr bwMode="auto">
              <a:xfrm>
                <a:off x="5143" y="1659"/>
                <a:ext cx="23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grpSp>
      </p:grpSp>
      <p:sp>
        <p:nvSpPr>
          <p:cNvPr id="2" name="Title 1"/>
          <p:cNvSpPr>
            <a:spLocks noGrp="1"/>
          </p:cNvSpPr>
          <p:nvPr>
            <p:ph type="title"/>
          </p:nvPr>
        </p:nvSpPr>
        <p:spPr/>
        <p:txBody>
          <a:bodyPr>
            <a:normAutofit/>
          </a:bodyPr>
          <a:lstStyle/>
          <a:p>
            <a:r>
              <a:rPr lang="en-US" altLang="en-US" dirty="0"/>
              <a:t>The 8 queens problem: Mutation</a:t>
            </a:r>
            <a:endParaRPr lang="en-US" dirty="0"/>
          </a:p>
        </p:txBody>
      </p:sp>
      <p:sp>
        <p:nvSpPr>
          <p:cNvPr id="4" name="Content Placeholder 3"/>
          <p:cNvSpPr>
            <a:spLocks noGrp="1"/>
          </p:cNvSpPr>
          <p:nvPr>
            <p:ph idx="1"/>
          </p:nvPr>
        </p:nvSpPr>
        <p:spPr/>
        <p:txBody>
          <a:bodyPr>
            <a:normAutofit/>
          </a:bodyPr>
          <a:lstStyle/>
          <a:p>
            <a:pPr eaLnBrk="0" hangingPunct="0"/>
            <a:r>
              <a:rPr lang="en-US" altLang="en-US" dirty="0"/>
              <a:t>Small variation in one permutation, e.g.:</a:t>
            </a:r>
          </a:p>
          <a:p>
            <a:pPr lvl="1" eaLnBrk="0" hangingPunct="0"/>
            <a:r>
              <a:rPr lang="en-US" altLang="en-US" dirty="0"/>
              <a:t>swapping values of two randomly chosen positions, </a:t>
            </a:r>
          </a:p>
          <a:p>
            <a:endParaRPr lang="en-US" dirty="0"/>
          </a:p>
        </p:txBody>
      </p:sp>
    </p:spTree>
    <p:extLst>
      <p:ext uri="{BB962C8B-B14F-4D97-AF65-F5344CB8AC3E}">
        <p14:creationId xmlns:p14="http://schemas.microsoft.com/office/powerpoint/2010/main" val="296408518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32100" name="Group 4"/>
          <p:cNvGrpSpPr>
            <a:grpSpLocks/>
          </p:cNvGrpSpPr>
          <p:nvPr/>
        </p:nvGrpSpPr>
        <p:grpSpPr bwMode="auto">
          <a:xfrm>
            <a:off x="2639218" y="5122985"/>
            <a:ext cx="6913563" cy="1352550"/>
            <a:chOff x="1082" y="3264"/>
            <a:chExt cx="4355" cy="852"/>
          </a:xfrm>
        </p:grpSpPr>
        <p:sp>
          <p:nvSpPr>
            <p:cNvPr id="132101" name="Line 5"/>
            <p:cNvSpPr>
              <a:spLocks noChangeShapeType="1"/>
            </p:cNvSpPr>
            <p:nvPr/>
          </p:nvSpPr>
          <p:spPr bwMode="auto">
            <a:xfrm>
              <a:off x="3024" y="3696"/>
              <a:ext cx="508" cy="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2102" name="Group 6"/>
            <p:cNvGrpSpPr>
              <a:grpSpLocks/>
            </p:cNvGrpSpPr>
            <p:nvPr/>
          </p:nvGrpSpPr>
          <p:grpSpPr bwMode="auto">
            <a:xfrm>
              <a:off x="3647" y="3655"/>
              <a:ext cx="1789" cy="335"/>
              <a:chOff x="3364" y="3743"/>
              <a:chExt cx="1741" cy="554"/>
            </a:xfrm>
          </p:grpSpPr>
          <p:grpSp>
            <p:nvGrpSpPr>
              <p:cNvPr id="132103" name="Group 7"/>
              <p:cNvGrpSpPr>
                <a:grpSpLocks/>
              </p:cNvGrpSpPr>
              <p:nvPr/>
            </p:nvGrpSpPr>
            <p:grpSpPr bwMode="auto">
              <a:xfrm>
                <a:off x="3364" y="3744"/>
                <a:ext cx="657" cy="553"/>
                <a:chOff x="3396" y="2880"/>
                <a:chExt cx="733" cy="553"/>
              </a:xfrm>
            </p:grpSpPr>
            <p:sp>
              <p:nvSpPr>
                <p:cNvPr id="132104" name="Rectangle 8"/>
                <p:cNvSpPr>
                  <a:spLocks noChangeArrowheads="1"/>
                </p:cNvSpPr>
                <p:nvPr/>
              </p:nvSpPr>
              <p:spPr bwMode="auto">
                <a:xfrm>
                  <a:off x="3396" y="2882"/>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sp>
              <p:nvSpPr>
                <p:cNvPr id="132105" name="Rectangle 9"/>
                <p:cNvSpPr>
                  <a:spLocks noChangeArrowheads="1"/>
                </p:cNvSpPr>
                <p:nvPr/>
              </p:nvSpPr>
              <p:spPr bwMode="auto">
                <a:xfrm>
                  <a:off x="3636" y="2882"/>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2106" name="Rectangle 10"/>
                <p:cNvSpPr>
                  <a:spLocks noChangeArrowheads="1"/>
                </p:cNvSpPr>
                <p:nvPr/>
              </p:nvSpPr>
              <p:spPr bwMode="auto">
                <a:xfrm>
                  <a:off x="3875" y="2880"/>
                  <a:ext cx="254"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grpSp>
          <p:grpSp>
            <p:nvGrpSpPr>
              <p:cNvPr id="132107" name="Group 11"/>
              <p:cNvGrpSpPr>
                <a:grpSpLocks/>
              </p:cNvGrpSpPr>
              <p:nvPr/>
            </p:nvGrpSpPr>
            <p:grpSpPr bwMode="auto">
              <a:xfrm>
                <a:off x="3998" y="3743"/>
                <a:ext cx="1107" cy="553"/>
                <a:chOff x="4104" y="2879"/>
                <a:chExt cx="1236" cy="553"/>
              </a:xfrm>
            </p:grpSpPr>
            <p:sp>
              <p:nvSpPr>
                <p:cNvPr id="132108" name="Rectangle 12"/>
                <p:cNvSpPr>
                  <a:spLocks noChangeArrowheads="1"/>
                </p:cNvSpPr>
                <p:nvPr/>
              </p:nvSpPr>
              <p:spPr bwMode="auto">
                <a:xfrm>
                  <a:off x="4333" y="2880"/>
                  <a:ext cx="254" cy="552"/>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32109" name="Rectangle 13"/>
                <p:cNvSpPr>
                  <a:spLocks noChangeArrowheads="1"/>
                </p:cNvSpPr>
                <p:nvPr/>
              </p:nvSpPr>
              <p:spPr bwMode="auto">
                <a:xfrm>
                  <a:off x="4104" y="2880"/>
                  <a:ext cx="253" cy="552"/>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2110" name="Rectangle 14"/>
                <p:cNvSpPr>
                  <a:spLocks noChangeArrowheads="1"/>
                </p:cNvSpPr>
                <p:nvPr/>
              </p:nvSpPr>
              <p:spPr bwMode="auto">
                <a:xfrm>
                  <a:off x="5085" y="2880"/>
                  <a:ext cx="255" cy="552"/>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sp>
              <p:nvSpPr>
                <p:cNvPr id="132111" name="Rectangle 15"/>
                <p:cNvSpPr>
                  <a:spLocks noChangeArrowheads="1"/>
                </p:cNvSpPr>
                <p:nvPr/>
              </p:nvSpPr>
              <p:spPr bwMode="auto">
                <a:xfrm>
                  <a:off x="4825" y="2880"/>
                  <a:ext cx="254" cy="552"/>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32112" name="Rectangle 16"/>
                <p:cNvSpPr>
                  <a:spLocks noChangeArrowheads="1"/>
                </p:cNvSpPr>
                <p:nvPr/>
              </p:nvSpPr>
              <p:spPr bwMode="auto">
                <a:xfrm>
                  <a:off x="4584" y="2879"/>
                  <a:ext cx="253"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grpSp>
        </p:grpSp>
        <p:grpSp>
          <p:nvGrpSpPr>
            <p:cNvPr id="132113" name="Group 17"/>
            <p:cNvGrpSpPr>
              <a:grpSpLocks/>
            </p:cNvGrpSpPr>
            <p:nvPr/>
          </p:nvGrpSpPr>
          <p:grpSpPr bwMode="auto">
            <a:xfrm>
              <a:off x="3647" y="3366"/>
              <a:ext cx="1790" cy="334"/>
              <a:chOff x="3364" y="3840"/>
              <a:chExt cx="1742" cy="553"/>
            </a:xfrm>
          </p:grpSpPr>
          <p:grpSp>
            <p:nvGrpSpPr>
              <p:cNvPr id="132114" name="Group 18"/>
              <p:cNvGrpSpPr>
                <a:grpSpLocks/>
              </p:cNvGrpSpPr>
              <p:nvPr/>
            </p:nvGrpSpPr>
            <p:grpSpPr bwMode="auto">
              <a:xfrm>
                <a:off x="3364" y="3842"/>
                <a:ext cx="657" cy="551"/>
                <a:chOff x="3396" y="2882"/>
                <a:chExt cx="733" cy="551"/>
              </a:xfrm>
            </p:grpSpPr>
            <p:sp>
              <p:nvSpPr>
                <p:cNvPr id="132115" name="Rectangle 19"/>
                <p:cNvSpPr>
                  <a:spLocks noChangeArrowheads="1"/>
                </p:cNvSpPr>
                <p:nvPr/>
              </p:nvSpPr>
              <p:spPr bwMode="auto">
                <a:xfrm>
                  <a:off x="3396"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32116" name="Rectangle 20"/>
                <p:cNvSpPr>
                  <a:spLocks noChangeArrowheads="1"/>
                </p:cNvSpPr>
                <p:nvPr/>
              </p:nvSpPr>
              <p:spPr bwMode="auto">
                <a:xfrm>
                  <a:off x="3636"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32117" name="Rectangle 21"/>
                <p:cNvSpPr>
                  <a:spLocks noChangeArrowheads="1"/>
                </p:cNvSpPr>
                <p:nvPr/>
              </p:nvSpPr>
              <p:spPr bwMode="auto">
                <a:xfrm>
                  <a:off x="3875"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grpSp>
          <p:grpSp>
            <p:nvGrpSpPr>
              <p:cNvPr id="132118" name="Group 22"/>
              <p:cNvGrpSpPr>
                <a:grpSpLocks/>
              </p:cNvGrpSpPr>
              <p:nvPr/>
            </p:nvGrpSpPr>
            <p:grpSpPr bwMode="auto">
              <a:xfrm>
                <a:off x="3998" y="3840"/>
                <a:ext cx="1108" cy="553"/>
                <a:chOff x="4104" y="2880"/>
                <a:chExt cx="1237" cy="553"/>
              </a:xfrm>
            </p:grpSpPr>
            <p:sp>
              <p:nvSpPr>
                <p:cNvPr id="132119" name="Rectangle 23"/>
                <p:cNvSpPr>
                  <a:spLocks noChangeArrowheads="1"/>
                </p:cNvSpPr>
                <p:nvPr/>
              </p:nvSpPr>
              <p:spPr bwMode="auto">
                <a:xfrm>
                  <a:off x="4333" y="2882"/>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2120" name="Rectangle 24"/>
                <p:cNvSpPr>
                  <a:spLocks noChangeArrowheads="1"/>
                </p:cNvSpPr>
                <p:nvPr/>
              </p:nvSpPr>
              <p:spPr bwMode="auto">
                <a:xfrm>
                  <a:off x="4104" y="2882"/>
                  <a:ext cx="253"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32121" name="Rectangle 25"/>
                <p:cNvSpPr>
                  <a:spLocks noChangeArrowheads="1"/>
                </p:cNvSpPr>
                <p:nvPr/>
              </p:nvSpPr>
              <p:spPr bwMode="auto">
                <a:xfrm>
                  <a:off x="5086" y="2882"/>
                  <a:ext cx="255"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sp>
              <p:nvSpPr>
                <p:cNvPr id="132122" name="Rectangle 26"/>
                <p:cNvSpPr>
                  <a:spLocks noChangeArrowheads="1"/>
                </p:cNvSpPr>
                <p:nvPr/>
              </p:nvSpPr>
              <p:spPr bwMode="auto">
                <a:xfrm>
                  <a:off x="4825" y="2882"/>
                  <a:ext cx="255"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2123" name="Rectangle 27"/>
                <p:cNvSpPr>
                  <a:spLocks noChangeArrowheads="1"/>
                </p:cNvSpPr>
                <p:nvPr/>
              </p:nvSpPr>
              <p:spPr bwMode="auto">
                <a:xfrm>
                  <a:off x="4584" y="2880"/>
                  <a:ext cx="253"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grpSp>
        </p:grpSp>
        <p:grpSp>
          <p:nvGrpSpPr>
            <p:cNvPr id="132124" name="Group 28"/>
            <p:cNvGrpSpPr>
              <a:grpSpLocks/>
            </p:cNvGrpSpPr>
            <p:nvPr/>
          </p:nvGrpSpPr>
          <p:grpSpPr bwMode="auto">
            <a:xfrm>
              <a:off x="1082" y="3655"/>
              <a:ext cx="1790" cy="335"/>
              <a:chOff x="3364" y="3743"/>
              <a:chExt cx="1742" cy="554"/>
            </a:xfrm>
          </p:grpSpPr>
          <p:grpSp>
            <p:nvGrpSpPr>
              <p:cNvPr id="132125" name="Group 29"/>
              <p:cNvGrpSpPr>
                <a:grpSpLocks/>
              </p:cNvGrpSpPr>
              <p:nvPr/>
            </p:nvGrpSpPr>
            <p:grpSpPr bwMode="auto">
              <a:xfrm>
                <a:off x="3364" y="3744"/>
                <a:ext cx="657" cy="553"/>
                <a:chOff x="3396" y="2880"/>
                <a:chExt cx="733" cy="553"/>
              </a:xfrm>
            </p:grpSpPr>
            <p:sp>
              <p:nvSpPr>
                <p:cNvPr id="132126" name="Rectangle 30"/>
                <p:cNvSpPr>
                  <a:spLocks noChangeArrowheads="1"/>
                </p:cNvSpPr>
                <p:nvPr/>
              </p:nvSpPr>
              <p:spPr bwMode="auto">
                <a:xfrm>
                  <a:off x="3396" y="2882"/>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sp>
              <p:nvSpPr>
                <p:cNvPr id="132127" name="Rectangle 31"/>
                <p:cNvSpPr>
                  <a:spLocks noChangeArrowheads="1"/>
                </p:cNvSpPr>
                <p:nvPr/>
              </p:nvSpPr>
              <p:spPr bwMode="auto">
                <a:xfrm>
                  <a:off x="3636" y="2882"/>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2128" name="Rectangle 32"/>
                <p:cNvSpPr>
                  <a:spLocks noChangeArrowheads="1"/>
                </p:cNvSpPr>
                <p:nvPr/>
              </p:nvSpPr>
              <p:spPr bwMode="auto">
                <a:xfrm>
                  <a:off x="3875" y="2880"/>
                  <a:ext cx="254"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grpSp>
          <p:grpSp>
            <p:nvGrpSpPr>
              <p:cNvPr id="132129" name="Group 33"/>
              <p:cNvGrpSpPr>
                <a:grpSpLocks/>
              </p:cNvGrpSpPr>
              <p:nvPr/>
            </p:nvGrpSpPr>
            <p:grpSpPr bwMode="auto">
              <a:xfrm>
                <a:off x="3998" y="3743"/>
                <a:ext cx="1108" cy="553"/>
                <a:chOff x="4104" y="2879"/>
                <a:chExt cx="1237" cy="553"/>
              </a:xfrm>
            </p:grpSpPr>
            <p:sp>
              <p:nvSpPr>
                <p:cNvPr id="132130" name="Rectangle 34"/>
                <p:cNvSpPr>
                  <a:spLocks noChangeArrowheads="1"/>
                </p:cNvSpPr>
                <p:nvPr/>
              </p:nvSpPr>
              <p:spPr bwMode="auto">
                <a:xfrm>
                  <a:off x="4333" y="2880"/>
                  <a:ext cx="254"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sp>
              <p:nvSpPr>
                <p:cNvPr id="132131" name="Rectangle 35"/>
                <p:cNvSpPr>
                  <a:spLocks noChangeArrowheads="1"/>
                </p:cNvSpPr>
                <p:nvPr/>
              </p:nvSpPr>
              <p:spPr bwMode="auto">
                <a:xfrm>
                  <a:off x="4104" y="2880"/>
                  <a:ext cx="253"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sp>
              <p:nvSpPr>
                <p:cNvPr id="132132" name="Rectangle 36"/>
                <p:cNvSpPr>
                  <a:spLocks noChangeArrowheads="1"/>
                </p:cNvSpPr>
                <p:nvPr/>
              </p:nvSpPr>
              <p:spPr bwMode="auto">
                <a:xfrm>
                  <a:off x="5086" y="2880"/>
                  <a:ext cx="255"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32133" name="Rectangle 37"/>
                <p:cNvSpPr>
                  <a:spLocks noChangeArrowheads="1"/>
                </p:cNvSpPr>
                <p:nvPr/>
              </p:nvSpPr>
              <p:spPr bwMode="auto">
                <a:xfrm>
                  <a:off x="4825" y="2879"/>
                  <a:ext cx="254" cy="551"/>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2134" name="Rectangle 38"/>
                <p:cNvSpPr>
                  <a:spLocks noChangeArrowheads="1"/>
                </p:cNvSpPr>
                <p:nvPr/>
              </p:nvSpPr>
              <p:spPr bwMode="auto">
                <a:xfrm>
                  <a:off x="4584" y="2880"/>
                  <a:ext cx="253" cy="552"/>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grpSp>
        </p:grpSp>
        <p:grpSp>
          <p:nvGrpSpPr>
            <p:cNvPr id="132135" name="Group 39"/>
            <p:cNvGrpSpPr>
              <a:grpSpLocks/>
            </p:cNvGrpSpPr>
            <p:nvPr/>
          </p:nvGrpSpPr>
          <p:grpSpPr bwMode="auto">
            <a:xfrm>
              <a:off x="1082" y="3366"/>
              <a:ext cx="1790" cy="334"/>
              <a:chOff x="3364" y="3840"/>
              <a:chExt cx="1742" cy="553"/>
            </a:xfrm>
          </p:grpSpPr>
          <p:grpSp>
            <p:nvGrpSpPr>
              <p:cNvPr id="132136" name="Group 40"/>
              <p:cNvGrpSpPr>
                <a:grpSpLocks/>
              </p:cNvGrpSpPr>
              <p:nvPr/>
            </p:nvGrpSpPr>
            <p:grpSpPr bwMode="auto">
              <a:xfrm>
                <a:off x="3364" y="3842"/>
                <a:ext cx="657" cy="551"/>
                <a:chOff x="3396" y="2882"/>
                <a:chExt cx="733" cy="551"/>
              </a:xfrm>
            </p:grpSpPr>
            <p:sp>
              <p:nvSpPr>
                <p:cNvPr id="132137" name="Rectangle 41"/>
                <p:cNvSpPr>
                  <a:spLocks noChangeArrowheads="1"/>
                </p:cNvSpPr>
                <p:nvPr/>
              </p:nvSpPr>
              <p:spPr bwMode="auto">
                <a:xfrm>
                  <a:off x="3396"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1</a:t>
                  </a:r>
                </a:p>
              </p:txBody>
            </p:sp>
            <p:sp>
              <p:nvSpPr>
                <p:cNvPr id="132138" name="Rectangle 42"/>
                <p:cNvSpPr>
                  <a:spLocks noChangeArrowheads="1"/>
                </p:cNvSpPr>
                <p:nvPr/>
              </p:nvSpPr>
              <p:spPr bwMode="auto">
                <a:xfrm>
                  <a:off x="3636"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3</a:t>
                  </a:r>
                </a:p>
              </p:txBody>
            </p:sp>
            <p:sp>
              <p:nvSpPr>
                <p:cNvPr id="132139" name="Rectangle 43"/>
                <p:cNvSpPr>
                  <a:spLocks noChangeArrowheads="1"/>
                </p:cNvSpPr>
                <p:nvPr/>
              </p:nvSpPr>
              <p:spPr bwMode="auto">
                <a:xfrm>
                  <a:off x="3875"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5</a:t>
                  </a:r>
                </a:p>
              </p:txBody>
            </p:sp>
          </p:grpSp>
          <p:grpSp>
            <p:nvGrpSpPr>
              <p:cNvPr id="132140" name="Group 44"/>
              <p:cNvGrpSpPr>
                <a:grpSpLocks/>
              </p:cNvGrpSpPr>
              <p:nvPr/>
            </p:nvGrpSpPr>
            <p:grpSpPr bwMode="auto">
              <a:xfrm>
                <a:off x="3998" y="3840"/>
                <a:ext cx="1108" cy="553"/>
                <a:chOff x="4104" y="2880"/>
                <a:chExt cx="1237" cy="553"/>
              </a:xfrm>
            </p:grpSpPr>
            <p:sp>
              <p:nvSpPr>
                <p:cNvPr id="132141" name="Rectangle 45"/>
                <p:cNvSpPr>
                  <a:spLocks noChangeArrowheads="1"/>
                </p:cNvSpPr>
                <p:nvPr/>
              </p:nvSpPr>
              <p:spPr bwMode="auto">
                <a:xfrm>
                  <a:off x="4333"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6</a:t>
                  </a:r>
                </a:p>
              </p:txBody>
            </p:sp>
            <p:sp>
              <p:nvSpPr>
                <p:cNvPr id="132142" name="Rectangle 46"/>
                <p:cNvSpPr>
                  <a:spLocks noChangeArrowheads="1"/>
                </p:cNvSpPr>
                <p:nvPr/>
              </p:nvSpPr>
              <p:spPr bwMode="auto">
                <a:xfrm>
                  <a:off x="4104" y="2882"/>
                  <a:ext cx="253"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2</a:t>
                  </a:r>
                </a:p>
              </p:txBody>
            </p:sp>
            <p:sp>
              <p:nvSpPr>
                <p:cNvPr id="132143" name="Rectangle 47"/>
                <p:cNvSpPr>
                  <a:spLocks noChangeArrowheads="1"/>
                </p:cNvSpPr>
                <p:nvPr/>
              </p:nvSpPr>
              <p:spPr bwMode="auto">
                <a:xfrm>
                  <a:off x="5086" y="2882"/>
                  <a:ext cx="255"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8</a:t>
                  </a:r>
                </a:p>
              </p:txBody>
            </p:sp>
            <p:sp>
              <p:nvSpPr>
                <p:cNvPr id="132144" name="Rectangle 48"/>
                <p:cNvSpPr>
                  <a:spLocks noChangeArrowheads="1"/>
                </p:cNvSpPr>
                <p:nvPr/>
              </p:nvSpPr>
              <p:spPr bwMode="auto">
                <a:xfrm>
                  <a:off x="4825" y="2882"/>
                  <a:ext cx="254" cy="551"/>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7</a:t>
                  </a:r>
                </a:p>
              </p:txBody>
            </p:sp>
            <p:sp>
              <p:nvSpPr>
                <p:cNvPr id="132145" name="Rectangle 49"/>
                <p:cNvSpPr>
                  <a:spLocks noChangeArrowheads="1"/>
                </p:cNvSpPr>
                <p:nvPr/>
              </p:nvSpPr>
              <p:spPr bwMode="auto">
                <a:xfrm>
                  <a:off x="4584" y="2880"/>
                  <a:ext cx="253" cy="552"/>
                </a:xfrm>
                <a:prstGeom prst="rect">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en-US" sz="2800"/>
                    <a:t>4</a:t>
                  </a:r>
                </a:p>
              </p:txBody>
            </p:sp>
          </p:grpSp>
        </p:grpSp>
        <p:sp>
          <p:nvSpPr>
            <p:cNvPr id="132146" name="Line 50"/>
            <p:cNvSpPr>
              <a:spLocks noChangeShapeType="1"/>
            </p:cNvSpPr>
            <p:nvPr/>
          </p:nvSpPr>
          <p:spPr bwMode="auto">
            <a:xfrm>
              <a:off x="1728" y="3264"/>
              <a:ext cx="0" cy="852"/>
            </a:xfrm>
            <a:prstGeom prst="line">
              <a:avLst/>
            </a:prstGeom>
            <a:noFill/>
            <a:ln w="508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itle 1"/>
          <p:cNvSpPr>
            <a:spLocks noGrp="1"/>
          </p:cNvSpPr>
          <p:nvPr>
            <p:ph type="title"/>
          </p:nvPr>
        </p:nvSpPr>
        <p:spPr/>
        <p:txBody>
          <a:bodyPr>
            <a:normAutofit/>
          </a:bodyPr>
          <a:lstStyle/>
          <a:p>
            <a:r>
              <a:rPr lang="en-US" altLang="en-US" dirty="0"/>
              <a:t>The 8 queens problem: Recombination</a:t>
            </a:r>
            <a:endParaRPr lang="en-US" dirty="0"/>
          </a:p>
        </p:txBody>
      </p:sp>
      <p:sp>
        <p:nvSpPr>
          <p:cNvPr id="4" name="Content Placeholder 3"/>
          <p:cNvSpPr>
            <a:spLocks noGrp="1"/>
          </p:cNvSpPr>
          <p:nvPr>
            <p:ph idx="1"/>
          </p:nvPr>
        </p:nvSpPr>
        <p:spPr/>
        <p:txBody>
          <a:bodyPr>
            <a:normAutofit/>
          </a:bodyPr>
          <a:lstStyle/>
          <a:p>
            <a:r>
              <a:rPr lang="en-US" altLang="en-US" dirty="0"/>
              <a:t>Combining  two permutations into two new permutations:</a:t>
            </a:r>
          </a:p>
          <a:p>
            <a:pPr>
              <a:buFontTx/>
              <a:buChar char="•"/>
            </a:pPr>
            <a:r>
              <a:rPr lang="en-US" altLang="en-US" dirty="0"/>
              <a:t> choose random crossover point</a:t>
            </a:r>
          </a:p>
          <a:p>
            <a:pPr>
              <a:buFontTx/>
              <a:buChar char="•"/>
            </a:pPr>
            <a:r>
              <a:rPr lang="en-US" altLang="en-US" dirty="0"/>
              <a:t> copy first parts into children</a:t>
            </a:r>
          </a:p>
          <a:p>
            <a:pPr>
              <a:buFontTx/>
              <a:buChar char="•"/>
            </a:pPr>
            <a:r>
              <a:rPr lang="en-US" altLang="en-US" dirty="0"/>
              <a:t> create second part by inserting values from other parent:</a:t>
            </a:r>
          </a:p>
          <a:p>
            <a:pPr lvl="1">
              <a:buFontTx/>
              <a:buChar char="•"/>
            </a:pPr>
            <a:r>
              <a:rPr lang="en-US" altLang="en-US" dirty="0"/>
              <a:t>in the order they appear there </a:t>
            </a:r>
          </a:p>
          <a:p>
            <a:pPr lvl="1">
              <a:buFontTx/>
              <a:buChar char="•"/>
            </a:pPr>
            <a:r>
              <a:rPr lang="en-US" altLang="en-US" dirty="0"/>
              <a:t>beginning after crossover point</a:t>
            </a:r>
          </a:p>
          <a:p>
            <a:pPr lvl="1">
              <a:buFontTx/>
              <a:buChar char="•"/>
            </a:pPr>
            <a:r>
              <a:rPr lang="en-US" altLang="en-US" dirty="0"/>
              <a:t>skipping values already in child</a:t>
            </a:r>
          </a:p>
        </p:txBody>
      </p:sp>
    </p:spTree>
    <p:extLst>
      <p:ext uri="{BB962C8B-B14F-4D97-AF65-F5344CB8AC3E}">
        <p14:creationId xmlns:p14="http://schemas.microsoft.com/office/powerpoint/2010/main" val="16239823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The 8 queens problem: Selection</a:t>
            </a:r>
            <a:endParaRPr lang="en-US" dirty="0"/>
          </a:p>
        </p:txBody>
      </p:sp>
      <p:sp>
        <p:nvSpPr>
          <p:cNvPr id="133126" name="Rectangle 6"/>
          <p:cNvSpPr>
            <a:spLocks noGrp="1" noChangeArrowheads="1"/>
          </p:cNvSpPr>
          <p:nvPr>
            <p:ph idx="1"/>
          </p:nvPr>
        </p:nvSpPr>
        <p:spPr/>
        <p:txBody>
          <a:bodyPr>
            <a:normAutofit/>
          </a:bodyPr>
          <a:lstStyle/>
          <a:p>
            <a:r>
              <a:rPr lang="en-US" altLang="en-US" dirty="0"/>
              <a:t>Parent selection:</a:t>
            </a:r>
          </a:p>
          <a:p>
            <a:pPr lvl="1"/>
            <a:r>
              <a:rPr lang="en-US" altLang="en-US" dirty="0"/>
              <a:t>Pick 5 parents and take best two to undergo crossover</a:t>
            </a:r>
          </a:p>
          <a:p>
            <a:r>
              <a:rPr lang="en-US" altLang="en-US" dirty="0"/>
              <a:t>Survivor selection (replacement)</a:t>
            </a:r>
          </a:p>
          <a:p>
            <a:pPr lvl="1"/>
            <a:r>
              <a:rPr lang="en-GB" altLang="en-US" dirty="0"/>
              <a:t>When inserting a new child into the population, choose an existing member to replace by:</a:t>
            </a:r>
          </a:p>
          <a:p>
            <a:pPr lvl="1"/>
            <a:r>
              <a:rPr lang="en-GB" altLang="en-US" dirty="0"/>
              <a:t>sorting the whole population by decreasing fitness</a:t>
            </a:r>
          </a:p>
          <a:p>
            <a:pPr lvl="1"/>
            <a:r>
              <a:rPr lang="en-GB" altLang="en-US" dirty="0"/>
              <a:t>enumerating this list from high to low</a:t>
            </a:r>
          </a:p>
          <a:p>
            <a:pPr lvl="1"/>
            <a:r>
              <a:rPr lang="en-GB" altLang="en-US" dirty="0"/>
              <a:t>replacing the first with a fitness lower than the given child</a:t>
            </a:r>
          </a:p>
        </p:txBody>
      </p:sp>
    </p:spTree>
    <p:extLst>
      <p:ext uri="{BB962C8B-B14F-4D97-AF65-F5344CB8AC3E}">
        <p14:creationId xmlns:p14="http://schemas.microsoft.com/office/powerpoint/2010/main" val="42005445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dirty="0"/>
              <a:t>Genetic Algorithms</a:t>
            </a:r>
          </a:p>
        </p:txBody>
      </p:sp>
      <p:sp>
        <p:nvSpPr>
          <p:cNvPr id="31747" name="Rectangle 3"/>
          <p:cNvSpPr>
            <a:spLocks noGrp="1" noChangeArrowheads="1"/>
          </p:cNvSpPr>
          <p:nvPr>
            <p:ph idx="1"/>
          </p:nvPr>
        </p:nvSpPr>
        <p:spPr>
          <a:xfrm>
            <a:off x="381000" y="5126502"/>
            <a:ext cx="11430000" cy="1459645"/>
          </a:xfrm>
        </p:spPr>
        <p:txBody>
          <a:bodyPr/>
          <a:lstStyle/>
          <a:p>
            <a:pPr eaLnBrk="1" hangingPunct="1">
              <a:lnSpc>
                <a:spcPct val="90000"/>
              </a:lnSpc>
            </a:pPr>
            <a:r>
              <a:rPr lang="en-US" sz="2400" dirty="0"/>
              <a:t>Genetic algorithms use a natural selection metaphor</a:t>
            </a:r>
          </a:p>
          <a:p>
            <a:pPr lvl="1">
              <a:lnSpc>
                <a:spcPct val="90000"/>
              </a:lnSpc>
            </a:pPr>
            <a:r>
              <a:rPr lang="en-US" sz="2000" dirty="0"/>
              <a:t>Keep best N hypotheses at each step (selection) based on a fitness function</a:t>
            </a:r>
          </a:p>
          <a:p>
            <a:pPr lvl="1">
              <a:lnSpc>
                <a:spcPct val="90000"/>
              </a:lnSpc>
            </a:pPr>
            <a:r>
              <a:rPr lang="en-US" sz="2000" dirty="0"/>
              <a:t>Also have pairwise crossover operators, with optional mutation to give variety</a:t>
            </a:r>
          </a:p>
        </p:txBody>
      </p:sp>
      <p:pic>
        <p:nvPicPr>
          <p:cNvPr id="31748" name="Picture 4"/>
          <p:cNvPicPr>
            <a:picLocks noChangeAspect="1" noChangeArrowheads="1"/>
          </p:cNvPicPr>
          <p:nvPr/>
        </p:nvPicPr>
        <p:blipFill>
          <a:blip r:embed="rId2" cstate="print"/>
          <a:srcRect/>
          <a:stretch>
            <a:fillRect/>
          </a:stretch>
        </p:blipFill>
        <p:spPr bwMode="auto">
          <a:xfrm>
            <a:off x="755833" y="2163201"/>
            <a:ext cx="8391525" cy="2490787"/>
          </a:xfrm>
          <a:prstGeom prst="rect">
            <a:avLst/>
          </a:prstGeom>
          <a:noFill/>
          <a:ln w="9525">
            <a:noFill/>
            <a:miter lim="800000"/>
            <a:headEnd/>
            <a:tailEnd/>
          </a:ln>
        </p:spPr>
      </p:pic>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19647" y="1671140"/>
            <a:ext cx="2892079" cy="3474911"/>
          </a:xfrm>
          <a:prstGeom prst="rect">
            <a:avLst/>
          </a:prstGeom>
          <a:noFill/>
        </p:spPr>
      </p:pic>
    </p:spTree>
    <p:extLst>
      <p:ext uri="{BB962C8B-B14F-4D97-AF65-F5344CB8AC3E}">
        <p14:creationId xmlns:p14="http://schemas.microsoft.com/office/powerpoint/2010/main" val="1190597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Travelling Salesman Problem (TSP)</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75674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040086" cy="1325563"/>
          </a:xfrm>
        </p:spPr>
        <p:txBody>
          <a:bodyPr/>
          <a:lstStyle/>
          <a:p>
            <a:r>
              <a:rPr lang="en-US" dirty="0"/>
              <a:t>Traveling Salesman Problem (TSP)</a:t>
            </a:r>
          </a:p>
        </p:txBody>
      </p:sp>
      <p:sp>
        <p:nvSpPr>
          <p:cNvPr id="3" name="Content Placeholder 2"/>
          <p:cNvSpPr>
            <a:spLocks noGrp="1"/>
          </p:cNvSpPr>
          <p:nvPr>
            <p:ph idx="1"/>
          </p:nvPr>
        </p:nvSpPr>
        <p:spPr>
          <a:xfrm>
            <a:off x="838200" y="1825625"/>
            <a:ext cx="10515600" cy="1117152"/>
          </a:xfrm>
        </p:spPr>
        <p:txBody>
          <a:bodyPr>
            <a:normAutofit fontScale="92500" lnSpcReduction="20000"/>
          </a:bodyPr>
          <a:lstStyle/>
          <a:p>
            <a:r>
              <a:rPr lang="en-US" dirty="0"/>
              <a:t>The exact application involved finding the shortest distance to fly between eight cities without visiting a city more than once. </a:t>
            </a:r>
          </a:p>
          <a:p>
            <a:r>
              <a:rPr lang="en-US" dirty="0"/>
              <a:t>The table below shows the distances between each city in kilometers.</a:t>
            </a:r>
          </a:p>
        </p:txBody>
      </p:sp>
      <p:pic>
        <p:nvPicPr>
          <p:cNvPr id="1026" name="Picture 2" descr="https://cdn-images-1.medium.com/max/800/1*V8bFnTDvOgH6MpvQAGlvM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176" y="2942777"/>
            <a:ext cx="9207647" cy="323418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p:cNvSpPr>
            <a:spLocks noChangeArrowheads="1"/>
          </p:cNvSpPr>
          <p:nvPr/>
        </p:nvSpPr>
        <p:spPr bwMode="auto">
          <a:xfrm>
            <a:off x="6095999" y="0"/>
            <a:ext cx="6516757" cy="131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84054"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enlo"/>
              </a:rPr>
              <a:t>[0, 4, 1, 2, 6, 5, 7, 3]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enlo"/>
              </a:rPr>
              <a:t>["Brighton", "Liverpool", "Bristol", "Cambridge", "Manchester", "London", "Oxford", "Glasgow"]</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8714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TSP – Initialization </a:t>
            </a:r>
          </a:p>
        </p:txBody>
      </p:sp>
      <p:sp>
        <p:nvSpPr>
          <p:cNvPr id="3" name="Content Placeholder 2"/>
          <p:cNvSpPr>
            <a:spLocks noGrp="1"/>
          </p:cNvSpPr>
          <p:nvPr>
            <p:ph idx="1"/>
          </p:nvPr>
        </p:nvSpPr>
        <p:spPr/>
        <p:txBody>
          <a:bodyPr>
            <a:normAutofit/>
          </a:bodyPr>
          <a:lstStyle/>
          <a:p>
            <a:r>
              <a:rPr lang="en-US" b="1" dirty="0"/>
              <a:t>Initialization</a:t>
            </a:r>
          </a:p>
          <a:p>
            <a:pPr lvl="1"/>
            <a:r>
              <a:rPr lang="en-US" dirty="0"/>
              <a:t>Each individual featuring an integer representation of a route between the eight cities with no repetition. </a:t>
            </a:r>
          </a:p>
          <a:p>
            <a:pPr lvl="1"/>
            <a:r>
              <a:rPr lang="en-US" dirty="0"/>
              <a:t>A corresponding array with the string equivalent of these indexes is created to output when a solution is found.</a:t>
            </a:r>
          </a:p>
          <a:p>
            <a:endParaRPr lang="en-US" dirty="0"/>
          </a:p>
          <a:p>
            <a:endParaRPr lang="en-US" dirty="0"/>
          </a:p>
          <a:p>
            <a:r>
              <a:rPr lang="en-US" b="1" dirty="0"/>
              <a:t>Fitness Function</a:t>
            </a:r>
          </a:p>
          <a:p>
            <a:pPr lvl="1"/>
            <a:r>
              <a:rPr lang="en-US" dirty="0"/>
              <a:t>A fitness function calculates the total distance between each city in the chromosome’s permutation. </a:t>
            </a:r>
          </a:p>
          <a:p>
            <a:endParaRPr lang="en-US" dirty="0"/>
          </a:p>
        </p:txBody>
      </p:sp>
      <p:sp>
        <p:nvSpPr>
          <p:cNvPr id="4" name="Rectangle 1"/>
          <p:cNvSpPr>
            <a:spLocks noChangeArrowheads="1"/>
          </p:cNvSpPr>
          <p:nvPr/>
        </p:nvSpPr>
        <p:spPr bwMode="auto">
          <a:xfrm>
            <a:off x="2837621" y="3469173"/>
            <a:ext cx="6516757" cy="131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84054"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enlo"/>
              </a:rPr>
              <a:t>[0, 4, 1, 2, 6, 5, 7, 3]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enlo"/>
              </a:rPr>
              <a:t>["Brighton", "Liverpool", "Bristol", "Cambridge", "Manchester", "London", "Oxford", "Glasgow"]</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1957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altLang="en-US" dirty="0">
                <a:sym typeface="Symbol" panose="05050102010706020507" pitchFamily="18" charset="2"/>
              </a:rPr>
              <a:t>Consider the </a:t>
            </a:r>
            <a:r>
              <a:rPr lang="en-US" altLang="en-US" i="1" dirty="0">
                <a:sym typeface="Symbol" panose="05050102010706020507" pitchFamily="18" charset="2"/>
              </a:rPr>
              <a:t>Traveling Salesman Problem</a:t>
            </a:r>
            <a:r>
              <a:rPr lang="en-US" altLang="en-US" dirty="0">
                <a:sym typeface="Symbol" panose="05050102010706020507" pitchFamily="18" charset="2"/>
              </a:rPr>
              <a:t> (</a:t>
            </a:r>
            <a:r>
              <a:rPr lang="en-US" altLang="en-US" i="1" dirty="0">
                <a:sym typeface="Symbol" panose="05050102010706020507" pitchFamily="18" charset="2"/>
              </a:rPr>
              <a:t>TSP</a:t>
            </a:r>
            <a:r>
              <a:rPr lang="en-US" altLang="en-US" dirty="0">
                <a:sym typeface="Symbol" panose="05050102010706020507" pitchFamily="18" charset="2"/>
              </a:rPr>
              <a:t>) in which a salesman aims to visit </a:t>
            </a:r>
            <a:r>
              <a:rPr lang="en-US" altLang="en-US" i="1" dirty="0">
                <a:sym typeface="Symbol" panose="05050102010706020507" pitchFamily="18" charset="2"/>
              </a:rPr>
              <a:t>n</a:t>
            </a:r>
            <a:r>
              <a:rPr lang="en-US" altLang="en-US" dirty="0">
                <a:sym typeface="Symbol" panose="05050102010706020507" pitchFamily="18" charset="2"/>
              </a:rPr>
              <a:t> cities </a:t>
            </a:r>
            <a:r>
              <a:rPr lang="en-US" altLang="en-US" i="1" dirty="0">
                <a:sym typeface="Symbol" panose="05050102010706020507" pitchFamily="18" charset="2"/>
              </a:rPr>
              <a:t>exactly once</a:t>
            </a:r>
            <a:r>
              <a:rPr lang="en-US" altLang="en-US" dirty="0">
                <a:sym typeface="Symbol" panose="05050102010706020507" pitchFamily="18" charset="2"/>
              </a:rPr>
              <a:t> covering the least distance</a:t>
            </a:r>
          </a:p>
          <a:p>
            <a:r>
              <a:rPr lang="en-US" altLang="en-US" dirty="0">
                <a:sym typeface="Symbol" panose="05050102010706020507" pitchFamily="18" charset="2"/>
              </a:rPr>
              <a:t>Starting at any given node, choose from </a:t>
            </a:r>
            <a:r>
              <a:rPr lang="en-US" altLang="en-US" i="1" dirty="0">
                <a:sym typeface="Symbol" panose="05050102010706020507" pitchFamily="18" charset="2"/>
              </a:rPr>
              <a:t>n</a:t>
            </a:r>
            <a:r>
              <a:rPr lang="en-US" altLang="en-US" dirty="0">
                <a:sym typeface="Symbol" panose="05050102010706020507" pitchFamily="18" charset="2"/>
              </a:rPr>
              <a:t>–1 remaining nodes, then choose from </a:t>
            </a:r>
            <a:r>
              <a:rPr lang="en-US" altLang="en-US" i="1" dirty="0">
                <a:sym typeface="Symbol" panose="05050102010706020507" pitchFamily="18" charset="2"/>
              </a:rPr>
              <a:t>n</a:t>
            </a:r>
            <a:r>
              <a:rPr lang="en-US" altLang="en-US" dirty="0">
                <a:sym typeface="Symbol" panose="05050102010706020507" pitchFamily="18" charset="2"/>
              </a:rPr>
              <a:t>–2 remaining nodes, etc. Testing every possible route takes (</a:t>
            </a:r>
            <a:r>
              <a:rPr lang="en-US" altLang="en-US" i="1" dirty="0">
                <a:sym typeface="Symbol" panose="05050102010706020507" pitchFamily="18" charset="2"/>
              </a:rPr>
              <a:t>n</a:t>
            </a:r>
            <a:r>
              <a:rPr lang="en-US" altLang="en-US" dirty="0">
                <a:sym typeface="Symbol" panose="05050102010706020507" pitchFamily="18" charset="2"/>
              </a:rPr>
              <a:t>–1)</a:t>
            </a:r>
            <a:r>
              <a:rPr lang="en-US" altLang="en-US" b="1" dirty="0">
                <a:sym typeface="Symbol" panose="05050102010706020507" pitchFamily="18" charset="2"/>
              </a:rPr>
              <a:t>!</a:t>
            </a:r>
            <a:r>
              <a:rPr lang="en-US" altLang="en-US" dirty="0">
                <a:sym typeface="Symbol" panose="05050102010706020507" pitchFamily="18" charset="2"/>
              </a:rPr>
              <a:t> Steps</a:t>
            </a:r>
          </a:p>
          <a:p>
            <a:r>
              <a:rPr lang="en-US" altLang="en-US" dirty="0">
                <a:sym typeface="Symbol" panose="05050102010706020507" pitchFamily="18" charset="2"/>
              </a:rPr>
              <a:t>Use a genetic algorithm to </a:t>
            </a:r>
            <a:r>
              <a:rPr lang="en-US" altLang="en-US" i="1" dirty="0">
                <a:sym typeface="Symbol" panose="05050102010706020507" pitchFamily="18" charset="2"/>
              </a:rPr>
              <a:t>evolve</a:t>
            </a:r>
            <a:r>
              <a:rPr lang="en-US" altLang="en-US" dirty="0">
                <a:sym typeface="Symbol" panose="05050102010706020507" pitchFamily="18" charset="2"/>
              </a:rPr>
              <a:t> a near-optimal solution to the TSP</a:t>
            </a:r>
          </a:p>
          <a:p>
            <a:r>
              <a:rPr lang="en-US" altLang="en-US" dirty="0">
                <a:sym typeface="Symbol" panose="05050102010706020507" pitchFamily="18" charset="2"/>
              </a:rPr>
              <a:t>Label cities </a:t>
            </a:r>
            <a:r>
              <a:rPr lang="en-US" altLang="en-US" i="1" dirty="0">
                <a:sym typeface="Symbol" panose="05050102010706020507" pitchFamily="18" charset="2"/>
              </a:rPr>
              <a:t>A</a:t>
            </a:r>
            <a:r>
              <a:rPr lang="en-US" altLang="en-US" dirty="0">
                <a:sym typeface="Symbol" panose="05050102010706020507" pitchFamily="18" charset="2"/>
              </a:rPr>
              <a:t>, </a:t>
            </a:r>
            <a:r>
              <a:rPr lang="en-US" altLang="en-US" i="1" dirty="0">
                <a:sym typeface="Symbol" panose="05050102010706020507" pitchFamily="18" charset="2"/>
              </a:rPr>
              <a:t>B</a:t>
            </a:r>
            <a:r>
              <a:rPr lang="en-US" altLang="en-US" dirty="0">
                <a:sym typeface="Symbol" panose="05050102010706020507" pitchFamily="18" charset="2"/>
              </a:rPr>
              <a:t>, </a:t>
            </a:r>
            <a:r>
              <a:rPr lang="en-US" altLang="en-US" i="1" dirty="0">
                <a:sym typeface="Symbol" panose="05050102010706020507" pitchFamily="18" charset="2"/>
              </a:rPr>
              <a:t>C</a:t>
            </a:r>
            <a:r>
              <a:rPr lang="en-US" altLang="en-US" dirty="0">
                <a:sym typeface="Symbol" panose="05050102010706020507" pitchFamily="18" charset="2"/>
              </a:rPr>
              <a:t>, </a:t>
            </a:r>
            <a:r>
              <a:rPr lang="en-US" altLang="en-US" i="1" dirty="0">
                <a:sym typeface="Symbol" panose="05050102010706020507" pitchFamily="18" charset="2"/>
              </a:rPr>
              <a:t>D</a:t>
            </a:r>
            <a:r>
              <a:rPr lang="en-US" altLang="en-US" dirty="0">
                <a:sym typeface="Symbol" panose="05050102010706020507" pitchFamily="18" charset="2"/>
              </a:rPr>
              <a:t>, </a:t>
            </a:r>
            <a:r>
              <a:rPr lang="en-US" altLang="en-US" i="1" dirty="0">
                <a:sym typeface="Symbol" panose="05050102010706020507" pitchFamily="18" charset="2"/>
              </a:rPr>
              <a:t>E</a:t>
            </a:r>
            <a:r>
              <a:rPr lang="en-US" altLang="en-US" dirty="0">
                <a:sym typeface="Symbol" panose="05050102010706020507" pitchFamily="18" charset="2"/>
              </a:rPr>
              <a:t>, </a:t>
            </a:r>
            <a:r>
              <a:rPr lang="en-US" altLang="en-US" i="1" dirty="0">
                <a:sym typeface="Symbol" panose="05050102010706020507" pitchFamily="18" charset="2"/>
              </a:rPr>
              <a:t>F</a:t>
            </a:r>
            <a:r>
              <a:rPr lang="en-US" altLang="en-US" dirty="0">
                <a:sym typeface="Symbol" panose="05050102010706020507" pitchFamily="18" charset="2"/>
              </a:rPr>
              <a:t>, etc.</a:t>
            </a:r>
          </a:p>
          <a:p>
            <a:r>
              <a:rPr lang="en-US" altLang="en-US" dirty="0">
                <a:sym typeface="Symbol" panose="05050102010706020507" pitchFamily="18" charset="2"/>
              </a:rPr>
              <a:t>Example circuits: </a:t>
            </a:r>
            <a:r>
              <a:rPr lang="en-US" altLang="en-US" i="1" dirty="0">
                <a:sym typeface="Symbol" panose="05050102010706020507" pitchFamily="18" charset="2"/>
              </a:rPr>
              <a:t>ABCDEF</a:t>
            </a:r>
            <a:r>
              <a:rPr lang="en-US" altLang="en-US" dirty="0">
                <a:sym typeface="Symbol" panose="05050102010706020507" pitchFamily="18" charset="2"/>
              </a:rPr>
              <a:t>, </a:t>
            </a:r>
            <a:r>
              <a:rPr lang="en-US" altLang="en-US" i="1" dirty="0">
                <a:sym typeface="Symbol" panose="05050102010706020507" pitchFamily="18" charset="2"/>
              </a:rPr>
              <a:t>BDAFCE</a:t>
            </a:r>
            <a:r>
              <a:rPr lang="en-US" altLang="en-US" dirty="0">
                <a:sym typeface="Symbol" panose="05050102010706020507" pitchFamily="18" charset="2"/>
              </a:rPr>
              <a:t>, </a:t>
            </a:r>
            <a:r>
              <a:rPr lang="en-US" altLang="en-US" i="1" dirty="0">
                <a:sym typeface="Symbol" panose="05050102010706020507" pitchFamily="18" charset="2"/>
              </a:rPr>
              <a:t>FBECAD</a:t>
            </a:r>
            <a:r>
              <a:rPr lang="en-US" altLang="en-US" dirty="0">
                <a:sym typeface="Symbol" panose="05050102010706020507" pitchFamily="18" charset="2"/>
              </a:rPr>
              <a:t> </a:t>
            </a:r>
            <a:endParaRPr lang="en-US" altLang="en-US" sz="2800" dirty="0">
              <a:sym typeface="Symbol" panose="05050102010706020507" pitchFamily="18" charset="2"/>
            </a:endParaRPr>
          </a:p>
          <a:p>
            <a:r>
              <a:rPr lang="en-US" altLang="en-US" i="1" dirty="0">
                <a:sym typeface="Symbol" panose="05050102010706020507" pitchFamily="18" charset="2"/>
              </a:rPr>
              <a:t>How do we perform crossover operations?</a:t>
            </a:r>
          </a:p>
          <a:p>
            <a:r>
              <a:rPr lang="en-US" altLang="en-US" dirty="0">
                <a:sym typeface="Symbol" panose="05050102010706020507" pitchFamily="18" charset="2"/>
              </a:rPr>
              <a:t>Basic crossovers might result in invalid members of the population</a:t>
            </a:r>
          </a:p>
          <a:p>
            <a:pPr lvl="1"/>
            <a:r>
              <a:rPr lang="en-US" altLang="en-US" dirty="0">
                <a:sym typeface="Symbol" panose="05050102010706020507" pitchFamily="18" charset="2"/>
              </a:rPr>
              <a:t>e.g. combining </a:t>
            </a:r>
            <a:r>
              <a:rPr lang="en-US" altLang="en-US" i="1" dirty="0">
                <a:sym typeface="Symbol" panose="05050102010706020507" pitchFamily="18" charset="2"/>
              </a:rPr>
              <a:t>ABCDEF</a:t>
            </a:r>
            <a:r>
              <a:rPr lang="en-US" altLang="en-US" dirty="0">
                <a:sym typeface="Symbol" panose="05050102010706020507" pitchFamily="18" charset="2"/>
              </a:rPr>
              <a:t> and </a:t>
            </a:r>
            <a:r>
              <a:rPr lang="en-US" altLang="en-US" i="1" dirty="0">
                <a:sym typeface="Symbol" panose="05050102010706020507" pitchFamily="18" charset="2"/>
              </a:rPr>
              <a:t>BDAFCE</a:t>
            </a:r>
            <a:r>
              <a:rPr lang="en-US" altLang="en-US" dirty="0">
                <a:sym typeface="Symbol" panose="05050102010706020507" pitchFamily="18" charset="2"/>
              </a:rPr>
              <a:t> may result in </a:t>
            </a:r>
            <a:r>
              <a:rPr lang="en-US" altLang="en-US" i="1" dirty="0">
                <a:sym typeface="Symbol" panose="05050102010706020507" pitchFamily="18" charset="2"/>
              </a:rPr>
              <a:t>ABCFCE</a:t>
            </a:r>
            <a:r>
              <a:rPr lang="en-US" altLang="en-US" dirty="0">
                <a:sym typeface="Symbol" panose="05050102010706020507" pitchFamily="18" charset="2"/>
              </a:rPr>
              <a:t> </a:t>
            </a:r>
          </a:p>
          <a:p>
            <a:endParaRPr lang="en-US" altLang="en-US" dirty="0">
              <a:sym typeface="Symbol" panose="05050102010706020507" pitchFamily="18" charset="2"/>
            </a:endParaRPr>
          </a:p>
        </p:txBody>
      </p:sp>
    </p:spTree>
    <p:extLst>
      <p:ext uri="{BB962C8B-B14F-4D97-AF65-F5344CB8AC3E}">
        <p14:creationId xmlns:p14="http://schemas.microsoft.com/office/powerpoint/2010/main" val="3281412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a:bodyPr>
          <a:lstStyle/>
          <a:p>
            <a:r>
              <a:rPr lang="en-US" altLang="en-US" dirty="0"/>
              <a:t>Another Example:</a:t>
            </a:r>
            <a:br>
              <a:rPr lang="en-US" altLang="en-US" dirty="0"/>
            </a:br>
            <a:r>
              <a:rPr lang="en-US" altLang="en-US" dirty="0"/>
              <a:t>Traveling Salesman Problem (TSP)</a:t>
            </a:r>
          </a:p>
        </p:txBody>
      </p:sp>
      <p:sp>
        <p:nvSpPr>
          <p:cNvPr id="2" name="Content Placeholder 1"/>
          <p:cNvSpPr>
            <a:spLocks noGrp="1"/>
          </p:cNvSpPr>
          <p:nvPr>
            <p:ph idx="1"/>
          </p:nvPr>
        </p:nvSpPr>
        <p:spPr/>
        <p:txBody>
          <a:bodyPr>
            <a:normAutofit lnSpcReduction="10000"/>
          </a:bodyPr>
          <a:lstStyle/>
          <a:p>
            <a:pPr>
              <a:spcBef>
                <a:spcPct val="50000"/>
              </a:spcBef>
            </a:pPr>
            <a:r>
              <a:rPr lang="en-US" altLang="en-US" dirty="0">
                <a:latin typeface="Arial" charset="0"/>
                <a:cs typeface="Arial" charset="0"/>
              </a:rPr>
              <a:t>The traveling salesman must visit every city in his territory exactly once and then return to the starting point; given the cost of travel between all cities, how should he plan his itinerary for minimum total cost of the entire tour?</a:t>
            </a:r>
          </a:p>
          <a:p>
            <a:pPr>
              <a:spcBef>
                <a:spcPct val="50000"/>
              </a:spcBef>
            </a:pPr>
            <a:endParaRPr lang="en-US" altLang="en-US" dirty="0">
              <a:latin typeface="Arial" charset="0"/>
              <a:cs typeface="Arial" charset="0"/>
            </a:endParaRPr>
          </a:p>
          <a:p>
            <a:pPr>
              <a:spcBef>
                <a:spcPct val="50000"/>
              </a:spcBef>
            </a:pPr>
            <a:r>
              <a:rPr lang="en-US" altLang="en-US" dirty="0">
                <a:latin typeface="Arial" charset="0"/>
                <a:cs typeface="Arial" charset="0"/>
              </a:rPr>
              <a:t>TSP </a:t>
            </a:r>
            <a:r>
              <a:rPr lang="en-US" altLang="en-US" dirty="0">
                <a:latin typeface="Arial" charset="0"/>
                <a:cs typeface="Arial" charset="0"/>
                <a:sym typeface="Symbol" pitchFamily="18" charset="2"/>
              </a:rPr>
              <a:t></a:t>
            </a:r>
            <a:r>
              <a:rPr lang="en-US" altLang="en-US" dirty="0">
                <a:latin typeface="Arial" charset="0"/>
                <a:cs typeface="Arial" charset="0"/>
              </a:rPr>
              <a:t> NP-Complete</a:t>
            </a:r>
          </a:p>
          <a:p>
            <a:pPr>
              <a:spcBef>
                <a:spcPct val="50000"/>
              </a:spcBef>
            </a:pPr>
            <a:endParaRPr lang="en-US" altLang="en-US" dirty="0">
              <a:solidFill>
                <a:srgbClr val="FF0000"/>
              </a:solidFill>
              <a:latin typeface="Arial" charset="0"/>
              <a:cs typeface="Arial" charset="0"/>
            </a:endParaRPr>
          </a:p>
          <a:p>
            <a:pPr>
              <a:spcBef>
                <a:spcPct val="50000"/>
              </a:spcBef>
            </a:pPr>
            <a:r>
              <a:rPr lang="en-US" altLang="en-US" dirty="0">
                <a:solidFill>
                  <a:srgbClr val="FF0000"/>
                </a:solidFill>
                <a:latin typeface="Arial" charset="0"/>
                <a:cs typeface="Arial" charset="0"/>
              </a:rPr>
              <a:t>Note</a:t>
            </a:r>
            <a:r>
              <a:rPr lang="en-US" altLang="en-US" dirty="0">
                <a:latin typeface="Arial" charset="0"/>
                <a:cs typeface="Arial" charset="0"/>
              </a:rPr>
              <a:t>: we shall discuss a single possible approach to approximate the TSP by GAs</a:t>
            </a:r>
          </a:p>
          <a:p>
            <a:endParaRPr lang="en-US" dirty="0"/>
          </a:p>
        </p:txBody>
      </p:sp>
      <p:sp>
        <p:nvSpPr>
          <p:cNvPr id="6" name="Slide Number Placeholder 4"/>
          <p:cNvSpPr>
            <a:spLocks noGrp="1"/>
          </p:cNvSpPr>
          <p:nvPr>
            <p:ph type="sldNum" sz="quarter" idx="12"/>
          </p:nvPr>
        </p:nvSpPr>
        <p:spPr/>
        <p:txBody>
          <a:bodyPr/>
          <a:lstStyle/>
          <a:p>
            <a:fld id="{1D58F441-1249-4D7E-B7B7-01E685787122}" type="slidenum">
              <a:rPr lang="en-US" altLang="en-US" smtClean="0"/>
              <a:pPr/>
              <a:t>19</a:t>
            </a:fld>
            <a:endParaRPr lang="en-US" altLang="en-US"/>
          </a:p>
        </p:txBody>
      </p:sp>
      <p:sp>
        <p:nvSpPr>
          <p:cNvPr id="72707" name="Text Box 3"/>
          <p:cNvSpPr txBox="1">
            <a:spLocks noChangeArrowheads="1"/>
          </p:cNvSpPr>
          <p:nvPr/>
        </p:nvSpPr>
        <p:spPr bwMode="auto">
          <a:xfrm>
            <a:off x="2133600" y="2895601"/>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rtl="0">
              <a:spcBef>
                <a:spcPct val="50000"/>
              </a:spcBef>
            </a:pPr>
            <a:endParaRPr lang="en-US" altLang="en-US" sz="2800">
              <a:latin typeface="Arial" charset="0"/>
              <a:cs typeface="Arial" charset="0"/>
            </a:endParaRPr>
          </a:p>
        </p:txBody>
      </p:sp>
    </p:spTree>
    <p:extLst>
      <p:ext uri="{BB962C8B-B14F-4D97-AF65-F5344CB8AC3E}">
        <p14:creationId xmlns:p14="http://schemas.microsoft.com/office/powerpoint/2010/main" val="739278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normAutofit/>
          </a:bodyPr>
          <a:lstStyle/>
          <a:p>
            <a:r>
              <a:rPr lang="en-US" altLang="en-US" dirty="0"/>
              <a:t>TSP (Representation, Evaluation, Initialization and Selection)</a:t>
            </a:r>
          </a:p>
        </p:txBody>
      </p:sp>
      <p:sp>
        <p:nvSpPr>
          <p:cNvPr id="2" name="Content Placeholder 1"/>
          <p:cNvSpPr>
            <a:spLocks noGrp="1"/>
          </p:cNvSpPr>
          <p:nvPr>
            <p:ph idx="1"/>
          </p:nvPr>
        </p:nvSpPr>
        <p:spPr/>
        <p:txBody>
          <a:bodyPr/>
          <a:lstStyle/>
          <a:p>
            <a:pPr>
              <a:spcBef>
                <a:spcPct val="50000"/>
              </a:spcBef>
            </a:pPr>
            <a:r>
              <a:rPr lang="en-US" altLang="en-US" dirty="0">
                <a:latin typeface="Arial" charset="0"/>
                <a:cs typeface="Arial" charset="0"/>
              </a:rPr>
              <a:t>A vector </a:t>
            </a:r>
            <a:r>
              <a:rPr lang="en-US" altLang="en-US" i="1" dirty="0">
                <a:cs typeface="Times New Roman" pitchFamily="18" charset="0"/>
              </a:rPr>
              <a:t>v</a:t>
            </a:r>
            <a:r>
              <a:rPr lang="en-US" altLang="en-US" dirty="0">
                <a:cs typeface="Times New Roman" pitchFamily="18" charset="0"/>
              </a:rPr>
              <a:t> = (</a:t>
            </a:r>
            <a:r>
              <a:rPr lang="en-US" altLang="en-US" i="1" dirty="0">
                <a:cs typeface="Times New Roman" pitchFamily="18" charset="0"/>
              </a:rPr>
              <a:t>i</a:t>
            </a:r>
            <a:r>
              <a:rPr lang="en-US" altLang="en-US" baseline="-25000" dirty="0">
                <a:cs typeface="Times New Roman" pitchFamily="18" charset="0"/>
              </a:rPr>
              <a:t>1 </a:t>
            </a:r>
            <a:r>
              <a:rPr lang="en-US" altLang="en-US" i="1" dirty="0">
                <a:cs typeface="Times New Roman" pitchFamily="18" charset="0"/>
              </a:rPr>
              <a:t>i</a:t>
            </a:r>
            <a:r>
              <a:rPr lang="en-US" altLang="en-US" baseline="-25000" dirty="0">
                <a:cs typeface="Times New Roman" pitchFamily="18" charset="0"/>
              </a:rPr>
              <a:t>2… </a:t>
            </a:r>
            <a:r>
              <a:rPr lang="en-US" altLang="en-US" i="1" dirty="0">
                <a:cs typeface="Times New Roman" pitchFamily="18" charset="0"/>
              </a:rPr>
              <a:t>i</a:t>
            </a:r>
            <a:r>
              <a:rPr lang="en-US" altLang="en-US" baseline="-25000" dirty="0">
                <a:cs typeface="Times New Roman" pitchFamily="18" charset="0"/>
              </a:rPr>
              <a:t>n</a:t>
            </a:r>
            <a:r>
              <a:rPr lang="en-US" altLang="en-US" dirty="0">
                <a:cs typeface="Times New Roman" pitchFamily="18" charset="0"/>
              </a:rPr>
              <a:t>) </a:t>
            </a:r>
            <a:r>
              <a:rPr lang="en-US" altLang="en-US" dirty="0">
                <a:latin typeface="Arial" charset="0"/>
                <a:cs typeface="Arial" charset="0"/>
              </a:rPr>
              <a:t>represents a tour (</a:t>
            </a:r>
            <a:r>
              <a:rPr lang="en-US" altLang="en-US" i="1" dirty="0">
                <a:cs typeface="Times New Roman" pitchFamily="18" charset="0"/>
              </a:rPr>
              <a:t>v</a:t>
            </a:r>
            <a:r>
              <a:rPr lang="en-US" altLang="en-US" dirty="0">
                <a:latin typeface="Arial" charset="0"/>
                <a:cs typeface="Arial" charset="0"/>
              </a:rPr>
              <a:t> is a permutation of {1,2,…,n})</a:t>
            </a:r>
          </a:p>
          <a:p>
            <a:pPr>
              <a:spcBef>
                <a:spcPct val="50000"/>
              </a:spcBef>
            </a:pPr>
            <a:endParaRPr lang="en-US" altLang="en-US" sz="1000" dirty="0">
              <a:latin typeface="Arial" charset="0"/>
              <a:cs typeface="Arial" charset="0"/>
            </a:endParaRPr>
          </a:p>
          <a:p>
            <a:pPr>
              <a:spcBef>
                <a:spcPct val="20000"/>
              </a:spcBef>
              <a:buSzPct val="85000"/>
            </a:pPr>
            <a:r>
              <a:rPr lang="en-US" altLang="en-US" dirty="0">
                <a:latin typeface="Arial" charset="0"/>
                <a:cs typeface="Times New Roman (Hebrew)" charset="-79"/>
              </a:rPr>
              <a:t>Fitness </a:t>
            </a:r>
            <a:r>
              <a:rPr lang="en-US" altLang="en-US" i="1" dirty="0">
                <a:cs typeface="Times New Roman" pitchFamily="18" charset="0"/>
              </a:rPr>
              <a:t>f</a:t>
            </a:r>
            <a:r>
              <a:rPr lang="en-US" altLang="en-US" dirty="0">
                <a:latin typeface="Arial" charset="0"/>
                <a:cs typeface="Times New Roman (Hebrew)" charset="-79"/>
              </a:rPr>
              <a:t> of a solution is the inverse cost of the corresponding tour</a:t>
            </a:r>
          </a:p>
          <a:p>
            <a:pPr>
              <a:spcBef>
                <a:spcPct val="50000"/>
              </a:spcBef>
            </a:pPr>
            <a:endParaRPr lang="en-US" altLang="en-US" sz="1000" dirty="0">
              <a:latin typeface="Arial" charset="0"/>
              <a:cs typeface="Arial" charset="0"/>
            </a:endParaRPr>
          </a:p>
          <a:p>
            <a:pPr>
              <a:spcBef>
                <a:spcPct val="50000"/>
              </a:spcBef>
            </a:pPr>
            <a:r>
              <a:rPr lang="en-US" altLang="en-US" dirty="0">
                <a:solidFill>
                  <a:srgbClr val="FF0000"/>
                </a:solidFill>
                <a:latin typeface="Arial" charset="0"/>
                <a:cs typeface="Arial" charset="0"/>
              </a:rPr>
              <a:t>Initialization</a:t>
            </a:r>
            <a:r>
              <a:rPr lang="en-US" altLang="en-US" dirty="0">
                <a:latin typeface="Arial" charset="0"/>
                <a:cs typeface="Arial" charset="0"/>
              </a:rPr>
              <a:t>: use either some heuristics, or a random sample of permutations of {1,2,…,n}</a:t>
            </a:r>
          </a:p>
          <a:p>
            <a:pPr>
              <a:spcBef>
                <a:spcPct val="50000"/>
              </a:spcBef>
            </a:pPr>
            <a:endParaRPr lang="en-US" altLang="en-US" sz="1000" dirty="0">
              <a:latin typeface="Arial" charset="0"/>
              <a:cs typeface="Arial" charset="0"/>
            </a:endParaRPr>
          </a:p>
          <a:p>
            <a:pPr>
              <a:spcBef>
                <a:spcPct val="50000"/>
              </a:spcBef>
            </a:pPr>
            <a:r>
              <a:rPr lang="en-US" altLang="en-US" dirty="0">
                <a:latin typeface="Arial" charset="0"/>
                <a:cs typeface="Arial" charset="0"/>
              </a:rPr>
              <a:t>We shall use the fitness proportionate selection</a:t>
            </a:r>
          </a:p>
          <a:p>
            <a:endParaRPr lang="en-US" dirty="0"/>
          </a:p>
        </p:txBody>
      </p:sp>
      <p:sp>
        <p:nvSpPr>
          <p:cNvPr id="5" name="Footer Placeholder 3"/>
          <p:cNvSpPr>
            <a:spLocks noGrp="1"/>
          </p:cNvSpPr>
          <p:nvPr>
            <p:ph type="ftr" sz="quarter" idx="11"/>
          </p:nvPr>
        </p:nvSpPr>
        <p:spPr/>
        <p:txBody>
          <a:bodyPr/>
          <a:lstStyle/>
          <a:p>
            <a:r>
              <a:rPr lang="he-IL" altLang="en-US"/>
              <a:t>Introduction to Genetic Algorithms</a:t>
            </a:r>
            <a:endParaRPr lang="en-US" altLang="en-US"/>
          </a:p>
        </p:txBody>
      </p:sp>
      <p:sp>
        <p:nvSpPr>
          <p:cNvPr id="6" name="Slide Number Placeholder 4"/>
          <p:cNvSpPr>
            <a:spLocks noGrp="1"/>
          </p:cNvSpPr>
          <p:nvPr>
            <p:ph type="sldNum" sz="quarter" idx="12"/>
          </p:nvPr>
        </p:nvSpPr>
        <p:spPr/>
        <p:txBody>
          <a:bodyPr/>
          <a:lstStyle/>
          <a:p>
            <a:fld id="{DAFBEE3A-1822-4EA4-BE35-79CAC14EEA53}" type="slidenum">
              <a:rPr lang="en-US" altLang="en-US" smtClean="0"/>
              <a:pPr/>
              <a:t>20</a:t>
            </a:fld>
            <a:endParaRPr lang="en-US" altLang="en-US"/>
          </a:p>
        </p:txBody>
      </p:sp>
    </p:spTree>
    <p:extLst>
      <p:ext uri="{BB962C8B-B14F-4D97-AF65-F5344CB8AC3E}">
        <p14:creationId xmlns:p14="http://schemas.microsoft.com/office/powerpoint/2010/main" val="256577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p:txBody>
          <a:bodyPr/>
          <a:lstStyle/>
          <a:p>
            <a:r>
              <a:rPr lang="en-US" altLang="en-US" dirty="0"/>
              <a:t>TSP (Crossover)</a:t>
            </a:r>
          </a:p>
        </p:txBody>
      </p:sp>
      <p:sp>
        <p:nvSpPr>
          <p:cNvPr id="3" name="Content Placeholder 2"/>
          <p:cNvSpPr>
            <a:spLocks noGrp="1"/>
          </p:cNvSpPr>
          <p:nvPr>
            <p:ph idx="1"/>
          </p:nvPr>
        </p:nvSpPr>
        <p:spPr/>
        <p:txBody>
          <a:bodyPr>
            <a:normAutofit fontScale="92500" lnSpcReduction="10000"/>
          </a:bodyPr>
          <a:lstStyle/>
          <a:p>
            <a:pPr>
              <a:spcBef>
                <a:spcPct val="50000"/>
              </a:spcBef>
            </a:pPr>
            <a:r>
              <a:rPr lang="en-US" altLang="en-US" dirty="0">
                <a:latin typeface="Arial" charset="0"/>
                <a:cs typeface="Arial" charset="0"/>
              </a:rPr>
              <a:t>Builds offspring by choosing a sub-sequence of a tour from one parent and preserving the relative order of cities from the other parent and feasibility</a:t>
            </a:r>
          </a:p>
          <a:p>
            <a:pPr>
              <a:spcBef>
                <a:spcPct val="50000"/>
              </a:spcBef>
            </a:pPr>
            <a:r>
              <a:rPr lang="en-US" altLang="en-US" dirty="0">
                <a:solidFill>
                  <a:srgbClr val="FF0000"/>
                </a:solidFill>
                <a:latin typeface="Arial" charset="0"/>
                <a:cs typeface="Arial" charset="0"/>
              </a:rPr>
              <a:t>Example:</a:t>
            </a:r>
            <a:endParaRPr lang="en-US" altLang="en-US" sz="4000" dirty="0">
              <a:latin typeface="Arial" charset="0"/>
              <a:cs typeface="Arial" charset="0"/>
            </a:endParaRPr>
          </a:p>
          <a:p>
            <a:pPr>
              <a:spcBef>
                <a:spcPct val="50000"/>
              </a:spcBef>
            </a:pPr>
            <a:r>
              <a:rPr lang="en-US" altLang="en-US" i="1" dirty="0">
                <a:latin typeface="Arial" charset="0"/>
                <a:cs typeface="Arial" charset="0"/>
              </a:rPr>
              <a:t>p</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(1 2 3 </a:t>
            </a:r>
            <a:r>
              <a:rPr lang="en-US" altLang="en-US" dirty="0">
                <a:solidFill>
                  <a:schemeClr val="hlink"/>
                </a:solidFill>
                <a:cs typeface="Times New Roman" pitchFamily="18" charset="0"/>
              </a:rPr>
              <a:t>4 5 6 7</a:t>
            </a:r>
            <a:r>
              <a:rPr lang="en-US" altLang="en-US" dirty="0">
                <a:cs typeface="Times New Roman" pitchFamily="18" charset="0"/>
              </a:rPr>
              <a:t> 8 9) and</a:t>
            </a:r>
          </a:p>
          <a:p>
            <a:pPr>
              <a:spcBef>
                <a:spcPct val="50000"/>
              </a:spcBef>
            </a:pPr>
            <a:r>
              <a:rPr lang="en-US" altLang="en-US" i="1" dirty="0">
                <a:latin typeface="Arial" charset="0"/>
                <a:cs typeface="Arial" charset="0"/>
              </a:rPr>
              <a:t>p</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(4 5 2 </a:t>
            </a:r>
            <a:r>
              <a:rPr lang="en-US" altLang="en-US" dirty="0">
                <a:solidFill>
                  <a:schemeClr val="hlink"/>
                </a:solidFill>
                <a:cs typeface="Times New Roman" pitchFamily="18" charset="0"/>
              </a:rPr>
              <a:t>1 8 7 6</a:t>
            </a:r>
            <a:r>
              <a:rPr lang="en-US" altLang="en-US" dirty="0">
                <a:cs typeface="Times New Roman" pitchFamily="18" charset="0"/>
              </a:rPr>
              <a:t> 9 3)</a:t>
            </a:r>
          </a:p>
          <a:p>
            <a:pPr>
              <a:spcBef>
                <a:spcPct val="50000"/>
              </a:spcBef>
            </a:pPr>
            <a:r>
              <a:rPr lang="en-US" altLang="en-US" dirty="0">
                <a:latin typeface="Arial" charset="0"/>
                <a:cs typeface="Arial" charset="0"/>
              </a:rPr>
              <a:t>First, the segments between cut points are copied into offspring</a:t>
            </a:r>
          </a:p>
          <a:p>
            <a:pPr>
              <a:spcBef>
                <a:spcPct val="50000"/>
              </a:spcBef>
            </a:pPr>
            <a:r>
              <a:rPr lang="en-US" altLang="en-US" i="1" dirty="0">
                <a:latin typeface="Arial" charset="0"/>
                <a:cs typeface="Arial" charset="0"/>
              </a:rPr>
              <a:t>o</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(x </a:t>
            </a:r>
            <a:r>
              <a:rPr lang="en-US" altLang="en-US" dirty="0" err="1">
                <a:cs typeface="Times New Roman" pitchFamily="18" charset="0"/>
              </a:rPr>
              <a:t>x</a:t>
            </a:r>
            <a:r>
              <a:rPr lang="en-US" altLang="en-US" dirty="0">
                <a:cs typeface="Times New Roman" pitchFamily="18" charset="0"/>
              </a:rPr>
              <a:t> </a:t>
            </a:r>
            <a:r>
              <a:rPr lang="en-US" altLang="en-US" dirty="0" err="1">
                <a:cs typeface="Times New Roman" pitchFamily="18" charset="0"/>
              </a:rPr>
              <a:t>x</a:t>
            </a:r>
            <a:r>
              <a:rPr lang="en-US" altLang="en-US" dirty="0">
                <a:cs typeface="Times New Roman" pitchFamily="18" charset="0"/>
              </a:rPr>
              <a:t> </a:t>
            </a:r>
            <a:r>
              <a:rPr lang="en-US" altLang="en-US" dirty="0">
                <a:solidFill>
                  <a:schemeClr val="hlink"/>
                </a:solidFill>
                <a:cs typeface="Times New Roman" pitchFamily="18" charset="0"/>
              </a:rPr>
              <a:t>4 5 6 7</a:t>
            </a:r>
            <a:r>
              <a:rPr lang="en-US" altLang="en-US" dirty="0">
                <a:cs typeface="Times New Roman" pitchFamily="18" charset="0"/>
              </a:rPr>
              <a:t> x x) and</a:t>
            </a:r>
          </a:p>
          <a:p>
            <a:pPr>
              <a:spcBef>
                <a:spcPct val="50000"/>
              </a:spcBef>
            </a:pPr>
            <a:r>
              <a:rPr lang="en-US" altLang="en-US" i="1" dirty="0">
                <a:latin typeface="Arial" charset="0"/>
                <a:cs typeface="Arial" charset="0"/>
              </a:rPr>
              <a:t>o</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(x </a:t>
            </a:r>
            <a:r>
              <a:rPr lang="en-US" altLang="en-US" dirty="0" err="1">
                <a:cs typeface="Times New Roman" pitchFamily="18" charset="0"/>
              </a:rPr>
              <a:t>x</a:t>
            </a:r>
            <a:r>
              <a:rPr lang="en-US" altLang="en-US" dirty="0">
                <a:cs typeface="Times New Roman" pitchFamily="18" charset="0"/>
              </a:rPr>
              <a:t> </a:t>
            </a:r>
            <a:r>
              <a:rPr lang="en-US" altLang="en-US" dirty="0" err="1">
                <a:cs typeface="Times New Roman" pitchFamily="18" charset="0"/>
              </a:rPr>
              <a:t>x</a:t>
            </a:r>
            <a:r>
              <a:rPr lang="en-US" altLang="en-US" dirty="0">
                <a:cs typeface="Times New Roman" pitchFamily="18" charset="0"/>
              </a:rPr>
              <a:t> </a:t>
            </a:r>
            <a:r>
              <a:rPr lang="en-US" altLang="en-US" dirty="0">
                <a:solidFill>
                  <a:schemeClr val="hlink"/>
                </a:solidFill>
                <a:cs typeface="Times New Roman" pitchFamily="18" charset="0"/>
              </a:rPr>
              <a:t>1 8 7 6</a:t>
            </a:r>
            <a:r>
              <a:rPr lang="en-US" altLang="en-US" dirty="0">
                <a:cs typeface="Times New Roman" pitchFamily="18" charset="0"/>
              </a:rPr>
              <a:t> x x)</a:t>
            </a:r>
            <a:endParaRPr lang="en-US" altLang="en-US" dirty="0">
              <a:latin typeface="Arial" charset="0"/>
              <a:cs typeface="Arial" charset="0"/>
            </a:endParaRPr>
          </a:p>
          <a:p>
            <a:endParaRPr lang="en-US" dirty="0"/>
          </a:p>
        </p:txBody>
      </p:sp>
      <p:sp>
        <p:nvSpPr>
          <p:cNvPr id="5" name="Slide Number Placeholder 4"/>
          <p:cNvSpPr>
            <a:spLocks noGrp="1"/>
          </p:cNvSpPr>
          <p:nvPr>
            <p:ph type="sldNum" sz="quarter" idx="12"/>
          </p:nvPr>
        </p:nvSpPr>
        <p:spPr/>
        <p:txBody>
          <a:bodyPr/>
          <a:lstStyle/>
          <a:p>
            <a:fld id="{6B070AAC-3813-4B09-83CE-7A369B9D903E}" type="slidenum">
              <a:rPr lang="en-US" altLang="en-US" smtClean="0"/>
              <a:pPr/>
              <a:t>21</a:t>
            </a:fld>
            <a:endParaRPr lang="en-US" altLang="en-US"/>
          </a:p>
        </p:txBody>
      </p:sp>
    </p:spTree>
    <p:extLst>
      <p:ext uri="{BB962C8B-B14F-4D97-AF65-F5344CB8AC3E}">
        <p14:creationId xmlns:p14="http://schemas.microsoft.com/office/powerpoint/2010/main" val="1667757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p:txBody>
          <a:bodyPr/>
          <a:lstStyle/>
          <a:p>
            <a:r>
              <a:rPr lang="en-US" altLang="en-US" dirty="0"/>
              <a:t>TSP (Crossover-continued)</a:t>
            </a:r>
          </a:p>
        </p:txBody>
      </p:sp>
      <p:sp>
        <p:nvSpPr>
          <p:cNvPr id="2" name="Content Placeholder 1"/>
          <p:cNvSpPr>
            <a:spLocks noGrp="1"/>
          </p:cNvSpPr>
          <p:nvPr>
            <p:ph idx="1"/>
          </p:nvPr>
        </p:nvSpPr>
        <p:spPr/>
        <p:txBody>
          <a:bodyPr>
            <a:normAutofit fontScale="92500" lnSpcReduction="10000"/>
          </a:bodyPr>
          <a:lstStyle/>
          <a:p>
            <a:pPr>
              <a:spcBef>
                <a:spcPct val="50000"/>
              </a:spcBef>
            </a:pPr>
            <a:r>
              <a:rPr lang="en-US" altLang="en-US" dirty="0">
                <a:latin typeface="Arial" charset="0"/>
                <a:cs typeface="Arial" charset="0"/>
              </a:rPr>
              <a:t>Next, starting from the second cut point of one parent, the cities from the other parent are copied in the same order</a:t>
            </a:r>
          </a:p>
          <a:p>
            <a:pPr>
              <a:spcBef>
                <a:spcPct val="50000"/>
              </a:spcBef>
            </a:pPr>
            <a:r>
              <a:rPr lang="en-US" altLang="en-US" dirty="0">
                <a:latin typeface="Arial" charset="0"/>
                <a:cs typeface="Arial" charset="0"/>
              </a:rPr>
              <a:t>The sequence of the cities in the second parent is 		</a:t>
            </a:r>
          </a:p>
          <a:p>
            <a:pPr marL="0" indent="0" algn="ctr">
              <a:spcBef>
                <a:spcPct val="50000"/>
              </a:spcBef>
              <a:buNone/>
            </a:pPr>
            <a:r>
              <a:rPr lang="en-US" altLang="en-US" dirty="0">
                <a:latin typeface="Arial" charset="0"/>
                <a:cs typeface="Arial" charset="0"/>
              </a:rPr>
              <a:t>9 – 3 – 4 – 5 – 2 – 1 – 8 – 7 – 6</a:t>
            </a:r>
          </a:p>
          <a:p>
            <a:pPr>
              <a:spcBef>
                <a:spcPct val="50000"/>
              </a:spcBef>
            </a:pPr>
            <a:r>
              <a:rPr lang="en-US" altLang="en-US" dirty="0">
                <a:latin typeface="Arial" charset="0"/>
                <a:cs typeface="Arial" charset="0"/>
              </a:rPr>
              <a:t>After removal of cities from the first offspring we get 		</a:t>
            </a:r>
          </a:p>
          <a:p>
            <a:pPr marL="0" indent="0" algn="ctr">
              <a:spcBef>
                <a:spcPct val="50000"/>
              </a:spcBef>
              <a:buNone/>
            </a:pPr>
            <a:r>
              <a:rPr lang="en-US" altLang="en-US" dirty="0">
                <a:latin typeface="Arial" charset="0"/>
                <a:cs typeface="Arial" charset="0"/>
              </a:rPr>
              <a:t>9 – 3 – 2 – 1 – 8</a:t>
            </a:r>
          </a:p>
          <a:p>
            <a:pPr>
              <a:spcBef>
                <a:spcPct val="50000"/>
              </a:spcBef>
            </a:pPr>
            <a:r>
              <a:rPr lang="en-US" altLang="en-US" dirty="0">
                <a:latin typeface="Arial" charset="0"/>
                <a:cs typeface="Arial" charset="0"/>
              </a:rPr>
              <a:t>This sequence is placed in the first offspring </a:t>
            </a:r>
          </a:p>
          <a:p>
            <a:pPr>
              <a:spcBef>
                <a:spcPct val="50000"/>
              </a:spcBef>
            </a:pPr>
            <a:r>
              <a:rPr lang="en-US" altLang="en-US" i="1" dirty="0">
                <a:latin typeface="Arial" charset="0"/>
                <a:cs typeface="Arial" charset="0"/>
              </a:rPr>
              <a:t>o</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(2 1 8 </a:t>
            </a:r>
            <a:r>
              <a:rPr lang="en-US" altLang="en-US" dirty="0">
                <a:solidFill>
                  <a:schemeClr val="hlink"/>
                </a:solidFill>
                <a:cs typeface="Times New Roman" pitchFamily="18" charset="0"/>
              </a:rPr>
              <a:t>4 5 6 7</a:t>
            </a:r>
            <a:r>
              <a:rPr lang="en-US" altLang="en-US" dirty="0">
                <a:cs typeface="Times New Roman" pitchFamily="18" charset="0"/>
              </a:rPr>
              <a:t> 9 3), </a:t>
            </a:r>
            <a:r>
              <a:rPr lang="en-US" altLang="en-US" dirty="0">
                <a:latin typeface="Arial" charset="0"/>
                <a:cs typeface="Arial" charset="0"/>
              </a:rPr>
              <a:t>and similarly in the second</a:t>
            </a:r>
          </a:p>
          <a:p>
            <a:pPr>
              <a:spcBef>
                <a:spcPct val="50000"/>
              </a:spcBef>
            </a:pPr>
            <a:r>
              <a:rPr lang="en-US" altLang="en-US" i="1" dirty="0">
                <a:latin typeface="Arial" charset="0"/>
                <a:cs typeface="Arial" charset="0"/>
              </a:rPr>
              <a:t>o</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(3 4 5 </a:t>
            </a:r>
            <a:r>
              <a:rPr lang="en-US" altLang="en-US" dirty="0">
                <a:solidFill>
                  <a:schemeClr val="hlink"/>
                </a:solidFill>
                <a:cs typeface="Times New Roman" pitchFamily="18" charset="0"/>
              </a:rPr>
              <a:t>1 8 7 6</a:t>
            </a:r>
            <a:r>
              <a:rPr lang="en-US" altLang="en-US" dirty="0">
                <a:cs typeface="Times New Roman" pitchFamily="18" charset="0"/>
              </a:rPr>
              <a:t> 9 2)</a:t>
            </a:r>
          </a:p>
          <a:p>
            <a:endParaRPr lang="en-US" dirty="0"/>
          </a:p>
        </p:txBody>
      </p:sp>
      <p:sp>
        <p:nvSpPr>
          <p:cNvPr id="5" name="Slide Number Placeholder 4"/>
          <p:cNvSpPr>
            <a:spLocks noGrp="1"/>
          </p:cNvSpPr>
          <p:nvPr>
            <p:ph type="sldNum" sz="quarter" idx="12"/>
          </p:nvPr>
        </p:nvSpPr>
        <p:spPr/>
        <p:txBody>
          <a:bodyPr/>
          <a:lstStyle/>
          <a:p>
            <a:fld id="{F10965DA-5FA0-41CC-B56A-662BD0AB8E84}" type="slidenum">
              <a:rPr lang="en-US" altLang="en-US" smtClean="0"/>
              <a:pPr/>
              <a:t>22</a:t>
            </a:fld>
            <a:endParaRPr lang="en-US" altLang="en-US"/>
          </a:p>
        </p:txBody>
      </p:sp>
    </p:spTree>
    <p:extLst>
      <p:ext uri="{BB962C8B-B14F-4D97-AF65-F5344CB8AC3E}">
        <p14:creationId xmlns:p14="http://schemas.microsoft.com/office/powerpoint/2010/main" val="2949595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p:txBody>
          <a:bodyPr/>
          <a:lstStyle/>
          <a:p>
            <a:r>
              <a:rPr lang="en-US" altLang="en-US" dirty="0"/>
              <a:t>TSP (Inversion)</a:t>
            </a:r>
          </a:p>
        </p:txBody>
      </p:sp>
      <p:sp>
        <p:nvSpPr>
          <p:cNvPr id="2" name="Content Placeholder 1"/>
          <p:cNvSpPr>
            <a:spLocks noGrp="1"/>
          </p:cNvSpPr>
          <p:nvPr>
            <p:ph idx="1"/>
          </p:nvPr>
        </p:nvSpPr>
        <p:spPr/>
        <p:txBody>
          <a:bodyPr>
            <a:normAutofit/>
          </a:bodyPr>
          <a:lstStyle/>
          <a:p>
            <a:pPr>
              <a:spcBef>
                <a:spcPct val="50000"/>
              </a:spcBef>
            </a:pPr>
            <a:r>
              <a:rPr lang="en-US" altLang="en-US" dirty="0">
                <a:latin typeface="Arial" charset="0"/>
                <a:cs typeface="Arial" charset="0"/>
              </a:rPr>
              <a:t>The sub-string between two randomly selected points in the path is reversed </a:t>
            </a:r>
          </a:p>
          <a:p>
            <a:pPr>
              <a:spcBef>
                <a:spcPct val="50000"/>
              </a:spcBef>
            </a:pPr>
            <a:endParaRPr lang="en-US" altLang="en-US" dirty="0">
              <a:solidFill>
                <a:srgbClr val="FF0000"/>
              </a:solidFill>
              <a:latin typeface="Arial" charset="0"/>
              <a:cs typeface="Arial" charset="0"/>
            </a:endParaRPr>
          </a:p>
          <a:p>
            <a:pPr>
              <a:spcBef>
                <a:spcPct val="50000"/>
              </a:spcBef>
            </a:pPr>
            <a:r>
              <a:rPr lang="en-US" altLang="en-US" dirty="0">
                <a:solidFill>
                  <a:srgbClr val="FF0000"/>
                </a:solidFill>
                <a:latin typeface="Arial" charset="0"/>
                <a:cs typeface="Arial" charset="0"/>
              </a:rPr>
              <a:t>Example:</a:t>
            </a:r>
          </a:p>
          <a:p>
            <a:pPr marL="0" indent="0" algn="ctr">
              <a:spcBef>
                <a:spcPct val="50000"/>
              </a:spcBef>
              <a:buNone/>
            </a:pPr>
            <a:r>
              <a:rPr lang="en-US" altLang="en-US" dirty="0">
                <a:cs typeface="Times New Roman" pitchFamily="18" charset="0"/>
              </a:rPr>
              <a:t>(1 2 </a:t>
            </a:r>
            <a:r>
              <a:rPr lang="en-US" altLang="en-US" dirty="0">
                <a:solidFill>
                  <a:schemeClr val="hlink"/>
                </a:solidFill>
                <a:cs typeface="Times New Roman" pitchFamily="18" charset="0"/>
              </a:rPr>
              <a:t>3 4 5 6 7</a:t>
            </a:r>
            <a:r>
              <a:rPr lang="en-US" altLang="en-US" dirty="0">
                <a:cs typeface="Times New Roman" pitchFamily="18" charset="0"/>
              </a:rPr>
              <a:t> 8 9) </a:t>
            </a:r>
            <a:r>
              <a:rPr lang="en-US" altLang="en-US" dirty="0">
                <a:latin typeface="Arial" charset="0"/>
                <a:cs typeface="Arial" charset="0"/>
              </a:rPr>
              <a:t>is changed into </a:t>
            </a:r>
            <a:r>
              <a:rPr lang="en-US" altLang="en-US" dirty="0">
                <a:cs typeface="Times New Roman" pitchFamily="18" charset="0"/>
              </a:rPr>
              <a:t>(1 2 </a:t>
            </a:r>
            <a:r>
              <a:rPr lang="en-US" altLang="en-US" dirty="0">
                <a:solidFill>
                  <a:schemeClr val="hlink"/>
                </a:solidFill>
                <a:cs typeface="Times New Roman" pitchFamily="18" charset="0"/>
              </a:rPr>
              <a:t>7 6 5 4 3 </a:t>
            </a:r>
            <a:r>
              <a:rPr lang="en-US" altLang="en-US" dirty="0">
                <a:cs typeface="Times New Roman" pitchFamily="18" charset="0"/>
              </a:rPr>
              <a:t>8 9) </a:t>
            </a:r>
          </a:p>
          <a:p>
            <a:pPr>
              <a:spcBef>
                <a:spcPct val="50000"/>
              </a:spcBef>
            </a:pPr>
            <a:endParaRPr lang="en-US" altLang="en-US" dirty="0">
              <a:latin typeface="Arial" charset="0"/>
              <a:cs typeface="Arial" charset="0"/>
            </a:endParaRPr>
          </a:p>
          <a:p>
            <a:pPr>
              <a:spcBef>
                <a:spcPct val="50000"/>
              </a:spcBef>
            </a:pPr>
            <a:r>
              <a:rPr lang="en-US" altLang="en-US" dirty="0">
                <a:latin typeface="Arial" charset="0"/>
                <a:cs typeface="Arial" charset="0"/>
              </a:rPr>
              <a:t>Such simple inversion guarantees that the resulting offspring is a legal tour</a:t>
            </a:r>
          </a:p>
          <a:p>
            <a:endParaRPr lang="en-US" dirty="0"/>
          </a:p>
        </p:txBody>
      </p:sp>
      <p:sp>
        <p:nvSpPr>
          <p:cNvPr id="5" name="Slide Number Placeholder 4"/>
          <p:cNvSpPr>
            <a:spLocks noGrp="1"/>
          </p:cNvSpPr>
          <p:nvPr>
            <p:ph type="sldNum" sz="quarter" idx="12"/>
          </p:nvPr>
        </p:nvSpPr>
        <p:spPr/>
        <p:txBody>
          <a:bodyPr/>
          <a:lstStyle/>
          <a:p>
            <a:fld id="{061BA18C-0A38-4275-8564-03C4F6A4F295}" type="slidenum">
              <a:rPr lang="en-US" altLang="en-US" smtClean="0"/>
              <a:pPr/>
              <a:t>23</a:t>
            </a:fld>
            <a:endParaRPr lang="en-US" altLang="en-US"/>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3410385" y="2382540"/>
              <a:ext cx="2931840" cy="1479600"/>
            </p14:xfrm>
          </p:contentPart>
        </mc:Choice>
        <mc:Fallback xmlns="">
          <p:pic>
            <p:nvPicPr>
              <p:cNvPr id="3" name="Ink 2"/>
              <p:cNvPicPr/>
              <p:nvPr/>
            </p:nvPicPr>
            <p:blipFill>
              <a:blip r:embed="rId3"/>
              <a:stretch>
                <a:fillRect/>
              </a:stretch>
            </p:blipFill>
            <p:spPr>
              <a:xfrm>
                <a:off x="3401025" y="2373180"/>
                <a:ext cx="2950560" cy="1498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3496320" y="3245400"/>
              <a:ext cx="654840" cy="421560"/>
            </p14:xfrm>
          </p:contentPart>
        </mc:Choice>
        <mc:Fallback xmlns="">
          <p:pic>
            <p:nvPicPr>
              <p:cNvPr id="4" name="Ink 3"/>
              <p:cNvPicPr/>
              <p:nvPr/>
            </p:nvPicPr>
            <p:blipFill>
              <a:blip r:embed="rId5"/>
              <a:stretch>
                <a:fillRect/>
              </a:stretch>
            </p:blipFill>
            <p:spPr>
              <a:xfrm>
                <a:off x="3486960" y="3236040"/>
                <a:ext cx="673560" cy="440280"/>
              </a:xfrm>
              <a:prstGeom prst="rect">
                <a:avLst/>
              </a:prstGeom>
            </p:spPr>
          </p:pic>
        </mc:Fallback>
      </mc:AlternateContent>
    </p:spTree>
    <p:extLst>
      <p:ext uri="{BB962C8B-B14F-4D97-AF65-F5344CB8AC3E}">
        <p14:creationId xmlns:p14="http://schemas.microsoft.com/office/powerpoint/2010/main" val="1771589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noFill/>
        </p:spPr>
        <p:txBody>
          <a:bodyPr vert="horz" lIns="90488" tIns="44450" rIns="90488" bIns="44450" rtlCol="0" anchor="b">
            <a:normAutofit/>
          </a:bodyPr>
          <a:lstStyle/>
          <a:p>
            <a:r>
              <a:rPr lang="en-US" altLang="en-US" dirty="0"/>
              <a:t>The Traveling Salesman Problem</a:t>
            </a:r>
          </a:p>
        </p:txBody>
      </p:sp>
      <p:sp>
        <p:nvSpPr>
          <p:cNvPr id="44036" name="Rectangle 3"/>
          <p:cNvSpPr>
            <a:spLocks noGrp="1" noChangeArrowheads="1"/>
          </p:cNvSpPr>
          <p:nvPr>
            <p:ph idx="1"/>
          </p:nvPr>
        </p:nvSpPr>
        <p:spPr>
          <a:noFill/>
        </p:spPr>
        <p:txBody>
          <a:bodyPr vert="horz" lIns="90488" tIns="44450" rIns="90488" bIns="44450" rtlCol="0">
            <a:normAutofit/>
          </a:bodyPr>
          <a:lstStyle/>
          <a:p>
            <a:r>
              <a:rPr lang="en-US" altLang="en-US" dirty="0"/>
              <a:t>Find a tour of a given set of cities so that </a:t>
            </a:r>
          </a:p>
          <a:p>
            <a:pPr lvl="1" eaLnBrk="1" hangingPunct="1"/>
            <a:r>
              <a:rPr lang="en-US" altLang="en-US" dirty="0"/>
              <a:t>each city is visited only once</a:t>
            </a:r>
          </a:p>
          <a:p>
            <a:pPr lvl="1" eaLnBrk="1" hangingPunct="1"/>
            <a:r>
              <a:rPr lang="en-US" altLang="en-US" dirty="0"/>
              <a:t>the total distance traveled is minimized</a:t>
            </a:r>
          </a:p>
          <a:p>
            <a:pPr eaLnBrk="1" hangingPunct="1">
              <a:buFontTx/>
              <a:buNone/>
            </a:pPr>
            <a:endParaRPr lang="en-US" altLang="en-US" sz="1400" dirty="0"/>
          </a:p>
          <a:p>
            <a:pPr eaLnBrk="1" hangingPunct="1">
              <a:buFontTx/>
              <a:buNone/>
            </a:pPr>
            <a:endParaRPr lang="en-US" altLang="en-US" sz="1400" dirty="0"/>
          </a:p>
        </p:txBody>
      </p:sp>
      <p:sp>
        <p:nvSpPr>
          <p:cNvPr id="44034" name="Plassholder for lysbildenumm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BCB45B5-FA73-48F9-A062-7140479392C4}" type="slidenum">
              <a:rPr lang="en-GB" altLang="en-US" sz="1400"/>
              <a:pPr/>
              <a:t>24</a:t>
            </a:fld>
            <a:endParaRPr lang="en-GB" altLang="en-US" sz="1400"/>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6777360" y="2519280"/>
              <a:ext cx="457560" cy="439560"/>
            </p14:xfrm>
          </p:contentPart>
        </mc:Choice>
        <mc:Fallback xmlns="">
          <p:pic>
            <p:nvPicPr>
              <p:cNvPr id="2" name="Ink 1"/>
              <p:cNvPicPr/>
              <p:nvPr/>
            </p:nvPicPr>
            <p:blipFill>
              <a:blip r:embed="rId4"/>
              <a:stretch>
                <a:fillRect/>
              </a:stretch>
            </p:blipFill>
            <p:spPr>
              <a:xfrm>
                <a:off x="6768000" y="2509920"/>
                <a:ext cx="476280" cy="458280"/>
              </a:xfrm>
              <a:prstGeom prst="rect">
                <a:avLst/>
              </a:prstGeom>
            </p:spPr>
          </p:pic>
        </mc:Fallback>
      </mc:AlternateContent>
    </p:spTree>
    <p:extLst>
      <p:ext uri="{BB962C8B-B14F-4D97-AF65-F5344CB8AC3E}">
        <p14:creationId xmlns:p14="http://schemas.microsoft.com/office/powerpoint/2010/main" val="108399022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noFill/>
        </p:spPr>
        <p:txBody>
          <a:bodyPr vert="horz" lIns="90488" tIns="44450" rIns="90488" bIns="44450" rtlCol="0" anchor="b">
            <a:normAutofit/>
          </a:bodyPr>
          <a:lstStyle/>
          <a:p>
            <a:pPr eaLnBrk="1" hangingPunct="1"/>
            <a:r>
              <a:rPr lang="en-US" altLang="en-US" dirty="0"/>
              <a:t>Representation</a:t>
            </a:r>
          </a:p>
        </p:txBody>
      </p:sp>
      <p:sp>
        <p:nvSpPr>
          <p:cNvPr id="45060" name="Rectangle 3"/>
          <p:cNvSpPr>
            <a:spLocks noGrp="1" noChangeArrowheads="1"/>
          </p:cNvSpPr>
          <p:nvPr>
            <p:ph idx="1"/>
          </p:nvPr>
        </p:nvSpPr>
        <p:spPr>
          <a:noFill/>
        </p:spPr>
        <p:txBody>
          <a:bodyPr vert="horz" lIns="90488" tIns="44450" rIns="90488" bIns="44450" rtlCol="0">
            <a:normAutofit/>
          </a:bodyPr>
          <a:lstStyle/>
          <a:p>
            <a:r>
              <a:rPr lang="en-US" altLang="en-US" dirty="0"/>
              <a:t>Representation is an ordered list of city numbers</a:t>
            </a:r>
          </a:p>
          <a:p>
            <a:pPr eaLnBrk="1" hangingPunct="1">
              <a:buFontTx/>
              <a:buNone/>
            </a:pPr>
            <a:endParaRPr lang="en-US" altLang="en-US" sz="1800" dirty="0"/>
          </a:p>
          <a:p>
            <a:pPr eaLnBrk="1" hangingPunct="1">
              <a:buFontTx/>
              <a:buNone/>
            </a:pPr>
            <a:r>
              <a:rPr lang="en-US" altLang="en-US" sz="2400" dirty="0"/>
              <a:t>1) London     3) Dunedin        5) Beijing     7) Tokyo</a:t>
            </a:r>
          </a:p>
          <a:p>
            <a:pPr eaLnBrk="1" hangingPunct="1">
              <a:buFontTx/>
              <a:buNone/>
            </a:pPr>
            <a:r>
              <a:rPr lang="en-US" altLang="en-US" sz="2400" dirty="0"/>
              <a:t>2) Venice      4) Singapore     6) Phoenix   8) Victoria</a:t>
            </a:r>
            <a:endParaRPr lang="en-US" altLang="en-US" dirty="0"/>
          </a:p>
          <a:p>
            <a:pPr eaLnBrk="1" hangingPunct="1">
              <a:buFontTx/>
              <a:buNone/>
            </a:pPr>
            <a:endParaRPr lang="en-US" altLang="en-US" dirty="0"/>
          </a:p>
          <a:p>
            <a:pPr eaLnBrk="1" hangingPunct="1">
              <a:buFontTx/>
              <a:buNone/>
            </a:pPr>
            <a:r>
              <a:rPr lang="en-US" altLang="en-US" sz="2400" dirty="0"/>
              <a:t>City List 1</a:t>
            </a:r>
            <a:r>
              <a:rPr lang="en-US" altLang="en-US" dirty="0"/>
              <a:t>     (3   5   7   2   1   6   4   8)</a:t>
            </a:r>
          </a:p>
          <a:p>
            <a:pPr eaLnBrk="1" hangingPunct="1">
              <a:buFontTx/>
              <a:buNone/>
            </a:pPr>
            <a:r>
              <a:rPr lang="en-US" altLang="en-US" sz="2400" dirty="0"/>
              <a:t>City List 2</a:t>
            </a:r>
            <a:r>
              <a:rPr lang="en-US" altLang="en-US" dirty="0"/>
              <a:t>     (2   5   7   6   8   1   3   4)</a:t>
            </a:r>
          </a:p>
        </p:txBody>
      </p:sp>
      <p:sp>
        <p:nvSpPr>
          <p:cNvPr id="45058" name="Plassholder for lysbildenumm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0627A0B-5930-419D-8EF6-17EB9AB5B753}" type="slidenum">
              <a:rPr lang="en-GB" altLang="en-US" sz="1400"/>
              <a:pPr/>
              <a:t>25</a:t>
            </a:fld>
            <a:endParaRPr lang="en-GB" altLang="en-US" sz="1400"/>
          </a:p>
        </p:txBody>
      </p:sp>
    </p:spTree>
    <p:extLst>
      <p:ext uri="{BB962C8B-B14F-4D97-AF65-F5344CB8AC3E}">
        <p14:creationId xmlns:p14="http://schemas.microsoft.com/office/powerpoint/2010/main" val="58012016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Plassholder for lysbildenumm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15F9D6D-DE12-44BA-81AF-4EFBDC18C20E}" type="slidenum">
              <a:rPr lang="en-GB" altLang="en-US" sz="1400"/>
              <a:pPr/>
              <a:t>26</a:t>
            </a:fld>
            <a:endParaRPr lang="en-GB" altLang="en-US" sz="1400"/>
          </a:p>
        </p:txBody>
      </p:sp>
      <p:sp>
        <p:nvSpPr>
          <p:cNvPr id="46083" name="Rectangle 2"/>
          <p:cNvSpPr>
            <a:spLocks noChangeArrowheads="1"/>
          </p:cNvSpPr>
          <p:nvPr/>
        </p:nvSpPr>
        <p:spPr bwMode="auto">
          <a:xfrm>
            <a:off x="3084652" y="2909612"/>
            <a:ext cx="1951037" cy="381000"/>
          </a:xfrm>
          <a:prstGeom prst="rect">
            <a:avLst/>
          </a:prstGeom>
          <a:solidFill>
            <a:schemeClr val="bg2"/>
          </a:solidFill>
          <a:ln w="12700">
            <a:solidFill>
              <a:schemeClr val="tx1"/>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nb-NO" altLang="en-US"/>
          </a:p>
        </p:txBody>
      </p:sp>
      <p:sp>
        <p:nvSpPr>
          <p:cNvPr id="46084" name="Rectangle 3"/>
          <p:cNvSpPr>
            <a:spLocks noChangeArrowheads="1"/>
          </p:cNvSpPr>
          <p:nvPr/>
        </p:nvSpPr>
        <p:spPr bwMode="auto">
          <a:xfrm>
            <a:off x="3084652" y="4213087"/>
            <a:ext cx="1951038" cy="368300"/>
          </a:xfrm>
          <a:prstGeom prst="rect">
            <a:avLst/>
          </a:prstGeom>
          <a:solidFill>
            <a:schemeClr val="bg2"/>
          </a:solidFill>
          <a:ln w="12700">
            <a:solidFill>
              <a:schemeClr val="tx1"/>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nb-NO" altLang="en-US"/>
          </a:p>
        </p:txBody>
      </p:sp>
      <p:sp>
        <p:nvSpPr>
          <p:cNvPr id="46085" name="Rectangle 4"/>
          <p:cNvSpPr>
            <a:spLocks noGrp="1" noChangeArrowheads="1"/>
          </p:cNvSpPr>
          <p:nvPr>
            <p:ph type="body" idx="1"/>
          </p:nvPr>
        </p:nvSpPr>
        <p:spPr>
          <a:noFill/>
        </p:spPr>
        <p:txBody>
          <a:bodyPr vert="horz" lIns="90488" tIns="44450" rIns="90488" bIns="44450" rtlCol="0">
            <a:normAutofit/>
          </a:bodyPr>
          <a:lstStyle/>
          <a:p>
            <a:r>
              <a:rPr lang="en-US" altLang="en-US" dirty="0"/>
              <a:t>Crossover combines inversion and recombination:</a:t>
            </a:r>
          </a:p>
          <a:p>
            <a:pPr eaLnBrk="1" hangingPunct="1">
              <a:buFontTx/>
              <a:buNone/>
            </a:pPr>
            <a:r>
              <a:rPr lang="en-US" altLang="en-US" sz="2000" dirty="0"/>
              <a:t>       </a:t>
            </a:r>
            <a:r>
              <a:rPr lang="en-US" altLang="en-US" dirty="0"/>
              <a:t>                       *             *</a:t>
            </a:r>
          </a:p>
          <a:p>
            <a:pPr eaLnBrk="1" hangingPunct="1">
              <a:buFontTx/>
              <a:buNone/>
            </a:pPr>
            <a:r>
              <a:rPr lang="en-US" altLang="en-US" sz="2400" dirty="0"/>
              <a:t>Parent1</a:t>
            </a:r>
            <a:r>
              <a:rPr lang="en-US" altLang="en-US" dirty="0"/>
              <a:t>      (3   5   7   2   1   6   4   8)</a:t>
            </a:r>
          </a:p>
          <a:p>
            <a:pPr eaLnBrk="1" hangingPunct="1">
              <a:buFontTx/>
              <a:buNone/>
            </a:pPr>
            <a:r>
              <a:rPr lang="en-US" altLang="en-US" sz="2400" dirty="0"/>
              <a:t>Parent2</a:t>
            </a:r>
            <a:r>
              <a:rPr lang="en-US" altLang="en-US" dirty="0"/>
              <a:t>      (2   5   7   6   8   1   3   4)</a:t>
            </a:r>
          </a:p>
          <a:p>
            <a:pPr eaLnBrk="1" hangingPunct="1">
              <a:buFontTx/>
              <a:buNone/>
            </a:pPr>
            <a:endParaRPr lang="en-US" altLang="en-US" sz="1600" dirty="0"/>
          </a:p>
          <a:p>
            <a:pPr eaLnBrk="1" hangingPunct="1">
              <a:buFontTx/>
              <a:buNone/>
            </a:pPr>
            <a:r>
              <a:rPr lang="en-US" altLang="en-US" sz="2400" dirty="0"/>
              <a:t>Child</a:t>
            </a:r>
            <a:r>
              <a:rPr lang="en-US" altLang="en-US" dirty="0"/>
              <a:t>          (5   8   7   2   1   6   3   4)</a:t>
            </a:r>
          </a:p>
          <a:p>
            <a:pPr eaLnBrk="1" hangingPunct="1">
              <a:buFontTx/>
              <a:buNone/>
            </a:pPr>
            <a:endParaRPr lang="en-US" altLang="en-US" dirty="0"/>
          </a:p>
          <a:p>
            <a:r>
              <a:rPr lang="en-US" altLang="en-US" dirty="0"/>
              <a:t>This operator is called order-based crossover.</a:t>
            </a:r>
          </a:p>
        </p:txBody>
      </p:sp>
      <p:sp>
        <p:nvSpPr>
          <p:cNvPr id="46086" name="Rectangle 5"/>
          <p:cNvSpPr>
            <a:spLocks noGrp="1" noChangeArrowheads="1"/>
          </p:cNvSpPr>
          <p:nvPr>
            <p:ph type="title"/>
          </p:nvPr>
        </p:nvSpPr>
        <p:spPr>
          <a:noFill/>
        </p:spPr>
        <p:txBody>
          <a:bodyPr vert="horz" lIns="90488" tIns="44450" rIns="90488" bIns="44450" rtlCol="0" anchor="b">
            <a:normAutofit/>
          </a:bodyPr>
          <a:lstStyle/>
          <a:p>
            <a:pPr eaLnBrk="1" hangingPunct="1"/>
            <a:r>
              <a:rPr lang="en-US" altLang="en-US"/>
              <a:t>Crossover</a:t>
            </a:r>
          </a:p>
        </p:txBody>
      </p:sp>
      <p:sp>
        <p:nvSpPr>
          <p:cNvPr id="46087" name="Line 6"/>
          <p:cNvSpPr>
            <a:spLocks noChangeShapeType="1"/>
          </p:cNvSpPr>
          <p:nvPr/>
        </p:nvSpPr>
        <p:spPr bwMode="auto">
          <a:xfrm>
            <a:off x="2077901" y="3957430"/>
            <a:ext cx="42783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501280" y="2788200"/>
              <a:ext cx="7198920" cy="2958840"/>
            </p14:xfrm>
          </p:contentPart>
        </mc:Choice>
        <mc:Fallback xmlns="">
          <p:pic>
            <p:nvPicPr>
              <p:cNvPr id="2" name="Ink 1"/>
              <p:cNvPicPr/>
              <p:nvPr/>
            </p:nvPicPr>
            <p:blipFill>
              <a:blip r:embed="rId4"/>
              <a:stretch>
                <a:fillRect/>
              </a:stretch>
            </p:blipFill>
            <p:spPr>
              <a:xfrm>
                <a:off x="2491920" y="2778840"/>
                <a:ext cx="7217640" cy="2977560"/>
              </a:xfrm>
              <a:prstGeom prst="rect">
                <a:avLst/>
              </a:prstGeom>
            </p:spPr>
          </p:pic>
        </mc:Fallback>
      </mc:AlternateContent>
    </p:spTree>
    <p:extLst>
      <p:ext uri="{BB962C8B-B14F-4D97-AF65-F5344CB8AC3E}">
        <p14:creationId xmlns:p14="http://schemas.microsoft.com/office/powerpoint/2010/main" val="310941971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p:txBody>
          <a:bodyPr/>
          <a:lstStyle/>
          <a:p>
            <a:r>
              <a:rPr lang="en-US" altLang="en-US" dirty="0"/>
              <a:t>TSP (Crossover1)</a:t>
            </a:r>
          </a:p>
        </p:txBody>
      </p:sp>
      <p:sp>
        <p:nvSpPr>
          <p:cNvPr id="2" name="Content Placeholder 1"/>
          <p:cNvSpPr>
            <a:spLocks noGrp="1"/>
          </p:cNvSpPr>
          <p:nvPr>
            <p:ph idx="1"/>
          </p:nvPr>
        </p:nvSpPr>
        <p:spPr/>
        <p:txBody>
          <a:bodyPr>
            <a:normAutofit lnSpcReduction="10000"/>
          </a:bodyPr>
          <a:lstStyle/>
          <a:p>
            <a:pPr>
              <a:spcBef>
                <a:spcPct val="50000"/>
              </a:spcBef>
            </a:pPr>
            <a:r>
              <a:rPr lang="en-US" altLang="en-US" dirty="0">
                <a:latin typeface="Arial" charset="0"/>
                <a:cs typeface="Arial" charset="0"/>
              </a:rPr>
              <a:t>Builds offspring by choosing a sub-sequence of a tour from one parent and preserving the relative order of cities from the other parent and feasibility</a:t>
            </a:r>
          </a:p>
          <a:p>
            <a:pPr>
              <a:spcBef>
                <a:spcPct val="50000"/>
              </a:spcBef>
            </a:pPr>
            <a:r>
              <a:rPr lang="en-US" altLang="en-US" b="1" dirty="0">
                <a:latin typeface="Arial" charset="0"/>
                <a:cs typeface="Arial" charset="0"/>
              </a:rPr>
              <a:t>Example</a:t>
            </a:r>
            <a:r>
              <a:rPr lang="en-US" altLang="en-US" dirty="0">
                <a:solidFill>
                  <a:srgbClr val="FF0000"/>
                </a:solidFill>
                <a:latin typeface="Arial" charset="0"/>
                <a:cs typeface="Arial" charset="0"/>
              </a:rPr>
              <a:t>:</a:t>
            </a:r>
            <a:endParaRPr lang="en-US" altLang="en-US" sz="4000" dirty="0">
              <a:latin typeface="Arial" charset="0"/>
              <a:cs typeface="Arial" charset="0"/>
            </a:endParaRPr>
          </a:p>
          <a:p>
            <a:pPr lvl="1">
              <a:spcBef>
                <a:spcPct val="50000"/>
              </a:spcBef>
            </a:pPr>
            <a:r>
              <a:rPr lang="en-US" altLang="en-US" i="1" dirty="0">
                <a:latin typeface="Arial" charset="0"/>
                <a:cs typeface="Arial" charset="0"/>
              </a:rPr>
              <a:t>p</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(1 2 3 </a:t>
            </a:r>
            <a:r>
              <a:rPr lang="en-US" altLang="en-US" dirty="0">
                <a:solidFill>
                  <a:schemeClr val="hlink"/>
                </a:solidFill>
                <a:cs typeface="Times New Roman" pitchFamily="18" charset="0"/>
              </a:rPr>
              <a:t>4 5 6 7</a:t>
            </a:r>
            <a:r>
              <a:rPr lang="en-US" altLang="en-US" dirty="0">
                <a:cs typeface="Times New Roman" pitchFamily="18" charset="0"/>
              </a:rPr>
              <a:t> 8 9) and</a:t>
            </a:r>
          </a:p>
          <a:p>
            <a:pPr lvl="1">
              <a:spcBef>
                <a:spcPct val="50000"/>
              </a:spcBef>
            </a:pPr>
            <a:r>
              <a:rPr lang="en-US" altLang="en-US" i="1" dirty="0">
                <a:latin typeface="Arial" charset="0"/>
                <a:cs typeface="Arial" charset="0"/>
              </a:rPr>
              <a:t>p</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(4 5 2 </a:t>
            </a:r>
            <a:r>
              <a:rPr lang="en-US" altLang="en-US" dirty="0">
                <a:solidFill>
                  <a:schemeClr val="hlink"/>
                </a:solidFill>
                <a:cs typeface="Times New Roman" pitchFamily="18" charset="0"/>
              </a:rPr>
              <a:t>1 8 7 6</a:t>
            </a:r>
            <a:r>
              <a:rPr lang="en-US" altLang="en-US" dirty="0">
                <a:cs typeface="Times New Roman" pitchFamily="18" charset="0"/>
              </a:rPr>
              <a:t> 9 3)</a:t>
            </a:r>
          </a:p>
          <a:p>
            <a:pPr>
              <a:spcBef>
                <a:spcPct val="50000"/>
              </a:spcBef>
            </a:pPr>
            <a:r>
              <a:rPr lang="en-US" altLang="en-US" dirty="0">
                <a:latin typeface="Arial" charset="0"/>
                <a:cs typeface="Arial" charset="0"/>
              </a:rPr>
              <a:t>First, the segments between cut points are copied into offspring</a:t>
            </a:r>
          </a:p>
          <a:p>
            <a:pPr lvl="1">
              <a:spcBef>
                <a:spcPct val="50000"/>
              </a:spcBef>
            </a:pPr>
            <a:r>
              <a:rPr lang="en-US" altLang="en-US" i="1" dirty="0">
                <a:latin typeface="Arial" charset="0"/>
                <a:cs typeface="Arial" charset="0"/>
              </a:rPr>
              <a:t>o</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(x </a:t>
            </a:r>
            <a:r>
              <a:rPr lang="en-US" altLang="en-US" dirty="0" err="1">
                <a:cs typeface="Times New Roman" pitchFamily="18" charset="0"/>
              </a:rPr>
              <a:t>x</a:t>
            </a:r>
            <a:r>
              <a:rPr lang="en-US" altLang="en-US" dirty="0">
                <a:cs typeface="Times New Roman" pitchFamily="18" charset="0"/>
              </a:rPr>
              <a:t> </a:t>
            </a:r>
            <a:r>
              <a:rPr lang="en-US" altLang="en-US" dirty="0" err="1">
                <a:cs typeface="Times New Roman" pitchFamily="18" charset="0"/>
              </a:rPr>
              <a:t>x</a:t>
            </a:r>
            <a:r>
              <a:rPr lang="en-US" altLang="en-US" dirty="0">
                <a:cs typeface="Times New Roman" pitchFamily="18" charset="0"/>
              </a:rPr>
              <a:t> </a:t>
            </a:r>
            <a:r>
              <a:rPr lang="en-US" altLang="en-US" dirty="0">
                <a:solidFill>
                  <a:schemeClr val="hlink"/>
                </a:solidFill>
                <a:cs typeface="Times New Roman" pitchFamily="18" charset="0"/>
              </a:rPr>
              <a:t>4 5 6 7</a:t>
            </a:r>
            <a:r>
              <a:rPr lang="en-US" altLang="en-US" dirty="0">
                <a:cs typeface="Times New Roman" pitchFamily="18" charset="0"/>
              </a:rPr>
              <a:t> x x) and</a:t>
            </a:r>
          </a:p>
          <a:p>
            <a:pPr lvl="1">
              <a:spcBef>
                <a:spcPct val="50000"/>
              </a:spcBef>
            </a:pPr>
            <a:r>
              <a:rPr lang="en-US" altLang="en-US" i="1" dirty="0">
                <a:latin typeface="Arial" charset="0"/>
                <a:cs typeface="Arial" charset="0"/>
              </a:rPr>
              <a:t>o</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(x </a:t>
            </a:r>
            <a:r>
              <a:rPr lang="en-US" altLang="en-US" dirty="0" err="1">
                <a:cs typeface="Times New Roman" pitchFamily="18" charset="0"/>
              </a:rPr>
              <a:t>x</a:t>
            </a:r>
            <a:r>
              <a:rPr lang="en-US" altLang="en-US" dirty="0">
                <a:cs typeface="Times New Roman" pitchFamily="18" charset="0"/>
              </a:rPr>
              <a:t> </a:t>
            </a:r>
            <a:r>
              <a:rPr lang="en-US" altLang="en-US" dirty="0" err="1">
                <a:cs typeface="Times New Roman" pitchFamily="18" charset="0"/>
              </a:rPr>
              <a:t>x</a:t>
            </a:r>
            <a:r>
              <a:rPr lang="en-US" altLang="en-US" dirty="0">
                <a:cs typeface="Times New Roman" pitchFamily="18" charset="0"/>
              </a:rPr>
              <a:t> </a:t>
            </a:r>
            <a:r>
              <a:rPr lang="en-US" altLang="en-US" dirty="0">
                <a:solidFill>
                  <a:schemeClr val="hlink"/>
                </a:solidFill>
                <a:cs typeface="Times New Roman" pitchFamily="18" charset="0"/>
              </a:rPr>
              <a:t>1 8 7 6</a:t>
            </a:r>
            <a:r>
              <a:rPr lang="en-US" altLang="en-US" dirty="0">
                <a:cs typeface="Times New Roman" pitchFamily="18" charset="0"/>
              </a:rPr>
              <a:t> x x)</a:t>
            </a:r>
            <a:endParaRPr lang="en-US" altLang="en-US" dirty="0">
              <a:latin typeface="Arial" charset="0"/>
              <a:cs typeface="Arial" charset="0"/>
            </a:endParaRPr>
          </a:p>
        </p:txBody>
      </p:sp>
      <p:sp>
        <p:nvSpPr>
          <p:cNvPr id="5" name="Slide Number Placeholder 4"/>
          <p:cNvSpPr>
            <a:spLocks noGrp="1"/>
          </p:cNvSpPr>
          <p:nvPr>
            <p:ph type="sldNum" sz="quarter" idx="12"/>
          </p:nvPr>
        </p:nvSpPr>
        <p:spPr/>
        <p:txBody>
          <a:bodyPr/>
          <a:lstStyle/>
          <a:p>
            <a:fld id="{6B070AAC-3813-4B09-83CE-7A369B9D903E}" type="slidenum">
              <a:rPr lang="en-US" altLang="en-US" smtClean="0"/>
              <a:pPr/>
              <a:t>27</a:t>
            </a:fld>
            <a:endParaRPr lang="en-US" altLang="en-US"/>
          </a:p>
        </p:txBody>
      </p:sp>
    </p:spTree>
    <p:extLst>
      <p:ext uri="{BB962C8B-B14F-4D97-AF65-F5344CB8AC3E}">
        <p14:creationId xmlns:p14="http://schemas.microsoft.com/office/powerpoint/2010/main" val="1904083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p:txBody>
          <a:bodyPr/>
          <a:lstStyle/>
          <a:p>
            <a:r>
              <a:rPr lang="en-US" altLang="en-US"/>
              <a:t>TSP (Crossover2)</a:t>
            </a:r>
          </a:p>
        </p:txBody>
      </p:sp>
      <p:sp>
        <p:nvSpPr>
          <p:cNvPr id="2" name="Content Placeholder 1"/>
          <p:cNvSpPr>
            <a:spLocks noGrp="1"/>
          </p:cNvSpPr>
          <p:nvPr>
            <p:ph idx="1"/>
          </p:nvPr>
        </p:nvSpPr>
        <p:spPr/>
        <p:txBody>
          <a:bodyPr>
            <a:normAutofit fontScale="92500" lnSpcReduction="10000"/>
          </a:bodyPr>
          <a:lstStyle/>
          <a:p>
            <a:pPr>
              <a:spcBef>
                <a:spcPct val="50000"/>
              </a:spcBef>
            </a:pPr>
            <a:r>
              <a:rPr lang="en-US" altLang="en-US" dirty="0">
                <a:latin typeface="Arial" charset="0"/>
                <a:cs typeface="Arial" charset="0"/>
              </a:rPr>
              <a:t>Next, starting from the second cut point of one parent, the cities from the other parent are copied in the same order</a:t>
            </a:r>
          </a:p>
          <a:p>
            <a:pPr>
              <a:spcBef>
                <a:spcPct val="50000"/>
              </a:spcBef>
            </a:pPr>
            <a:r>
              <a:rPr lang="en-US" altLang="en-US" dirty="0">
                <a:latin typeface="Arial" charset="0"/>
                <a:cs typeface="Arial" charset="0"/>
              </a:rPr>
              <a:t>The sequence of the cities in the second parent is 		</a:t>
            </a:r>
          </a:p>
          <a:p>
            <a:pPr marL="0" indent="0" algn="ctr">
              <a:spcBef>
                <a:spcPct val="50000"/>
              </a:spcBef>
              <a:buNone/>
            </a:pPr>
            <a:r>
              <a:rPr lang="en-US" altLang="en-US" dirty="0">
                <a:latin typeface="Arial" charset="0"/>
                <a:cs typeface="Arial" charset="0"/>
              </a:rPr>
              <a:t>9 – 3 – 4 – 5 – 2 – 1 – 8 – 7 – 6</a:t>
            </a:r>
          </a:p>
          <a:p>
            <a:pPr>
              <a:spcBef>
                <a:spcPct val="50000"/>
              </a:spcBef>
            </a:pPr>
            <a:r>
              <a:rPr lang="en-US" altLang="en-US" dirty="0">
                <a:latin typeface="Arial" charset="0"/>
                <a:cs typeface="Arial" charset="0"/>
              </a:rPr>
              <a:t>After removal of cities from the first offspring we get 		</a:t>
            </a:r>
          </a:p>
          <a:p>
            <a:pPr marL="0" indent="0" algn="ctr">
              <a:spcBef>
                <a:spcPct val="50000"/>
              </a:spcBef>
              <a:buNone/>
            </a:pPr>
            <a:r>
              <a:rPr lang="en-US" altLang="en-US" dirty="0">
                <a:latin typeface="Arial" charset="0"/>
                <a:cs typeface="Arial" charset="0"/>
              </a:rPr>
              <a:t>9 – 3 – 2 – 1 – 8</a:t>
            </a:r>
          </a:p>
          <a:p>
            <a:pPr>
              <a:spcBef>
                <a:spcPct val="50000"/>
              </a:spcBef>
            </a:pPr>
            <a:r>
              <a:rPr lang="en-US" altLang="en-US" dirty="0">
                <a:latin typeface="Arial" charset="0"/>
                <a:cs typeface="Arial" charset="0"/>
              </a:rPr>
              <a:t>This sequence is placed in the first offspring </a:t>
            </a:r>
          </a:p>
          <a:p>
            <a:pPr lvl="1">
              <a:spcBef>
                <a:spcPct val="50000"/>
              </a:spcBef>
            </a:pPr>
            <a:r>
              <a:rPr lang="en-US" altLang="en-US" i="1" dirty="0">
                <a:latin typeface="Arial" charset="0"/>
                <a:cs typeface="Arial" charset="0"/>
              </a:rPr>
              <a:t>o</a:t>
            </a:r>
            <a:r>
              <a:rPr lang="en-US" altLang="en-US" baseline="-25000" dirty="0">
                <a:latin typeface="Arial" charset="0"/>
                <a:cs typeface="Arial" charset="0"/>
              </a:rPr>
              <a:t>1</a:t>
            </a:r>
            <a:r>
              <a:rPr lang="en-US" altLang="en-US" dirty="0">
                <a:latin typeface="Arial" charset="0"/>
                <a:cs typeface="Arial" charset="0"/>
              </a:rPr>
              <a:t> </a:t>
            </a:r>
            <a:r>
              <a:rPr lang="en-US" altLang="en-US" dirty="0">
                <a:cs typeface="Times New Roman" pitchFamily="18" charset="0"/>
              </a:rPr>
              <a:t>= (2 1 8 </a:t>
            </a:r>
            <a:r>
              <a:rPr lang="en-US" altLang="en-US" dirty="0">
                <a:solidFill>
                  <a:schemeClr val="hlink"/>
                </a:solidFill>
                <a:cs typeface="Times New Roman" pitchFamily="18" charset="0"/>
              </a:rPr>
              <a:t>4 5 6 7</a:t>
            </a:r>
            <a:r>
              <a:rPr lang="en-US" altLang="en-US" dirty="0">
                <a:cs typeface="Times New Roman" pitchFamily="18" charset="0"/>
              </a:rPr>
              <a:t> 9 3), </a:t>
            </a:r>
            <a:r>
              <a:rPr lang="en-US" altLang="en-US" dirty="0">
                <a:latin typeface="Arial" charset="0"/>
                <a:cs typeface="Arial" charset="0"/>
              </a:rPr>
              <a:t>and similarly in the second</a:t>
            </a:r>
          </a:p>
          <a:p>
            <a:pPr lvl="1">
              <a:spcBef>
                <a:spcPct val="50000"/>
              </a:spcBef>
            </a:pPr>
            <a:r>
              <a:rPr lang="en-US" altLang="en-US" i="1" dirty="0">
                <a:latin typeface="Arial" charset="0"/>
                <a:cs typeface="Arial" charset="0"/>
              </a:rPr>
              <a:t>o</a:t>
            </a:r>
            <a:r>
              <a:rPr lang="en-US" altLang="en-US" baseline="-25000" dirty="0">
                <a:latin typeface="Arial" charset="0"/>
                <a:cs typeface="Arial" charset="0"/>
              </a:rPr>
              <a:t>2</a:t>
            </a:r>
            <a:r>
              <a:rPr lang="en-US" altLang="en-US" dirty="0">
                <a:latin typeface="Arial" charset="0"/>
                <a:cs typeface="Arial" charset="0"/>
              </a:rPr>
              <a:t> </a:t>
            </a:r>
            <a:r>
              <a:rPr lang="en-US" altLang="en-US" dirty="0">
                <a:cs typeface="Times New Roman" pitchFamily="18" charset="0"/>
              </a:rPr>
              <a:t>= (3 4 5 </a:t>
            </a:r>
            <a:r>
              <a:rPr lang="en-US" altLang="en-US" dirty="0">
                <a:solidFill>
                  <a:schemeClr val="hlink"/>
                </a:solidFill>
                <a:cs typeface="Times New Roman" pitchFamily="18" charset="0"/>
              </a:rPr>
              <a:t>1 8 7 6</a:t>
            </a:r>
            <a:r>
              <a:rPr lang="en-US" altLang="en-US" dirty="0">
                <a:cs typeface="Times New Roman" pitchFamily="18" charset="0"/>
              </a:rPr>
              <a:t> 9 2)</a:t>
            </a:r>
          </a:p>
        </p:txBody>
      </p:sp>
      <p:sp>
        <p:nvSpPr>
          <p:cNvPr id="5" name="Slide Number Placeholder 4"/>
          <p:cNvSpPr>
            <a:spLocks noGrp="1"/>
          </p:cNvSpPr>
          <p:nvPr>
            <p:ph type="sldNum" sz="quarter" idx="12"/>
          </p:nvPr>
        </p:nvSpPr>
        <p:spPr/>
        <p:txBody>
          <a:bodyPr/>
          <a:lstStyle/>
          <a:p>
            <a:fld id="{F10965DA-5FA0-41CC-B56A-662BD0AB8E84}" type="slidenum">
              <a:rPr lang="en-US" altLang="en-US" smtClean="0"/>
              <a:pPr/>
              <a:t>28</a:t>
            </a:fld>
            <a:endParaRPr lang="en-US" altLang="en-US"/>
          </a:p>
        </p:txBody>
      </p:sp>
    </p:spTree>
    <p:extLst>
      <p:ext uri="{BB962C8B-B14F-4D97-AF65-F5344CB8AC3E}">
        <p14:creationId xmlns:p14="http://schemas.microsoft.com/office/powerpoint/2010/main" val="563647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p:txBody>
          <a:bodyPr/>
          <a:lstStyle/>
          <a:p>
            <a:r>
              <a:rPr lang="en-US" altLang="en-US"/>
              <a:t>TSP (Inversion)</a:t>
            </a:r>
          </a:p>
        </p:txBody>
      </p:sp>
      <p:sp>
        <p:nvSpPr>
          <p:cNvPr id="2" name="Content Placeholder 1"/>
          <p:cNvSpPr>
            <a:spLocks noGrp="1"/>
          </p:cNvSpPr>
          <p:nvPr>
            <p:ph idx="1"/>
          </p:nvPr>
        </p:nvSpPr>
        <p:spPr/>
        <p:txBody>
          <a:bodyPr>
            <a:normAutofit/>
          </a:bodyPr>
          <a:lstStyle/>
          <a:p>
            <a:pPr>
              <a:spcBef>
                <a:spcPct val="50000"/>
              </a:spcBef>
            </a:pPr>
            <a:r>
              <a:rPr lang="en-US" altLang="en-US" dirty="0">
                <a:cs typeface="Arial" charset="0"/>
              </a:rPr>
              <a:t>The sub-string between two randomly selected points in the path is reversed </a:t>
            </a:r>
          </a:p>
          <a:p>
            <a:pPr>
              <a:spcBef>
                <a:spcPct val="50000"/>
              </a:spcBef>
            </a:pPr>
            <a:r>
              <a:rPr lang="en-US" altLang="en-US" dirty="0">
                <a:cs typeface="Arial" charset="0"/>
              </a:rPr>
              <a:t>Example</a:t>
            </a:r>
            <a:r>
              <a:rPr lang="en-US" altLang="en-US" dirty="0">
                <a:solidFill>
                  <a:srgbClr val="FF0000"/>
                </a:solidFill>
                <a:cs typeface="Arial" charset="0"/>
              </a:rPr>
              <a:t>:</a:t>
            </a:r>
          </a:p>
          <a:p>
            <a:pPr lvl="1">
              <a:spcBef>
                <a:spcPct val="50000"/>
              </a:spcBef>
            </a:pPr>
            <a:r>
              <a:rPr lang="en-US" altLang="en-US" dirty="0">
                <a:cs typeface="Times New Roman" pitchFamily="18" charset="0"/>
              </a:rPr>
              <a:t>(1 2 </a:t>
            </a:r>
            <a:r>
              <a:rPr lang="en-US" altLang="en-US" dirty="0">
                <a:solidFill>
                  <a:schemeClr val="hlink"/>
                </a:solidFill>
                <a:cs typeface="Times New Roman" pitchFamily="18" charset="0"/>
              </a:rPr>
              <a:t>3 4 5 6 7</a:t>
            </a:r>
            <a:r>
              <a:rPr lang="en-US" altLang="en-US" dirty="0">
                <a:cs typeface="Times New Roman" pitchFamily="18" charset="0"/>
              </a:rPr>
              <a:t> 8 9) </a:t>
            </a:r>
            <a:r>
              <a:rPr lang="en-US" altLang="en-US" dirty="0">
                <a:cs typeface="Arial" charset="0"/>
              </a:rPr>
              <a:t>is changed into </a:t>
            </a:r>
            <a:r>
              <a:rPr lang="en-US" altLang="en-US" dirty="0">
                <a:cs typeface="Times New Roman" pitchFamily="18" charset="0"/>
              </a:rPr>
              <a:t>(1 2 </a:t>
            </a:r>
            <a:r>
              <a:rPr lang="en-US" altLang="en-US" dirty="0">
                <a:solidFill>
                  <a:schemeClr val="hlink"/>
                </a:solidFill>
                <a:cs typeface="Times New Roman" pitchFamily="18" charset="0"/>
              </a:rPr>
              <a:t>7 6 5 4 3 </a:t>
            </a:r>
            <a:r>
              <a:rPr lang="en-US" altLang="en-US" dirty="0">
                <a:cs typeface="Times New Roman" pitchFamily="18" charset="0"/>
              </a:rPr>
              <a:t>8 9) </a:t>
            </a:r>
          </a:p>
          <a:p>
            <a:pPr>
              <a:spcBef>
                <a:spcPct val="50000"/>
              </a:spcBef>
            </a:pPr>
            <a:r>
              <a:rPr lang="en-US" altLang="en-US" dirty="0">
                <a:cs typeface="Arial" charset="0"/>
              </a:rPr>
              <a:t>Such simple inversion guarantees that the resulting offspring is a legal tour</a:t>
            </a:r>
          </a:p>
          <a:p>
            <a:endParaRPr lang="en-US" dirty="0"/>
          </a:p>
        </p:txBody>
      </p:sp>
      <p:sp>
        <p:nvSpPr>
          <p:cNvPr id="5" name="Slide Number Placeholder 4"/>
          <p:cNvSpPr>
            <a:spLocks noGrp="1"/>
          </p:cNvSpPr>
          <p:nvPr>
            <p:ph type="sldNum" sz="quarter" idx="12"/>
          </p:nvPr>
        </p:nvSpPr>
        <p:spPr/>
        <p:txBody>
          <a:bodyPr/>
          <a:lstStyle/>
          <a:p>
            <a:fld id="{061BA18C-0A38-4275-8564-03C4F6A4F295}" type="slidenum">
              <a:rPr lang="en-US" altLang="en-US" smtClean="0"/>
              <a:pPr/>
              <a:t>29</a:t>
            </a:fld>
            <a:endParaRPr lang="en-US" altLang="en-US"/>
          </a:p>
        </p:txBody>
      </p:sp>
    </p:spTree>
    <p:extLst>
      <p:ext uri="{BB962C8B-B14F-4D97-AF65-F5344CB8AC3E}">
        <p14:creationId xmlns:p14="http://schemas.microsoft.com/office/powerpoint/2010/main" val="2954817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ChangeArrowheads="1"/>
          </p:cNvSpPr>
          <p:nvPr/>
        </p:nvSpPr>
        <p:spPr bwMode="auto">
          <a:xfrm>
            <a:off x="3337477" y="3271286"/>
            <a:ext cx="398463" cy="1587500"/>
          </a:xfrm>
          <a:prstGeom prst="rect">
            <a:avLst/>
          </a:prstGeom>
          <a:solidFill>
            <a:schemeClr val="hlink"/>
          </a:solidFill>
          <a:ln w="12700">
            <a:solidFill>
              <a:schemeClr val="tx1"/>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nb-NO" altLang="en-US"/>
          </a:p>
        </p:txBody>
      </p:sp>
      <p:sp>
        <p:nvSpPr>
          <p:cNvPr id="47108" name="Rectangle 3"/>
          <p:cNvSpPr>
            <a:spLocks noChangeArrowheads="1"/>
          </p:cNvSpPr>
          <p:nvPr/>
        </p:nvSpPr>
        <p:spPr bwMode="auto">
          <a:xfrm>
            <a:off x="4662902" y="3344311"/>
            <a:ext cx="398462" cy="1587500"/>
          </a:xfrm>
          <a:prstGeom prst="rect">
            <a:avLst/>
          </a:prstGeom>
          <a:solidFill>
            <a:schemeClr val="hlink"/>
          </a:solidFill>
          <a:ln w="12700">
            <a:solidFill>
              <a:schemeClr val="bg2"/>
            </a:solid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nb-NO" altLang="en-US"/>
          </a:p>
        </p:txBody>
      </p:sp>
      <p:sp>
        <p:nvSpPr>
          <p:cNvPr id="47111" name="Line 6"/>
          <p:cNvSpPr>
            <a:spLocks noChangeShapeType="1"/>
          </p:cNvSpPr>
          <p:nvPr/>
        </p:nvSpPr>
        <p:spPr bwMode="auto">
          <a:xfrm>
            <a:off x="3719927" y="4201561"/>
            <a:ext cx="90805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0" name="Rectangle 5"/>
          <p:cNvSpPr>
            <a:spLocks noGrp="1" noChangeArrowheads="1"/>
          </p:cNvSpPr>
          <p:nvPr>
            <p:ph type="title"/>
          </p:nvPr>
        </p:nvSpPr>
        <p:spPr>
          <a:noFill/>
        </p:spPr>
        <p:txBody>
          <a:bodyPr vert="horz" lIns="90488" tIns="44450" rIns="90488" bIns="44450" rtlCol="0" anchor="b">
            <a:normAutofit/>
          </a:bodyPr>
          <a:lstStyle/>
          <a:p>
            <a:pPr eaLnBrk="1" hangingPunct="1"/>
            <a:r>
              <a:rPr lang="en-US" altLang="en-US"/>
              <a:t>Mutation</a:t>
            </a:r>
          </a:p>
        </p:txBody>
      </p:sp>
      <p:sp>
        <p:nvSpPr>
          <p:cNvPr id="47109" name="Rectangle 4"/>
          <p:cNvSpPr>
            <a:spLocks noGrp="1" noChangeArrowheads="1"/>
          </p:cNvSpPr>
          <p:nvPr>
            <p:ph idx="1"/>
          </p:nvPr>
        </p:nvSpPr>
        <p:spPr>
          <a:noFill/>
        </p:spPr>
        <p:txBody>
          <a:bodyPr vert="horz" lIns="90488" tIns="44450" rIns="90488" bIns="44450" rtlCol="0">
            <a:normAutofit/>
          </a:bodyPr>
          <a:lstStyle/>
          <a:p>
            <a:r>
              <a:rPr lang="en-US" altLang="en-US" dirty="0"/>
              <a:t>Mutation involves reordering of the list:</a:t>
            </a:r>
          </a:p>
          <a:p>
            <a:pPr eaLnBrk="1" hangingPunct="1">
              <a:buFontTx/>
              <a:buNone/>
            </a:pPr>
            <a:endParaRPr lang="en-US" altLang="en-US" dirty="0"/>
          </a:p>
          <a:p>
            <a:pPr eaLnBrk="1" hangingPunct="1">
              <a:buFontTx/>
              <a:buNone/>
            </a:pPr>
            <a:r>
              <a:rPr lang="en-US" altLang="en-US" sz="2400" dirty="0"/>
              <a:t>                                     </a:t>
            </a:r>
            <a:r>
              <a:rPr lang="en-US" altLang="en-US" dirty="0"/>
              <a:t>*</a:t>
            </a:r>
            <a:r>
              <a:rPr lang="en-US" altLang="en-US" sz="2400" dirty="0"/>
              <a:t>                </a:t>
            </a:r>
            <a:r>
              <a:rPr lang="en-US" altLang="en-US" dirty="0"/>
              <a:t>*</a:t>
            </a:r>
          </a:p>
          <a:p>
            <a:pPr eaLnBrk="1" hangingPunct="1">
              <a:buFontTx/>
              <a:buNone/>
            </a:pPr>
            <a:r>
              <a:rPr lang="en-US" altLang="en-US" dirty="0"/>
              <a:t>Before:       (5   8   7   2   1   6   3   4)</a:t>
            </a:r>
          </a:p>
          <a:p>
            <a:pPr eaLnBrk="1" hangingPunct="1">
              <a:buFontTx/>
              <a:buNone/>
            </a:pPr>
            <a:endParaRPr lang="en-US" altLang="en-US" dirty="0"/>
          </a:p>
          <a:p>
            <a:pPr eaLnBrk="1" hangingPunct="1">
              <a:buFontTx/>
              <a:buNone/>
            </a:pPr>
            <a:r>
              <a:rPr lang="en-US" altLang="en-US" dirty="0"/>
              <a:t>After:         (5   8   6   2   1   7   3   4)</a:t>
            </a:r>
          </a:p>
        </p:txBody>
      </p:sp>
      <p:sp>
        <p:nvSpPr>
          <p:cNvPr id="47106" name="Plassholder for lysbildenumm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115318-2626-42E4-8CBE-E58ABF2DD56D}" type="slidenum">
              <a:rPr lang="en-GB" altLang="en-US" sz="1400"/>
              <a:pPr/>
              <a:t>30</a:t>
            </a:fld>
            <a:endParaRPr lang="en-GB" altLang="en-US" sz="1400"/>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397680" y="3299040"/>
              <a:ext cx="1658880" cy="493560"/>
            </p14:xfrm>
          </p:contentPart>
        </mc:Choice>
        <mc:Fallback xmlns="">
          <p:pic>
            <p:nvPicPr>
              <p:cNvPr id="2" name="Ink 1"/>
              <p:cNvPicPr/>
              <p:nvPr/>
            </p:nvPicPr>
            <p:blipFill>
              <a:blip r:embed="rId4"/>
              <a:stretch>
                <a:fillRect/>
              </a:stretch>
            </p:blipFill>
            <p:spPr>
              <a:xfrm>
                <a:off x="3388320" y="3289680"/>
                <a:ext cx="1677600" cy="512280"/>
              </a:xfrm>
              <a:prstGeom prst="rect">
                <a:avLst/>
              </a:prstGeom>
            </p:spPr>
          </p:pic>
        </mc:Fallback>
      </mc:AlternateContent>
    </p:spTree>
    <p:extLst>
      <p:ext uri="{BB962C8B-B14F-4D97-AF65-F5344CB8AC3E}">
        <p14:creationId xmlns:p14="http://schemas.microsoft.com/office/powerpoint/2010/main" val="307291869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6"/>
            <a:ext cx="10515600" cy="1084852"/>
          </a:xfrm>
        </p:spPr>
        <p:txBody>
          <a:bodyPr/>
          <a:lstStyle/>
          <a:p>
            <a:r>
              <a:rPr lang="en-US" dirty="0"/>
              <a:t>Practice Question – TSP </a:t>
            </a:r>
          </a:p>
        </p:txBody>
      </p:sp>
      <p:sp>
        <p:nvSpPr>
          <p:cNvPr id="4" name="Content Placeholder 3"/>
          <p:cNvSpPr>
            <a:spLocks noGrp="1"/>
          </p:cNvSpPr>
          <p:nvPr>
            <p:ph idx="1"/>
          </p:nvPr>
        </p:nvSpPr>
        <p:spPr>
          <a:xfrm>
            <a:off x="838200" y="1449977"/>
            <a:ext cx="10515600" cy="4726986"/>
          </a:xfrm>
        </p:spPr>
        <p:txBody>
          <a:bodyPr>
            <a:normAutofit lnSpcReduction="10000"/>
          </a:bodyPr>
          <a:lstStyle/>
          <a:p>
            <a:r>
              <a:rPr lang="en-US" dirty="0"/>
              <a:t>Consider the problem of finding the shortest route through cities, such that each city is visited only once and in the end return to the starting city. Suppose we apply GA, in which genes represent links between pairs of cities. </a:t>
            </a:r>
          </a:p>
          <a:p>
            <a:endParaRPr lang="en-US" dirty="0"/>
          </a:p>
          <a:p>
            <a:pPr lvl="1"/>
            <a:r>
              <a:rPr lang="en-US" dirty="0"/>
              <a:t>How many genes will be used in a chromosome of each individual if the number of cities is 10?</a:t>
            </a:r>
          </a:p>
          <a:p>
            <a:pPr lvl="1"/>
            <a:endParaRPr lang="en-US" dirty="0"/>
          </a:p>
          <a:p>
            <a:pPr lvl="1"/>
            <a:r>
              <a:rPr lang="en-US" dirty="0"/>
              <a:t>For TSP problem, consider the following two routes as parents. Apply order based crossover on index 4 to 7 (index starts from 0).</a:t>
            </a:r>
          </a:p>
          <a:p>
            <a:pPr lvl="1"/>
            <a:endParaRPr lang="en-US" dirty="0"/>
          </a:p>
          <a:p>
            <a:pPr lvl="1"/>
            <a:r>
              <a:rPr lang="en-US" dirty="0"/>
              <a:t>The mutation for TSP can be defined as a swap between two indices. Now apply mutation at index 5 and 6 on both parents.</a:t>
            </a:r>
          </a:p>
        </p:txBody>
      </p:sp>
    </p:spTree>
    <p:extLst>
      <p:ext uri="{BB962C8B-B14F-4D97-AF65-F5344CB8AC3E}">
        <p14:creationId xmlns:p14="http://schemas.microsoft.com/office/powerpoint/2010/main" val="2818586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7EEC-6866-47E1-B5D5-A385E64103F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D46C55A-280C-C443-7809-D9BD38E42A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15819"/>
            <a:ext cx="10395009" cy="5430417"/>
          </a:xfrm>
          <a:prstGeom prst="rect">
            <a:avLst/>
          </a:prstGeom>
        </p:spPr>
      </p:pic>
    </p:spTree>
    <p:extLst>
      <p:ext uri="{BB962C8B-B14F-4D97-AF65-F5344CB8AC3E}">
        <p14:creationId xmlns:p14="http://schemas.microsoft.com/office/powerpoint/2010/main" val="217720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4" ma:contentTypeDescription="Create a new document." ma:contentTypeScope="" ma:versionID="4e1af9cc4a66754e05256819fc0cf4eb">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3c80ef98cdf9bd0c93d5f9836eb0b425"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B2DAAB-914E-44A6-AC4C-DE7AEAA4D77C}">
  <ds:schemaRefs>
    <ds:schemaRef ds:uri="http://schemas.microsoft.com/sharepoint/v3/contenttype/forms"/>
  </ds:schemaRefs>
</ds:datastoreItem>
</file>

<file path=customXml/itemProps2.xml><?xml version="1.0" encoding="utf-8"?>
<ds:datastoreItem xmlns:ds="http://schemas.openxmlformats.org/officeDocument/2006/customXml" ds:itemID="{26943156-511A-4954-9B5F-F7440E9709C4}">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customXml/itemProps3.xml><?xml version="1.0" encoding="utf-8"?>
<ds:datastoreItem xmlns:ds="http://schemas.openxmlformats.org/officeDocument/2006/customXml" ds:itemID="{C2C555A0-3E6A-4B43-8CF5-84010EA6CA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13169</TotalTime>
  <Words>1862</Words>
  <Application>Microsoft Office PowerPoint</Application>
  <PresentationFormat>Widescreen</PresentationFormat>
  <Paragraphs>300</Paragraphs>
  <Slides>32</Slides>
  <Notes>6</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Cambria Math</vt:lpstr>
      <vt:lpstr>Menlo</vt:lpstr>
      <vt:lpstr>Symbol</vt:lpstr>
      <vt:lpstr>Times New Roman</vt:lpstr>
      <vt:lpstr>Office Theme</vt:lpstr>
      <vt:lpstr>Genetic Algorithm</vt:lpstr>
      <vt:lpstr>Previous Lecture </vt:lpstr>
      <vt:lpstr>Practice </vt:lpstr>
      <vt:lpstr>n-Queen Problem</vt:lpstr>
      <vt:lpstr>Example: the 8 queens problem</vt:lpstr>
      <vt:lpstr>8-Queens Problem</vt:lpstr>
      <vt:lpstr>The 8 queens problem: representation</vt:lpstr>
      <vt:lpstr>8 Queens Problem: Fitness evaluation</vt:lpstr>
      <vt:lpstr>8-Queens Problem</vt:lpstr>
      <vt:lpstr>Effect of Crossover on 8-Queens</vt:lpstr>
      <vt:lpstr>The 8 queens problem: Mutation</vt:lpstr>
      <vt:lpstr>The 8 queens problem: Recombination</vt:lpstr>
      <vt:lpstr>The 8 queens problem: Selection</vt:lpstr>
      <vt:lpstr>Genetic Algorithms</vt:lpstr>
      <vt:lpstr>Travelling Salesman Problem (TSP)</vt:lpstr>
      <vt:lpstr>Traveling Salesman Problem (TSP)</vt:lpstr>
      <vt:lpstr>TSP – Initialization </vt:lpstr>
      <vt:lpstr>PowerPoint Presentation</vt:lpstr>
      <vt:lpstr>Another Example: Traveling Salesman Problem (TSP)</vt:lpstr>
      <vt:lpstr>TSP (Representation, Evaluation, Initialization and Selection)</vt:lpstr>
      <vt:lpstr>TSP (Crossover)</vt:lpstr>
      <vt:lpstr>TSP (Crossover-continued)</vt:lpstr>
      <vt:lpstr>TSP (Inversion)</vt:lpstr>
      <vt:lpstr>The Traveling Salesman Problem</vt:lpstr>
      <vt:lpstr>Representation</vt:lpstr>
      <vt:lpstr>Crossover</vt:lpstr>
      <vt:lpstr>TSP (Crossover1)</vt:lpstr>
      <vt:lpstr>TSP (Crossover2)</vt:lpstr>
      <vt:lpstr>TSP (Inversion)</vt:lpstr>
      <vt:lpstr>Mutation</vt:lpstr>
      <vt:lpstr>Practice Question – TSP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Algorithm</dc:title>
  <dc:creator>FARHAN DAWOOD</dc:creator>
  <cp:lastModifiedBy>Misbah Naz</cp:lastModifiedBy>
  <cp:revision>40</cp:revision>
  <dcterms:created xsi:type="dcterms:W3CDTF">2019-05-15T05:30:39Z</dcterms:created>
  <dcterms:modified xsi:type="dcterms:W3CDTF">2026-08-19T10:27:46Z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