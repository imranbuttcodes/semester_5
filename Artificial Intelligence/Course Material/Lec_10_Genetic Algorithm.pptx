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256" r:id="rId5"/>
    <p:sldId id="359" r:id="rId6"/>
    <p:sldId id="305" r:id="rId7"/>
    <p:sldId id="257" r:id="rId8"/>
    <p:sldId id="258" r:id="rId9"/>
    <p:sldId id="355" r:id="rId10"/>
    <p:sldId id="354" r:id="rId11"/>
    <p:sldId id="358" r:id="rId12"/>
    <p:sldId id="259" r:id="rId13"/>
    <p:sldId id="296" r:id="rId14"/>
    <p:sldId id="297" r:id="rId15"/>
    <p:sldId id="265" r:id="rId16"/>
    <p:sldId id="266" r:id="rId17"/>
    <p:sldId id="262" r:id="rId18"/>
    <p:sldId id="263" r:id="rId19"/>
    <p:sldId id="356" r:id="rId20"/>
    <p:sldId id="327" r:id="rId21"/>
    <p:sldId id="264" r:id="rId22"/>
    <p:sldId id="357" r:id="rId23"/>
    <p:sldId id="268" r:id="rId24"/>
    <p:sldId id="269" r:id="rId25"/>
    <p:sldId id="270" r:id="rId26"/>
    <p:sldId id="271" r:id="rId27"/>
    <p:sldId id="273" r:id="rId28"/>
    <p:sldId id="274" r:id="rId29"/>
    <p:sldId id="275" r:id="rId30"/>
    <p:sldId id="276" r:id="rId31"/>
    <p:sldId id="277" r:id="rId32"/>
    <p:sldId id="310" r:id="rId33"/>
    <p:sldId id="311" r:id="rId34"/>
    <p:sldId id="312" r:id="rId35"/>
    <p:sldId id="313" r:id="rId36"/>
    <p:sldId id="350" r:id="rId37"/>
    <p:sldId id="351" r:id="rId38"/>
    <p:sldId id="352" r:id="rId39"/>
    <p:sldId id="335" r:id="rId40"/>
    <p:sldId id="336" r:id="rId41"/>
    <p:sldId id="337" r:id="rId42"/>
    <p:sldId id="346" r:id="rId43"/>
    <p:sldId id="34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aculty\Documents\Book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aculty\Documents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f(x)=sin(x)</c:v>
                </c:pt>
              </c:strCache>
            </c:strRef>
          </c:tx>
          <c:marker>
            <c:symbol val="circle"/>
            <c:size val="8"/>
          </c:marker>
          <c:val>
            <c:numRef>
              <c:f>Sheet1!$D$5:$D$20</c:f>
              <c:numCache>
                <c:formatCode>General</c:formatCode>
                <c:ptCount val="16"/>
                <c:pt idx="0">
                  <c:v>0</c:v>
                </c:pt>
                <c:pt idx="1">
                  <c:v>0.84</c:v>
                </c:pt>
                <c:pt idx="2">
                  <c:v>0.91</c:v>
                </c:pt>
                <c:pt idx="3">
                  <c:v>0.14000000000000001</c:v>
                </c:pt>
                <c:pt idx="4">
                  <c:v>-0.76</c:v>
                </c:pt>
                <c:pt idx="5">
                  <c:v>-0.96</c:v>
                </c:pt>
                <c:pt idx="6">
                  <c:v>-0.28000000000000003</c:v>
                </c:pt>
                <c:pt idx="7">
                  <c:v>0.66</c:v>
                </c:pt>
                <c:pt idx="8">
                  <c:v>0.99</c:v>
                </c:pt>
                <c:pt idx="9">
                  <c:v>0.41</c:v>
                </c:pt>
                <c:pt idx="10">
                  <c:v>-0.54</c:v>
                </c:pt>
                <c:pt idx="11">
                  <c:v>-1</c:v>
                </c:pt>
                <c:pt idx="12">
                  <c:v>-0.54</c:v>
                </c:pt>
                <c:pt idx="13">
                  <c:v>0.42</c:v>
                </c:pt>
                <c:pt idx="14">
                  <c:v>0.99</c:v>
                </c:pt>
                <c:pt idx="15">
                  <c:v>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27-4999-B389-9782EF07F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4524904"/>
        <c:axId val="284530392"/>
      </c:lineChart>
      <c:catAx>
        <c:axId val="284524904"/>
        <c:scaling>
          <c:orientation val="minMax"/>
        </c:scaling>
        <c:delete val="0"/>
        <c:axPos val="b"/>
        <c:majorTickMark val="out"/>
        <c:minorTickMark val="none"/>
        <c:tickLblPos val="nextTo"/>
        <c:crossAx val="284530392"/>
        <c:crosses val="autoZero"/>
        <c:auto val="1"/>
        <c:lblAlgn val="ctr"/>
        <c:lblOffset val="100"/>
        <c:noMultiLvlLbl val="0"/>
      </c:catAx>
      <c:valAx>
        <c:axId val="284530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452490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PK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numRef>
              <c:f>(Sheet1!$C$8,Sheet1!$C$10,Sheet1!$C$14,Sheet1!$C$15)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</c:numCache>
            </c:numRef>
          </c:cat>
          <c:val>
            <c:numRef>
              <c:f>(Sheet1!$E$8,Sheet1!$E$10,Sheet1!$E$14,Sheet1!$E$15)</c:f>
              <c:numCache>
                <c:formatCode>General</c:formatCode>
                <c:ptCount val="4"/>
                <c:pt idx="0">
                  <c:v>57.06</c:v>
                </c:pt>
                <c:pt idx="1">
                  <c:v>2.0499999999999998</c:v>
                </c:pt>
                <c:pt idx="2">
                  <c:v>70.61</c:v>
                </c:pt>
                <c:pt idx="3">
                  <c:v>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1-497E-BB98-DDE5043E9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6936789151356078"/>
          <c:y val="0.24763706620005832"/>
          <c:w val="0.12229877515310586"/>
          <c:h val="0.51398512685914266"/>
        </c:manualLayout>
      </c:layout>
      <c:overlay val="0"/>
      <c:txPr>
        <a:bodyPr/>
        <a:lstStyle/>
        <a:p>
          <a:pPr rtl="0">
            <a:defRPr sz="1800"/>
          </a:pPr>
          <a:endParaRPr lang="en-PK"/>
        </a:p>
      </c:txPr>
    </c:legend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6608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03T06:27:13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7994 13223 0,'0'-25'47,"24"25"47,1 0-78,0 0-16,0 0 15,0 0 1,0 0-16,0 0 15,-25 25 17</inkml:trace>
  <inkml:trace contextRef="#ctx0" brushRef="#br0" timeOffset="1209.14">10882 13174 0,'25'0'78,"0"0"-78,0 0 16,0 0-16,0 0 15,0 24 1,-1-24-16,1 0 16,0 0-1,0 0 1,-25 25-1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85877-1D45-434C-81F7-ACD8962AD9B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73BB-20C9-4846-8EE2-14EE065BA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4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7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9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7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9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0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8CA3F-117C-4C0C-8208-997EABC66A7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E77C1-38E1-4051-935C-4BE89DDFA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9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677" y="28844"/>
            <a:ext cx="9144000" cy="2387600"/>
          </a:xfrm>
        </p:spPr>
        <p:txBody>
          <a:bodyPr/>
          <a:lstStyle/>
          <a:p>
            <a:r>
              <a:rPr lang="en-US" dirty="0"/>
              <a:t>Genetic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4677" y="2508519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742" y="2898653"/>
            <a:ext cx="3629464" cy="362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39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9BD9-C8AC-3CCA-C4FA-781F8BAF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524-4597-C60D-30E5-8EA2F5D34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8503D-A78A-8D49-23A7-2DCEDFA9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" y="457200"/>
            <a:ext cx="1044892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3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and 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Local search</a:t>
            </a:r>
            <a:r>
              <a:rPr lang="en-US" dirty="0"/>
              <a:t> methods involve making small changes to potential solutions to a problem until an optimal solution is identified. </a:t>
            </a:r>
          </a:p>
          <a:p>
            <a:r>
              <a:rPr lang="en-US" dirty="0"/>
              <a:t>Genetic Algorithm (GA) is a search-based </a:t>
            </a:r>
            <a:r>
              <a:rPr lang="en-US" b="1" dirty="0"/>
              <a:t>optimization</a:t>
            </a:r>
            <a:r>
              <a:rPr lang="en-US" dirty="0"/>
              <a:t> technique based on the principles of </a:t>
            </a:r>
            <a:r>
              <a:rPr lang="en-US" b="1" dirty="0"/>
              <a:t>Natural Genetics</a:t>
            </a:r>
            <a:r>
              <a:rPr lang="en-US" dirty="0"/>
              <a:t> and </a:t>
            </a:r>
            <a:r>
              <a:rPr lang="en-US" b="1" dirty="0"/>
              <a:t>Natural Selection</a:t>
            </a:r>
            <a:r>
              <a:rPr lang="en-US" dirty="0"/>
              <a:t>.</a:t>
            </a:r>
          </a:p>
          <a:p>
            <a:r>
              <a:rPr lang="en-US" dirty="0"/>
              <a:t>It finds the </a:t>
            </a:r>
            <a:r>
              <a:rPr lang="en-US" b="1" dirty="0"/>
              <a:t>Optimal Solution </a:t>
            </a:r>
            <a:r>
              <a:rPr lang="en-US" dirty="0"/>
              <a:t>based in </a:t>
            </a:r>
            <a:r>
              <a:rPr lang="en-US" b="1" dirty="0"/>
              <a:t>survival of the fittest</a:t>
            </a:r>
            <a:r>
              <a:rPr lang="en-US" dirty="0"/>
              <a:t>.</a:t>
            </a:r>
          </a:p>
          <a:p>
            <a:r>
              <a:rPr lang="en-US" dirty="0"/>
              <a:t>Optimization is the process of making something better i.e. to get the “best” output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3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Evolutionary Computing</a:t>
            </a: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b="1" dirty="0"/>
              <a:t>Natural systems</a:t>
            </a:r>
            <a:r>
              <a:rPr lang="sv-SE" dirty="0"/>
              <a:t> as guiding metaphors</a:t>
            </a:r>
          </a:p>
          <a:p>
            <a:endParaRPr lang="sv-SE" sz="1700" dirty="0"/>
          </a:p>
          <a:p>
            <a:r>
              <a:rPr lang="sv-SE" dirty="0"/>
              <a:t>Charles Darwinian Evolution – 1859</a:t>
            </a:r>
          </a:p>
          <a:p>
            <a:endParaRPr lang="sv-SE" sz="1300" dirty="0"/>
          </a:p>
          <a:p>
            <a:r>
              <a:rPr lang="en-US" b="1" dirty="0"/>
              <a:t>Theory of natural selection </a:t>
            </a:r>
          </a:p>
          <a:p>
            <a:pPr lvl="1"/>
            <a:r>
              <a:rPr lang="en-US" dirty="0"/>
              <a:t>It proposes that the plants and animals that exist today are the result of millions of years of adaptation to the demands of the environment</a:t>
            </a:r>
            <a:endParaRPr lang="sv-SE" dirty="0"/>
          </a:p>
          <a:p>
            <a:endParaRPr lang="sv-SE" sz="800" dirty="0"/>
          </a:p>
          <a:p>
            <a:r>
              <a:rPr lang="en-US" dirty="0"/>
              <a:t>Over time, the entire population of the ecosystem is said to evolve to contain organisms that, </a:t>
            </a:r>
            <a:r>
              <a:rPr lang="en-US" b="1" dirty="0"/>
              <a:t>on average, are ﬁtter  for environment</a:t>
            </a:r>
            <a:r>
              <a:rPr lang="en-US" dirty="0"/>
              <a:t> than those of previous generations of the population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93" y="365125"/>
            <a:ext cx="4483507" cy="182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Genetic Algorithms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concepts of </a:t>
            </a:r>
            <a:r>
              <a:rPr lang="en-US" b="1" dirty="0"/>
              <a:t>GAs</a:t>
            </a:r>
            <a:r>
              <a:rPr lang="en-US" dirty="0"/>
              <a:t> are directly derived from </a:t>
            </a:r>
            <a:r>
              <a:rPr lang="en-US" b="1" dirty="0"/>
              <a:t>natural evolution</a:t>
            </a:r>
            <a:r>
              <a:rPr lang="en-US" dirty="0"/>
              <a:t>.</a:t>
            </a:r>
          </a:p>
          <a:p>
            <a:r>
              <a:rPr lang="en-US" b="1" dirty="0"/>
              <a:t>GAs</a:t>
            </a:r>
            <a:r>
              <a:rPr lang="en-US" dirty="0"/>
              <a:t> emulate ideas from </a:t>
            </a:r>
            <a:r>
              <a:rPr lang="en-US" b="1" dirty="0"/>
              <a:t>genetics</a:t>
            </a:r>
            <a:r>
              <a:rPr lang="en-US" dirty="0"/>
              <a:t> and </a:t>
            </a:r>
            <a:r>
              <a:rPr lang="en-US" b="1" dirty="0"/>
              <a:t>natural selection</a:t>
            </a:r>
            <a:r>
              <a:rPr lang="en-US" dirty="0"/>
              <a:t> and can </a:t>
            </a:r>
            <a:r>
              <a:rPr lang="en-US" b="1" dirty="0"/>
              <a:t>search potentially large spaces</a:t>
            </a:r>
          </a:p>
          <a:p>
            <a:r>
              <a:rPr lang="sv-SE" dirty="0"/>
              <a:t>Based on: </a:t>
            </a:r>
            <a:r>
              <a:rPr lang="sv-SE" b="1" dirty="0"/>
              <a:t>survival of the most fittest individual</a:t>
            </a:r>
            <a:endParaRPr lang="sv-SE" dirty="0"/>
          </a:p>
          <a:p>
            <a:r>
              <a:rPr lang="sv-SE" dirty="0"/>
              <a:t>Two key steps: </a:t>
            </a:r>
            <a:r>
              <a:rPr lang="sv-SE" i="1" dirty="0"/>
              <a:t>reproduction, survive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1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Genetic Algorithm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r>
              <a:rPr lang="en-US" altLang="en-US" dirty="0"/>
              <a:t>Based on Darwinian Paradigm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Intrinsically a robust search and optimization mechanism</a:t>
            </a:r>
          </a:p>
        </p:txBody>
      </p:sp>
      <p:grpSp>
        <p:nvGrpSpPr>
          <p:cNvPr id="173060" name="Group 4"/>
          <p:cNvGrpSpPr>
            <a:grpSpLocks/>
          </p:cNvGrpSpPr>
          <p:nvPr/>
        </p:nvGrpSpPr>
        <p:grpSpPr bwMode="auto">
          <a:xfrm>
            <a:off x="3180471" y="2563839"/>
            <a:ext cx="4446588" cy="1687513"/>
            <a:chOff x="1056" y="1872"/>
            <a:chExt cx="2801" cy="1063"/>
          </a:xfrm>
        </p:grpSpPr>
        <p:sp>
          <p:nvSpPr>
            <p:cNvPr id="173061" name="Text Box 5"/>
            <p:cNvSpPr txBox="1">
              <a:spLocks noChangeArrowheads="1"/>
            </p:cNvSpPr>
            <p:nvPr/>
          </p:nvSpPr>
          <p:spPr bwMode="auto">
            <a:xfrm>
              <a:off x="1056" y="1894"/>
              <a:ext cx="908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Reproduction</a:t>
              </a:r>
            </a:p>
          </p:txBody>
        </p:sp>
        <p:sp>
          <p:nvSpPr>
            <p:cNvPr id="173062" name="Text Box 6"/>
            <p:cNvSpPr txBox="1">
              <a:spLocks noChangeArrowheads="1"/>
            </p:cNvSpPr>
            <p:nvPr/>
          </p:nvSpPr>
          <p:spPr bwMode="auto">
            <a:xfrm>
              <a:off x="3014" y="1872"/>
              <a:ext cx="843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Competition</a:t>
              </a:r>
            </a:p>
          </p:txBody>
        </p:sp>
        <p:sp>
          <p:nvSpPr>
            <p:cNvPr id="173063" name="Text Box 7"/>
            <p:cNvSpPr txBox="1">
              <a:spLocks noChangeArrowheads="1"/>
            </p:cNvSpPr>
            <p:nvPr/>
          </p:nvSpPr>
          <p:spPr bwMode="auto">
            <a:xfrm>
              <a:off x="3120" y="2702"/>
              <a:ext cx="658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Selection</a:t>
              </a:r>
            </a:p>
          </p:txBody>
        </p:sp>
        <p:sp>
          <p:nvSpPr>
            <p:cNvPr id="173064" name="Text Box 8"/>
            <p:cNvSpPr txBox="1">
              <a:spLocks noChangeArrowheads="1"/>
            </p:cNvSpPr>
            <p:nvPr/>
          </p:nvSpPr>
          <p:spPr bwMode="auto">
            <a:xfrm>
              <a:off x="1247" y="2702"/>
              <a:ext cx="569" cy="233"/>
            </a:xfrm>
            <a:prstGeom prst="rect">
              <a:avLst/>
            </a:prstGeom>
            <a:noFill/>
            <a:ln w="12700">
              <a:solidFill>
                <a:srgbClr val="0066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Survive</a:t>
              </a:r>
            </a:p>
          </p:txBody>
        </p:sp>
        <p:sp>
          <p:nvSpPr>
            <p:cNvPr id="173065" name="Line 9"/>
            <p:cNvSpPr>
              <a:spLocks noChangeShapeType="1"/>
            </p:cNvSpPr>
            <p:nvPr/>
          </p:nvSpPr>
          <p:spPr bwMode="auto">
            <a:xfrm>
              <a:off x="3504" y="2182"/>
              <a:ext cx="0" cy="52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6" name="Line 10"/>
            <p:cNvSpPr>
              <a:spLocks noChangeShapeType="1"/>
            </p:cNvSpPr>
            <p:nvPr/>
          </p:nvSpPr>
          <p:spPr bwMode="auto">
            <a:xfrm flipH="1">
              <a:off x="1968" y="2854"/>
              <a:ext cx="115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7" name="Line 11"/>
            <p:cNvSpPr>
              <a:spLocks noChangeShapeType="1"/>
            </p:cNvSpPr>
            <p:nvPr/>
          </p:nvSpPr>
          <p:spPr bwMode="auto">
            <a:xfrm flipV="1">
              <a:off x="1536" y="2182"/>
              <a:ext cx="0" cy="52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3068" name="Line 12"/>
            <p:cNvSpPr>
              <a:spLocks noChangeShapeType="1"/>
            </p:cNvSpPr>
            <p:nvPr/>
          </p:nvSpPr>
          <p:spPr bwMode="auto">
            <a:xfrm>
              <a:off x="2208" y="2038"/>
              <a:ext cx="816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248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for running a genetic algorithm is as follows.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population of chromosomes (this is the first generation).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termination criteria are satisfied, stop. Otherwise, continue with step 3.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Determine the fitness of each chromosome.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Apply crossover and mutation to selected chromosomes from the current generation to generate a new population of chromosomes—the next generation.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Return to step 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9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.8.5. Variable Selection by Genetic Algorithms (Dr. Frank Dieterl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6" y="179729"/>
            <a:ext cx="5401163" cy="653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39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Genetic Algorithms</a:t>
            </a: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Before we can </a:t>
            </a:r>
            <a:r>
              <a:rPr lang="en-US" altLang="en-US" b="1" dirty="0"/>
              <a:t>apply Genetic Algorithm to a problem</a:t>
            </a:r>
            <a:r>
              <a:rPr lang="en-US" altLang="en-US" dirty="0"/>
              <a:t>, we need to answer:</a:t>
            </a:r>
            <a:endParaRPr lang="sv-SE" altLang="en-US" dirty="0"/>
          </a:p>
          <a:p>
            <a:pPr lvl="1"/>
            <a:r>
              <a:rPr lang="en-US" sz="2600" dirty="0"/>
              <a:t>How can an </a:t>
            </a:r>
            <a:r>
              <a:rPr lang="en-US" sz="2600" b="1" dirty="0"/>
              <a:t>individual be represented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What is the </a:t>
            </a:r>
            <a:r>
              <a:rPr lang="en-US" sz="2600" b="1" dirty="0"/>
              <a:t>fitness function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How are </a:t>
            </a:r>
            <a:r>
              <a:rPr lang="en-US" sz="2600" b="1" dirty="0"/>
              <a:t>individuals selected</a:t>
            </a:r>
            <a:r>
              <a:rPr lang="en-US" sz="2600" dirty="0"/>
              <a:t>?</a:t>
            </a:r>
          </a:p>
          <a:p>
            <a:pPr lvl="1"/>
            <a:r>
              <a:rPr lang="en-US" sz="2600" dirty="0"/>
              <a:t>How do </a:t>
            </a:r>
            <a:r>
              <a:rPr lang="en-US" sz="2600" b="1" dirty="0"/>
              <a:t>individuals are generated</a:t>
            </a:r>
            <a:r>
              <a:rPr lang="en-US" sz="2600" dirty="0"/>
              <a:t>?</a:t>
            </a:r>
            <a:endParaRPr lang="sv-SE" sz="2600" dirty="0"/>
          </a:p>
          <a:p>
            <a:endParaRPr lang="sv-SE" u="sng" dirty="0"/>
          </a:p>
          <a:p>
            <a:endParaRPr lang="sv-SE" u="sn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8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States (Solution)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States as </a:t>
                </a:r>
                <a:r>
                  <a:rPr lang="en-US" b="1" dirty="0"/>
                  <a:t>sequence of strings</a:t>
                </a:r>
              </a:p>
              <a:p>
                <a:r>
                  <a:rPr lang="en-US" dirty="0"/>
                  <a:t>Each state or individual is represented as a string over finite alphabet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 It is also called </a:t>
                </a:r>
                <a:r>
                  <a:rPr lang="en-US" b="1" dirty="0"/>
                  <a:t>chromosome</a:t>
                </a:r>
                <a:r>
                  <a:rPr lang="en-US" dirty="0"/>
                  <a:t> which contains </a:t>
                </a:r>
                <a:r>
                  <a:rPr lang="en-US" b="1" dirty="0"/>
                  <a:t>genes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791178" y="3895580"/>
            <a:ext cx="29718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GB" altLang="en-US" sz="3600">
                <a:latin typeface="Times" pitchFamily="18" charset="0"/>
              </a:rPr>
              <a:t>1001011111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914378" y="4124179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Solution: 607 </a:t>
            </a:r>
            <a:endParaRPr lang="en-GB" altLang="en-US" sz="2400" b="1" dirty="0"/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4428978" y="4276579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733778" y="4428979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Encoding</a:t>
            </a:r>
            <a:endParaRPr lang="en-GB" altLang="en-US" sz="240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556716" y="4764856"/>
            <a:ext cx="37490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Chromosome: Binary String</a:t>
            </a:r>
            <a:endParaRPr lang="en-GB" altLang="en-US" sz="2400" dirty="0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7705578" y="3590779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400778" y="320978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genes</a:t>
            </a:r>
            <a:endParaRPr lang="en-GB" alt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H="1">
            <a:off x="7476978" y="3590779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31864" y="5484466"/>
            <a:ext cx="6328271" cy="692497"/>
          </a:xfrm>
          <a:prstGeom prst="rect">
            <a:avLst/>
          </a:prstGeom>
          <a:solidFill>
            <a:srgbClr val="FFFF00">
              <a:alpha val="36000"/>
            </a:srgb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Recall that every state is a solution in local search</a:t>
            </a:r>
          </a:p>
          <a:p>
            <a:pPr>
              <a:lnSpc>
                <a:spcPct val="150000"/>
              </a:lnSpc>
            </a:pPr>
            <a:endParaRPr lang="fr-FR" altLang="en-US" sz="200" dirty="0"/>
          </a:p>
        </p:txBody>
      </p:sp>
    </p:spTree>
    <p:extLst>
      <p:ext uri="{BB962C8B-B14F-4D97-AF65-F5344CB8AC3E}">
        <p14:creationId xmlns:p14="http://schemas.microsoft.com/office/powerpoint/2010/main" val="61392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Reproduction: Building New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representing </a:t>
            </a:r>
            <a:r>
              <a:rPr lang="en-US" u="sng" dirty="0"/>
              <a:t>States</a:t>
            </a:r>
            <a:r>
              <a:rPr lang="en-US" dirty="0"/>
              <a:t> (Solutions).</a:t>
            </a:r>
          </a:p>
          <a:p>
            <a:r>
              <a:rPr lang="en-US" dirty="0"/>
              <a:t>Build a </a:t>
            </a:r>
            <a:r>
              <a:rPr lang="en-US" b="1" dirty="0"/>
              <a:t>population of random solutions</a:t>
            </a:r>
            <a:r>
              <a:rPr lang="en-US" dirty="0"/>
              <a:t>.</a:t>
            </a:r>
          </a:p>
          <a:p>
            <a:r>
              <a:rPr lang="en-US" dirty="0"/>
              <a:t>Let them </a:t>
            </a:r>
            <a:r>
              <a:rPr lang="en-US" b="1" dirty="0"/>
              <a:t>reproduce</a:t>
            </a:r>
            <a:r>
              <a:rPr lang="en-US" dirty="0"/>
              <a:t> using </a:t>
            </a:r>
            <a:r>
              <a:rPr lang="en-US" b="1" dirty="0"/>
              <a:t>genetic operations</a:t>
            </a:r>
            <a:r>
              <a:rPr lang="en-US" dirty="0"/>
              <a:t>.</a:t>
            </a:r>
          </a:p>
          <a:p>
            <a:pPr lvl="1"/>
            <a:endParaRPr lang="sv-SE" dirty="0"/>
          </a:p>
          <a:p>
            <a:pPr lvl="1"/>
            <a:r>
              <a:rPr lang="sv-SE" sz="2600" dirty="0"/>
              <a:t>At each generation: apply ”</a:t>
            </a:r>
            <a:r>
              <a:rPr lang="sv-SE" sz="2600" u="sng" dirty="0"/>
              <a:t>survival of the fittest</a:t>
            </a:r>
            <a:r>
              <a:rPr lang="sv-SE" sz="2600" dirty="0"/>
              <a:t>”</a:t>
            </a:r>
          </a:p>
          <a:p>
            <a:pPr lvl="1"/>
            <a:endParaRPr lang="sv-SE" sz="2600" u="sng" dirty="0"/>
          </a:p>
          <a:p>
            <a:pPr lvl="1"/>
            <a:r>
              <a:rPr lang="sv-SE" sz="2600" u="sng" dirty="0"/>
              <a:t>Hopefully better and better solutions</a:t>
            </a:r>
            <a:r>
              <a:rPr lang="sv-SE" sz="2600" dirty="0"/>
              <a:t> evolve over time</a:t>
            </a:r>
          </a:p>
          <a:p>
            <a:pPr lvl="1"/>
            <a:endParaRPr lang="sv-SE" sz="2600" dirty="0"/>
          </a:p>
          <a:p>
            <a:pPr lvl="1"/>
            <a:r>
              <a:rPr lang="sv-SE" sz="2600" dirty="0"/>
              <a:t>The </a:t>
            </a:r>
            <a:r>
              <a:rPr lang="sv-SE" sz="2600" u="sng" dirty="0"/>
              <a:t>best solutions are more likely to survive and more likely to produce even better solutions</a:t>
            </a:r>
            <a:endParaRPr lang="en-GB" sz="2600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07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Evaluation and Selection</a:t>
            </a:r>
            <a:endParaRPr lang="en-GB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sv-SE" dirty="0"/>
              <a:t>We then see how good the solutions are, using an </a:t>
            </a:r>
            <a:r>
              <a:rPr lang="sv-SE" u="sng" dirty="0"/>
              <a:t>evaluation function</a:t>
            </a:r>
            <a:r>
              <a:rPr lang="sv-SE" dirty="0"/>
              <a:t> (recall f(n) in infomed search)</a:t>
            </a:r>
          </a:p>
          <a:p>
            <a:pPr lvl="1">
              <a:lnSpc>
                <a:spcPct val="150000"/>
              </a:lnSpc>
            </a:pPr>
            <a:r>
              <a:rPr lang="sv-SE" dirty="0"/>
              <a:t>Often </a:t>
            </a:r>
            <a:r>
              <a:rPr lang="sv-SE" b="1" dirty="0"/>
              <a:t>it is a heuristic</a:t>
            </a:r>
            <a:r>
              <a:rPr lang="sv-SE" dirty="0"/>
              <a:t>, especially if it is computationally expensive to do a complete evaluation</a:t>
            </a:r>
          </a:p>
          <a:p>
            <a:pPr lvl="1">
              <a:lnSpc>
                <a:spcPct val="150000"/>
              </a:lnSpc>
            </a:pPr>
            <a:r>
              <a:rPr lang="sv-SE" dirty="0"/>
              <a:t>The final population can then be evaluated more deeply to decide on the best solution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52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Survival of the Fittest</a:t>
            </a:r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u="sng" dirty="0"/>
              <a:t>Select the surviving population</a:t>
            </a:r>
          </a:p>
          <a:p>
            <a:pPr>
              <a:lnSpc>
                <a:spcPct val="90000"/>
              </a:lnSpc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Likelihood of survival is related in some way to your score on the </a:t>
            </a:r>
            <a:r>
              <a:rPr lang="sv-SE" u="sng" dirty="0"/>
              <a:t>fitness function</a:t>
            </a:r>
          </a:p>
          <a:p>
            <a:pPr lvl="1">
              <a:lnSpc>
                <a:spcPct val="90000"/>
              </a:lnSpc>
            </a:pPr>
            <a:r>
              <a:rPr lang="sv-SE" dirty="0"/>
              <a:t>The most common technique is </a:t>
            </a:r>
            <a:r>
              <a:rPr lang="sv-SE" u="sng" dirty="0"/>
              <a:t>roulette wheel selection</a:t>
            </a:r>
          </a:p>
          <a:p>
            <a:pPr marL="457200" lvl="1" indent="0">
              <a:buNone/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Note we always keep the </a:t>
            </a:r>
            <a:r>
              <a:rPr lang="sv-SE" b="1" u="sng" dirty="0"/>
              <a:t>best solution</a:t>
            </a:r>
            <a:r>
              <a:rPr lang="sv-SE" dirty="0"/>
              <a:t> so far</a:t>
            </a:r>
          </a:p>
          <a:p>
            <a:pPr>
              <a:lnSpc>
                <a:spcPct val="90000"/>
              </a:lnSpc>
            </a:pPr>
            <a:endParaRPr lang="sv-SE" dirty="0"/>
          </a:p>
          <a:p>
            <a:pPr>
              <a:lnSpc>
                <a:spcPct val="90000"/>
              </a:lnSpc>
            </a:pPr>
            <a:r>
              <a:rPr lang="sv-SE" dirty="0"/>
              <a:t>Remember: </a:t>
            </a:r>
            <a:r>
              <a:rPr lang="sv-SE" u="sng" dirty="0"/>
              <a:t>Its local search</a:t>
            </a:r>
            <a:endParaRPr lang="en-GB" u="sn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78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Genetic Operators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These operators mimic what happens to our genetic material when we reproduce</a:t>
            </a:r>
            <a:endParaRPr lang="en-GB" dirty="0"/>
          </a:p>
          <a:p>
            <a:pPr lvl="1"/>
            <a:r>
              <a:rPr lang="sv-SE" dirty="0"/>
              <a:t>Crossover</a:t>
            </a:r>
          </a:p>
          <a:p>
            <a:pPr lvl="1"/>
            <a:r>
              <a:rPr lang="sv-SE" dirty="0"/>
              <a:t>Mutation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5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Crossover Operator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Cut two solutions at a random point and switch the respective parts</a:t>
            </a:r>
          </a:p>
          <a:p>
            <a:r>
              <a:rPr lang="sv-SE" dirty="0"/>
              <a:t>Typically a value of 0.7 for crossover probability gives good results.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590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0480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876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5052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9624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4196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6400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68580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86868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73152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77724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8229600" y="3661032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4419600" y="3203832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8229600" y="3203832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4038601" y="4270632"/>
            <a:ext cx="8239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sz="440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rPr>
              <a:t></a:t>
            </a:r>
            <a:endParaRPr lang="en-GB" sz="4400">
              <a:solidFill>
                <a:schemeClr val="tx2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7862888" y="4270632"/>
            <a:ext cx="8239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sz="440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rPr>
              <a:t></a:t>
            </a:r>
            <a:endParaRPr lang="en-GB" sz="4400">
              <a:solidFill>
                <a:schemeClr val="tx2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2590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30480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876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35052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39624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44196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6400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68580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86868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73152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7" name="Rectangle 29"/>
          <p:cNvSpPr>
            <a:spLocks noChangeArrowheads="1"/>
          </p:cNvSpPr>
          <p:nvPr/>
        </p:nvSpPr>
        <p:spPr bwMode="auto">
          <a:xfrm>
            <a:off x="77724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8" name="Rectangle 30"/>
          <p:cNvSpPr>
            <a:spLocks noChangeArrowheads="1"/>
          </p:cNvSpPr>
          <p:nvPr/>
        </p:nvSpPr>
        <p:spPr bwMode="auto">
          <a:xfrm>
            <a:off x="8229600" y="5562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4419600" y="5105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8229600" y="5105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5867400" y="4369568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1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Crossover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43" y="2861383"/>
            <a:ext cx="8504528" cy="247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0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Crossover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crossover operator is applied to two chromosomes of the same length as follows:</a:t>
            </a:r>
          </a:p>
          <a:p>
            <a:pPr lvl="1"/>
            <a:r>
              <a:rPr lang="en-US" dirty="0"/>
              <a:t>1. Select a random crossover point.</a:t>
            </a:r>
          </a:p>
          <a:p>
            <a:pPr lvl="1"/>
            <a:r>
              <a:rPr lang="en-US" dirty="0"/>
              <a:t>2. Break each chromosome into two parts, splitting at the crossover point.</a:t>
            </a:r>
          </a:p>
          <a:p>
            <a:pPr lvl="1"/>
            <a:r>
              <a:rPr lang="en-US" dirty="0"/>
              <a:t>3. Recombine the broken chromosomes by combining the front of one with the back of the other, and vice versa, to produce two new chromosomes.</a:t>
            </a:r>
          </a:p>
          <a:p>
            <a:r>
              <a:rPr lang="en-US" dirty="0"/>
              <a:t>For example, consider the following two chromosomes:</a:t>
            </a:r>
          </a:p>
          <a:p>
            <a:pPr lvl="1"/>
            <a:r>
              <a:rPr lang="en-US" dirty="0"/>
              <a:t>110100110001001</a:t>
            </a:r>
          </a:p>
          <a:p>
            <a:pPr lvl="1"/>
            <a:r>
              <a:rPr lang="en-US" dirty="0"/>
              <a:t>010101000111101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29" y="4816427"/>
            <a:ext cx="4730671" cy="136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80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Mutation operator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Randomly </a:t>
            </a:r>
            <a:r>
              <a:rPr lang="en-US" b="1" dirty="0">
                <a:solidFill>
                  <a:srgbClr val="FF0000"/>
                </a:solidFill>
              </a:rPr>
              <a:t>change one bit </a:t>
            </a:r>
            <a:r>
              <a:rPr lang="en-US" dirty="0"/>
              <a:t>in the solution</a:t>
            </a:r>
          </a:p>
          <a:p>
            <a:pPr lvl="1"/>
            <a:r>
              <a:rPr lang="en-US" dirty="0"/>
              <a:t>Mutation is a </a:t>
            </a:r>
            <a:r>
              <a:rPr lang="en-US" b="1" dirty="0"/>
              <a:t>unary operator </a:t>
            </a:r>
            <a:r>
              <a:rPr lang="en-US" dirty="0"/>
              <a:t>(i.e., applied to just one argument—a single gene)</a:t>
            </a:r>
          </a:p>
          <a:p>
            <a:r>
              <a:rPr lang="en-US" dirty="0"/>
              <a:t>Occasional mutation </a:t>
            </a:r>
            <a:r>
              <a:rPr lang="en-US" u="sng" dirty="0"/>
              <a:t>makes the method much less sensitive</a:t>
            </a:r>
            <a:r>
              <a:rPr lang="en-US" dirty="0"/>
              <a:t> to the original population and also </a:t>
            </a:r>
            <a:r>
              <a:rPr lang="en-US" u="sng" dirty="0"/>
              <a:t>allows ”new” solutions</a:t>
            </a:r>
            <a:r>
              <a:rPr lang="en-US" dirty="0"/>
              <a:t> to emerge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0574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5146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2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3434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9718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4290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3886200" y="4381651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2057400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9003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3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>
            <a:off x="2819400" y="5105401"/>
            <a:ext cx="0" cy="644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6" name="Rectangle 42"/>
          <p:cNvSpPr>
            <a:spLocks noChangeArrowheads="1"/>
          </p:cNvSpPr>
          <p:nvPr/>
        </p:nvSpPr>
        <p:spPr bwMode="auto">
          <a:xfrm>
            <a:off x="41957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6</a:t>
            </a:r>
          </a:p>
        </p:txBody>
      </p:sp>
      <p:sp>
        <p:nvSpPr>
          <p:cNvPr id="21547" name="Rectangle 43"/>
          <p:cNvSpPr>
            <a:spLocks noChangeArrowheads="1"/>
          </p:cNvSpPr>
          <p:nvPr/>
        </p:nvSpPr>
        <p:spPr bwMode="auto">
          <a:xfrm>
            <a:off x="33321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4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48" name="Rectangle 44"/>
          <p:cNvSpPr>
            <a:spLocks noChangeArrowheads="1"/>
          </p:cNvSpPr>
          <p:nvPr/>
        </p:nvSpPr>
        <p:spPr bwMode="auto">
          <a:xfrm>
            <a:off x="37639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400">
                <a:latin typeface="Times New Roman" pitchFamily="18" charset="0"/>
              </a:rPr>
              <a:t>a</a:t>
            </a:r>
            <a:r>
              <a:rPr lang="en-GB" sz="2400" baseline="-25000">
                <a:latin typeface="Times New Roman" pitchFamily="18" charset="0"/>
              </a:rPr>
              <a:t>5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1551" name="Rectangle 47"/>
          <p:cNvSpPr>
            <a:spLocks noChangeArrowheads="1"/>
          </p:cNvSpPr>
          <p:nvPr/>
        </p:nvSpPr>
        <p:spPr bwMode="auto">
          <a:xfrm>
            <a:off x="2468563" y="5943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sv-SE" sz="2400">
                <a:latin typeface="Times New Roman" pitchFamily="18" charset="0"/>
              </a:rPr>
              <a:t>b</a:t>
            </a:r>
            <a:r>
              <a:rPr lang="en-GB" sz="2400" baseline="-25000">
                <a:latin typeface="Times New Roman" pitchFamily="18" charset="0"/>
              </a:rPr>
              <a:t>1</a:t>
            </a:r>
            <a:endParaRPr lang="en-GB" sz="2400">
              <a:latin typeface="Times New Roman" pitchFamily="18" charset="0"/>
            </a:endParaRP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3" t="70192" r="55808" b="14904"/>
          <a:stretch/>
        </p:blipFill>
        <p:spPr bwMode="auto">
          <a:xfrm>
            <a:off x="7956966" y="4996212"/>
            <a:ext cx="2634835" cy="148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646326" y="4381651"/>
            <a:ext cx="2045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Mutation of a2 = b1</a:t>
            </a:r>
          </a:p>
        </p:txBody>
      </p:sp>
    </p:spTree>
    <p:extLst>
      <p:ext uri="{BB962C8B-B14F-4D97-AF65-F5344CB8AC3E}">
        <p14:creationId xmlns:p14="http://schemas.microsoft.com/office/powerpoint/2010/main" val="4214980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59" y="2954875"/>
            <a:ext cx="7700655" cy="23205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877840" y="4742640"/>
              <a:ext cx="1129680" cy="18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8480" y="4733280"/>
                <a:ext cx="114840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398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Fitness Function for a mathematic function</a:t>
                </a:r>
              </a:p>
              <a:p>
                <a:r>
                  <a:rPr lang="en-US" dirty="0"/>
                  <a:t>Ex. attempt to maximize the function: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/>
                      </a:rPr>
                      <m:t>sin</m:t>
                    </m:r>
                    <m:r>
                      <a:rPr lang="en-US" i="1" dirty="0">
                        <a:latin typeface="Cambria Math"/>
                      </a:rPr>
                      <m:t>⁡(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in range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0≤ 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≤ 15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1" y="1066800"/>
                <a:ext cx="8915400" cy="4953000"/>
              </a:xfrm>
              <a:blipFill rotWithShape="1">
                <a:blip r:embed="rId2"/>
                <a:stretch>
                  <a:fillRect l="-1231" t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737921"/>
              </p:ext>
            </p:extLst>
          </p:nvPr>
        </p:nvGraphicFramePr>
        <p:xfrm>
          <a:off x="2788334" y="3294063"/>
          <a:ext cx="6615332" cy="2882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61630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Using population size of 4 chromosomes</a:t>
                </a:r>
              </a:p>
              <a:p>
                <a:r>
                  <a:rPr lang="en-US" u="sng" dirty="0"/>
                  <a:t>First Generation:</a:t>
                </a:r>
                <a:r>
                  <a:rPr lang="en-US" dirty="0"/>
                  <a:t> Generate a random population:</a:t>
                </a:r>
              </a:p>
              <a:p>
                <a:endParaRPr lang="en-US" dirty="0"/>
              </a:p>
              <a:p>
                <a:endParaRPr lang="en-US" sz="1600" dirty="0"/>
              </a:p>
              <a:p>
                <a:r>
                  <a:rPr lang="en-US" dirty="0"/>
                  <a:t>To calculate </a:t>
                </a:r>
                <a:r>
                  <a:rPr lang="en-US" b="1" u="sng" dirty="0"/>
                  <a:t>fitness</a:t>
                </a:r>
                <a:r>
                  <a:rPr lang="en-US" dirty="0"/>
                  <a:t> of a chromosome, we calculate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its decimal value</a:t>
                </a:r>
              </a:p>
              <a:p>
                <a:r>
                  <a:rPr lang="en-US" dirty="0"/>
                  <a:t>Assign fitness as a numeric value from </a:t>
                </a:r>
                <a:r>
                  <a:rPr lang="en-US" u="sng" dirty="0"/>
                  <a:t>0 to 100</a:t>
                </a:r>
              </a:p>
              <a:p>
                <a:pPr lvl="1"/>
                <a:r>
                  <a:rPr lang="en-US" dirty="0"/>
                  <a:t>0 is the least fit</a:t>
                </a:r>
              </a:p>
              <a:p>
                <a:pPr lvl="1"/>
                <a:r>
                  <a:rPr lang="en-US" dirty="0"/>
                  <a:t>100 is the most fit.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generates real numbers between -1 and 1.</a:t>
                </a:r>
              </a:p>
              <a:p>
                <a:r>
                  <a:rPr lang="en-US" dirty="0"/>
                  <a:t>Assign a fitness score of 100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1</m:t>
                    </m:r>
                  </m:oMath>
                </a14:m>
                <a:r>
                  <a:rPr lang="en-US" dirty="0"/>
                  <a:t> and fitness of 0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Fitness of 50 will be assigned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266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186570"/>
              </p:ext>
            </p:extLst>
          </p:nvPr>
        </p:nvGraphicFramePr>
        <p:xfrm>
          <a:off x="3302391" y="2574388"/>
          <a:ext cx="60960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  <a:p>
                      <a:pPr lvl="1"/>
                      <a:r>
                        <a:rPr lang="en-US" sz="2400" dirty="0"/>
                        <a:t>c2 = 0011	  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c3 = 1010	   (10)</a:t>
                      </a:r>
                    </a:p>
                    <a:p>
                      <a:pPr lvl="1"/>
                      <a:r>
                        <a:rPr lang="en-US" sz="2400" dirty="0"/>
                        <a:t>c4 = 0101	  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312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Fitness Function (Optimization)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Fitness of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b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𝒇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= 50(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+ 1)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)= 50(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/>
                      </a:rPr>
                      <m:t>sin</m:t>
                    </m:r>
                    <m:r>
                      <a:rPr lang="en-US" sz="2400" i="1" dirty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 + 1)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1" y="990600"/>
                <a:ext cx="4800599" cy="4953000"/>
              </a:xfrm>
              <a:blipFill rotWithShape="1">
                <a:blip r:embed="rId2"/>
                <a:stretch>
                  <a:fillRect l="-3304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04404"/>
              </p:ext>
            </p:extLst>
          </p:nvPr>
        </p:nvGraphicFramePr>
        <p:xfrm>
          <a:off x="7180729" y="454540"/>
          <a:ext cx="4240306" cy="594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x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f(x)=sin(x)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f'(x) = 50(f(x)+1)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4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7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8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sng" strike="noStrike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sng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66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13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14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990600" y="35052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3829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 (Optimization)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89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range of real numbers </a:t>
            </a:r>
            <a:r>
              <a:rPr lang="en-US" b="1" dirty="0">
                <a:solidFill>
                  <a:srgbClr val="FF0000"/>
                </a:solidFill>
              </a:rPr>
              <a:t>from 0 to 100</a:t>
            </a:r>
            <a:r>
              <a:rPr lang="en-US" dirty="0"/>
              <a:t> is divided up between the chromosomes proportionally to each </a:t>
            </a:r>
            <a:r>
              <a:rPr lang="en-US" dirty="0">
                <a:solidFill>
                  <a:srgbClr val="FF0000"/>
                </a:solidFill>
              </a:rPr>
              <a:t>chromosome’s fitness</a:t>
            </a:r>
            <a:r>
              <a:rPr lang="en-US" dirty="0"/>
              <a:t>.</a:t>
            </a:r>
          </a:p>
          <a:p>
            <a:r>
              <a:rPr lang="en-US" dirty="0"/>
              <a:t>In first generation: </a:t>
            </a:r>
          </a:p>
          <a:p>
            <a:pPr lvl="1"/>
            <a:r>
              <a:rPr lang="en-US" dirty="0"/>
              <a:t>c1 has 46.3% of the range (i.e., from 0 to 46.3)</a:t>
            </a:r>
          </a:p>
          <a:p>
            <a:pPr lvl="1"/>
            <a:r>
              <a:rPr lang="en-US" dirty="0"/>
              <a:t>c2 37.4% of the range (i.e., from 46.4 to 83.7)</a:t>
            </a:r>
          </a:p>
          <a:p>
            <a:pPr lvl="1"/>
            <a:r>
              <a:rPr lang="en-US" dirty="0"/>
              <a:t>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6" t="21538" r="7449" b="39231"/>
          <a:stretch/>
        </p:blipFill>
        <p:spPr bwMode="auto">
          <a:xfrm>
            <a:off x="1837765" y="3727493"/>
            <a:ext cx="7772400" cy="274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653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Roulette-wheel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u="sng" dirty="0">
                    <a:solidFill>
                      <a:srgbClr val="FF0000"/>
                    </a:solidFill>
                  </a:rPr>
                  <a:t>random number is generated</a:t>
                </a:r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0−100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This number will fall in the range of one of the chromosomes (suppose c1)</a:t>
                </a:r>
              </a:p>
              <a:p>
                <a:pPr lvl="1"/>
                <a:r>
                  <a:rPr lang="en-US" dirty="0"/>
                  <a:t>c1 chromosome has been selected for reproduction</a:t>
                </a:r>
              </a:p>
              <a:p>
                <a:r>
                  <a:rPr lang="en-US" dirty="0"/>
                  <a:t>The next random number is used to select second chromosome’s (suppose c2)</a:t>
                </a:r>
              </a:p>
              <a:p>
                <a:r>
                  <a:rPr lang="en-US" dirty="0"/>
                  <a:t>Hence, </a:t>
                </a:r>
                <a:r>
                  <a:rPr lang="en-US" b="1" dirty="0">
                    <a:solidFill>
                      <a:srgbClr val="FF0000"/>
                    </a:solidFill>
                  </a:rPr>
                  <a:t>fitter chromosomes will tend to produce more offspring than less fit chromosomes</a:t>
                </a:r>
                <a:r>
                  <a:rPr lang="en-US" dirty="0"/>
                  <a:t>.</a:t>
                </a:r>
              </a:p>
              <a:p>
                <a:endParaRPr lang="en-US" b="1" dirty="0"/>
              </a:p>
              <a:p>
                <a:r>
                  <a:rPr lang="en-US" b="1" dirty="0"/>
                  <a:t>Important:</a:t>
                </a:r>
                <a:r>
                  <a:rPr lang="en-US" dirty="0"/>
                  <a:t> Method does not stop less fit chromosomes from reproducing, to ensure that populations do not </a:t>
                </a:r>
                <a:r>
                  <a:rPr lang="en-US" b="1" dirty="0"/>
                  <a:t>stagnate</a:t>
                </a:r>
                <a:r>
                  <a:rPr lang="en-US" dirty="0"/>
                  <a:t>, by constantly breeding from the same parents.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 r="-464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71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Need 4 random numbers for next generation</a:t>
            </a:r>
          </a:p>
          <a:p>
            <a:r>
              <a:rPr lang="en-US" dirty="0"/>
              <a:t>Assume that:</a:t>
            </a:r>
          </a:p>
          <a:p>
            <a:r>
              <a:rPr lang="en-US" u="sng" dirty="0"/>
              <a:t>First random number is 56.7 </a:t>
            </a:r>
            <a:r>
              <a:rPr lang="en-US" dirty="0"/>
              <a:t>(c2 is chosen)</a:t>
            </a:r>
          </a:p>
          <a:p>
            <a:r>
              <a:rPr lang="en-US" u="sng" dirty="0"/>
              <a:t>Second random number is 38.2</a:t>
            </a:r>
            <a:r>
              <a:rPr lang="en-US" dirty="0"/>
              <a:t> (c1 is chosen)</a:t>
            </a:r>
          </a:p>
          <a:p>
            <a:r>
              <a:rPr lang="en-US" dirty="0"/>
              <a:t>Third random number is 20 (c1 is chosen)</a:t>
            </a:r>
          </a:p>
          <a:p>
            <a:r>
              <a:rPr lang="en-US" dirty="0"/>
              <a:t>Fourth random number is 85 (c3 is chosen)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98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Generation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Combine first two</a:t>
            </a:r>
            <a:r>
              <a:rPr lang="en-US" dirty="0"/>
              <a:t> to produce two new offspring:</a:t>
            </a:r>
          </a:p>
          <a:p>
            <a:pPr lvl="1"/>
            <a:r>
              <a:rPr lang="en-US" dirty="0"/>
              <a:t>Crossover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Combine last two</a:t>
            </a:r>
            <a:r>
              <a:rPr lang="en-US" dirty="0"/>
              <a:t> to produce two new offspring:</a:t>
            </a:r>
          </a:p>
          <a:p>
            <a:pPr lvl="1"/>
            <a:r>
              <a:rPr lang="en-US" dirty="0"/>
              <a:t>Crossover point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2400" y="2438400"/>
          <a:ext cx="6096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c2 = 0011	  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c5 = 1011     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c6 = 0001     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029200" y="2465696"/>
            <a:ext cx="4038600" cy="810904"/>
            <a:chOff x="4114800" y="3532496"/>
            <a:chExt cx="4038600" cy="810904"/>
          </a:xfrm>
        </p:grpSpPr>
        <p:sp>
          <p:nvSpPr>
            <p:cNvPr id="7" name="Line 15"/>
            <p:cNvSpPr>
              <a:spLocks noChangeShapeType="1"/>
            </p:cNvSpPr>
            <p:nvPr/>
          </p:nvSpPr>
          <p:spPr bwMode="auto">
            <a:xfrm>
              <a:off x="4308144" y="354388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4114800" y="388620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73704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71770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4637968" y="355980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444624" y="390212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76752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74818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>
              <a:off x="5943600" y="3822520"/>
              <a:ext cx="0" cy="52088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2400" y="4800600"/>
          <a:ext cx="6096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c1 = 1001	   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dirty="0"/>
                        <a:t>c3 = 1010	   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c8 = 1011     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400" b="1" dirty="0"/>
                        <a:t>c7 = 1000      (8)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5029200" y="4841544"/>
            <a:ext cx="4038600" cy="810904"/>
            <a:chOff x="4114800" y="3532496"/>
            <a:chExt cx="4038600" cy="810904"/>
          </a:xfrm>
        </p:grpSpPr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4308144" y="354388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4114800" y="388620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73704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71770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4637968" y="355980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4444624" y="3902120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7675231" y="353249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7481887" y="3874808"/>
              <a:ext cx="6715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sv-SE" dirty="0">
                  <a:solidFill>
                    <a:schemeClr val="tx2"/>
                  </a:solidFill>
                  <a:latin typeface="Times New Roman" pitchFamily="18" charset="0"/>
                  <a:sym typeface="Wingdings" pitchFamily="2" charset="2"/>
                </a:rPr>
                <a:t></a:t>
              </a:r>
              <a:endParaRPr lang="en-GB" dirty="0">
                <a:solidFill>
                  <a:schemeClr val="tx2"/>
                </a:solidFill>
                <a:latin typeface="Times New Roman" pitchFamily="18" charset="0"/>
                <a:sym typeface="Wingdings" pitchFamily="2" charset="2"/>
              </a:endParaRPr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>
              <a:off x="5943600" y="3822520"/>
              <a:ext cx="0" cy="52088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4343400" y="2438400"/>
            <a:ext cx="5334000" cy="103950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5410200" cy="10668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85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generation: c5 to c8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c4 did not have a chance to reproduce (its genes will be lost)</a:t>
            </a:r>
          </a:p>
          <a:p>
            <a:r>
              <a:rPr lang="en-US" b="1" dirty="0"/>
              <a:t>Fittest chromosome in the first generation (c1), able to reproduce twice</a:t>
            </a:r>
          </a:p>
          <a:p>
            <a:r>
              <a:rPr lang="en-US" dirty="0"/>
              <a:t>Passing on its highly fit genes to all members of the next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2" t="45577" r="7514" b="14231"/>
          <a:stretch/>
        </p:blipFill>
        <p:spPr bwMode="auto">
          <a:xfrm>
            <a:off x="1676400" y="3733801"/>
            <a:ext cx="8117058" cy="2940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1601" y="5421868"/>
            <a:ext cx="1376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Extremely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1" y="5203874"/>
            <a:ext cx="8691795" cy="815926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 criteria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Termination criteria would probably determine that c7 is the most fit (local optimum) and the algorithm will be stopped.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57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Problem: Maximize the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varies between 1 and 31.</a:t>
                </a:r>
              </a:p>
              <a:p>
                <a:endParaRPr lang="en-US" dirty="0"/>
              </a:p>
              <a:p>
                <a:r>
                  <a:rPr lang="en-US" dirty="0"/>
                  <a:t>Step 1: </a:t>
                </a:r>
              </a:p>
              <a:p>
                <a:pPr lvl="1"/>
                <a:r>
                  <a:rPr lang="en-US" dirty="0"/>
                  <a:t>Code the decision variable of the problem a binary unsigned integer of length 5.</a:t>
                </a:r>
              </a:p>
              <a:p>
                <a:pPr lvl="1"/>
                <a:r>
                  <a:rPr lang="en-US" dirty="0"/>
                  <a:t>To start we select an initial population of size 4 by tossing a fair coin 4 times.</a:t>
                </a:r>
              </a:p>
              <a:p>
                <a:pPr lvl="1"/>
                <a:r>
                  <a:rPr lang="en-US" dirty="0"/>
                  <a:t>Fitness function is defined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96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558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106341"/>
                  </p:ext>
                </p:extLst>
              </p:nvPr>
            </p:nvGraphicFramePr>
            <p:xfrm>
              <a:off x="3759009" y="1758689"/>
              <a:ext cx="4673982" cy="212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9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3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57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244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Initial Pop.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106341"/>
                  </p:ext>
                </p:extLst>
              </p:nvPr>
            </p:nvGraphicFramePr>
            <p:xfrm>
              <a:off x="3759009" y="1758689"/>
              <a:ext cx="4673982" cy="2122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068"/>
                    <a:gridCol w="1329500"/>
                    <a:gridCol w="943674"/>
                    <a:gridCol w="1225740"/>
                  </a:tblGrid>
                  <a:tr h="4244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Initial Pop.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452" t="-7143" r="-132258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2587" t="-7143" r="-1990" b="-407143"/>
                          </a:stretch>
                        </a:blipFill>
                      </a:tcPr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0 1 1 0 1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169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576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64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42440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1 0 0 1 1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361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334950"/>
                  </p:ext>
                </p:extLst>
              </p:nvPr>
            </p:nvGraphicFramePr>
            <p:xfrm>
              <a:off x="1820559" y="4426773"/>
              <a:ext cx="7271865" cy="2010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88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88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57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814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69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Expected</a:t>
                          </a:r>
                          <a:r>
                            <a:rPr lang="en-US" baseline="0" dirty="0"/>
                            <a:t> Count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1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baseline="0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b="1" i="1" baseline="0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𝒂𝒗𝒈</m:t>
                                  </m:r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Roulette Wheel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334950"/>
                  </p:ext>
                </p:extLst>
              </p:nvPr>
            </p:nvGraphicFramePr>
            <p:xfrm>
              <a:off x="1820559" y="4426773"/>
              <a:ext cx="7271865" cy="2010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88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88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57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814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69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27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5747" r="-444624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5075" t="-5747" r="-311443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7544" t="-5747" r="-83041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Roulette Wheel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621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strings get more copies, while the weak ones just die off.</a:t>
            </a:r>
          </a:p>
          <a:p>
            <a:r>
              <a:rPr lang="en-US" dirty="0"/>
              <a:t>After selection, crossover takes place</a:t>
            </a:r>
          </a:p>
          <a:p>
            <a:pPr lvl="1"/>
            <a:r>
              <a:rPr lang="en-US" dirty="0"/>
              <a:t>Strings combined randomly using one point cross over</a:t>
            </a:r>
          </a:p>
          <a:p>
            <a:pPr lvl="1"/>
            <a:r>
              <a:rPr lang="en-US" dirty="0"/>
              <a:t>Apply one bit mutation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215757"/>
                  </p:ext>
                </p:extLst>
              </p:nvPr>
            </p:nvGraphicFramePr>
            <p:xfrm>
              <a:off x="838200" y="4053523"/>
              <a:ext cx="65024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One Point Cross Over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New Children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|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1 0 0 |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| 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1 0 0 0 0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| 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1 1 0 1 1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9215757"/>
                  </p:ext>
                </p:extLst>
              </p:nvPr>
            </p:nvGraphicFramePr>
            <p:xfrm>
              <a:off x="838200" y="4053523"/>
              <a:ext cx="6502400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/>
                    <a:gridCol w="1625600"/>
                    <a:gridCol w="1625600"/>
                    <a:gridCol w="16256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String No.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75" t="-4717" r="-201498" b="-243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One Point Cross Over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New Children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</a:t>
                          </a:r>
                          <a:r>
                            <a:rPr lang="en-US" dirty="0" smtClean="0"/>
                            <a:t>0 | </a:t>
                          </a:r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1 1 0 0 1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 1 0 0 |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0 1 1 0 0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| 0 0 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1 0 0 0 0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</a:t>
                          </a:r>
                          <a:r>
                            <a:rPr lang="en-US" dirty="0" smtClean="0"/>
                            <a:t>0 | </a:t>
                          </a:r>
                          <a:r>
                            <a:rPr lang="en-US" dirty="0" smtClean="0"/>
                            <a:t>0 1 1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1 1 0 1 1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40084"/>
              </p:ext>
            </p:extLst>
          </p:nvPr>
        </p:nvGraphicFramePr>
        <p:xfrm>
          <a:off x="8000492" y="4188143"/>
          <a:ext cx="34755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Apply Mutation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1 1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 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1 1 1 0 1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0 1 1 0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0 1 1 0 1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1 0 1 0 0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1 1 0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1 1 0 0 1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69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6306985"/>
                  </p:ext>
                </p:extLst>
              </p:nvPr>
            </p:nvGraphicFramePr>
            <p:xfrm>
              <a:off x="3660534" y="2644951"/>
              <a:ext cx="5314653" cy="2982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61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1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30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937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96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new Pop.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dirty="0"/>
                            <a:t>-value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1 0 1 0 0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6306985"/>
                  </p:ext>
                </p:extLst>
              </p:nvPr>
            </p:nvGraphicFramePr>
            <p:xfrm>
              <a:off x="3660534" y="2644951"/>
              <a:ext cx="5314653" cy="29821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61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1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30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937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96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String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new Pop.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6477" t="-5102" r="-132386" b="-4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1659" t="-5102" r="-1747" b="-4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0 1 1 0 1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1 0 1 0 0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642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1 1 0 0 1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018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35129" cy="4351338"/>
          </a:xfrm>
        </p:spPr>
        <p:txBody>
          <a:bodyPr/>
          <a:lstStyle/>
          <a:p>
            <a:r>
              <a:rPr lang="en-US" altLang="en-US" dirty="0"/>
              <a:t>Find the maximum value of function</a:t>
            </a:r>
          </a:p>
          <a:p>
            <a:pPr lvl="1">
              <a:buNone/>
            </a:pPr>
            <a:r>
              <a:rPr lang="en-US" altLang="en-US" dirty="0"/>
              <a:t> 	                            </a:t>
            </a:r>
            <a:r>
              <a:rPr lang="en-US" altLang="en-US" i="1" dirty="0"/>
              <a:t>f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  =  –</a:t>
            </a:r>
            <a:r>
              <a:rPr lang="en-US" altLang="en-US" i="1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 + 15</a:t>
            </a:r>
            <a:r>
              <a:rPr lang="en-US" altLang="en-US" i="1" dirty="0"/>
              <a:t>x</a:t>
            </a:r>
            <a:endParaRPr lang="en-US" altLang="en-US" dirty="0"/>
          </a:p>
          <a:p>
            <a:pPr lvl="4"/>
            <a:endParaRPr lang="en-US" altLang="en-US" sz="1200" dirty="0"/>
          </a:p>
          <a:p>
            <a:pPr lvl="1"/>
            <a:r>
              <a:rPr lang="en-US" altLang="en-US" dirty="0"/>
              <a:t>Represent problem using </a:t>
            </a:r>
            <a:r>
              <a:rPr lang="en-US" altLang="en-US" i="1" dirty="0"/>
              <a:t>chromosomes</a:t>
            </a:r>
            <a:r>
              <a:rPr lang="en-US" altLang="en-US" dirty="0"/>
              <a:t> built from four </a:t>
            </a:r>
            <a:r>
              <a:rPr lang="en-US" altLang="en-US" i="1" dirty="0"/>
              <a:t>genes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Initial random population of size </a:t>
            </a:r>
            <a:r>
              <a:rPr lang="en-US" altLang="en-US" i="1" dirty="0"/>
              <a:t>N</a:t>
            </a:r>
            <a:r>
              <a:rPr lang="en-US" altLang="en-US" dirty="0"/>
              <a:t> = 6: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pic>
        <p:nvPicPr>
          <p:cNvPr id="4" name="Picture 4" descr="Slide09-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714" y="4542218"/>
            <a:ext cx="6858000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lide09-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81" r="46762" b="7817"/>
          <a:stretch>
            <a:fillRect/>
          </a:stretch>
        </p:blipFill>
        <p:spPr bwMode="auto">
          <a:xfrm>
            <a:off x="8207211" y="1953142"/>
            <a:ext cx="3146589" cy="18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55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Determine chromosome </a:t>
            </a:r>
            <a:r>
              <a:rPr lang="en-US" altLang="en-US" i="1" dirty="0"/>
              <a:t>fitness</a:t>
            </a:r>
            <a:r>
              <a:rPr lang="en-US" altLang="en-US" dirty="0"/>
              <a:t> for each chromosome:</a:t>
            </a:r>
          </a:p>
          <a:p>
            <a:endParaRPr lang="en-US" dirty="0"/>
          </a:p>
        </p:txBody>
      </p:sp>
      <p:pic>
        <p:nvPicPr>
          <p:cNvPr id="4" name="Picture 4" descr="Slide09-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91"/>
          <a:stretch>
            <a:fillRect/>
          </a:stretch>
        </p:blipFill>
        <p:spPr bwMode="auto">
          <a:xfrm>
            <a:off x="1940719" y="2896772"/>
            <a:ext cx="8310562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70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 fitness ratios to determine which chromosomes are selected for </a:t>
            </a:r>
            <a:r>
              <a:rPr lang="en-US" altLang="en-US" i="1" dirty="0"/>
              <a:t>crossover </a:t>
            </a:r>
            <a:r>
              <a:rPr lang="en-US" altLang="en-US" dirty="0"/>
              <a:t>and </a:t>
            </a:r>
            <a:r>
              <a:rPr lang="en-US" altLang="en-US" i="1" dirty="0"/>
              <a:t>mutation</a:t>
            </a:r>
            <a:r>
              <a:rPr lang="en-US" altLang="en-US" dirty="0"/>
              <a:t> operations:</a:t>
            </a:r>
            <a:endParaRPr lang="en-US" altLang="en-US" b="1" dirty="0"/>
          </a:p>
          <a:p>
            <a:endParaRPr lang="en-US" dirty="0"/>
          </a:p>
        </p:txBody>
      </p:sp>
      <p:pic>
        <p:nvPicPr>
          <p:cNvPr id="4" name="Picture 2" descr="Slide09-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2861212"/>
            <a:ext cx="653415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18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Times New Roman" panose="02020603050405020304" pitchFamily="18" charset="0"/>
                  </a:rPr>
                  <a:t>Assume we have the following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+900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US" altLang="en-US" dirty="0"/>
              </a:p>
              <a:p>
                <a:pPr marL="225425" indent="0">
                  <a:buNone/>
                </a:pPr>
                <a:r>
                  <a:rPr lang="en-US" dirty="0">
                    <a:ea typeface="Times New Roman" panose="02020603050405020304" pitchFamily="18" charset="0"/>
                  </a:rPr>
                  <a:t>where x is constrained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0−31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 We wish to maximize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(the optimal is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). Using a binary representation we can represent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using five binary digits.</a:t>
                </a:r>
              </a:p>
              <a:p>
                <a:r>
                  <a:rPr lang="en-US" dirty="0">
                    <a:ea typeface="Times New Roman" panose="02020603050405020304" pitchFamily="18" charset="0"/>
                  </a:rPr>
                  <a:t>Given the following four chromosomes give the values for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endParaRPr lang="en-US" dirty="0">
                  <a:ea typeface="Times New Roman" panose="02020603050405020304" pitchFamily="18" charset="0"/>
                </a:endParaRPr>
              </a:p>
              <a:p>
                <a:r>
                  <a:rPr lang="en-US" dirty="0">
                    <a:ea typeface="Times New Roman" panose="02020603050405020304" pitchFamily="18" charset="0"/>
                  </a:rPr>
                  <a:t>If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3</a:t>
                </a:r>
                <a:r>
                  <a:rPr lang="en-US" dirty="0">
                    <a:ea typeface="Times New Roman" panose="02020603050405020304" pitchFamily="18" charset="0"/>
                  </a:rPr>
                  <a:t> and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 are chosen as parents and we apply one point crossover show the resulting children,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1</a:t>
                </a:r>
                <a:r>
                  <a:rPr lang="en-US" dirty="0">
                    <a:ea typeface="Times New Roman" panose="02020603050405020304" pitchFamily="18" charset="0"/>
                  </a:rPr>
                  <a:t> and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.  Use a crossover point of 1 (where 0 is to the very left of the chromosome)</a:t>
                </a:r>
              </a:p>
              <a:p>
                <a:r>
                  <a:rPr lang="en-US" dirty="0">
                    <a:ea typeface="Times New Roman" panose="02020603050405020304" pitchFamily="18" charset="0"/>
                  </a:rPr>
                  <a:t>Do the same using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r>
                  <a:rPr lang="en-US" dirty="0">
                    <a:ea typeface="Times New Roman" panose="02020603050405020304" pitchFamily="18" charset="0"/>
                  </a:rPr>
                  <a:t> and P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2</a:t>
                </a:r>
                <a:r>
                  <a:rPr lang="en-US" dirty="0">
                    <a:ea typeface="Times New Roman" panose="02020603050405020304" pitchFamily="18" charset="0"/>
                  </a:rPr>
                  <a:t> with a crossover point of 2 and create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3</a:t>
                </a:r>
                <a:r>
                  <a:rPr lang="en-US" dirty="0">
                    <a:ea typeface="Times New Roman" panose="02020603050405020304" pitchFamily="18" charset="0"/>
                  </a:rPr>
                  <a:t> and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endParaRPr lang="en-US" dirty="0"/>
              </a:p>
              <a:p>
                <a:r>
                  <a:rPr lang="en-US" dirty="0">
                    <a:ea typeface="Times New Roman" panose="02020603050405020304" pitchFamily="18" charset="0"/>
                  </a:rPr>
                  <a:t>Calculate the value of x and f(x) for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1</a:t>
                </a:r>
                <a:r>
                  <a:rPr lang="en-US" dirty="0">
                    <a:ea typeface="Times New Roman" panose="02020603050405020304" pitchFamily="18" charset="0"/>
                  </a:rPr>
                  <a:t> to C</a:t>
                </a:r>
                <a:r>
                  <a:rPr lang="en-US" baseline="-25000" dirty="0">
                    <a:ea typeface="Times New Roman" panose="02020603050405020304" pitchFamily="18" charset="0"/>
                  </a:rPr>
                  <a:t>4</a:t>
                </a:r>
                <a:r>
                  <a:rPr lang="en-US" dirty="0">
                    <a:ea typeface="Times New Roman" panose="02020603050405020304" pitchFamily="18" charset="0"/>
                  </a:rPr>
                  <a:t>.</a:t>
                </a:r>
                <a:endParaRPr lang="en-US" dirty="0"/>
              </a:p>
              <a:p>
                <a:r>
                  <a:rPr lang="en-US" dirty="0">
                    <a:ea typeface="Times New Roman" panose="02020603050405020304" pitchFamily="18" charset="0"/>
                  </a:rPr>
                  <a:t>Assume the initial population was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17, 21, 4, 28</m:t>
                        </m:r>
                      </m:e>
                    </m:d>
                  </m:oMath>
                </a14:m>
                <a:r>
                  <a:rPr lang="en-US" dirty="0">
                    <a:ea typeface="Times New Roman" panose="02020603050405020304" pitchFamily="18" charset="0"/>
                  </a:rPr>
                  <a:t>. Using one-point crossover, what is the probability of finding the optimal solution? Explain your reasons.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 rotWithShape="0">
                <a:blip r:embed="rId2"/>
                <a:stretch>
                  <a:fillRect l="-522" t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2392"/>
              </p:ext>
            </p:extLst>
          </p:nvPr>
        </p:nvGraphicFramePr>
        <p:xfrm>
          <a:off x="4263517" y="3320247"/>
          <a:ext cx="3664966" cy="1318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5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Chromosome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Binary String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</a:t>
                      </a:r>
                      <a:r>
                        <a:rPr lang="en-US" sz="1600" baseline="-250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11100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</a:t>
                      </a:r>
                      <a:r>
                        <a:rPr lang="en-US" sz="1600" baseline="-250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01111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r>
                        <a:rPr lang="en-US" sz="1600" baseline="-250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10111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r>
                        <a:rPr lang="en-US" sz="1600" baseline="-250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00100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499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ea typeface="Times New Roman" panose="02020603050405020304" pitchFamily="18" charset="0"/>
                  </a:rPr>
                  <a:t>Given the following four chromosomes give the values for 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 dirty="0">
                    <a:ea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429479"/>
              </p:ext>
            </p:extLst>
          </p:nvPr>
        </p:nvGraphicFramePr>
        <p:xfrm>
          <a:off x="3549586" y="3086894"/>
          <a:ext cx="509282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3475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1227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</a:t>
                      </a:r>
                      <a:r>
                        <a:rPr lang="en-US" sz="2400" baseline="-250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00100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2804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71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– 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a typeface="Times New Roman" panose="02020603050405020304" pitchFamily="18" charset="0"/>
              </a:rPr>
              <a:t>If P</a:t>
            </a:r>
            <a:r>
              <a:rPr lang="en-US" b="1" baseline="-25000" dirty="0">
                <a:ea typeface="Times New Roman" panose="02020603050405020304" pitchFamily="18" charset="0"/>
              </a:rPr>
              <a:t>3</a:t>
            </a:r>
            <a:r>
              <a:rPr lang="en-US" b="1" dirty="0">
                <a:ea typeface="Times New Roman" panose="02020603050405020304" pitchFamily="18" charset="0"/>
              </a:rPr>
              <a:t> and P</a:t>
            </a:r>
            <a:r>
              <a:rPr lang="en-US" b="1" baseline="-25000" dirty="0">
                <a:ea typeface="Times New Roman" panose="02020603050405020304" pitchFamily="18" charset="0"/>
              </a:rPr>
              <a:t>2</a:t>
            </a:r>
            <a:r>
              <a:rPr lang="en-US" b="1" dirty="0">
                <a:ea typeface="Times New Roman" panose="02020603050405020304" pitchFamily="18" charset="0"/>
              </a:rPr>
              <a:t> are chosen as parents and we apply one point crossover show the resulting children, C</a:t>
            </a:r>
            <a:r>
              <a:rPr lang="en-US" b="1" baseline="-25000" dirty="0">
                <a:ea typeface="Times New Roman" panose="02020603050405020304" pitchFamily="18" charset="0"/>
              </a:rPr>
              <a:t>1</a:t>
            </a:r>
            <a:r>
              <a:rPr lang="en-US" b="1" dirty="0">
                <a:ea typeface="Times New Roman" panose="02020603050405020304" pitchFamily="18" charset="0"/>
              </a:rPr>
              <a:t> and C</a:t>
            </a:r>
            <a:r>
              <a:rPr lang="en-US" b="1" baseline="-25000" dirty="0">
                <a:ea typeface="Times New Roman" panose="02020603050405020304" pitchFamily="18" charset="0"/>
              </a:rPr>
              <a:t>2</a:t>
            </a:r>
            <a:r>
              <a:rPr lang="en-US" b="1" dirty="0">
                <a:ea typeface="Times New Roman" panose="02020603050405020304" pitchFamily="18" charset="0"/>
              </a:rPr>
              <a:t>.  Use a crossover point of 1 (where 0 is to the very left of the chromosome)</a:t>
            </a:r>
          </a:p>
          <a:p>
            <a:r>
              <a:rPr lang="en-US" b="1" dirty="0">
                <a:ea typeface="Times New Roman" panose="02020603050405020304" pitchFamily="18" charset="0"/>
              </a:rPr>
              <a:t>Calculate the value of x and f(x) for C</a:t>
            </a:r>
            <a:r>
              <a:rPr lang="en-US" b="1" baseline="-25000" dirty="0">
                <a:ea typeface="Times New Roman" panose="02020603050405020304" pitchFamily="18" charset="0"/>
              </a:rPr>
              <a:t>1</a:t>
            </a:r>
            <a:r>
              <a:rPr lang="en-US" b="1" dirty="0">
                <a:ea typeface="Times New Roman" panose="02020603050405020304" pitchFamily="18" charset="0"/>
              </a:rPr>
              <a:t> to C</a:t>
            </a:r>
            <a:r>
              <a:rPr lang="en-US" b="1" baseline="-25000" dirty="0">
                <a:ea typeface="Times New Roman" panose="02020603050405020304" pitchFamily="18" charset="0"/>
              </a:rPr>
              <a:t>4</a:t>
            </a:r>
            <a:r>
              <a:rPr lang="en-US" b="1" dirty="0">
                <a:ea typeface="Times New Roman" panose="02020603050405020304" pitchFamily="18" charset="0"/>
              </a:rPr>
              <a:t>.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59708"/>
              </p:ext>
            </p:extLst>
          </p:nvPr>
        </p:nvGraphicFramePr>
        <p:xfrm>
          <a:off x="3549586" y="3729185"/>
          <a:ext cx="509282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x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00111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3803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en-US" sz="2400" baseline="-250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3998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319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altLang="en-US" dirty="0"/>
              <a:t>GA Example - Crossover</a:t>
            </a:r>
            <a:endParaRPr lang="en-GB" altLang="en-US" dirty="0"/>
          </a:p>
        </p:txBody>
      </p:sp>
      <p:grpSp>
        <p:nvGrpSpPr>
          <p:cNvPr id="180263" name="Group 39"/>
          <p:cNvGrpSpPr>
            <a:grpSpLocks/>
          </p:cNvGrpSpPr>
          <p:nvPr/>
        </p:nvGrpSpPr>
        <p:grpSpPr bwMode="auto">
          <a:xfrm>
            <a:off x="1752600" y="2743201"/>
            <a:ext cx="3733800" cy="2122488"/>
            <a:chOff x="144" y="1728"/>
            <a:chExt cx="2352" cy="1337"/>
          </a:xfrm>
        </p:grpSpPr>
        <p:grpSp>
          <p:nvGrpSpPr>
            <p:cNvPr id="180247" name="Group 23"/>
            <p:cNvGrpSpPr>
              <a:grpSpLocks/>
            </p:cNvGrpSpPr>
            <p:nvPr/>
          </p:nvGrpSpPr>
          <p:grpSpPr bwMode="auto">
            <a:xfrm>
              <a:off x="576" y="1824"/>
              <a:ext cx="1920" cy="521"/>
              <a:chOff x="1104" y="2208"/>
              <a:chExt cx="1920" cy="521"/>
            </a:xfrm>
          </p:grpSpPr>
          <p:grpSp>
            <p:nvGrpSpPr>
              <p:cNvPr id="180237" name="Group 13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3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18023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3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3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3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38" name="Group 14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3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4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4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4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dirty="0"/>
                    <a:t>1</a:t>
                  </a:r>
                </a:p>
              </p:txBody>
            </p:sp>
            <p:sp>
              <p:nvSpPr>
                <p:cNvPr id="18024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44" name="Text Box 20"/>
            <p:cNvSpPr txBox="1">
              <a:spLocks noChangeArrowheads="1"/>
            </p:cNvSpPr>
            <p:nvPr/>
          </p:nvSpPr>
          <p:spPr bwMode="auto">
            <a:xfrm>
              <a:off x="192" y="182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3</a:t>
              </a:r>
              <a:endParaRPr lang="en-US" altLang="en-US"/>
            </a:p>
          </p:txBody>
        </p:sp>
        <p:sp>
          <p:nvSpPr>
            <p:cNvPr id="180245" name="Text Box 21"/>
            <p:cNvSpPr txBox="1">
              <a:spLocks noChangeArrowheads="1"/>
            </p:cNvSpPr>
            <p:nvPr/>
          </p:nvSpPr>
          <p:spPr bwMode="auto">
            <a:xfrm>
              <a:off x="192" y="21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180246" name="Line 22"/>
            <p:cNvSpPr>
              <a:spLocks noChangeShapeType="1"/>
            </p:cNvSpPr>
            <p:nvPr/>
          </p:nvSpPr>
          <p:spPr bwMode="auto">
            <a:xfrm>
              <a:off x="960" y="1728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0248" name="Group 24"/>
            <p:cNvGrpSpPr>
              <a:grpSpLocks/>
            </p:cNvGrpSpPr>
            <p:nvPr/>
          </p:nvGrpSpPr>
          <p:grpSpPr bwMode="auto">
            <a:xfrm>
              <a:off x="576" y="2544"/>
              <a:ext cx="1920" cy="521"/>
              <a:chOff x="1104" y="2208"/>
              <a:chExt cx="1920" cy="521"/>
            </a:xfrm>
          </p:grpSpPr>
          <p:grpSp>
            <p:nvGrpSpPr>
              <p:cNvPr id="180249" name="Group 25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5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55" name="Group 31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5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5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5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5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6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61" name="Text Box 37"/>
            <p:cNvSpPr txBox="1">
              <a:spLocks noChangeArrowheads="1"/>
            </p:cNvSpPr>
            <p:nvPr/>
          </p:nvSpPr>
          <p:spPr bwMode="auto">
            <a:xfrm>
              <a:off x="144" y="254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1</a:t>
              </a:r>
              <a:endParaRPr lang="en-US" altLang="en-US"/>
            </a:p>
          </p:txBody>
        </p:sp>
        <p:sp>
          <p:nvSpPr>
            <p:cNvPr id="180262" name="Text Box 38"/>
            <p:cNvSpPr txBox="1">
              <a:spLocks noChangeArrowheads="1"/>
            </p:cNvSpPr>
            <p:nvPr/>
          </p:nvSpPr>
          <p:spPr bwMode="auto">
            <a:xfrm>
              <a:off x="144" y="283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</p:grpSp>
      <p:grpSp>
        <p:nvGrpSpPr>
          <p:cNvPr id="180296" name="Group 72"/>
          <p:cNvGrpSpPr>
            <a:grpSpLocks/>
          </p:cNvGrpSpPr>
          <p:nvPr/>
        </p:nvGrpSpPr>
        <p:grpSpPr bwMode="auto">
          <a:xfrm>
            <a:off x="6248400" y="2743201"/>
            <a:ext cx="3733800" cy="2122488"/>
            <a:chOff x="2976" y="1728"/>
            <a:chExt cx="2352" cy="1337"/>
          </a:xfrm>
        </p:grpSpPr>
        <p:grpSp>
          <p:nvGrpSpPr>
            <p:cNvPr id="180265" name="Group 41"/>
            <p:cNvGrpSpPr>
              <a:grpSpLocks/>
            </p:cNvGrpSpPr>
            <p:nvPr/>
          </p:nvGrpSpPr>
          <p:grpSpPr bwMode="auto">
            <a:xfrm>
              <a:off x="3408" y="1824"/>
              <a:ext cx="1920" cy="521"/>
              <a:chOff x="1104" y="2208"/>
              <a:chExt cx="1920" cy="521"/>
            </a:xfrm>
          </p:grpSpPr>
          <p:grpSp>
            <p:nvGrpSpPr>
              <p:cNvPr id="180266" name="Group 42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6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6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69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7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  <p:grpSp>
            <p:nvGrpSpPr>
              <p:cNvPr id="180272" name="Group 48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7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7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77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</p:grpSp>
        <p:sp>
          <p:nvSpPr>
            <p:cNvPr id="180278" name="Text Box 54"/>
            <p:cNvSpPr txBox="1">
              <a:spLocks noChangeArrowheads="1"/>
            </p:cNvSpPr>
            <p:nvPr/>
          </p:nvSpPr>
          <p:spPr bwMode="auto">
            <a:xfrm>
              <a:off x="3024" y="182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4</a:t>
              </a:r>
              <a:endParaRPr lang="en-US" altLang="en-US"/>
            </a:p>
          </p:txBody>
        </p:sp>
        <p:sp>
          <p:nvSpPr>
            <p:cNvPr id="180279" name="Text Box 55"/>
            <p:cNvSpPr txBox="1">
              <a:spLocks noChangeArrowheads="1"/>
            </p:cNvSpPr>
            <p:nvPr/>
          </p:nvSpPr>
          <p:spPr bwMode="auto">
            <a:xfrm>
              <a:off x="3024" y="21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P</a:t>
              </a:r>
              <a:r>
                <a:rPr lang="en-US" altLang="en-US" baseline="-25000"/>
                <a:t>2</a:t>
              </a:r>
              <a:endParaRPr lang="en-US" altLang="en-US"/>
            </a:p>
          </p:txBody>
        </p:sp>
        <p:sp>
          <p:nvSpPr>
            <p:cNvPr id="180280" name="Line 56"/>
            <p:cNvSpPr>
              <a:spLocks noChangeShapeType="1"/>
            </p:cNvSpPr>
            <p:nvPr/>
          </p:nvSpPr>
          <p:spPr bwMode="auto">
            <a:xfrm>
              <a:off x="4176" y="1728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0281" name="Group 57"/>
            <p:cNvGrpSpPr>
              <a:grpSpLocks/>
            </p:cNvGrpSpPr>
            <p:nvPr/>
          </p:nvGrpSpPr>
          <p:grpSpPr bwMode="auto">
            <a:xfrm>
              <a:off x="3408" y="2544"/>
              <a:ext cx="1920" cy="521"/>
              <a:chOff x="1104" y="2208"/>
              <a:chExt cx="1920" cy="521"/>
            </a:xfrm>
          </p:grpSpPr>
          <p:grpSp>
            <p:nvGrpSpPr>
              <p:cNvPr id="180282" name="Group 58"/>
              <p:cNvGrpSpPr>
                <a:grpSpLocks/>
              </p:cNvGrpSpPr>
              <p:nvPr/>
            </p:nvGrpSpPr>
            <p:grpSpPr bwMode="auto">
              <a:xfrm>
                <a:off x="1104" y="2208"/>
                <a:ext cx="1920" cy="233"/>
                <a:chOff x="1104" y="2208"/>
                <a:chExt cx="1920" cy="233"/>
              </a:xfrm>
            </p:grpSpPr>
            <p:sp>
              <p:nvSpPr>
                <p:cNvPr id="18028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84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8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8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8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</p:grpSp>
          <p:grpSp>
            <p:nvGrpSpPr>
              <p:cNvPr id="180288" name="Group 64"/>
              <p:cNvGrpSpPr>
                <a:grpSpLocks/>
              </p:cNvGrpSpPr>
              <p:nvPr/>
            </p:nvGrpSpPr>
            <p:grpSpPr bwMode="auto">
              <a:xfrm>
                <a:off x="1104" y="2496"/>
                <a:ext cx="1920" cy="233"/>
                <a:chOff x="1104" y="2208"/>
                <a:chExt cx="1920" cy="233"/>
              </a:xfrm>
            </p:grpSpPr>
            <p:sp>
              <p:nvSpPr>
                <p:cNvPr id="18028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104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90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91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872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1</a:t>
                  </a:r>
                </a:p>
              </p:txBody>
            </p:sp>
            <p:sp>
              <p:nvSpPr>
                <p:cNvPr id="18029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2256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  <p:sp>
              <p:nvSpPr>
                <p:cNvPr id="18029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640" y="2208"/>
                  <a:ext cx="384" cy="233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/>
                    <a:t>0</a:t>
                  </a:r>
                </a:p>
              </p:txBody>
            </p:sp>
          </p:grpSp>
        </p:grpSp>
        <p:sp>
          <p:nvSpPr>
            <p:cNvPr id="180294" name="Text Box 70"/>
            <p:cNvSpPr txBox="1">
              <a:spLocks noChangeArrowheads="1"/>
            </p:cNvSpPr>
            <p:nvPr/>
          </p:nvSpPr>
          <p:spPr bwMode="auto">
            <a:xfrm>
              <a:off x="2976" y="2544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3</a:t>
              </a:r>
              <a:endParaRPr lang="en-US" altLang="en-US"/>
            </a:p>
          </p:txBody>
        </p:sp>
        <p:sp>
          <p:nvSpPr>
            <p:cNvPr id="180295" name="Text Box 71"/>
            <p:cNvSpPr txBox="1">
              <a:spLocks noChangeArrowheads="1"/>
            </p:cNvSpPr>
            <p:nvPr/>
          </p:nvSpPr>
          <p:spPr bwMode="auto">
            <a:xfrm>
              <a:off x="2976" y="283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C</a:t>
              </a:r>
              <a:r>
                <a:rPr lang="en-US" altLang="en-US" baseline="-25000"/>
                <a:t>4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72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altLang="en-US"/>
              <a:t>GA Example - After First Round of Breeding</a:t>
            </a:r>
            <a:endParaRPr lang="en-GB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The average evaluation has risen P</a:t>
            </a:r>
            <a:r>
              <a:rPr lang="en-US" altLang="en-US" baseline="-25000" dirty="0"/>
              <a:t>2</a:t>
            </a:r>
            <a:r>
              <a:rPr lang="en-US" altLang="en-US" dirty="0"/>
              <a:t>, was the strongest individual in the initial population. It was chosen both times but we have lost it from the current population</a:t>
            </a:r>
          </a:p>
          <a:p>
            <a:pPr>
              <a:buFontTx/>
              <a:buChar char="•"/>
            </a:pPr>
            <a:r>
              <a:rPr lang="en-US" altLang="en-US" dirty="0"/>
              <a:t>We have a value of x=7 in the population which is the closest value to 10 we have found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29370" y="4001294"/>
          <a:ext cx="773326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Chromosome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Binary String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f(x)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131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00111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3803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</a:t>
                      </a:r>
                      <a:r>
                        <a:rPr lang="en-US" sz="2400" baseline="-250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01100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12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3998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11735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AVERAGE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2933.75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87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594975-F395-4CF7-BCA3-7EB0460479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508A7C-60F1-4D42-BE15-8B4C34B19C64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3.xml><?xml version="1.0" encoding="utf-8"?>
<ds:datastoreItem xmlns:ds="http://schemas.openxmlformats.org/officeDocument/2006/customXml" ds:itemID="{2358AC46-B8F1-4D78-B336-28FD360347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21421</TotalTime>
  <Words>2282</Words>
  <Application>Microsoft Office PowerPoint</Application>
  <PresentationFormat>Widescreen</PresentationFormat>
  <Paragraphs>518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Genetic Algorithm</vt:lpstr>
      <vt:lpstr>PowerPoint Presentation</vt:lpstr>
      <vt:lpstr>Local Search and GA</vt:lpstr>
      <vt:lpstr>Evolutionary Computing</vt:lpstr>
      <vt:lpstr>Genetic Algorithms</vt:lpstr>
      <vt:lpstr>Genetic Algorithm</vt:lpstr>
      <vt:lpstr>Genetic Algorithm</vt:lpstr>
      <vt:lpstr>PowerPoint Presentation</vt:lpstr>
      <vt:lpstr>Genetic Algorithms</vt:lpstr>
      <vt:lpstr>Representation of States (Solution)</vt:lpstr>
      <vt:lpstr>Reproduction: Building New States</vt:lpstr>
      <vt:lpstr>Evaluation and Selection</vt:lpstr>
      <vt:lpstr>Survival of the Fittest</vt:lpstr>
      <vt:lpstr>Genetic Operators</vt:lpstr>
      <vt:lpstr>Crossover Operator</vt:lpstr>
      <vt:lpstr>Crossover</vt:lpstr>
      <vt:lpstr>Crossover operator</vt:lpstr>
      <vt:lpstr>Mutation operator</vt:lpstr>
      <vt:lpstr>Mutation</vt:lpstr>
      <vt:lpstr>Fitness Function (Optimization)</vt:lpstr>
      <vt:lpstr>Fitness Function (Optimization)</vt:lpstr>
      <vt:lpstr>Fitness Function (Optimization)</vt:lpstr>
      <vt:lpstr>Fitness Function (Optimization)</vt:lpstr>
      <vt:lpstr>Roulette-wheel selection</vt:lpstr>
      <vt:lpstr>Next Generation</vt:lpstr>
      <vt:lpstr>Next Generation cont.</vt:lpstr>
      <vt:lpstr>Second generation: c5 to c8</vt:lpstr>
      <vt:lpstr>Termination criteria </vt:lpstr>
      <vt:lpstr>Example: f(x)=x^2</vt:lpstr>
      <vt:lpstr>Example: f(x)=x^2</vt:lpstr>
      <vt:lpstr>f(x)=x^2</vt:lpstr>
      <vt:lpstr>f(x)=x^2</vt:lpstr>
      <vt:lpstr>Practice Question</vt:lpstr>
      <vt:lpstr>Practice Question</vt:lpstr>
      <vt:lpstr>Practice Question</vt:lpstr>
      <vt:lpstr>Practice Question</vt:lpstr>
      <vt:lpstr>Practice Question – SOLUTION </vt:lpstr>
      <vt:lpstr>Practice Question – SOLUTION </vt:lpstr>
      <vt:lpstr>GA Example - Crossover</vt:lpstr>
      <vt:lpstr>GA Example - After First Round of Breeding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Algorithm</dc:title>
  <dc:creator>FARHAN DAWOOD</dc:creator>
  <cp:lastModifiedBy>Misbah Naz</cp:lastModifiedBy>
  <cp:revision>133</cp:revision>
  <dcterms:created xsi:type="dcterms:W3CDTF">2019-04-09T05:49:33Z</dcterms:created>
  <dcterms:modified xsi:type="dcterms:W3CDTF">2026-08-19T10:26:47Z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