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300" r:id="rId5"/>
    <p:sldId id="486" r:id="rId6"/>
    <p:sldId id="487" r:id="rId7"/>
    <p:sldId id="488" r:id="rId8"/>
    <p:sldId id="489" r:id="rId9"/>
    <p:sldId id="490" r:id="rId10"/>
    <p:sldId id="491" r:id="rId11"/>
    <p:sldId id="492" r:id="rId12"/>
    <p:sldId id="493" r:id="rId13"/>
    <p:sldId id="494" r:id="rId14"/>
    <p:sldId id="495" r:id="rId15"/>
    <p:sldId id="49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5278" autoAdjust="0"/>
  </p:normalViewPr>
  <p:slideViewPr>
    <p:cSldViewPr snapToGrid="0">
      <p:cViewPr varScale="1">
        <p:scale>
          <a:sx n="70" d="100"/>
          <a:sy n="70" d="100"/>
        </p:scale>
        <p:origin x="11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sbah Naz" userId="10ccaa59-f6f6-411f-87f9-1e2261da5f14" providerId="ADAL" clId="{26174D31-72CD-4145-BD95-C5FEB41273FF}"/>
    <pc:docChg chg="undo custSel modSld">
      <pc:chgData name="Misbah Naz" userId="10ccaa59-f6f6-411f-87f9-1e2261da5f14" providerId="ADAL" clId="{26174D31-72CD-4145-BD95-C5FEB41273FF}" dt="2026-03-09T04:28:40.354" v="140" actId="113"/>
      <pc:docMkLst>
        <pc:docMk/>
      </pc:docMkLst>
      <pc:sldChg chg="modSp mod">
        <pc:chgData name="Misbah Naz" userId="10ccaa59-f6f6-411f-87f9-1e2261da5f14" providerId="ADAL" clId="{26174D31-72CD-4145-BD95-C5FEB41273FF}" dt="2026-03-09T04:28:40.354" v="140" actId="113"/>
        <pc:sldMkLst>
          <pc:docMk/>
          <pc:sldMk cId="156220779" sldId="496"/>
        </pc:sldMkLst>
        <pc:spChg chg="mod">
          <ac:chgData name="Misbah Naz" userId="10ccaa59-f6f6-411f-87f9-1e2261da5f14" providerId="ADAL" clId="{26174D31-72CD-4145-BD95-C5FEB41273FF}" dt="2026-03-09T04:28:40.354" v="140" actId="113"/>
          <ac:spMkLst>
            <pc:docMk/>
            <pc:sldMk cId="156220779" sldId="496"/>
            <ac:spMk id="471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EE72B4-1258-4A50-B001-2FA0E644095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AC34B4-D2E5-4257-8EB4-6A0ED2346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94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B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81608" y="6356350"/>
            <a:ext cx="2743200" cy="365125"/>
          </a:xfrm>
        </p:spPr>
        <p:txBody>
          <a:bodyPr/>
          <a:lstStyle/>
          <a:p>
            <a:fld id="{DD9DFCAB-F758-4332-A193-2A2770332BF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74420" y="6356350"/>
            <a:ext cx="2743200" cy="365125"/>
          </a:xfrm>
        </p:spPr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13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63550" indent="-463550">
              <a:buFont typeface="Wingdings" panose="05000000000000000000" pitchFamily="2" charset="2"/>
              <a:buChar char="v"/>
              <a:defRPr/>
            </a:lvl1pPr>
            <a:lvl2pPr marL="795338" indent="-338138">
              <a:buFont typeface="Wingdings" panose="05000000000000000000" pitchFamily="2" charset="2"/>
              <a:buChar char="§"/>
              <a:defRPr/>
            </a:lvl2pPr>
            <a:lvl3pPr marL="1258888" indent="-344488">
              <a:buFont typeface="Wingdings" panose="05000000000000000000" pitchFamily="2" charset="2"/>
              <a:buChar char="Ø"/>
              <a:defRPr/>
            </a:lvl3pPr>
            <a:lvl4pPr marL="1709738" indent="-338138">
              <a:buFont typeface="Wingdings" panose="05000000000000000000" pitchFamily="2" charset="2"/>
              <a:buChar char="ü"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7" descr="http://www.uol.edu.pk/portals/0/Images/branding-log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44" y="7460779"/>
            <a:ext cx="3381186" cy="974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/>
          <p:nvPr userDrawn="1"/>
        </p:nvCxnSpPr>
        <p:spPr>
          <a:xfrm>
            <a:off x="834887" y="144448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99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B05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4887" y="144448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005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34887" y="176253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822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34887" y="1683025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291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834887" y="176253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260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834887" y="144448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133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6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515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4887" y="176253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497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89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01113"/>
            <a:ext cx="10058400" cy="145075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60260"/>
            <a:ext cx="10058400" cy="4023360"/>
          </a:xfrm>
        </p:spPr>
        <p:txBody>
          <a:bodyPr/>
          <a:lstStyle>
            <a:lvl1pPr marL="347663" indent="-347663">
              <a:buFont typeface="Wingdings" panose="05000000000000000000" pitchFamily="2" charset="2"/>
              <a:buChar char="v"/>
              <a:defRPr/>
            </a:lvl1pPr>
            <a:lvl2pPr marL="682625" indent="-334963">
              <a:buFont typeface="Wingdings" panose="05000000000000000000" pitchFamily="2" charset="2"/>
              <a:buChar char="q"/>
              <a:defRPr/>
            </a:lvl2pPr>
            <a:lvl3pPr marL="914400" indent="-231775">
              <a:buFont typeface="Wingdings" panose="05000000000000000000" pitchFamily="2" charset="2"/>
              <a:buChar char="§"/>
              <a:defRPr/>
            </a:lvl3pPr>
            <a:lvl4pPr marL="1146175" indent="-231775">
              <a:defRPr/>
            </a:lvl4pPr>
            <a:lvl5pPr marL="1379538" indent="-231775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B9DE3-69F7-4C71-A116-E31BF97F5FA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4036B-9B09-4361-9AAE-7166081CB66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1207658" y="1741714"/>
            <a:ext cx="9948022" cy="1814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73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63550" lvl="0" indent="-463550">
              <a:buFont typeface="Wingdings" panose="05000000000000000000" pitchFamily="2" charset="2"/>
              <a:buChar char="v"/>
            </a:pPr>
            <a:r>
              <a:rPr lang="en-US" dirty="0"/>
              <a:t>Click to edit Master text styles</a:t>
            </a:r>
          </a:p>
          <a:p>
            <a:pPr marL="795338" lvl="1" indent="-338138">
              <a:buFont typeface="Wingdings" panose="05000000000000000000" pitchFamily="2" charset="2"/>
              <a:buChar char="§"/>
            </a:pPr>
            <a:r>
              <a:rPr lang="en-US" dirty="0"/>
              <a:t>Second level</a:t>
            </a:r>
          </a:p>
          <a:p>
            <a:pPr marL="1258888" lvl="2" indent="-344488">
              <a:buFont typeface="Wingdings" panose="05000000000000000000" pitchFamily="2" charset="2"/>
              <a:buChar char="Ø"/>
            </a:pPr>
            <a:r>
              <a:rPr lang="en-US" dirty="0"/>
              <a:t>Third level</a:t>
            </a:r>
          </a:p>
          <a:p>
            <a:pPr marL="1709738" lvl="3" indent="-338138">
              <a:buFont typeface="Wingdings" panose="05000000000000000000" pitchFamily="2" charset="2"/>
              <a:buChar char="ü"/>
            </a:pPr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DFCAB-F758-4332-A193-2A2770332BF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7" descr="http://www.uol.edu.pk/portals/0/Images/branding-logo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44" y="92559"/>
            <a:ext cx="2438332" cy="70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 userDrawn="1"/>
        </p:nvSpPr>
        <p:spPr>
          <a:xfrm>
            <a:off x="8534399" y="119269"/>
            <a:ext cx="26769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</a:rPr>
              <a:t>Department of </a:t>
            </a:r>
          </a:p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</a:rPr>
              <a:t>Software Engineering </a:t>
            </a:r>
          </a:p>
        </p:txBody>
      </p:sp>
      <p:pic>
        <p:nvPicPr>
          <p:cNvPr id="9" name="Picture 8"/>
          <p:cNvPicPr/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1768" y="132517"/>
            <a:ext cx="593335" cy="6946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6714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lang="en-US" sz="28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2012" y="1990165"/>
            <a:ext cx="10945906" cy="1680880"/>
          </a:xfrm>
        </p:spPr>
        <p:txBody>
          <a:bodyPr/>
          <a:lstStyle/>
          <a:p>
            <a:b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Artificial Intelligence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2612" y="3834274"/>
            <a:ext cx="7924800" cy="2091396"/>
          </a:xfrm>
        </p:spPr>
        <p:txBody>
          <a:bodyPr>
            <a:normAutofit/>
          </a:bodyPr>
          <a:lstStyle/>
          <a:p>
            <a:pPr algn="l"/>
            <a:endParaRPr lang="en-US" sz="40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en-US" sz="40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64170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21" name="Picture 4" descr="dfs-progress01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0" y="3886200"/>
            <a:ext cx="51816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22" name="Rectangle 2"/>
          <p:cNvSpPr>
            <a:spLocks noGrp="1" noChangeArrowheads="1"/>
          </p:cNvSpPr>
          <p:nvPr>
            <p:ph type="title"/>
          </p:nvPr>
        </p:nvSpPr>
        <p:spPr>
          <a:xfrm>
            <a:off x="1261240" y="842308"/>
            <a:ext cx="9585436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348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1240" y="1860331"/>
            <a:ext cx="10026869" cy="4692869"/>
          </a:xfrm>
        </p:spPr>
        <p:txBody>
          <a:bodyPr/>
          <a:lstStyle/>
          <a:p>
            <a:pPr marL="342900" lvl="1" indent="-342900">
              <a:buClr>
                <a:schemeClr val="folHlink"/>
              </a:buClr>
              <a:buSzPct val="60000"/>
              <a:buFont typeface="Wingdings" panose="05000000000000000000" pitchFamily="2" charset="2"/>
              <a:buChar char="§"/>
            </a:pPr>
            <a:r>
              <a:rPr lang="en-US" dirty="0"/>
              <a:t>Expand deepest unexpanded node
</a:t>
            </a:r>
            <a:r>
              <a:rPr lang="en-US" sz="2000" dirty="0"/>
              <a:t>Goes to the deepest level of the search tree where there are no further successors</a:t>
            </a:r>
            <a:endParaRPr lang="en-US" dirty="0"/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accent2"/>
                </a:solidFill>
              </a:rPr>
              <a:t>Implementation</a:t>
            </a:r>
            <a:r>
              <a:rPr lang="en-US" sz="2400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use </a:t>
            </a:r>
            <a:r>
              <a:rPr lang="en-US" sz="2000" i="1" dirty="0"/>
              <a:t>frontier</a:t>
            </a:r>
            <a:r>
              <a:rPr lang="en-US" sz="2000" dirty="0"/>
              <a:t> as a </a:t>
            </a:r>
            <a:r>
              <a:rPr lang="en-US" sz="2000" dirty="0">
                <a:solidFill>
                  <a:srgbClr val="FF0000"/>
                </a:solidFill>
              </a:rPr>
              <a:t>Stack</a:t>
            </a:r>
            <a:r>
              <a:rPr lang="en-US" sz="2000" dirty="0"/>
              <a:t>, LIFO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sz="2000" dirty="0"/>
              <a:t>Put the expanded node at the </a:t>
            </a:r>
            <a:r>
              <a:rPr lang="en-US" sz="2000" dirty="0">
                <a:solidFill>
                  <a:srgbClr val="FF0000"/>
                </a:solidFill>
              </a:rPr>
              <a:t>front</a:t>
            </a:r>
            <a:r>
              <a:rPr lang="en-US" sz="2000" dirty="0"/>
              <a:t> of the </a:t>
            </a:r>
            <a:r>
              <a:rPr lang="en-US" sz="2000" i="1" dirty="0"/>
              <a:t>frontier</a:t>
            </a:r>
            <a:r>
              <a:rPr lang="en-US" sz="2000" dirty="0"/>
              <a:t>
Frontier = 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09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>
          <a:xfrm>
            <a:off x="1224840" y="885304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Expand deepest unexpanded node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Check if A is goal, it is not, expand A, remove A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Frontier = B,C</a:t>
            </a:r>
          </a:p>
          <a:p>
            <a:pPr marL="347662" lvl="1" indent="0" eaLnBrk="1" hangingPunct="1">
              <a:buNone/>
            </a:pPr>
            <a:endParaRPr lang="en-US" sz="2000" dirty="0"/>
          </a:p>
        </p:txBody>
      </p:sp>
      <p:pic>
        <p:nvPicPr>
          <p:cNvPr id="35847" name="Picture 5" descr="dfs-progress02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57800" y="3314700"/>
            <a:ext cx="5181600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47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9" name="Picture 5" descr="dfs-progress03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5200" y="3048000"/>
            <a:ext cx="51816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71808" y="843779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368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Check if B is goal, it is not, expand B, remove B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Frontier = D,E,C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991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3" name="Picture 5" descr="dfs-progress04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48404" y="3048001"/>
            <a:ext cx="5181600" cy="291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4" name="Rectangle 3"/>
          <p:cNvSpPr>
            <a:spLocks noGrp="1" noChangeArrowheads="1"/>
          </p:cNvSpPr>
          <p:nvPr>
            <p:ph type="title"/>
          </p:nvPr>
        </p:nvSpPr>
        <p:spPr>
          <a:xfrm>
            <a:off x="1256370" y="855912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37895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Check if D is goal, it is not, expand D, remove D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Frontier = H, I, E, 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933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7" name="Picture 5" descr="dfs-progress05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92044" y="3121026"/>
            <a:ext cx="5181600" cy="301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8" name="Rectangle 2"/>
          <p:cNvSpPr>
            <a:spLocks noGrp="1" noChangeArrowheads="1"/>
          </p:cNvSpPr>
          <p:nvPr>
            <p:ph type="title"/>
          </p:nvPr>
        </p:nvSpPr>
        <p:spPr>
          <a:xfrm>
            <a:off x="1272134" y="842169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389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414" y="1860331"/>
            <a:ext cx="9296674" cy="427218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Both H and I has not successors so remove them if it is not goal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Frontier = E, C</a:t>
            </a: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202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>
          <a:xfrm>
            <a:off x="1240606" y="859545"/>
            <a:ext cx="9732194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Check if E is goal, it is not, expand E, remove E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Frontier = J, K, C</a:t>
            </a:r>
          </a:p>
        </p:txBody>
      </p:sp>
      <p:pic>
        <p:nvPicPr>
          <p:cNvPr id="39943" name="Picture 6" descr="dfs-progress06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24400" y="3297238"/>
            <a:ext cx="5181600" cy="302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96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>
          <a:xfrm>
            <a:off x="1160344" y="869538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J and K do not have successors neither is any of them goal so remove them from frontier one by one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Frontier = C</a:t>
            </a:r>
          </a:p>
        </p:txBody>
      </p:sp>
      <p:pic>
        <p:nvPicPr>
          <p:cNvPr id="40968" name="Picture 6" descr="dfs-progress07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57800" y="3352800"/>
            <a:ext cx="5181600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99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>
          <a:xfrm>
            <a:off x="1287900" y="853282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Check if C is goal, it is not, expand C, remove C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Frontier = F, G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43016" name="Picture 6" descr="dfs-progress09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2895601"/>
            <a:ext cx="5181600" cy="302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63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>
          <a:xfrm>
            <a:off x="1240606" y="855373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Check if F is goal, it is not, expand F, remove F
Frontier = L, M, G</a:t>
            </a:r>
          </a:p>
        </p:txBody>
      </p:sp>
      <p:pic>
        <p:nvPicPr>
          <p:cNvPr id="44040" name="Picture 6" descr="dfs-progress10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0" y="3238500"/>
            <a:ext cx="5181600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27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1240605" y="802046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Depth-first Search</a:t>
            </a: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Both L, M are not goal, neither they have any successor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Remove L, M from frontier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frontier = G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Check if G is goal, it is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/>
              <a:t>The search terminates</a:t>
            </a:r>
          </a:p>
        </p:txBody>
      </p:sp>
      <p:pic>
        <p:nvPicPr>
          <p:cNvPr id="46088" name="Picture 6" descr="dfs-progress12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6400" y="3124201"/>
            <a:ext cx="5181600" cy="302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88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>
          <a:xfrm>
            <a:off x="1286472" y="838335"/>
            <a:ext cx="9381528" cy="852487"/>
          </a:xfrm>
        </p:spPr>
        <p:txBody>
          <a:bodyPr/>
          <a:lstStyle/>
          <a:p>
            <a:pPr eaLnBrk="1" hangingPunct="1"/>
            <a:r>
              <a:rPr lang="en-US" sz="4000" dirty="0"/>
              <a:t>Properties of Depth-first </a:t>
            </a:r>
            <a:r>
              <a:rPr lang="en-US" dirty="0"/>
              <a:t>S</a:t>
            </a:r>
            <a:r>
              <a:rPr lang="en-US" sz="4000" dirty="0"/>
              <a:t>earch</a:t>
            </a:r>
          </a:p>
        </p:txBody>
      </p:sp>
      <p:sp>
        <p:nvSpPr>
          <p:cNvPr id="471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6472" y="1970619"/>
            <a:ext cx="10058400" cy="402336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CC0099"/>
                </a:solidFill>
              </a:rPr>
              <a:t>Complete?</a:t>
            </a:r>
            <a:r>
              <a:rPr lang="en-US" sz="2400" dirty="0"/>
              <a:t> No: fails in infinite-depth spaces, spaces with loops 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Complete in finite state space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Modify to avoid repeated states along path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CC0099"/>
                </a:solidFill>
              </a:rPr>
              <a:t>Optimal?</a:t>
            </a:r>
            <a:r>
              <a:rPr lang="en-US" sz="2400" dirty="0"/>
              <a:t> No, because there is chance that goal can be on other side which is closest but we explored the opposite side which is deeper and no goal or farthest goal.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CC0099"/>
                </a:solidFill>
              </a:rPr>
              <a:t>Time?</a:t>
            </a:r>
            <a:r>
              <a:rPr lang="en-US" sz="2400" dirty="0"/>
              <a:t> </a:t>
            </a:r>
            <a:r>
              <a:rPr lang="en-US" sz="2400" i="1" dirty="0"/>
              <a:t>O(b</a:t>
            </a:r>
            <a:r>
              <a:rPr lang="en-US" sz="2400" i="1" baseline="30000" dirty="0"/>
              <a:t>m</a:t>
            </a:r>
            <a:r>
              <a:rPr lang="en-US" sz="2400" i="1" dirty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m=maximum depth of the search tree</a:t>
            </a:r>
            <a:endParaRPr lang="en-US" sz="2400" i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terrible if the </a:t>
            </a:r>
            <a:r>
              <a:rPr lang="en-US" sz="2400" b="1" dirty="0"/>
              <a:t>deepest level</a:t>
            </a:r>
            <a:r>
              <a:rPr lang="en-US" sz="2400" dirty="0"/>
              <a:t> the algorithm may explore.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CC0099"/>
                </a:solidFill>
              </a:rPr>
              <a:t>Space?</a:t>
            </a:r>
            <a:r>
              <a:rPr lang="en-US" sz="2400" dirty="0"/>
              <a:t> </a:t>
            </a:r>
            <a:r>
              <a:rPr lang="en-US" sz="2400" b="1" dirty="0"/>
              <a:t>worst case </a:t>
            </a:r>
            <a:r>
              <a:rPr lang="en-US" sz="2400" i="1" dirty="0"/>
              <a:t>O(b*m) </a:t>
            </a:r>
            <a:r>
              <a:rPr lang="en-US" sz="2400" b="1" i="1" dirty="0"/>
              <a:t>average case </a:t>
            </a:r>
            <a:r>
              <a:rPr lang="en-US" sz="2400" i="1" dirty="0"/>
              <a:t>O(b*d) </a:t>
            </a:r>
            <a:r>
              <a:rPr lang="en-US" sz="2400" b="1" i="1" dirty="0"/>
              <a:t>best case </a:t>
            </a:r>
            <a:r>
              <a:rPr lang="en-US" sz="2400" i="1" dirty="0"/>
              <a:t>O(b)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0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40A1355841214A8746E21F4081AE51" ma:contentTypeVersion="13" ma:contentTypeDescription="Create a new document." ma:contentTypeScope="" ma:versionID="e9e352bfab7beb125b60d2edae5bd7a0">
  <xsd:schema xmlns:xsd="http://www.w3.org/2001/XMLSchema" xmlns:xs="http://www.w3.org/2001/XMLSchema" xmlns:p="http://schemas.microsoft.com/office/2006/metadata/properties" xmlns:ns3="47353b6d-4ec0-4a20-bc90-7a6b57f99412" xmlns:ns4="55033197-8fc6-497f-9f33-d2b102751cee" targetNamespace="http://schemas.microsoft.com/office/2006/metadata/properties" ma:root="true" ma:fieldsID="06cb155a4781642905c56c1346972113" ns3:_="" ns4:_="">
    <xsd:import namespace="47353b6d-4ec0-4a20-bc90-7a6b57f99412"/>
    <xsd:import namespace="55033197-8fc6-497f-9f33-d2b102751cee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353b6d-4ec0-4a20-bc90-7a6b57f9941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033197-8fc6-497f-9f33-d2b102751cee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7353b6d-4ec0-4a20-bc90-7a6b57f99412" xsi:nil="true"/>
  </documentManagement>
</p:properties>
</file>

<file path=customXml/itemProps1.xml><?xml version="1.0" encoding="utf-8"?>
<ds:datastoreItem xmlns:ds="http://schemas.openxmlformats.org/officeDocument/2006/customXml" ds:itemID="{12FC6FEA-3E9A-4B8E-9368-2415C71D33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353b6d-4ec0-4a20-bc90-7a6b57f99412"/>
    <ds:schemaRef ds:uri="55033197-8fc6-497f-9f33-d2b102751c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EEF68A-1389-48B4-8880-B31C4373C8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72472E-C1EE-4D2B-BA58-B9F13D616D93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55033197-8fc6-497f-9f33-d2b102751cee"/>
    <ds:schemaRef ds:uri="47353b6d-4ec0-4a20-bc90-7a6b57f99412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1688</TotalTime>
  <Words>402</Words>
  <Application>Microsoft Office PowerPoint</Application>
  <PresentationFormat>Widescreen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Narrow</vt:lpstr>
      <vt:lpstr>Calibri</vt:lpstr>
      <vt:lpstr>Wingdings</vt:lpstr>
      <vt:lpstr>Office Theme</vt:lpstr>
      <vt:lpstr>  Artificial Intelligence 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Properties of Depth-first 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Sikandar S. Toor</dc:creator>
  <cp:lastModifiedBy>Misbah Naz</cp:lastModifiedBy>
  <cp:revision>244</cp:revision>
  <dcterms:created xsi:type="dcterms:W3CDTF">2019-07-02T12:12:32Z</dcterms:created>
  <dcterms:modified xsi:type="dcterms:W3CDTF">2026-08-19T09:50:54Z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0x0101003840A1355841214A8746E21F4081AE51</vt:lpwstr>
  </property>
</Properties>
</file>