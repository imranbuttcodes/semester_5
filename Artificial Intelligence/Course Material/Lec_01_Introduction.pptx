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handoutMasterIdLst>
    <p:handoutMasterId r:id="rId41"/>
  </p:handoutMasterIdLst>
  <p:sldIdLst>
    <p:sldId id="256" r:id="rId5"/>
    <p:sldId id="257" r:id="rId6"/>
    <p:sldId id="344" r:id="rId7"/>
    <p:sldId id="258" r:id="rId8"/>
    <p:sldId id="315" r:id="rId9"/>
    <p:sldId id="320" r:id="rId10"/>
    <p:sldId id="326" r:id="rId11"/>
    <p:sldId id="330" r:id="rId12"/>
    <p:sldId id="265" r:id="rId13"/>
    <p:sldId id="329" r:id="rId14"/>
    <p:sldId id="263" r:id="rId15"/>
    <p:sldId id="261" r:id="rId16"/>
    <p:sldId id="262" r:id="rId17"/>
    <p:sldId id="266" r:id="rId18"/>
    <p:sldId id="331" r:id="rId19"/>
    <p:sldId id="333" r:id="rId20"/>
    <p:sldId id="335" r:id="rId21"/>
    <p:sldId id="338" r:id="rId22"/>
    <p:sldId id="340" r:id="rId23"/>
    <p:sldId id="343" r:id="rId24"/>
    <p:sldId id="283" r:id="rId25"/>
    <p:sldId id="276" r:id="rId26"/>
    <p:sldId id="378" r:id="rId27"/>
    <p:sldId id="310" r:id="rId28"/>
    <p:sldId id="345" r:id="rId29"/>
    <p:sldId id="278" r:id="rId30"/>
    <p:sldId id="277" r:id="rId31"/>
    <p:sldId id="279" r:id="rId32"/>
    <p:sldId id="280" r:id="rId33"/>
    <p:sldId id="282" r:id="rId34"/>
    <p:sldId id="295" r:id="rId35"/>
    <p:sldId id="323" r:id="rId36"/>
    <p:sldId id="322" r:id="rId37"/>
    <p:sldId id="321" r:id="rId38"/>
    <p:sldId id="32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p:scale>
          <a:sx n="146" d="100"/>
          <a:sy n="146" d="100"/>
        </p:scale>
        <p:origin x="1406" y="-275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B04FCC-C1FD-4F85-B99F-C0A20BD49461}"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0BF8C067-FF5C-4E65-A81F-C7DDAA6E01F6}">
      <dgm:prSet custT="1"/>
      <dgm:spPr/>
      <dgm:t>
        <a:bodyPr/>
        <a:lstStyle/>
        <a:p>
          <a:pPr rtl="0"/>
          <a:r>
            <a:rPr lang="en-US" sz="1400" dirty="0"/>
            <a:t>Perceive</a:t>
          </a:r>
        </a:p>
      </dgm:t>
    </dgm:pt>
    <dgm:pt modelId="{C5048DF5-77B2-4278-B2CA-D3E81EFE5CB5}" type="parTrans" cxnId="{2FC162A8-9FBA-4855-84A4-63D8992D1150}">
      <dgm:prSet/>
      <dgm:spPr/>
      <dgm:t>
        <a:bodyPr/>
        <a:lstStyle/>
        <a:p>
          <a:endParaRPr lang="en-US"/>
        </a:p>
      </dgm:t>
    </dgm:pt>
    <dgm:pt modelId="{C3D0B710-94F5-4063-A371-5CC3C00839DB}" type="sibTrans" cxnId="{2FC162A8-9FBA-4855-84A4-63D8992D1150}">
      <dgm:prSet/>
      <dgm:spPr/>
      <dgm:t>
        <a:bodyPr/>
        <a:lstStyle/>
        <a:p>
          <a:endParaRPr lang="en-US"/>
        </a:p>
      </dgm:t>
    </dgm:pt>
    <dgm:pt modelId="{3F97903B-71DA-41BE-834A-04BF42AD5FF0}">
      <dgm:prSet custT="1"/>
      <dgm:spPr/>
      <dgm:t>
        <a:bodyPr/>
        <a:lstStyle/>
        <a:p>
          <a:pPr rtl="0"/>
          <a:r>
            <a:rPr lang="en-US" sz="1400" dirty="0"/>
            <a:t>Understand</a:t>
          </a:r>
        </a:p>
      </dgm:t>
    </dgm:pt>
    <dgm:pt modelId="{2665DC0E-E1C0-4219-9C06-736C6A91E783}" type="parTrans" cxnId="{1A708BF3-BA05-46C6-9C85-8706B8830C06}">
      <dgm:prSet/>
      <dgm:spPr/>
      <dgm:t>
        <a:bodyPr/>
        <a:lstStyle/>
        <a:p>
          <a:endParaRPr lang="en-US"/>
        </a:p>
      </dgm:t>
    </dgm:pt>
    <dgm:pt modelId="{0CBAFB0C-2D08-48FA-B78E-2F138B4BC592}" type="sibTrans" cxnId="{1A708BF3-BA05-46C6-9C85-8706B8830C06}">
      <dgm:prSet/>
      <dgm:spPr/>
      <dgm:t>
        <a:bodyPr/>
        <a:lstStyle/>
        <a:p>
          <a:endParaRPr lang="en-US"/>
        </a:p>
      </dgm:t>
    </dgm:pt>
    <dgm:pt modelId="{A4EF36D0-CE3B-4288-8F1A-C15884784E29}">
      <dgm:prSet custT="1"/>
      <dgm:spPr/>
      <dgm:t>
        <a:bodyPr/>
        <a:lstStyle/>
        <a:p>
          <a:pPr rtl="0"/>
          <a:r>
            <a:rPr lang="en-US" sz="1400" dirty="0"/>
            <a:t>Remember</a:t>
          </a:r>
        </a:p>
      </dgm:t>
    </dgm:pt>
    <dgm:pt modelId="{FBFBDC86-BA1E-45D5-9678-F1FEEAC439D7}" type="parTrans" cxnId="{BC170FEC-4F90-4397-97C4-C95CC2A93C56}">
      <dgm:prSet/>
      <dgm:spPr/>
      <dgm:t>
        <a:bodyPr/>
        <a:lstStyle/>
        <a:p>
          <a:endParaRPr lang="en-US"/>
        </a:p>
      </dgm:t>
    </dgm:pt>
    <dgm:pt modelId="{EB614391-6FCD-4C0B-ABFF-31E849CBEF42}" type="sibTrans" cxnId="{BC170FEC-4F90-4397-97C4-C95CC2A93C56}">
      <dgm:prSet/>
      <dgm:spPr/>
      <dgm:t>
        <a:bodyPr/>
        <a:lstStyle/>
        <a:p>
          <a:endParaRPr lang="en-US"/>
        </a:p>
      </dgm:t>
    </dgm:pt>
    <dgm:pt modelId="{1EEE8761-3BBD-48AC-997D-91DC3CC8641E}">
      <dgm:prSet custT="1"/>
      <dgm:spPr/>
      <dgm:t>
        <a:bodyPr/>
        <a:lstStyle/>
        <a:p>
          <a:pPr rtl="0"/>
          <a:r>
            <a:rPr lang="en-US" sz="1400" dirty="0"/>
            <a:t>Think</a:t>
          </a:r>
        </a:p>
      </dgm:t>
    </dgm:pt>
    <dgm:pt modelId="{7A3C8AFC-601C-426B-9F50-818B2D097198}" type="parTrans" cxnId="{D65CF4D7-68DD-4B85-98E1-9C347E756DBB}">
      <dgm:prSet/>
      <dgm:spPr/>
      <dgm:t>
        <a:bodyPr/>
        <a:lstStyle/>
        <a:p>
          <a:endParaRPr lang="en-US"/>
        </a:p>
      </dgm:t>
    </dgm:pt>
    <dgm:pt modelId="{B1F729CC-7109-451C-9351-4A047DDC26C0}" type="sibTrans" cxnId="{D65CF4D7-68DD-4B85-98E1-9C347E756DBB}">
      <dgm:prSet/>
      <dgm:spPr/>
      <dgm:t>
        <a:bodyPr/>
        <a:lstStyle/>
        <a:p>
          <a:endParaRPr lang="en-US"/>
        </a:p>
      </dgm:t>
    </dgm:pt>
    <dgm:pt modelId="{4185AE64-09CD-45C6-806B-B74705E612DE}">
      <dgm:prSet custT="1"/>
      <dgm:spPr/>
      <dgm:t>
        <a:bodyPr/>
        <a:lstStyle/>
        <a:p>
          <a:pPr rtl="0"/>
          <a:r>
            <a:rPr lang="en-US" sz="1400" dirty="0"/>
            <a:t>Reason</a:t>
          </a:r>
        </a:p>
      </dgm:t>
    </dgm:pt>
    <dgm:pt modelId="{3F822CA2-A22F-4A23-8FD1-EA9DA2846DD3}" type="parTrans" cxnId="{733BDD30-698A-4D21-8B3A-7BBFBDE6691D}">
      <dgm:prSet/>
      <dgm:spPr/>
      <dgm:t>
        <a:bodyPr/>
        <a:lstStyle/>
        <a:p>
          <a:endParaRPr lang="en-US"/>
        </a:p>
      </dgm:t>
    </dgm:pt>
    <dgm:pt modelId="{D8F63001-97E5-46D1-B9F2-BDDC4141A800}" type="sibTrans" cxnId="{733BDD30-698A-4D21-8B3A-7BBFBDE6691D}">
      <dgm:prSet/>
      <dgm:spPr/>
      <dgm:t>
        <a:bodyPr/>
        <a:lstStyle/>
        <a:p>
          <a:endParaRPr lang="en-US"/>
        </a:p>
      </dgm:t>
    </dgm:pt>
    <dgm:pt modelId="{7227B277-078F-4441-9A05-DDD64AF88DC5}">
      <dgm:prSet custT="1"/>
      <dgm:spPr/>
      <dgm:t>
        <a:bodyPr/>
        <a:lstStyle/>
        <a:p>
          <a:pPr rtl="0"/>
          <a:r>
            <a:rPr lang="en-US" sz="1400" dirty="0"/>
            <a:t>Learn from Experience</a:t>
          </a:r>
        </a:p>
      </dgm:t>
    </dgm:pt>
    <dgm:pt modelId="{92C624FA-4502-496B-9EC4-EC1D3B5B59B0}" type="parTrans" cxnId="{BB3CB389-B612-4BE2-9000-556020714CE7}">
      <dgm:prSet/>
      <dgm:spPr/>
      <dgm:t>
        <a:bodyPr/>
        <a:lstStyle/>
        <a:p>
          <a:endParaRPr lang="en-US"/>
        </a:p>
      </dgm:t>
    </dgm:pt>
    <dgm:pt modelId="{D78776C1-01DE-4253-BF66-57AD285EA54E}" type="sibTrans" cxnId="{BB3CB389-B612-4BE2-9000-556020714CE7}">
      <dgm:prSet/>
      <dgm:spPr/>
      <dgm:t>
        <a:bodyPr/>
        <a:lstStyle/>
        <a:p>
          <a:endParaRPr lang="en-US"/>
        </a:p>
      </dgm:t>
    </dgm:pt>
    <dgm:pt modelId="{1D7FA5BA-DA81-4D4D-87A4-E176B2AF4D18}">
      <dgm:prSet custT="1"/>
      <dgm:spPr/>
      <dgm:t>
        <a:bodyPr/>
        <a:lstStyle/>
        <a:p>
          <a:pPr rtl="0"/>
          <a:r>
            <a:rPr lang="en-US" sz="1400" dirty="0"/>
            <a:t>Adapt to the new Situation</a:t>
          </a:r>
        </a:p>
      </dgm:t>
    </dgm:pt>
    <dgm:pt modelId="{A8A1F9B5-3AC4-4DCB-A505-60DC28C9F30D}" type="parTrans" cxnId="{6183B5B1-0DFE-4ECE-BAE7-491C93970322}">
      <dgm:prSet/>
      <dgm:spPr/>
      <dgm:t>
        <a:bodyPr/>
        <a:lstStyle/>
        <a:p>
          <a:endParaRPr lang="en-US"/>
        </a:p>
      </dgm:t>
    </dgm:pt>
    <dgm:pt modelId="{2450CB64-66FC-493D-8DFB-19BAAE6D96C7}" type="sibTrans" cxnId="{6183B5B1-0DFE-4ECE-BAE7-491C93970322}">
      <dgm:prSet/>
      <dgm:spPr/>
      <dgm:t>
        <a:bodyPr/>
        <a:lstStyle/>
        <a:p>
          <a:endParaRPr lang="en-US"/>
        </a:p>
      </dgm:t>
    </dgm:pt>
    <dgm:pt modelId="{5684C6F9-E1CF-4D50-97EB-3283CA3712A5}">
      <dgm:prSet custT="1"/>
      <dgm:spPr/>
      <dgm:t>
        <a:bodyPr/>
        <a:lstStyle/>
        <a:p>
          <a:pPr rtl="0"/>
          <a:r>
            <a:rPr lang="en-US" sz="1400" dirty="0"/>
            <a:t>Problem Solving</a:t>
          </a:r>
        </a:p>
      </dgm:t>
    </dgm:pt>
    <dgm:pt modelId="{EECF45E3-63C7-4B59-A1F9-E02B525C287A}" type="parTrans" cxnId="{2E7B3307-E0A3-4034-AB54-0C05180BA763}">
      <dgm:prSet/>
      <dgm:spPr/>
      <dgm:t>
        <a:bodyPr/>
        <a:lstStyle/>
        <a:p>
          <a:endParaRPr lang="en-US"/>
        </a:p>
      </dgm:t>
    </dgm:pt>
    <dgm:pt modelId="{05CF286B-7F19-4394-A0E4-3DB3894A099B}" type="sibTrans" cxnId="{2E7B3307-E0A3-4034-AB54-0C05180BA763}">
      <dgm:prSet/>
      <dgm:spPr/>
      <dgm:t>
        <a:bodyPr/>
        <a:lstStyle/>
        <a:p>
          <a:endParaRPr lang="en-US"/>
        </a:p>
      </dgm:t>
    </dgm:pt>
    <dgm:pt modelId="{910A055B-F1EC-4612-86DC-36CB5C76F3CC}" type="pres">
      <dgm:prSet presAssocID="{14B04FCC-C1FD-4F85-B99F-C0A20BD49461}" presName="Name0" presStyleCnt="0">
        <dgm:presLayoutVars>
          <dgm:dir/>
          <dgm:animLvl val="lvl"/>
          <dgm:resizeHandles val="exact"/>
        </dgm:presLayoutVars>
      </dgm:prSet>
      <dgm:spPr/>
    </dgm:pt>
    <dgm:pt modelId="{556050D2-7B84-4740-AE20-3745A147640D}" type="pres">
      <dgm:prSet presAssocID="{0BF8C067-FF5C-4E65-A81F-C7DDAA6E01F6}" presName="linNode" presStyleCnt="0"/>
      <dgm:spPr/>
    </dgm:pt>
    <dgm:pt modelId="{C8A7097D-CFB5-46E8-9AA2-A34A16E96D12}" type="pres">
      <dgm:prSet presAssocID="{0BF8C067-FF5C-4E65-A81F-C7DDAA6E01F6}" presName="parentText" presStyleLbl="node1" presStyleIdx="0" presStyleCnt="8">
        <dgm:presLayoutVars>
          <dgm:chMax val="1"/>
          <dgm:bulletEnabled val="1"/>
        </dgm:presLayoutVars>
      </dgm:prSet>
      <dgm:spPr/>
    </dgm:pt>
    <dgm:pt modelId="{CE26E203-6EB4-41F8-8736-5A3E049B33C5}" type="pres">
      <dgm:prSet presAssocID="{C3D0B710-94F5-4063-A371-5CC3C00839DB}" presName="sp" presStyleCnt="0"/>
      <dgm:spPr/>
    </dgm:pt>
    <dgm:pt modelId="{5596C92A-B6AB-4CCD-AA15-EA9E52854812}" type="pres">
      <dgm:prSet presAssocID="{3F97903B-71DA-41BE-834A-04BF42AD5FF0}" presName="linNode" presStyleCnt="0"/>
      <dgm:spPr/>
    </dgm:pt>
    <dgm:pt modelId="{49AA50F4-EFBD-4E92-9D65-E4D6E29A86EF}" type="pres">
      <dgm:prSet presAssocID="{3F97903B-71DA-41BE-834A-04BF42AD5FF0}" presName="parentText" presStyleLbl="node1" presStyleIdx="1" presStyleCnt="8">
        <dgm:presLayoutVars>
          <dgm:chMax val="1"/>
          <dgm:bulletEnabled val="1"/>
        </dgm:presLayoutVars>
      </dgm:prSet>
      <dgm:spPr/>
    </dgm:pt>
    <dgm:pt modelId="{D6491DB1-7BE3-4ED8-905B-C5611EB64D37}" type="pres">
      <dgm:prSet presAssocID="{0CBAFB0C-2D08-48FA-B78E-2F138B4BC592}" presName="sp" presStyleCnt="0"/>
      <dgm:spPr/>
    </dgm:pt>
    <dgm:pt modelId="{6134D007-1903-4314-8F03-E6E7142165B4}" type="pres">
      <dgm:prSet presAssocID="{A4EF36D0-CE3B-4288-8F1A-C15884784E29}" presName="linNode" presStyleCnt="0"/>
      <dgm:spPr/>
    </dgm:pt>
    <dgm:pt modelId="{54BC2BC7-632B-452B-8060-3A495ACE8312}" type="pres">
      <dgm:prSet presAssocID="{A4EF36D0-CE3B-4288-8F1A-C15884784E29}" presName="parentText" presStyleLbl="node1" presStyleIdx="2" presStyleCnt="8">
        <dgm:presLayoutVars>
          <dgm:chMax val="1"/>
          <dgm:bulletEnabled val="1"/>
        </dgm:presLayoutVars>
      </dgm:prSet>
      <dgm:spPr/>
    </dgm:pt>
    <dgm:pt modelId="{A74DFE87-AA23-426E-B49F-D3923ACA5AB0}" type="pres">
      <dgm:prSet presAssocID="{EB614391-6FCD-4C0B-ABFF-31E849CBEF42}" presName="sp" presStyleCnt="0"/>
      <dgm:spPr/>
    </dgm:pt>
    <dgm:pt modelId="{D5C756FC-306C-4532-A97D-4445ECAA16F9}" type="pres">
      <dgm:prSet presAssocID="{1EEE8761-3BBD-48AC-997D-91DC3CC8641E}" presName="linNode" presStyleCnt="0"/>
      <dgm:spPr/>
    </dgm:pt>
    <dgm:pt modelId="{D58F99D9-11CF-4061-BA08-37AB452DD1ED}" type="pres">
      <dgm:prSet presAssocID="{1EEE8761-3BBD-48AC-997D-91DC3CC8641E}" presName="parentText" presStyleLbl="node1" presStyleIdx="3" presStyleCnt="8">
        <dgm:presLayoutVars>
          <dgm:chMax val="1"/>
          <dgm:bulletEnabled val="1"/>
        </dgm:presLayoutVars>
      </dgm:prSet>
      <dgm:spPr/>
    </dgm:pt>
    <dgm:pt modelId="{AB44E8C3-AE97-40FF-8595-D34926D5C75B}" type="pres">
      <dgm:prSet presAssocID="{B1F729CC-7109-451C-9351-4A047DDC26C0}" presName="sp" presStyleCnt="0"/>
      <dgm:spPr/>
    </dgm:pt>
    <dgm:pt modelId="{AB617AC4-A97D-470C-8DBC-08602C3ADF2A}" type="pres">
      <dgm:prSet presAssocID="{4185AE64-09CD-45C6-806B-B74705E612DE}" presName="linNode" presStyleCnt="0"/>
      <dgm:spPr/>
    </dgm:pt>
    <dgm:pt modelId="{4E9C4CF3-8BAC-458D-974D-DA214165AAB5}" type="pres">
      <dgm:prSet presAssocID="{4185AE64-09CD-45C6-806B-B74705E612DE}" presName="parentText" presStyleLbl="node1" presStyleIdx="4" presStyleCnt="8">
        <dgm:presLayoutVars>
          <dgm:chMax val="1"/>
          <dgm:bulletEnabled val="1"/>
        </dgm:presLayoutVars>
      </dgm:prSet>
      <dgm:spPr/>
    </dgm:pt>
    <dgm:pt modelId="{37C177EE-A85B-4BE5-A774-35CEA721E43F}" type="pres">
      <dgm:prSet presAssocID="{D8F63001-97E5-46D1-B9F2-BDDC4141A800}" presName="sp" presStyleCnt="0"/>
      <dgm:spPr/>
    </dgm:pt>
    <dgm:pt modelId="{D445EED4-8BED-4BDF-9DBA-9A545B6C6CD7}" type="pres">
      <dgm:prSet presAssocID="{7227B277-078F-4441-9A05-DDD64AF88DC5}" presName="linNode" presStyleCnt="0"/>
      <dgm:spPr/>
    </dgm:pt>
    <dgm:pt modelId="{1A87E8B8-D89D-4857-8BEA-96B73A639490}" type="pres">
      <dgm:prSet presAssocID="{7227B277-078F-4441-9A05-DDD64AF88DC5}" presName="parentText" presStyleLbl="node1" presStyleIdx="5" presStyleCnt="8">
        <dgm:presLayoutVars>
          <dgm:chMax val="1"/>
          <dgm:bulletEnabled val="1"/>
        </dgm:presLayoutVars>
      </dgm:prSet>
      <dgm:spPr/>
    </dgm:pt>
    <dgm:pt modelId="{F87C0CF5-942A-42A2-9A1A-D5515551EF66}" type="pres">
      <dgm:prSet presAssocID="{D78776C1-01DE-4253-BF66-57AD285EA54E}" presName="sp" presStyleCnt="0"/>
      <dgm:spPr/>
    </dgm:pt>
    <dgm:pt modelId="{82CE32C0-119C-40D9-85AD-9C147F00F17C}" type="pres">
      <dgm:prSet presAssocID="{1D7FA5BA-DA81-4D4D-87A4-E176B2AF4D18}" presName="linNode" presStyleCnt="0"/>
      <dgm:spPr/>
    </dgm:pt>
    <dgm:pt modelId="{69A35359-0596-4549-B387-6E0EC20DDE0D}" type="pres">
      <dgm:prSet presAssocID="{1D7FA5BA-DA81-4D4D-87A4-E176B2AF4D18}" presName="parentText" presStyleLbl="node1" presStyleIdx="6" presStyleCnt="8">
        <dgm:presLayoutVars>
          <dgm:chMax val="1"/>
          <dgm:bulletEnabled val="1"/>
        </dgm:presLayoutVars>
      </dgm:prSet>
      <dgm:spPr/>
    </dgm:pt>
    <dgm:pt modelId="{EABA9362-2A66-4395-AEDF-CE95809F0734}" type="pres">
      <dgm:prSet presAssocID="{2450CB64-66FC-493D-8DFB-19BAAE6D96C7}" presName="sp" presStyleCnt="0"/>
      <dgm:spPr/>
    </dgm:pt>
    <dgm:pt modelId="{97ADC3E3-741D-480A-90C4-AAC5D5C31156}" type="pres">
      <dgm:prSet presAssocID="{5684C6F9-E1CF-4D50-97EB-3283CA3712A5}" presName="linNode" presStyleCnt="0"/>
      <dgm:spPr/>
    </dgm:pt>
    <dgm:pt modelId="{28F96BF6-B8BC-4300-A17D-A0707488DFC8}" type="pres">
      <dgm:prSet presAssocID="{5684C6F9-E1CF-4D50-97EB-3283CA3712A5}" presName="parentText" presStyleLbl="node1" presStyleIdx="7" presStyleCnt="8">
        <dgm:presLayoutVars>
          <dgm:chMax val="1"/>
          <dgm:bulletEnabled val="1"/>
        </dgm:presLayoutVars>
      </dgm:prSet>
      <dgm:spPr/>
    </dgm:pt>
  </dgm:ptLst>
  <dgm:cxnLst>
    <dgm:cxn modelId="{2E7B3307-E0A3-4034-AB54-0C05180BA763}" srcId="{14B04FCC-C1FD-4F85-B99F-C0A20BD49461}" destId="{5684C6F9-E1CF-4D50-97EB-3283CA3712A5}" srcOrd="7" destOrd="0" parTransId="{EECF45E3-63C7-4B59-A1F9-E02B525C287A}" sibTransId="{05CF286B-7F19-4394-A0E4-3DB3894A099B}"/>
    <dgm:cxn modelId="{8DBC9E27-59A5-4170-9851-B2EB337B2717}" type="presOf" srcId="{1D7FA5BA-DA81-4D4D-87A4-E176B2AF4D18}" destId="{69A35359-0596-4549-B387-6E0EC20DDE0D}" srcOrd="0" destOrd="0" presId="urn:microsoft.com/office/officeart/2005/8/layout/vList5"/>
    <dgm:cxn modelId="{733BDD30-698A-4D21-8B3A-7BBFBDE6691D}" srcId="{14B04FCC-C1FD-4F85-B99F-C0A20BD49461}" destId="{4185AE64-09CD-45C6-806B-B74705E612DE}" srcOrd="4" destOrd="0" parTransId="{3F822CA2-A22F-4A23-8FD1-EA9DA2846DD3}" sibTransId="{D8F63001-97E5-46D1-B9F2-BDDC4141A800}"/>
    <dgm:cxn modelId="{38005B3C-4783-45E9-9646-343A57C57377}" type="presOf" srcId="{0BF8C067-FF5C-4E65-A81F-C7DDAA6E01F6}" destId="{C8A7097D-CFB5-46E8-9AA2-A34A16E96D12}" srcOrd="0" destOrd="0" presId="urn:microsoft.com/office/officeart/2005/8/layout/vList5"/>
    <dgm:cxn modelId="{D73B5440-28AA-4518-B4DE-864AAE01B8EA}" type="presOf" srcId="{3F97903B-71DA-41BE-834A-04BF42AD5FF0}" destId="{49AA50F4-EFBD-4E92-9D65-E4D6E29A86EF}" srcOrd="0" destOrd="0" presId="urn:microsoft.com/office/officeart/2005/8/layout/vList5"/>
    <dgm:cxn modelId="{240AE162-6159-457D-8D19-F88164D7FD40}" type="presOf" srcId="{1EEE8761-3BBD-48AC-997D-91DC3CC8641E}" destId="{D58F99D9-11CF-4061-BA08-37AB452DD1ED}" srcOrd="0" destOrd="0" presId="urn:microsoft.com/office/officeart/2005/8/layout/vList5"/>
    <dgm:cxn modelId="{CE0A534C-1DD0-4DFC-9416-F255742350C3}" type="presOf" srcId="{5684C6F9-E1CF-4D50-97EB-3283CA3712A5}" destId="{28F96BF6-B8BC-4300-A17D-A0707488DFC8}" srcOrd="0" destOrd="0" presId="urn:microsoft.com/office/officeart/2005/8/layout/vList5"/>
    <dgm:cxn modelId="{5821F96E-1630-48BE-AB17-4645C2EB22AC}" type="presOf" srcId="{4185AE64-09CD-45C6-806B-B74705E612DE}" destId="{4E9C4CF3-8BAC-458D-974D-DA214165AAB5}" srcOrd="0" destOrd="0" presId="urn:microsoft.com/office/officeart/2005/8/layout/vList5"/>
    <dgm:cxn modelId="{C243E358-B3F1-4D04-A695-0A170BB39AA1}" type="presOf" srcId="{A4EF36D0-CE3B-4288-8F1A-C15884784E29}" destId="{54BC2BC7-632B-452B-8060-3A495ACE8312}" srcOrd="0" destOrd="0" presId="urn:microsoft.com/office/officeart/2005/8/layout/vList5"/>
    <dgm:cxn modelId="{BB3CB389-B612-4BE2-9000-556020714CE7}" srcId="{14B04FCC-C1FD-4F85-B99F-C0A20BD49461}" destId="{7227B277-078F-4441-9A05-DDD64AF88DC5}" srcOrd="5" destOrd="0" parTransId="{92C624FA-4502-496B-9EC4-EC1D3B5B59B0}" sibTransId="{D78776C1-01DE-4253-BF66-57AD285EA54E}"/>
    <dgm:cxn modelId="{16208193-4B56-4C2A-8089-DD804527375F}" type="presOf" srcId="{7227B277-078F-4441-9A05-DDD64AF88DC5}" destId="{1A87E8B8-D89D-4857-8BEA-96B73A639490}" srcOrd="0" destOrd="0" presId="urn:microsoft.com/office/officeart/2005/8/layout/vList5"/>
    <dgm:cxn modelId="{2FC162A8-9FBA-4855-84A4-63D8992D1150}" srcId="{14B04FCC-C1FD-4F85-B99F-C0A20BD49461}" destId="{0BF8C067-FF5C-4E65-A81F-C7DDAA6E01F6}" srcOrd="0" destOrd="0" parTransId="{C5048DF5-77B2-4278-B2CA-D3E81EFE5CB5}" sibTransId="{C3D0B710-94F5-4063-A371-5CC3C00839DB}"/>
    <dgm:cxn modelId="{6183B5B1-0DFE-4ECE-BAE7-491C93970322}" srcId="{14B04FCC-C1FD-4F85-B99F-C0A20BD49461}" destId="{1D7FA5BA-DA81-4D4D-87A4-E176B2AF4D18}" srcOrd="6" destOrd="0" parTransId="{A8A1F9B5-3AC4-4DCB-A505-60DC28C9F30D}" sibTransId="{2450CB64-66FC-493D-8DFB-19BAAE6D96C7}"/>
    <dgm:cxn modelId="{D65CF4D7-68DD-4B85-98E1-9C347E756DBB}" srcId="{14B04FCC-C1FD-4F85-B99F-C0A20BD49461}" destId="{1EEE8761-3BBD-48AC-997D-91DC3CC8641E}" srcOrd="3" destOrd="0" parTransId="{7A3C8AFC-601C-426B-9F50-818B2D097198}" sibTransId="{B1F729CC-7109-451C-9351-4A047DDC26C0}"/>
    <dgm:cxn modelId="{AC1FCEDD-7176-46B9-B2C5-0390FAA47AD5}" type="presOf" srcId="{14B04FCC-C1FD-4F85-B99F-C0A20BD49461}" destId="{910A055B-F1EC-4612-86DC-36CB5C76F3CC}" srcOrd="0" destOrd="0" presId="urn:microsoft.com/office/officeart/2005/8/layout/vList5"/>
    <dgm:cxn modelId="{BC170FEC-4F90-4397-97C4-C95CC2A93C56}" srcId="{14B04FCC-C1FD-4F85-B99F-C0A20BD49461}" destId="{A4EF36D0-CE3B-4288-8F1A-C15884784E29}" srcOrd="2" destOrd="0" parTransId="{FBFBDC86-BA1E-45D5-9678-F1FEEAC439D7}" sibTransId="{EB614391-6FCD-4C0B-ABFF-31E849CBEF42}"/>
    <dgm:cxn modelId="{1A708BF3-BA05-46C6-9C85-8706B8830C06}" srcId="{14B04FCC-C1FD-4F85-B99F-C0A20BD49461}" destId="{3F97903B-71DA-41BE-834A-04BF42AD5FF0}" srcOrd="1" destOrd="0" parTransId="{2665DC0E-E1C0-4219-9C06-736C6A91E783}" sibTransId="{0CBAFB0C-2D08-48FA-B78E-2F138B4BC592}"/>
    <dgm:cxn modelId="{AEFDA650-C97E-49F2-839F-126F36B79B29}" type="presParOf" srcId="{910A055B-F1EC-4612-86DC-36CB5C76F3CC}" destId="{556050D2-7B84-4740-AE20-3745A147640D}" srcOrd="0" destOrd="0" presId="urn:microsoft.com/office/officeart/2005/8/layout/vList5"/>
    <dgm:cxn modelId="{3F855D46-11CC-4736-873E-3F36B4424C3F}" type="presParOf" srcId="{556050D2-7B84-4740-AE20-3745A147640D}" destId="{C8A7097D-CFB5-46E8-9AA2-A34A16E96D12}" srcOrd="0" destOrd="0" presId="urn:microsoft.com/office/officeart/2005/8/layout/vList5"/>
    <dgm:cxn modelId="{AB4D5E5F-5F07-4341-97C8-9AA4821F982F}" type="presParOf" srcId="{910A055B-F1EC-4612-86DC-36CB5C76F3CC}" destId="{CE26E203-6EB4-41F8-8736-5A3E049B33C5}" srcOrd="1" destOrd="0" presId="urn:microsoft.com/office/officeart/2005/8/layout/vList5"/>
    <dgm:cxn modelId="{E7E8C9F4-2E30-49D1-9B82-13A0D4A93839}" type="presParOf" srcId="{910A055B-F1EC-4612-86DC-36CB5C76F3CC}" destId="{5596C92A-B6AB-4CCD-AA15-EA9E52854812}" srcOrd="2" destOrd="0" presId="urn:microsoft.com/office/officeart/2005/8/layout/vList5"/>
    <dgm:cxn modelId="{25AE453D-8C02-43EE-884F-50244C9B91EA}" type="presParOf" srcId="{5596C92A-B6AB-4CCD-AA15-EA9E52854812}" destId="{49AA50F4-EFBD-4E92-9D65-E4D6E29A86EF}" srcOrd="0" destOrd="0" presId="urn:microsoft.com/office/officeart/2005/8/layout/vList5"/>
    <dgm:cxn modelId="{C4282296-ACC0-43C2-995C-1337967A9189}" type="presParOf" srcId="{910A055B-F1EC-4612-86DC-36CB5C76F3CC}" destId="{D6491DB1-7BE3-4ED8-905B-C5611EB64D37}" srcOrd="3" destOrd="0" presId="urn:microsoft.com/office/officeart/2005/8/layout/vList5"/>
    <dgm:cxn modelId="{0450F638-1B53-4F6F-B676-1E22FC4E4081}" type="presParOf" srcId="{910A055B-F1EC-4612-86DC-36CB5C76F3CC}" destId="{6134D007-1903-4314-8F03-E6E7142165B4}" srcOrd="4" destOrd="0" presId="urn:microsoft.com/office/officeart/2005/8/layout/vList5"/>
    <dgm:cxn modelId="{77173F75-AE1D-463C-A3BC-FA722C1F803C}" type="presParOf" srcId="{6134D007-1903-4314-8F03-E6E7142165B4}" destId="{54BC2BC7-632B-452B-8060-3A495ACE8312}" srcOrd="0" destOrd="0" presId="urn:microsoft.com/office/officeart/2005/8/layout/vList5"/>
    <dgm:cxn modelId="{C0A035D9-A197-474A-B0EE-76D75CCF4EDD}" type="presParOf" srcId="{910A055B-F1EC-4612-86DC-36CB5C76F3CC}" destId="{A74DFE87-AA23-426E-B49F-D3923ACA5AB0}" srcOrd="5" destOrd="0" presId="urn:microsoft.com/office/officeart/2005/8/layout/vList5"/>
    <dgm:cxn modelId="{64C620EF-DA5A-4242-9C6C-DB554D49F7D8}" type="presParOf" srcId="{910A055B-F1EC-4612-86DC-36CB5C76F3CC}" destId="{D5C756FC-306C-4532-A97D-4445ECAA16F9}" srcOrd="6" destOrd="0" presId="urn:microsoft.com/office/officeart/2005/8/layout/vList5"/>
    <dgm:cxn modelId="{0DD82BC1-F485-4563-9E5D-F48A8CDBA823}" type="presParOf" srcId="{D5C756FC-306C-4532-A97D-4445ECAA16F9}" destId="{D58F99D9-11CF-4061-BA08-37AB452DD1ED}" srcOrd="0" destOrd="0" presId="urn:microsoft.com/office/officeart/2005/8/layout/vList5"/>
    <dgm:cxn modelId="{E7B4AC3E-1FD6-4B71-9615-0F3DB09D5415}" type="presParOf" srcId="{910A055B-F1EC-4612-86DC-36CB5C76F3CC}" destId="{AB44E8C3-AE97-40FF-8595-D34926D5C75B}" srcOrd="7" destOrd="0" presId="urn:microsoft.com/office/officeart/2005/8/layout/vList5"/>
    <dgm:cxn modelId="{1BE69229-339F-47A8-B11D-99B9AB776782}" type="presParOf" srcId="{910A055B-F1EC-4612-86DC-36CB5C76F3CC}" destId="{AB617AC4-A97D-470C-8DBC-08602C3ADF2A}" srcOrd="8" destOrd="0" presId="urn:microsoft.com/office/officeart/2005/8/layout/vList5"/>
    <dgm:cxn modelId="{4C96A225-2EBE-4F99-9510-2C7B1804BEB1}" type="presParOf" srcId="{AB617AC4-A97D-470C-8DBC-08602C3ADF2A}" destId="{4E9C4CF3-8BAC-458D-974D-DA214165AAB5}" srcOrd="0" destOrd="0" presId="urn:microsoft.com/office/officeart/2005/8/layout/vList5"/>
    <dgm:cxn modelId="{392462A5-570A-4CC3-8D65-C0539AB8141F}" type="presParOf" srcId="{910A055B-F1EC-4612-86DC-36CB5C76F3CC}" destId="{37C177EE-A85B-4BE5-A774-35CEA721E43F}" srcOrd="9" destOrd="0" presId="urn:microsoft.com/office/officeart/2005/8/layout/vList5"/>
    <dgm:cxn modelId="{7F96AD91-D994-4ADF-A819-00491925DC33}" type="presParOf" srcId="{910A055B-F1EC-4612-86DC-36CB5C76F3CC}" destId="{D445EED4-8BED-4BDF-9DBA-9A545B6C6CD7}" srcOrd="10" destOrd="0" presId="urn:microsoft.com/office/officeart/2005/8/layout/vList5"/>
    <dgm:cxn modelId="{185F16EC-D3EE-43FF-8AE3-5F077FE2BBA6}" type="presParOf" srcId="{D445EED4-8BED-4BDF-9DBA-9A545B6C6CD7}" destId="{1A87E8B8-D89D-4857-8BEA-96B73A639490}" srcOrd="0" destOrd="0" presId="urn:microsoft.com/office/officeart/2005/8/layout/vList5"/>
    <dgm:cxn modelId="{BAC12F76-814F-4B51-891A-C0461BC14305}" type="presParOf" srcId="{910A055B-F1EC-4612-86DC-36CB5C76F3CC}" destId="{F87C0CF5-942A-42A2-9A1A-D5515551EF66}" srcOrd="11" destOrd="0" presId="urn:microsoft.com/office/officeart/2005/8/layout/vList5"/>
    <dgm:cxn modelId="{3523D741-40C5-40A2-BF3F-8C60FA8AC73D}" type="presParOf" srcId="{910A055B-F1EC-4612-86DC-36CB5C76F3CC}" destId="{82CE32C0-119C-40D9-85AD-9C147F00F17C}" srcOrd="12" destOrd="0" presId="urn:microsoft.com/office/officeart/2005/8/layout/vList5"/>
    <dgm:cxn modelId="{D3305893-3600-4AF7-BCCE-1479C0F32E65}" type="presParOf" srcId="{82CE32C0-119C-40D9-85AD-9C147F00F17C}" destId="{69A35359-0596-4549-B387-6E0EC20DDE0D}" srcOrd="0" destOrd="0" presId="urn:microsoft.com/office/officeart/2005/8/layout/vList5"/>
    <dgm:cxn modelId="{59B04AFB-99F0-4829-915E-A85065C4A2BC}" type="presParOf" srcId="{910A055B-F1EC-4612-86DC-36CB5C76F3CC}" destId="{EABA9362-2A66-4395-AEDF-CE95809F0734}" srcOrd="13" destOrd="0" presId="urn:microsoft.com/office/officeart/2005/8/layout/vList5"/>
    <dgm:cxn modelId="{2D781D0B-087D-4EC7-BC14-AF5056AB255C}" type="presParOf" srcId="{910A055B-F1EC-4612-86DC-36CB5C76F3CC}" destId="{97ADC3E3-741D-480A-90C4-AAC5D5C31156}" srcOrd="14" destOrd="0" presId="urn:microsoft.com/office/officeart/2005/8/layout/vList5"/>
    <dgm:cxn modelId="{E08199AA-2453-4415-A6D2-88104757E717}" type="presParOf" srcId="{97ADC3E3-741D-480A-90C4-AAC5D5C31156}" destId="{28F96BF6-B8BC-4300-A17D-A0707488DFC8}" srcOrd="0"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7097D-CFB5-46E8-9AA2-A34A16E96D12}">
      <dsp:nvSpPr>
        <dsp:cNvPr id="0" name=""/>
        <dsp:cNvSpPr/>
      </dsp:nvSpPr>
      <dsp:spPr>
        <a:xfrm>
          <a:off x="1682496" y="177"/>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Perceive</a:t>
          </a:r>
        </a:p>
      </dsp:txBody>
      <dsp:txXfrm>
        <a:off x="1708622" y="26303"/>
        <a:ext cx="1840556" cy="482939"/>
      </dsp:txXfrm>
    </dsp:sp>
    <dsp:sp modelId="{49AA50F4-EFBD-4E92-9D65-E4D6E29A86EF}">
      <dsp:nvSpPr>
        <dsp:cNvPr id="0" name=""/>
        <dsp:cNvSpPr/>
      </dsp:nvSpPr>
      <dsp:spPr>
        <a:xfrm>
          <a:off x="1682496" y="562128"/>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Understand</a:t>
          </a:r>
        </a:p>
      </dsp:txBody>
      <dsp:txXfrm>
        <a:off x="1708622" y="588254"/>
        <a:ext cx="1840556" cy="482939"/>
      </dsp:txXfrm>
    </dsp:sp>
    <dsp:sp modelId="{54BC2BC7-632B-452B-8060-3A495ACE8312}">
      <dsp:nvSpPr>
        <dsp:cNvPr id="0" name=""/>
        <dsp:cNvSpPr/>
      </dsp:nvSpPr>
      <dsp:spPr>
        <a:xfrm>
          <a:off x="1682496" y="1124079"/>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Remember</a:t>
          </a:r>
        </a:p>
      </dsp:txBody>
      <dsp:txXfrm>
        <a:off x="1708622" y="1150205"/>
        <a:ext cx="1840556" cy="482939"/>
      </dsp:txXfrm>
    </dsp:sp>
    <dsp:sp modelId="{D58F99D9-11CF-4061-BA08-37AB452DD1ED}">
      <dsp:nvSpPr>
        <dsp:cNvPr id="0" name=""/>
        <dsp:cNvSpPr/>
      </dsp:nvSpPr>
      <dsp:spPr>
        <a:xfrm>
          <a:off x="1682496" y="1686030"/>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Think</a:t>
          </a:r>
        </a:p>
      </dsp:txBody>
      <dsp:txXfrm>
        <a:off x="1708622" y="1712156"/>
        <a:ext cx="1840556" cy="482939"/>
      </dsp:txXfrm>
    </dsp:sp>
    <dsp:sp modelId="{4E9C4CF3-8BAC-458D-974D-DA214165AAB5}">
      <dsp:nvSpPr>
        <dsp:cNvPr id="0" name=""/>
        <dsp:cNvSpPr/>
      </dsp:nvSpPr>
      <dsp:spPr>
        <a:xfrm>
          <a:off x="1682496" y="2247981"/>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Reason</a:t>
          </a:r>
        </a:p>
      </dsp:txBody>
      <dsp:txXfrm>
        <a:off x="1708622" y="2274107"/>
        <a:ext cx="1840556" cy="482939"/>
      </dsp:txXfrm>
    </dsp:sp>
    <dsp:sp modelId="{1A87E8B8-D89D-4857-8BEA-96B73A639490}">
      <dsp:nvSpPr>
        <dsp:cNvPr id="0" name=""/>
        <dsp:cNvSpPr/>
      </dsp:nvSpPr>
      <dsp:spPr>
        <a:xfrm>
          <a:off x="1682496" y="2809932"/>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Learn from Experience</a:t>
          </a:r>
        </a:p>
      </dsp:txBody>
      <dsp:txXfrm>
        <a:off x="1708622" y="2836058"/>
        <a:ext cx="1840556" cy="482939"/>
      </dsp:txXfrm>
    </dsp:sp>
    <dsp:sp modelId="{69A35359-0596-4549-B387-6E0EC20DDE0D}">
      <dsp:nvSpPr>
        <dsp:cNvPr id="0" name=""/>
        <dsp:cNvSpPr/>
      </dsp:nvSpPr>
      <dsp:spPr>
        <a:xfrm>
          <a:off x="1682496" y="3371884"/>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Adapt to the new Situation</a:t>
          </a:r>
        </a:p>
      </dsp:txBody>
      <dsp:txXfrm>
        <a:off x="1708622" y="3398010"/>
        <a:ext cx="1840556" cy="482939"/>
      </dsp:txXfrm>
    </dsp:sp>
    <dsp:sp modelId="{28F96BF6-B8BC-4300-A17D-A0707488DFC8}">
      <dsp:nvSpPr>
        <dsp:cNvPr id="0" name=""/>
        <dsp:cNvSpPr/>
      </dsp:nvSpPr>
      <dsp:spPr>
        <a:xfrm>
          <a:off x="1682496" y="3933835"/>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Problem Solving</a:t>
          </a:r>
        </a:p>
      </dsp:txBody>
      <dsp:txXfrm>
        <a:off x="1708622" y="3959961"/>
        <a:ext cx="1840556" cy="48293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411ABF-B010-CFD1-CC03-4A491B6D10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E1CC25-7198-E6DC-CF74-50088F0247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C6AE14-8BE3-408B-B02B-845A73F7ACD9}" type="datetimeFigureOut">
              <a:rPr lang="en-US" smtClean="0"/>
              <a:t>9/28/2026</a:t>
            </a:fld>
            <a:endParaRPr lang="en-US"/>
          </a:p>
        </p:txBody>
      </p:sp>
      <p:sp>
        <p:nvSpPr>
          <p:cNvPr id="4" name="Footer Placeholder 3">
            <a:extLst>
              <a:ext uri="{FF2B5EF4-FFF2-40B4-BE49-F238E27FC236}">
                <a16:creationId xmlns:a16="http://schemas.microsoft.com/office/drawing/2014/main" id="{FD7BCEAD-AE2B-8167-5C22-595BFA4CD5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8506B2B-E228-6D74-0085-A78CDB5F69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AF4718-62D8-4987-A20A-6C3559CD1F90}" type="slidenum">
              <a:rPr lang="en-US" smtClean="0"/>
              <a:t>‹#›</a:t>
            </a:fld>
            <a:endParaRPr lang="en-US"/>
          </a:p>
        </p:txBody>
      </p:sp>
    </p:spTree>
    <p:extLst>
      <p:ext uri="{BB962C8B-B14F-4D97-AF65-F5344CB8AC3E}">
        <p14:creationId xmlns:p14="http://schemas.microsoft.com/office/powerpoint/2010/main" val="22660774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91929-9EEB-44BC-8577-8C27F2E0F7FE}"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E8A97-55A0-4124-80B4-339E241955E7}" type="slidenum">
              <a:rPr lang="en-US" smtClean="0"/>
              <a:t>‹#›</a:t>
            </a:fld>
            <a:endParaRPr lang="en-US"/>
          </a:p>
        </p:txBody>
      </p:sp>
    </p:spTree>
    <p:extLst>
      <p:ext uri="{BB962C8B-B14F-4D97-AF65-F5344CB8AC3E}">
        <p14:creationId xmlns:p14="http://schemas.microsoft.com/office/powerpoint/2010/main" val="554985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041BCE9-72F6-4466-B507-C460131847C4}" type="slidenum">
              <a:rPr lang="en-US" smtClean="0"/>
              <a:pPr/>
              <a:t>12</a:t>
            </a:fld>
            <a:endParaRPr lang="en-US"/>
          </a:p>
        </p:txBody>
      </p:sp>
    </p:spTree>
    <p:extLst>
      <p:ext uri="{BB962C8B-B14F-4D97-AF65-F5344CB8AC3E}">
        <p14:creationId xmlns:p14="http://schemas.microsoft.com/office/powerpoint/2010/main" val="2491102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left: Think</a:t>
            </a:r>
            <a:r>
              <a:rPr lang="en-US" baseline="0" dirty="0"/>
              <a:t> like people --- cognitive science, neuroscience</a:t>
            </a:r>
          </a:p>
          <a:p>
            <a:endParaRPr lang="en-US" baseline="0" dirty="0"/>
          </a:p>
          <a:p>
            <a:r>
              <a:rPr lang="en-US" baseline="0" dirty="0"/>
              <a:t>Bottom left: act like people --- actually very early definition, dating back to Alan Turing --- Turing test;  problem to do really well you start focusing on things like don’t answer too quickly what the square root of 1412 is, don’t spell too well,  and make sure you have a favorite movie etc.  So it wasn’t really leading us to build intelligence</a:t>
            </a:r>
          </a:p>
          <a:p>
            <a:endParaRPr lang="en-US" baseline="0" dirty="0"/>
          </a:p>
          <a:p>
            <a:r>
              <a:rPr lang="en-US" baseline="0" dirty="0"/>
              <a:t>Think rationally – long tradition dating back to Aristotle --- but not a winner, because difficult to encode how to think, and in the end it’s not about how you think, it’s about how you end up acting</a:t>
            </a:r>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14</a:t>
            </a:fld>
            <a:endParaRPr lang="en-US"/>
          </a:p>
        </p:txBody>
      </p:sp>
    </p:spTree>
    <p:extLst>
      <p:ext uri="{BB962C8B-B14F-4D97-AF65-F5344CB8AC3E}">
        <p14:creationId xmlns:p14="http://schemas.microsoft.com/office/powerpoint/2010/main" val="3396760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launched on Mars in 2011; whether the planet could have ever supported microbial life.</a:t>
            </a:r>
          </a:p>
        </p:txBody>
      </p:sp>
      <p:sp>
        <p:nvSpPr>
          <p:cNvPr id="4" name="Slide Number Placeholder 3"/>
          <p:cNvSpPr>
            <a:spLocks noGrp="1"/>
          </p:cNvSpPr>
          <p:nvPr>
            <p:ph type="sldNum" sz="quarter" idx="5"/>
          </p:nvPr>
        </p:nvSpPr>
        <p:spPr/>
        <p:txBody>
          <a:bodyPr/>
          <a:lstStyle/>
          <a:p>
            <a:fld id="{2D7E8A97-55A0-4124-80B4-339E241955E7}" type="slidenum">
              <a:rPr lang="en-US" smtClean="0"/>
              <a:t>18</a:t>
            </a:fld>
            <a:endParaRPr lang="en-US"/>
          </a:p>
        </p:txBody>
      </p:sp>
    </p:spTree>
    <p:extLst>
      <p:ext uri="{BB962C8B-B14F-4D97-AF65-F5344CB8AC3E}">
        <p14:creationId xmlns:p14="http://schemas.microsoft.com/office/powerpoint/2010/main" val="2398059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Rot="1" noChangeAspect="1" noChangeArrowheads="1" noTextEdit="1"/>
          </p:cNvSpPr>
          <p:nvPr>
            <p:ph type="sldImg"/>
          </p:nvPr>
        </p:nvSpPr>
        <p:spPr>
          <a:xfrm>
            <a:off x="138113" y="766763"/>
            <a:ext cx="6823075" cy="3838575"/>
          </a:xfrm>
          <a:solidFill>
            <a:srgbClr val="FFFFFF"/>
          </a:solidFill>
          <a:ln/>
        </p:spPr>
      </p:sp>
      <p:sp>
        <p:nvSpPr>
          <p:cNvPr id="40963" name="Rectangle 2"/>
          <p:cNvSpPr>
            <a:spLocks noGrp="1" noChangeArrowheads="1"/>
          </p:cNvSpPr>
          <p:nvPr>
            <p:ph type="body" idx="1"/>
          </p:nvPr>
        </p:nvSpPr>
        <p:spPr>
          <a:xfrm>
            <a:off x="709613" y="4860925"/>
            <a:ext cx="5680075" cy="4606925"/>
          </a:xfrm>
          <a:noFill/>
          <a:ln/>
        </p:spPr>
        <p:txBody>
          <a:bodyPr/>
          <a:lstStyle/>
          <a:p>
            <a:r>
              <a:rPr lang="en-US" sz="4000" dirty="0"/>
              <a:t>Goals are expressed in terms of the utility of outcomes : mean to maximize overall utility in every aspect possible</a:t>
            </a:r>
          </a:p>
        </p:txBody>
      </p:sp>
    </p:spTree>
    <p:extLst>
      <p:ext uri="{BB962C8B-B14F-4D97-AF65-F5344CB8AC3E}">
        <p14:creationId xmlns:p14="http://schemas.microsoft.com/office/powerpoint/2010/main" val="3067224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7E8A97-55A0-4124-80B4-339E241955E7}" type="slidenum">
              <a:rPr lang="en-US" smtClean="0"/>
              <a:t>25</a:t>
            </a:fld>
            <a:endParaRPr lang="en-US"/>
          </a:p>
        </p:txBody>
      </p:sp>
      <p:pic>
        <p:nvPicPr>
          <p:cNvPr id="6" name="Picture 5">
            <a:extLst>
              <a:ext uri="{FF2B5EF4-FFF2-40B4-BE49-F238E27FC236}">
                <a16:creationId xmlns:a16="http://schemas.microsoft.com/office/drawing/2014/main" id="{01292363-11A1-3BF9-2D3C-30070C3568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462" y="4913314"/>
            <a:ext cx="4937293" cy="1422832"/>
          </a:xfrm>
          <a:prstGeom prst="rect">
            <a:avLst/>
          </a:prstGeom>
        </p:spPr>
      </p:pic>
    </p:spTree>
    <p:extLst>
      <p:ext uri="{BB962C8B-B14F-4D97-AF65-F5344CB8AC3E}">
        <p14:creationId xmlns:p14="http://schemas.microsoft.com/office/powerpoint/2010/main" val="633314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27</a:t>
            </a:fld>
            <a:endParaRPr lang="en-US"/>
          </a:p>
        </p:txBody>
      </p:sp>
    </p:spTree>
    <p:extLst>
      <p:ext uri="{BB962C8B-B14F-4D97-AF65-F5344CB8AC3E}">
        <p14:creationId xmlns:p14="http://schemas.microsoft.com/office/powerpoint/2010/main" val="4019133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138113" y="766763"/>
            <a:ext cx="6823075" cy="3838575"/>
          </a:xfrm>
          <a:solidFill>
            <a:srgbClr val="FFFFFF"/>
          </a:solidFill>
          <a:ln/>
        </p:spPr>
      </p:sp>
      <p:sp>
        <p:nvSpPr>
          <p:cNvPr id="41987" name="Rectangle 2"/>
          <p:cNvSpPr>
            <a:spLocks noGrp="1" noChangeArrowheads="1"/>
          </p:cNvSpPr>
          <p:nvPr>
            <p:ph type="body" idx="1"/>
          </p:nvPr>
        </p:nvSpPr>
        <p:spPr>
          <a:xfrm>
            <a:off x="709613" y="4860925"/>
            <a:ext cx="5680075" cy="4606925"/>
          </a:xfrm>
          <a:noFill/>
          <a:ln/>
        </p:spPr>
        <p:txBody>
          <a:bodyPr/>
          <a:lstStyle/>
          <a:p>
            <a:r>
              <a:rPr lang="en-US" dirty="0">
                <a:latin typeface="Helvetica" charset="0"/>
                <a:cs typeface="Helvetica" charset="0"/>
                <a:sym typeface="Helvetica" charset="0"/>
              </a:rPr>
              <a:t>All applications can be thought of as decision making or useful sub-components of decision making</a:t>
            </a:r>
          </a:p>
        </p:txBody>
      </p:sp>
    </p:spTree>
    <p:extLst>
      <p:ext uri="{BB962C8B-B14F-4D97-AF65-F5344CB8AC3E}">
        <p14:creationId xmlns:p14="http://schemas.microsoft.com/office/powerpoint/2010/main" val="357239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D60ED9C-60DA-4644-8251-CEB6E8D3B7EC}"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319467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ED9C-60DA-4644-8251-CEB6E8D3B7EC}"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2026466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0ED9C-60DA-4644-8251-CEB6E8D3B7EC}"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2503094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60ED9C-60DA-4644-8251-CEB6E8D3B7EC}"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71816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0ED9C-60DA-4644-8251-CEB6E8D3B7EC}"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4236327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0ED9C-60DA-4644-8251-CEB6E8D3B7EC}"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423851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0ED9C-60DA-4644-8251-CEB6E8D3B7EC}"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174728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60ED9C-60DA-4644-8251-CEB6E8D3B7EC}"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3933979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60ED9C-60DA-4644-8251-CEB6E8D3B7EC}"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3228120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ED9C-60DA-4644-8251-CEB6E8D3B7EC}"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1269550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ED9C-60DA-4644-8251-CEB6E8D3B7EC}"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2488842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p:spPr>
        <p:txBody>
          <a:bodyPr/>
          <a:lstStyle>
            <a:lvl1pPr>
              <a:defRPr/>
            </a:lvl1pPr>
          </a:lstStyle>
          <a:p>
            <a:endParaRPr lang="en-GB"/>
          </a:p>
        </p:txBody>
      </p:sp>
      <p:sp>
        <p:nvSpPr>
          <p:cNvPr id="6" name="Footer Placeholder 5"/>
          <p:cNvSpPr>
            <a:spLocks noGrp="1"/>
          </p:cNvSpPr>
          <p:nvPr>
            <p:ph type="ftr" sz="quarter" idx="11"/>
          </p:nvPr>
        </p:nvSpPr>
        <p:spPr>
          <a:xfrm>
            <a:off x="4876800" y="6243638"/>
            <a:ext cx="3860800" cy="457200"/>
          </a:xfrm>
        </p:spPr>
        <p:txBody>
          <a:bodyPr/>
          <a:lstStyle>
            <a:lvl1pPr>
              <a:defRPr/>
            </a:lvl1pPr>
          </a:lstStyle>
          <a:p>
            <a:endParaRPr lang="en-GB"/>
          </a:p>
        </p:txBody>
      </p:sp>
      <p:sp>
        <p:nvSpPr>
          <p:cNvPr id="7" name="Slide Number Placeholder 6"/>
          <p:cNvSpPr>
            <a:spLocks noGrp="1"/>
          </p:cNvSpPr>
          <p:nvPr>
            <p:ph type="sldNum" sz="quarter" idx="12"/>
          </p:nvPr>
        </p:nvSpPr>
        <p:spPr>
          <a:xfrm>
            <a:off x="11434619" y="5583382"/>
            <a:ext cx="609600" cy="457200"/>
          </a:xfrm>
        </p:spPr>
        <p:txBody>
          <a:bodyPr/>
          <a:lstStyle>
            <a:lvl1pPr>
              <a:defRPr/>
            </a:lvl1pPr>
          </a:lstStyle>
          <a:p>
            <a:fld id="{866E2486-6858-4FB8-B8B5-59109720FE73}" type="slidenum">
              <a:rPr lang="en-GB"/>
              <a:pPr/>
              <a:t>‹#›</a:t>
            </a:fld>
            <a:endParaRPr lang="en-GB" dirty="0"/>
          </a:p>
        </p:txBody>
      </p:sp>
    </p:spTree>
    <p:extLst>
      <p:ext uri="{BB962C8B-B14F-4D97-AF65-F5344CB8AC3E}">
        <p14:creationId xmlns:p14="http://schemas.microsoft.com/office/powerpoint/2010/main" val="32629767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p:spPr>
        <p:txBody>
          <a:bodyPr/>
          <a:lstStyle>
            <a:lvl1pPr>
              <a:defRPr/>
            </a:lvl1pPr>
          </a:lstStyle>
          <a:p>
            <a:endParaRPr lang="en-GB"/>
          </a:p>
        </p:txBody>
      </p:sp>
      <p:sp>
        <p:nvSpPr>
          <p:cNvPr id="7" name="Footer Placeholder 6"/>
          <p:cNvSpPr>
            <a:spLocks noGrp="1"/>
          </p:cNvSpPr>
          <p:nvPr>
            <p:ph type="ftr" sz="quarter" idx="11"/>
          </p:nvPr>
        </p:nvSpPr>
        <p:spPr>
          <a:xfrm>
            <a:off x="4876800" y="6243638"/>
            <a:ext cx="3860800" cy="457200"/>
          </a:xfrm>
        </p:spPr>
        <p:txBody>
          <a:bodyPr/>
          <a:lstStyle>
            <a:lvl1pPr>
              <a:defRPr/>
            </a:lvl1pPr>
          </a:lstStyle>
          <a:p>
            <a:endParaRPr lang="en-GB"/>
          </a:p>
        </p:txBody>
      </p:sp>
      <p:sp>
        <p:nvSpPr>
          <p:cNvPr id="8" name="Slide Number Placeholder 7"/>
          <p:cNvSpPr>
            <a:spLocks noGrp="1"/>
          </p:cNvSpPr>
          <p:nvPr>
            <p:ph type="sldNum" sz="quarter" idx="12"/>
          </p:nvPr>
        </p:nvSpPr>
        <p:spPr>
          <a:xfrm>
            <a:off x="11383817" y="5618018"/>
            <a:ext cx="711200" cy="457200"/>
          </a:xfrm>
        </p:spPr>
        <p:txBody>
          <a:bodyPr/>
          <a:lstStyle>
            <a:lvl1pPr>
              <a:defRPr/>
            </a:lvl1pPr>
          </a:lstStyle>
          <a:p>
            <a:fld id="{23F6A611-99D9-4A61-A991-1B40D77C3E07}" type="slidenum">
              <a:rPr lang="en-GB"/>
              <a:pPr/>
              <a:t>‹#›</a:t>
            </a:fld>
            <a:endParaRPr lang="en-GB"/>
          </a:p>
        </p:txBody>
      </p:sp>
    </p:spTree>
    <p:extLst>
      <p:ext uri="{BB962C8B-B14F-4D97-AF65-F5344CB8AC3E}">
        <p14:creationId xmlns:p14="http://schemas.microsoft.com/office/powerpoint/2010/main" val="2974569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0ED9C-60DA-4644-8251-CEB6E8D3B7EC}" type="datetimeFigureOut">
              <a:rPr lang="en-US" smtClean="0"/>
              <a:t>9/28/2026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F2F1CC-7916-4088-85E3-1E2E8409C45B}" type="slidenum">
              <a:rPr lang="en-US" smtClean="0"/>
              <a:t>‹#›</a:t>
            </a:fld>
            <a:endParaRPr lang="en-US"/>
          </a:p>
        </p:txBody>
      </p:sp>
    </p:spTree>
    <p:extLst>
      <p:ext uri="{BB962C8B-B14F-4D97-AF65-F5344CB8AC3E}">
        <p14:creationId xmlns:p14="http://schemas.microsoft.com/office/powerpoint/2010/main" val="1734155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futuresoft.yolasite.com/resources/Artificial%20Intelligence%20Illuminated.pdf" TargetMode="External"/><Relationship Id="rId2" Type="http://schemas.openxmlformats.org/officeDocument/2006/relationships/hyperlink" Target="https://faculty.psau.edu.sa/filedownload/doc-7-pdf-a154ffbcec538a4161a406abf62f5b76-original.pdf" TargetMode="Externa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hyperlink" Target="http://ai.berkeley.edu/home.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oleObject" Target="../embeddings/oleObject1.bin"/><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6.wmf"/><Relationship Id="rId9" Type="http://schemas.microsoft.com/office/2007/relationships/diagramDrawing" Target="../diagrams/drawin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hyperlink" Target="/upload.wikimedia.org/wikipedia/commons/7/76/Kinect2-ir-image.png" TargetMode="External"/><Relationship Id="rId7" Type="http://schemas.openxmlformats.org/officeDocument/2006/relationships/hyperlink" Target="/upload.wikimedia.org/wikipedia/commons/6/67/Xbox-360-Kinect-Standalone.png" TargetMode="External"/><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hyperlink" Target="/upload.wikimedia.org/wikipedia/commons/9/90/Kinect2-deepmap.png" TargetMode="Externa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jpe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0017" y="541543"/>
            <a:ext cx="9144000" cy="1289465"/>
          </a:xfrm>
        </p:spPr>
        <p:txBody>
          <a:bodyPr/>
          <a:lstStyle/>
          <a:p>
            <a:r>
              <a:rPr lang="en-US" dirty="0"/>
              <a:t>Artificial Intelligence</a:t>
            </a:r>
          </a:p>
        </p:txBody>
      </p:sp>
      <p:sp>
        <p:nvSpPr>
          <p:cNvPr id="3" name="Subtitle 2"/>
          <p:cNvSpPr>
            <a:spLocks noGrp="1"/>
          </p:cNvSpPr>
          <p:nvPr>
            <p:ph type="subTitle" idx="1"/>
          </p:nvPr>
        </p:nvSpPr>
        <p:spPr>
          <a:xfrm>
            <a:off x="1630017" y="1923084"/>
            <a:ext cx="9144000" cy="1655762"/>
          </a:xfrm>
        </p:spPr>
        <p:txBody>
          <a:bodyPr>
            <a:normAutofit/>
          </a:bodyPr>
          <a:lstStyle/>
          <a:p>
            <a:r>
              <a:rPr lang="en-US" sz="3200" dirty="0"/>
              <a:t>Introduction</a:t>
            </a:r>
          </a:p>
        </p:txBody>
      </p:sp>
      <p:pic>
        <p:nvPicPr>
          <p:cNvPr id="5" name="Picture 4"/>
          <p:cNvPicPr>
            <a:picLocks noChangeAspect="1"/>
          </p:cNvPicPr>
          <p:nvPr/>
        </p:nvPicPr>
        <p:blipFill>
          <a:blip r:embed="rId2"/>
          <a:stretch>
            <a:fillRect/>
          </a:stretch>
        </p:blipFill>
        <p:spPr>
          <a:xfrm>
            <a:off x="3635998" y="2433488"/>
            <a:ext cx="5132033" cy="2290715"/>
          </a:xfrm>
          <a:prstGeom prst="rect">
            <a:avLst/>
          </a:prstGeom>
        </p:spPr>
      </p:pic>
      <p:sp>
        <p:nvSpPr>
          <p:cNvPr id="6" name="Rectangle 5"/>
          <p:cNvSpPr/>
          <p:nvPr/>
        </p:nvSpPr>
        <p:spPr>
          <a:xfrm>
            <a:off x="1066798" y="6397945"/>
            <a:ext cx="10270435" cy="276999"/>
          </a:xfrm>
          <a:prstGeom prst="rect">
            <a:avLst/>
          </a:prstGeom>
        </p:spPr>
        <p:txBody>
          <a:bodyPr wrap="square">
            <a:spAutoFit/>
          </a:bodyPr>
          <a:lstStyle/>
          <a:p>
            <a:pPr algn="ctr"/>
            <a:r>
              <a:rPr lang="en-US" sz="1200" dirty="0">
                <a:solidFill>
                  <a:schemeClr val="tx1">
                    <a:lumMod val="75000"/>
                    <a:lumOff val="25000"/>
                  </a:schemeClr>
                </a:solidFill>
              </a:rPr>
              <a:t>Modified slides of CS-188 Berkeley University</a:t>
            </a:r>
            <a:endParaRPr lang="en-US" sz="1200" dirty="0"/>
          </a:p>
        </p:txBody>
      </p:sp>
    </p:spTree>
    <p:extLst>
      <p:ext uri="{BB962C8B-B14F-4D97-AF65-F5344CB8AC3E}">
        <p14:creationId xmlns:p14="http://schemas.microsoft.com/office/powerpoint/2010/main" val="769552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Recommended Books</a:t>
            </a:r>
          </a:p>
        </p:txBody>
      </p:sp>
      <p:sp>
        <p:nvSpPr>
          <p:cNvPr id="3" name="Content Placeholder 2"/>
          <p:cNvSpPr>
            <a:spLocks noGrp="1"/>
          </p:cNvSpPr>
          <p:nvPr>
            <p:ph idx="1"/>
          </p:nvPr>
        </p:nvSpPr>
        <p:spPr>
          <a:xfrm>
            <a:off x="838200" y="1825625"/>
            <a:ext cx="7126357" cy="4351338"/>
          </a:xfrm>
        </p:spPr>
        <p:txBody>
          <a:bodyPr>
            <a:normAutofit/>
          </a:bodyPr>
          <a:lstStyle/>
          <a:p>
            <a:r>
              <a:rPr lang="en-US" b="1" dirty="0"/>
              <a:t>Artificial Intelligence: A Modern Approach</a:t>
            </a:r>
            <a:r>
              <a:rPr lang="en-US" dirty="0"/>
              <a:t>,</a:t>
            </a:r>
          </a:p>
          <a:p>
            <a:pPr marL="0" indent="0">
              <a:buNone/>
            </a:pPr>
            <a:r>
              <a:rPr lang="en-US" dirty="0"/>
              <a:t>  Russell &amp; </a:t>
            </a:r>
            <a:r>
              <a:rPr lang="en-US" dirty="0" err="1"/>
              <a:t>Norvig</a:t>
            </a:r>
            <a:r>
              <a:rPr lang="en-US" dirty="0"/>
              <a:t>. </a:t>
            </a:r>
          </a:p>
          <a:p>
            <a:pPr marL="0" indent="0">
              <a:buNone/>
            </a:pPr>
            <a:r>
              <a:rPr lang="en-US" sz="1200" dirty="0"/>
              <a:t>      (</a:t>
            </a:r>
            <a:r>
              <a:rPr lang="en-US" sz="1200" dirty="0">
                <a:hlinkClick r:id="rId2"/>
              </a:rPr>
              <a:t>https://faculty.psau.edu.sa/filedownload/doc-7-pdf-a154ffbcec538a4161a406abf62f5b76-original.pdf</a:t>
            </a:r>
            <a:r>
              <a:rPr lang="en-US" sz="1200" dirty="0"/>
              <a:t> )</a:t>
            </a:r>
          </a:p>
          <a:p>
            <a:endParaRPr lang="en-US" dirty="0"/>
          </a:p>
          <a:p>
            <a:endParaRPr lang="en-US" dirty="0"/>
          </a:p>
          <a:p>
            <a:r>
              <a:rPr lang="en-US" dirty="0"/>
              <a:t>“</a:t>
            </a:r>
            <a:r>
              <a:rPr lang="en-US" b="1" dirty="0"/>
              <a:t>Artificial Intelligence Illuminated</a:t>
            </a:r>
            <a:r>
              <a:rPr lang="en-US" dirty="0"/>
              <a:t>”   </a:t>
            </a:r>
          </a:p>
          <a:p>
            <a:pPr marL="0" indent="0">
              <a:buNone/>
            </a:pPr>
            <a:r>
              <a:rPr lang="en-US" dirty="0"/>
              <a:t>   Ben Coppin, </a:t>
            </a:r>
          </a:p>
          <a:p>
            <a:pPr marL="0" indent="0">
              <a:buNone/>
            </a:pPr>
            <a:r>
              <a:rPr lang="en-US" sz="1200" dirty="0"/>
              <a:t>       (</a:t>
            </a:r>
            <a:r>
              <a:rPr lang="en-US" sz="1200" dirty="0">
                <a:hlinkClick r:id="rId3"/>
              </a:rPr>
              <a:t>http://futuresoft.yolasite.com/resources/Artificial%20Intelligence%20Illuminated.pdf</a:t>
            </a:r>
            <a:r>
              <a:rPr lang="en-US" sz="1200" dirty="0"/>
              <a:t>)</a:t>
            </a:r>
          </a:p>
          <a:p>
            <a:endParaRPr lang="en-US" dirty="0"/>
          </a:p>
          <a:p>
            <a:endParaRPr lang="en-US" dirty="0"/>
          </a:p>
        </p:txBody>
      </p:sp>
      <p:pic>
        <p:nvPicPr>
          <p:cNvPr id="5" name="Picture 4"/>
          <p:cNvPicPr>
            <a:picLocks noChangeAspect="1"/>
          </p:cNvPicPr>
          <p:nvPr/>
        </p:nvPicPr>
        <p:blipFill>
          <a:blip r:embed="rId4"/>
          <a:stretch>
            <a:fillRect/>
          </a:stretch>
        </p:blipFill>
        <p:spPr>
          <a:xfrm>
            <a:off x="8734892" y="249513"/>
            <a:ext cx="2476500" cy="3060459"/>
          </a:xfrm>
          <a:prstGeom prst="rect">
            <a:avLst/>
          </a:prstGeom>
        </p:spPr>
      </p:pic>
      <p:pic>
        <p:nvPicPr>
          <p:cNvPr id="2052" name="Picture 4" descr="Image result for artificial intelligence illuminate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34892" y="3425584"/>
            <a:ext cx="2476500" cy="3219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0343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Recommended Books</a:t>
            </a:r>
          </a:p>
        </p:txBody>
      </p:sp>
      <p:sp>
        <p:nvSpPr>
          <p:cNvPr id="3" name="Content Placeholder 2"/>
          <p:cNvSpPr>
            <a:spLocks noGrp="1"/>
          </p:cNvSpPr>
          <p:nvPr>
            <p:ph idx="1"/>
          </p:nvPr>
        </p:nvSpPr>
        <p:spPr/>
        <p:txBody>
          <a:bodyPr/>
          <a:lstStyle/>
          <a:p>
            <a:r>
              <a:rPr lang="en-US" dirty="0"/>
              <a:t>“Artificial Intelligence – Structures and Strategies for Complex problem solving”, George F. Luger, Pearson International Edition, Sixth edition, 2009.</a:t>
            </a:r>
          </a:p>
          <a:p>
            <a:r>
              <a:rPr lang="en-US" dirty="0"/>
              <a:t>“Artificial Intelligence: A new synthesis”  Nils Nilsson, Morgan Kaufmann, 1998</a:t>
            </a:r>
          </a:p>
          <a:p>
            <a:r>
              <a:rPr lang="it-IT" b="1" dirty="0"/>
              <a:t>UC Berkeley CS188 Intro to AI </a:t>
            </a:r>
            <a:r>
              <a:rPr lang="it-IT" dirty="0"/>
              <a:t>(</a:t>
            </a:r>
            <a:r>
              <a:rPr lang="en-US" dirty="0">
                <a:hlinkClick r:id="rId2"/>
              </a:rPr>
              <a:t>http://ai.berkeley.edu/home.html</a:t>
            </a:r>
            <a:r>
              <a:rPr lang="it-IT" dirty="0"/>
              <a:t>)</a:t>
            </a:r>
            <a:endParaRPr lang="it-IT" b="1" dirty="0"/>
          </a:p>
          <a:p>
            <a:endParaRPr lang="en-US" dirty="0"/>
          </a:p>
        </p:txBody>
      </p:sp>
    </p:spTree>
    <p:extLst>
      <p:ext uri="{BB962C8B-B14F-4D97-AF65-F5344CB8AC3E}">
        <p14:creationId xmlns:p14="http://schemas.microsoft.com/office/powerpoint/2010/main" val="236529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Grading (Tentative)</a:t>
            </a:r>
          </a:p>
        </p:txBody>
      </p:sp>
      <p:graphicFrame>
        <p:nvGraphicFramePr>
          <p:cNvPr id="8" name="Table 7"/>
          <p:cNvGraphicFramePr>
            <a:graphicFrameLocks noGrp="1"/>
          </p:cNvGraphicFramePr>
          <p:nvPr/>
        </p:nvGraphicFramePr>
        <p:xfrm>
          <a:off x="2637183" y="2061749"/>
          <a:ext cx="6665843" cy="3627120"/>
        </p:xfrm>
        <a:graphic>
          <a:graphicData uri="http://schemas.openxmlformats.org/drawingml/2006/table">
            <a:tbl>
              <a:tblPr firstRow="1" bandRow="1">
                <a:tableStyleId>{5C22544A-7EE6-4342-B048-85BDC9FD1C3A}</a:tableStyleId>
              </a:tblPr>
              <a:tblGrid>
                <a:gridCol w="4218794">
                  <a:extLst>
                    <a:ext uri="{9D8B030D-6E8A-4147-A177-3AD203B41FA5}">
                      <a16:colId xmlns:a16="http://schemas.microsoft.com/office/drawing/2014/main" val="20000"/>
                    </a:ext>
                  </a:extLst>
                </a:gridCol>
                <a:gridCol w="2447049">
                  <a:extLst>
                    <a:ext uri="{9D8B030D-6E8A-4147-A177-3AD203B41FA5}">
                      <a16:colId xmlns:a16="http://schemas.microsoft.com/office/drawing/2014/main" val="20001"/>
                    </a:ext>
                  </a:extLst>
                </a:gridCol>
              </a:tblGrid>
              <a:tr h="0">
                <a:tc>
                  <a:txBody>
                    <a:bodyPr/>
                    <a:lstStyle/>
                    <a:p>
                      <a:pPr algn="ctr"/>
                      <a:r>
                        <a:rPr lang="en-US" sz="2800" dirty="0"/>
                        <a:t>ITEM</a:t>
                      </a:r>
                    </a:p>
                  </a:txBody>
                  <a:tcPr/>
                </a:tc>
                <a:tc>
                  <a:txBody>
                    <a:bodyPr/>
                    <a:lstStyle/>
                    <a:p>
                      <a:pPr algn="ctr"/>
                      <a:r>
                        <a:rPr lang="en-US" sz="2800" dirty="0"/>
                        <a:t>WEIGHTAGE</a:t>
                      </a:r>
                    </a:p>
                  </a:txBody>
                  <a:tcPr/>
                </a:tc>
                <a:extLst>
                  <a:ext uri="{0D108BD9-81ED-4DB2-BD59-A6C34878D82A}">
                    <a16:rowId xmlns:a16="http://schemas.microsoft.com/office/drawing/2014/main" val="10000"/>
                  </a:ext>
                </a:extLst>
              </a:tr>
              <a:tr h="370840">
                <a:tc>
                  <a:txBody>
                    <a:bodyPr/>
                    <a:lstStyle/>
                    <a:p>
                      <a:r>
                        <a:rPr lang="en-US" sz="2800" dirty="0"/>
                        <a:t>Quizzes</a:t>
                      </a:r>
                    </a:p>
                  </a:txBody>
                  <a:tcPr/>
                </a:tc>
                <a:tc>
                  <a:txBody>
                    <a:bodyPr/>
                    <a:lstStyle/>
                    <a:p>
                      <a:pPr algn="ctr"/>
                      <a:r>
                        <a:rPr lang="en-US" sz="2800"/>
                        <a:t>15 </a:t>
                      </a:r>
                      <a:r>
                        <a:rPr lang="en-US" sz="2800" dirty="0"/>
                        <a:t>%</a:t>
                      </a:r>
                    </a:p>
                  </a:txBody>
                  <a:tcPr/>
                </a:tc>
                <a:extLst>
                  <a:ext uri="{0D108BD9-81ED-4DB2-BD59-A6C34878D82A}">
                    <a16:rowId xmlns:a16="http://schemas.microsoft.com/office/drawing/2014/main" val="10001"/>
                  </a:ext>
                </a:extLst>
              </a:tr>
              <a:tr h="370840">
                <a:tc>
                  <a:txBody>
                    <a:bodyPr/>
                    <a:lstStyle/>
                    <a:p>
                      <a:r>
                        <a:rPr lang="en-US" sz="2800" dirty="0"/>
                        <a:t>Assignments</a:t>
                      </a:r>
                    </a:p>
                  </a:txBody>
                  <a:tcPr/>
                </a:tc>
                <a:tc>
                  <a:txBody>
                    <a:bodyPr/>
                    <a:lstStyle/>
                    <a:p>
                      <a:pPr algn="ctr"/>
                      <a:r>
                        <a:rPr lang="en-US" sz="2800" dirty="0"/>
                        <a:t>15 %</a:t>
                      </a:r>
                    </a:p>
                  </a:txBody>
                  <a:tcPr/>
                </a:tc>
                <a:extLst>
                  <a:ext uri="{0D108BD9-81ED-4DB2-BD59-A6C34878D82A}">
                    <a16:rowId xmlns:a16="http://schemas.microsoft.com/office/drawing/2014/main" val="10002"/>
                  </a:ext>
                </a:extLst>
              </a:tr>
              <a:tr h="370840">
                <a:tc>
                  <a:txBody>
                    <a:bodyPr/>
                    <a:lstStyle/>
                    <a:p>
                      <a:r>
                        <a:rPr lang="en-US" sz="2800" dirty="0"/>
                        <a:t>Class Participation</a:t>
                      </a:r>
                    </a:p>
                  </a:txBody>
                  <a:tcPr/>
                </a:tc>
                <a:tc>
                  <a:txBody>
                    <a:bodyPr/>
                    <a:lstStyle/>
                    <a:p>
                      <a:pPr algn="ctr"/>
                      <a:r>
                        <a:rPr lang="en-US" sz="2800" dirty="0"/>
                        <a:t>5%</a:t>
                      </a:r>
                    </a:p>
                  </a:txBody>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Mid Term</a:t>
                      </a:r>
                    </a:p>
                  </a:txBody>
                  <a:tcPr/>
                </a:tc>
                <a:tc>
                  <a:txBody>
                    <a:bodyPr/>
                    <a:lstStyle/>
                    <a:p>
                      <a:pPr algn="ctr"/>
                      <a:r>
                        <a:rPr lang="en-US" sz="2800" dirty="0"/>
                        <a:t>20 %</a:t>
                      </a:r>
                    </a:p>
                  </a:txBody>
                  <a:tcPr/>
                </a:tc>
                <a:extLst>
                  <a:ext uri="{0D108BD9-81ED-4DB2-BD59-A6C34878D82A}">
                    <a16:rowId xmlns:a16="http://schemas.microsoft.com/office/drawing/2014/main" val="10004"/>
                  </a:ext>
                </a:extLst>
              </a:tr>
              <a:tr h="370840">
                <a:tc>
                  <a:txBody>
                    <a:bodyPr/>
                    <a:lstStyle/>
                    <a:p>
                      <a:r>
                        <a:rPr lang="en-US" sz="2800" dirty="0"/>
                        <a:t>Final Term</a:t>
                      </a:r>
                    </a:p>
                  </a:txBody>
                  <a:tcPr>
                    <a:lnB w="12700" cap="flat" cmpd="sng" algn="ctr">
                      <a:solidFill>
                        <a:schemeClr val="tx1"/>
                      </a:solidFill>
                      <a:prstDash val="solid"/>
                      <a:round/>
                      <a:headEnd type="none" w="med" len="med"/>
                      <a:tailEnd type="none" w="med" len="med"/>
                    </a:lnB>
                  </a:tcPr>
                </a:tc>
                <a:tc>
                  <a:txBody>
                    <a:bodyPr/>
                    <a:lstStyle/>
                    <a:p>
                      <a:pPr algn="ctr"/>
                      <a:r>
                        <a:rPr lang="en-US" sz="2800" dirty="0"/>
                        <a:t>45 %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sz="2800" b="1" dirty="0"/>
                        <a:t>Total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55648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Logistics</a:t>
            </a:r>
          </a:p>
        </p:txBody>
      </p:sp>
      <p:sp>
        <p:nvSpPr>
          <p:cNvPr id="3" name="Content Placeholder 2"/>
          <p:cNvSpPr>
            <a:spLocks noGrp="1"/>
          </p:cNvSpPr>
          <p:nvPr>
            <p:ph idx="1"/>
          </p:nvPr>
        </p:nvSpPr>
        <p:spPr/>
        <p:txBody>
          <a:bodyPr/>
          <a:lstStyle/>
          <a:p>
            <a:r>
              <a:rPr lang="en-US" dirty="0"/>
              <a:t>Quiz may be un-announced.</a:t>
            </a:r>
          </a:p>
          <a:p>
            <a:r>
              <a:rPr lang="en-US" dirty="0"/>
              <a:t>Read the book </a:t>
            </a:r>
          </a:p>
          <a:p>
            <a:r>
              <a:rPr lang="en-US" dirty="0"/>
              <a:t>Plagiarism – Write your own Solution</a:t>
            </a:r>
          </a:p>
          <a:p>
            <a:r>
              <a:rPr lang="en-US" dirty="0"/>
              <a:t>Deadline of the assignments will not be extended</a:t>
            </a:r>
          </a:p>
          <a:p>
            <a:r>
              <a:rPr lang="en-US" dirty="0"/>
              <a:t>No Late submissions will be accepted.</a:t>
            </a:r>
          </a:p>
        </p:txBody>
      </p:sp>
    </p:spTree>
    <p:extLst>
      <p:ext uri="{BB962C8B-B14F-4D97-AF65-F5344CB8AC3E}">
        <p14:creationId xmlns:p14="http://schemas.microsoft.com/office/powerpoint/2010/main" val="325128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t>Other Announcements</a:t>
            </a:r>
          </a:p>
        </p:txBody>
      </p:sp>
      <p:sp>
        <p:nvSpPr>
          <p:cNvPr id="17412" name="Content Placeholder 3"/>
          <p:cNvSpPr>
            <a:spLocks noGrp="1"/>
          </p:cNvSpPr>
          <p:nvPr>
            <p:ph idx="1"/>
          </p:nvPr>
        </p:nvSpPr>
        <p:spPr/>
        <p:txBody>
          <a:bodyPr/>
          <a:lstStyle/>
          <a:p>
            <a:pPr eaLnBrk="1" hangingPunct="1"/>
            <a:r>
              <a:rPr lang="en-US" dirty="0"/>
              <a:t>Email address:</a:t>
            </a:r>
          </a:p>
          <a:p>
            <a:pPr lvl="1" eaLnBrk="1" hangingPunct="1"/>
            <a:r>
              <a:rPr lang="en-US" dirty="0"/>
              <a:t>Rabia.tehseen@ucp.edu.pk</a:t>
            </a:r>
          </a:p>
          <a:p>
            <a:pPr eaLnBrk="1" hangingPunct="1"/>
            <a:r>
              <a:rPr lang="en-US" dirty="0"/>
              <a:t>Office:</a:t>
            </a:r>
          </a:p>
          <a:p>
            <a:pPr lvl="1" eaLnBrk="1" hangingPunct="1"/>
            <a:r>
              <a:rPr lang="en-US"/>
              <a:t>A </a:t>
            </a:r>
            <a:r>
              <a:rPr lang="en-US" dirty="0"/>
              <a:t>Block</a:t>
            </a:r>
            <a:r>
              <a:rPr lang="en-US"/>
              <a:t>, 2nd </a:t>
            </a:r>
            <a:r>
              <a:rPr lang="en-US" dirty="0"/>
              <a:t>Floor, </a:t>
            </a:r>
            <a:r>
              <a:rPr lang="en-US"/>
              <a:t>Office  F201 , Cabin 3</a:t>
            </a:r>
            <a:endParaRPr lang="en-US" dirty="0"/>
          </a:p>
          <a:p>
            <a:pPr eaLnBrk="1" hangingPunct="1"/>
            <a:r>
              <a:rPr lang="en-US" dirty="0"/>
              <a:t>Course Coordinator</a:t>
            </a:r>
          </a:p>
          <a:p>
            <a:pPr lvl="1"/>
            <a:r>
              <a:rPr lang="en-US" dirty="0"/>
              <a:t>Dr. Mohsin Ashraf</a:t>
            </a:r>
          </a:p>
          <a:p>
            <a:pPr eaLnBrk="1" hangingPunct="1"/>
            <a:endParaRPr lang="en-US" dirty="0"/>
          </a:p>
        </p:txBody>
      </p:sp>
      <p:sp>
        <p:nvSpPr>
          <p:cNvPr id="17411" name="Slide Number Placeholder 2"/>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57E83CF-10C4-4205-9ED2-9CE3CBAF414F}" type="slidenum">
              <a:rPr lang="en-US" sz="1400">
                <a:solidFill>
                  <a:srgbClr val="FFFFFF"/>
                </a:solidFill>
                <a:latin typeface="Franklin Gothic Book" panose="020B0503020102020204" pitchFamily="34" charset="0"/>
              </a:rPr>
              <a:pPr>
                <a:spcBef>
                  <a:spcPct val="0"/>
                </a:spcBef>
                <a:buClrTx/>
                <a:buSzTx/>
                <a:buFontTx/>
                <a:buNone/>
              </a:pPr>
              <a:t>6</a:t>
            </a:fld>
            <a:endParaRPr lang="en-US" sz="140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1117019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5692099" y="1600201"/>
            <a:ext cx="6192600" cy="4648199"/>
          </a:xfrm>
          <a:prstGeom prst="rect">
            <a:avLst/>
          </a:prstGeom>
          <a:noFill/>
        </p:spPr>
      </p:pic>
      <p:sp>
        <p:nvSpPr>
          <p:cNvPr id="25602" name="Rectangle 2"/>
          <p:cNvSpPr>
            <a:spLocks noGrp="1" noChangeArrowheads="1"/>
          </p:cNvSpPr>
          <p:nvPr>
            <p:ph type="title"/>
          </p:nvPr>
        </p:nvSpPr>
        <p:spPr/>
        <p:txBody>
          <a:bodyPr/>
          <a:lstStyle/>
          <a:p>
            <a:pPr eaLnBrk="1" hangingPunct="1"/>
            <a:r>
              <a:rPr lang="en-US">
                <a:solidFill>
                  <a:schemeClr val="tx1"/>
                </a:solidFill>
              </a:rPr>
              <a:t>Course Topics</a:t>
            </a:r>
          </a:p>
        </p:txBody>
      </p:sp>
      <p:sp>
        <p:nvSpPr>
          <p:cNvPr id="25603" name="Rectangle 3"/>
          <p:cNvSpPr>
            <a:spLocks noGrp="1" noChangeArrowheads="1"/>
          </p:cNvSpPr>
          <p:nvPr>
            <p:ph idx="1"/>
          </p:nvPr>
        </p:nvSpPr>
        <p:spPr>
          <a:xfrm>
            <a:off x="838200" y="1600200"/>
            <a:ext cx="10515600" cy="4787347"/>
          </a:xfrm>
        </p:spPr>
        <p:txBody>
          <a:bodyPr>
            <a:normAutofit fontScale="85000" lnSpcReduction="20000"/>
          </a:bodyPr>
          <a:lstStyle/>
          <a:p>
            <a:r>
              <a:rPr lang="en-US" sz="2400" dirty="0"/>
              <a:t>Part I: Solving Problems by Searching</a:t>
            </a:r>
          </a:p>
          <a:p>
            <a:pPr lvl="1" eaLnBrk="1" hangingPunct="1">
              <a:lnSpc>
                <a:spcPct val="90000"/>
              </a:lnSpc>
            </a:pPr>
            <a:r>
              <a:rPr lang="en-US" sz="2000" dirty="0"/>
              <a:t>Fast search / planning</a:t>
            </a:r>
          </a:p>
          <a:p>
            <a:pPr lvl="1" eaLnBrk="1" hangingPunct="1">
              <a:lnSpc>
                <a:spcPct val="90000"/>
              </a:lnSpc>
            </a:pPr>
            <a:r>
              <a:rPr lang="en-US" sz="2000" dirty="0"/>
              <a:t>Constraint satisfaction</a:t>
            </a:r>
          </a:p>
          <a:p>
            <a:pPr lvl="1" eaLnBrk="1" hangingPunct="1">
              <a:lnSpc>
                <a:spcPct val="90000"/>
              </a:lnSpc>
            </a:pPr>
            <a:r>
              <a:rPr lang="en-US" sz="2000" dirty="0"/>
              <a:t>Heuristics</a:t>
            </a:r>
          </a:p>
          <a:p>
            <a:pPr lvl="1" eaLnBrk="1" hangingPunct="1">
              <a:lnSpc>
                <a:spcPct val="90000"/>
              </a:lnSpc>
            </a:pPr>
            <a:r>
              <a:rPr lang="en-US" sz="2000" dirty="0"/>
              <a:t>Adversarial and uncertain search</a:t>
            </a:r>
          </a:p>
          <a:p>
            <a:endParaRPr lang="en-US" sz="2400" dirty="0"/>
          </a:p>
          <a:p>
            <a:r>
              <a:rPr lang="en-US" sz="2400" dirty="0"/>
              <a:t>Part II: Knowledge, reasoning, and Planning</a:t>
            </a:r>
          </a:p>
          <a:p>
            <a:pPr lvl="1"/>
            <a:r>
              <a:rPr lang="en-US" altLang="en-US" sz="2000" dirty="0"/>
              <a:t>Reasoning agents</a:t>
            </a:r>
          </a:p>
          <a:p>
            <a:pPr lvl="1"/>
            <a:r>
              <a:rPr lang="en-US" altLang="en-US" sz="2000" dirty="0"/>
              <a:t>Propositional logic</a:t>
            </a:r>
          </a:p>
          <a:p>
            <a:pPr lvl="1"/>
            <a:r>
              <a:rPr lang="en-US" altLang="en-US" sz="2000" dirty="0"/>
              <a:t>Predicate logic</a:t>
            </a:r>
          </a:p>
          <a:p>
            <a:pPr lvl="1"/>
            <a:r>
              <a:rPr lang="en-US" altLang="en-US" sz="2000" dirty="0"/>
              <a:t>Knowledge-based systems</a:t>
            </a:r>
          </a:p>
          <a:p>
            <a:endParaRPr lang="en-US" altLang="en-US" sz="2400" dirty="0"/>
          </a:p>
          <a:p>
            <a:r>
              <a:rPr lang="en-US" altLang="en-US" sz="2400" dirty="0"/>
              <a:t>Part III: Machine Learning</a:t>
            </a:r>
          </a:p>
          <a:p>
            <a:pPr lvl="1" eaLnBrk="1" hangingPunct="1">
              <a:lnSpc>
                <a:spcPct val="90000"/>
              </a:lnSpc>
            </a:pPr>
            <a:r>
              <a:rPr lang="en-US" sz="2000" dirty="0"/>
              <a:t>Classification</a:t>
            </a:r>
          </a:p>
          <a:p>
            <a:pPr lvl="1" eaLnBrk="1" hangingPunct="1">
              <a:lnSpc>
                <a:spcPct val="90000"/>
              </a:lnSpc>
            </a:pPr>
            <a:r>
              <a:rPr lang="en-US" sz="2000" dirty="0"/>
              <a:t>Clustering</a:t>
            </a:r>
          </a:p>
          <a:p>
            <a:pPr lvl="1" eaLnBrk="1" hangingPunct="1">
              <a:lnSpc>
                <a:spcPct val="90000"/>
              </a:lnSpc>
            </a:pPr>
            <a:r>
              <a:rPr lang="en-US" sz="2000" dirty="0"/>
              <a:t>Neural Networks</a:t>
            </a:r>
          </a:p>
        </p:txBody>
      </p:sp>
    </p:spTree>
    <p:extLst>
      <p:ext uri="{BB962C8B-B14F-4D97-AF65-F5344CB8AC3E}">
        <p14:creationId xmlns:p14="http://schemas.microsoft.com/office/powerpoint/2010/main" val="2088709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normAutofit lnSpcReduction="10000"/>
          </a:bodyPr>
          <a:lstStyle/>
          <a:p>
            <a:pPr marL="342900" lvl="1" indent="-342900"/>
            <a:r>
              <a:rPr lang="en-US" sz="3600" dirty="0"/>
              <a:t>Is this mouse intelligence?</a:t>
            </a:r>
          </a:p>
          <a:p>
            <a:pPr marL="342900" lvl="1" indent="-342900"/>
            <a:endParaRPr lang="en-US" sz="1600" dirty="0"/>
          </a:p>
          <a:p>
            <a:pPr marL="742950" lvl="2" indent="-342900"/>
            <a:r>
              <a:rPr lang="en-US" sz="3200" dirty="0"/>
              <a:t>It depends on context</a:t>
            </a:r>
          </a:p>
          <a:p>
            <a:pPr marL="742950" lvl="2" indent="-342900"/>
            <a:r>
              <a:rPr lang="en-US" sz="3200" dirty="0"/>
              <a:t>Route planning (Yes)</a:t>
            </a:r>
          </a:p>
          <a:p>
            <a:pPr marL="742950" lvl="2" indent="-342900"/>
            <a:r>
              <a:rPr lang="en-US" sz="3200" dirty="0"/>
              <a:t>Mathematical problem solving (No)</a:t>
            </a:r>
          </a:p>
          <a:p>
            <a:endParaRPr lang="en-US" sz="2000" dirty="0"/>
          </a:p>
          <a:p>
            <a:r>
              <a:rPr lang="en-US" sz="3600" dirty="0"/>
              <a:t>Is Google Intelligent?</a:t>
            </a:r>
          </a:p>
          <a:p>
            <a:pPr lvl="1"/>
            <a:r>
              <a:rPr lang="en-US" dirty="0"/>
              <a:t>Task specific intelligence</a:t>
            </a:r>
          </a:p>
          <a:p>
            <a:pPr lvl="1"/>
            <a:endParaRPr lang="en-US" dirty="0"/>
          </a:p>
          <a:p>
            <a:r>
              <a:rPr lang="en-US" dirty="0"/>
              <a:t>Are humans intelligent? </a:t>
            </a:r>
          </a:p>
        </p:txBody>
      </p:sp>
      <p:sp>
        <p:nvSpPr>
          <p:cNvPr id="4" name="Slide Number Placeholder 3"/>
          <p:cNvSpPr>
            <a:spLocks noGrp="1"/>
          </p:cNvSpPr>
          <p:nvPr>
            <p:ph type="sldNum" sz="quarter" idx="12"/>
          </p:nvPr>
        </p:nvSpPr>
        <p:spPr/>
        <p:txBody>
          <a:bodyPr/>
          <a:lstStyle/>
          <a:p>
            <a:fld id="{FDFCE4C1-E6A0-4AA9-9965-F1CD6F0FDCC0}" type="slidenum">
              <a:rPr lang="en-US" smtClean="0"/>
              <a:t>8</a:t>
            </a:fld>
            <a:endParaRPr lang="en-US"/>
          </a:p>
        </p:txBody>
      </p:sp>
      <p:sp>
        <p:nvSpPr>
          <p:cNvPr id="5" name="AutoShape 2" descr="https://encrypted-tbn2.gstatic.com/images?q=tbn:ANd9GcSF8lxLzNmnY6PXD-chT8240AenGnX8Y7DBtzsWZuJBl6sLqN63"/>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3792" t="12600" r="6614" b="17125"/>
          <a:stretch/>
        </p:blipFill>
        <p:spPr>
          <a:xfrm>
            <a:off x="7665981" y="1690688"/>
            <a:ext cx="3687819" cy="2166731"/>
          </a:xfrm>
          <a:prstGeom prst="rect">
            <a:avLst/>
          </a:prstGeom>
        </p:spPr>
      </p:pic>
    </p:spTree>
    <p:extLst>
      <p:ext uri="{BB962C8B-B14F-4D97-AF65-F5344CB8AC3E}">
        <p14:creationId xmlns:p14="http://schemas.microsoft.com/office/powerpoint/2010/main" val="90903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Why AI?</a:t>
            </a:r>
          </a:p>
        </p:txBody>
      </p:sp>
      <p:sp>
        <p:nvSpPr>
          <p:cNvPr id="3" name="Content Placeholder 2"/>
          <p:cNvSpPr>
            <a:spLocks noGrp="1"/>
          </p:cNvSpPr>
          <p:nvPr>
            <p:ph idx="1"/>
          </p:nvPr>
        </p:nvSpPr>
        <p:spPr/>
        <p:txBody>
          <a:bodyPr>
            <a:normAutofit/>
          </a:bodyPr>
          <a:lstStyle/>
          <a:p>
            <a:r>
              <a:rPr lang="en-GB" b="1" dirty="0"/>
              <a:t>Two main goals of AI:</a:t>
            </a:r>
          </a:p>
          <a:p>
            <a:endParaRPr lang="en-GB" b="1" dirty="0"/>
          </a:p>
          <a:p>
            <a:pPr lvl="1"/>
            <a:r>
              <a:rPr lang="en-GB" dirty="0"/>
              <a:t>To create useful “smart” programs able to do tasks that would normally require a human expert</a:t>
            </a:r>
          </a:p>
          <a:p>
            <a:pPr lvl="1"/>
            <a:endParaRPr lang="en-GB" dirty="0"/>
          </a:p>
          <a:p>
            <a:pPr lvl="1"/>
            <a:r>
              <a:rPr lang="en-GB" dirty="0"/>
              <a:t>To understand human intelligence better as we test theories of human intelligence by writing programs which emulate them</a:t>
            </a:r>
          </a:p>
          <a:p>
            <a:pPr lvl="1">
              <a:buNone/>
            </a:pPr>
            <a:endParaRPr lang="en-GB" dirty="0"/>
          </a:p>
          <a:p>
            <a:endParaRPr lang="en-US" dirty="0"/>
          </a:p>
        </p:txBody>
      </p:sp>
    </p:spTree>
    <p:extLst>
      <p:ext uri="{BB962C8B-B14F-4D97-AF65-F5344CB8AC3E}">
        <p14:creationId xmlns:p14="http://schemas.microsoft.com/office/powerpoint/2010/main" val="1238114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Intelligence?</a:t>
            </a:r>
          </a:p>
        </p:txBody>
      </p:sp>
      <p:sp>
        <p:nvSpPr>
          <p:cNvPr id="3" name="Content Placeholder 2"/>
          <p:cNvSpPr>
            <a:spLocks noGrp="1"/>
          </p:cNvSpPr>
          <p:nvPr>
            <p:ph idx="1"/>
          </p:nvPr>
        </p:nvSpPr>
        <p:spPr/>
        <p:txBody>
          <a:bodyPr>
            <a:normAutofit lnSpcReduction="10000"/>
          </a:bodyPr>
          <a:lstStyle/>
          <a:p>
            <a:r>
              <a:rPr lang="en-US" dirty="0"/>
              <a:t>Ability of problem solving</a:t>
            </a:r>
          </a:p>
          <a:p>
            <a:endParaRPr lang="en-US" dirty="0"/>
          </a:p>
          <a:p>
            <a:r>
              <a:rPr lang="en-US" dirty="0"/>
              <a:t>Ability to think, plan and schedule</a:t>
            </a:r>
          </a:p>
          <a:p>
            <a:endParaRPr lang="en-US" dirty="0"/>
          </a:p>
          <a:p>
            <a:r>
              <a:rPr lang="en-US" dirty="0"/>
              <a:t>Efficient memory and information manipulation</a:t>
            </a:r>
          </a:p>
          <a:p>
            <a:endParaRPr lang="en-US" dirty="0"/>
          </a:p>
          <a:p>
            <a:r>
              <a:rPr lang="en-US" dirty="0"/>
              <a:t>Ability to tackle ambiguous and fuzzy problems</a:t>
            </a:r>
          </a:p>
          <a:p>
            <a:pPr lvl="1"/>
            <a:endParaRPr lang="en-US" dirty="0"/>
          </a:p>
          <a:p>
            <a:r>
              <a:rPr lang="en-US" dirty="0"/>
              <a:t>Ability to understand and perceive</a:t>
            </a:r>
          </a:p>
        </p:txBody>
      </p:sp>
      <p:sp>
        <p:nvSpPr>
          <p:cNvPr id="4" name="Slide Number Placeholder 3"/>
          <p:cNvSpPr>
            <a:spLocks noGrp="1"/>
          </p:cNvSpPr>
          <p:nvPr>
            <p:ph type="sldNum" sz="quarter" idx="12"/>
          </p:nvPr>
        </p:nvSpPr>
        <p:spPr/>
        <p:txBody>
          <a:bodyPr/>
          <a:lstStyle/>
          <a:p>
            <a:fld id="{FDFCE4C1-E6A0-4AA9-9965-F1CD6F0FDCC0}" type="slidenum">
              <a:rPr lang="en-US" smtClean="0"/>
              <a:t>10</a:t>
            </a:fld>
            <a:endParaRPr lang="en-US"/>
          </a:p>
        </p:txBody>
      </p:sp>
    </p:spTree>
    <p:extLst>
      <p:ext uri="{BB962C8B-B14F-4D97-AF65-F5344CB8AC3E}">
        <p14:creationId xmlns:p14="http://schemas.microsoft.com/office/powerpoint/2010/main" val="383817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Artificial Intelligence</a:t>
            </a:r>
          </a:p>
        </p:txBody>
      </p:sp>
      <p:sp>
        <p:nvSpPr>
          <p:cNvPr id="3" name="Content Placeholder 2"/>
          <p:cNvSpPr>
            <a:spLocks noGrp="1"/>
          </p:cNvSpPr>
          <p:nvPr>
            <p:ph idx="1"/>
          </p:nvPr>
        </p:nvSpPr>
        <p:spPr/>
        <p:txBody>
          <a:bodyPr>
            <a:normAutofit/>
          </a:bodyPr>
          <a:lstStyle/>
          <a:p>
            <a:pPr algn="just"/>
            <a:r>
              <a:rPr lang="en-US" dirty="0"/>
              <a:t>“</a:t>
            </a:r>
            <a:r>
              <a:rPr lang="en-US" b="1" i="1" dirty="0"/>
              <a:t>Study of computations that make it possible to perceive, reason and act</a:t>
            </a:r>
            <a:r>
              <a:rPr lang="en-US" dirty="0"/>
              <a:t>.”</a:t>
            </a:r>
            <a:endParaRPr lang="en-US" sz="1400" dirty="0"/>
          </a:p>
          <a:p>
            <a:pPr algn="just"/>
            <a:r>
              <a:rPr lang="en-US" dirty="0"/>
              <a:t>Branch of </a:t>
            </a:r>
            <a:r>
              <a:rPr lang="en-US" i="1" dirty="0"/>
              <a:t>Science</a:t>
            </a:r>
            <a:r>
              <a:rPr lang="en-US" dirty="0"/>
              <a:t> which deals with </a:t>
            </a:r>
            <a:r>
              <a:rPr lang="en-US" b="1" dirty="0"/>
              <a:t>helping machines to find solutions to complex problems in a more human-like fashion</a:t>
            </a:r>
          </a:p>
          <a:p>
            <a:pPr algn="just"/>
            <a:endParaRPr lang="en-US" dirty="0"/>
          </a:p>
          <a:p>
            <a:pPr algn="just"/>
            <a:r>
              <a:rPr lang="en-US" dirty="0"/>
              <a:t>In short, putting human intelligence into machines</a:t>
            </a:r>
          </a:p>
        </p:txBody>
      </p:sp>
    </p:spTree>
    <p:extLst>
      <p:ext uri="{BB962C8B-B14F-4D97-AF65-F5344CB8AC3E}">
        <p14:creationId xmlns:p14="http://schemas.microsoft.com/office/powerpoint/2010/main" val="287196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Intelligence</a:t>
            </a:r>
          </a:p>
        </p:txBody>
      </p:sp>
      <p:sp>
        <p:nvSpPr>
          <p:cNvPr id="4" name="Cloud 3"/>
          <p:cNvSpPr/>
          <p:nvPr/>
        </p:nvSpPr>
        <p:spPr>
          <a:xfrm>
            <a:off x="2107096" y="1772570"/>
            <a:ext cx="3657600" cy="20574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What is Intelligence ??</a:t>
            </a:r>
          </a:p>
          <a:p>
            <a:pPr algn="ctr"/>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853898140"/>
              </p:ext>
            </p:extLst>
          </p:nvPr>
        </p:nvGraphicFramePr>
        <p:xfrm>
          <a:off x="1649897" y="3601371"/>
          <a:ext cx="1325563" cy="2001169"/>
        </p:xfrm>
        <a:graphic>
          <a:graphicData uri="http://schemas.openxmlformats.org/presentationml/2006/ole">
            <mc:AlternateContent xmlns:mc="http://schemas.openxmlformats.org/markup-compatibility/2006">
              <mc:Choice xmlns:v="urn:schemas-microsoft-com:vml" Requires="v">
                <p:oleObj name="Clip" r:id="rId3" imgW="1857375" imgH="3995738" progId="">
                  <p:embed/>
                </p:oleObj>
              </mc:Choice>
              <mc:Fallback>
                <p:oleObj name="Clip" r:id="rId3" imgW="1857375" imgH="3995738"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9897" y="3601371"/>
                        <a:ext cx="1325563" cy="20011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Diagram 17"/>
          <p:cNvGraphicFramePr/>
          <p:nvPr>
            <p:extLst>
              <p:ext uri="{D42A27DB-BD31-4B8C-83A1-F6EECF244321}">
                <p14:modId xmlns:p14="http://schemas.microsoft.com/office/powerpoint/2010/main" val="890838413"/>
              </p:ext>
            </p:extLst>
          </p:nvPr>
        </p:nvGraphicFramePr>
        <p:xfrm>
          <a:off x="6096000" y="1772570"/>
          <a:ext cx="5257800" cy="446920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806087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Humans Vs Machines</a:t>
            </a:r>
          </a:p>
        </p:txBody>
      </p:sp>
      <p:graphicFrame>
        <p:nvGraphicFramePr>
          <p:cNvPr id="13" name="Content Placeholder 12"/>
          <p:cNvGraphicFramePr>
            <a:graphicFrameLocks noGrp="1"/>
          </p:cNvGraphicFramePr>
          <p:nvPr>
            <p:ph idx="1"/>
          </p:nvPr>
        </p:nvGraphicFramePr>
        <p:xfrm>
          <a:off x="838200" y="1825625"/>
          <a:ext cx="10515600" cy="3210891"/>
        </p:xfrm>
        <a:graphic>
          <a:graphicData uri="http://schemas.openxmlformats.org/drawingml/2006/table">
            <a:tbl>
              <a:tblPr firstRow="1" bandRow="1">
                <a:tableStyleId>{5C22544A-7EE6-4342-B048-85BDC9FD1C3A}</a:tableStyleId>
              </a:tblPr>
              <a:tblGrid>
                <a:gridCol w="5448993">
                  <a:extLst>
                    <a:ext uri="{9D8B030D-6E8A-4147-A177-3AD203B41FA5}">
                      <a16:colId xmlns:a16="http://schemas.microsoft.com/office/drawing/2014/main" val="20000"/>
                    </a:ext>
                  </a:extLst>
                </a:gridCol>
                <a:gridCol w="5066607">
                  <a:extLst>
                    <a:ext uri="{9D8B030D-6E8A-4147-A177-3AD203B41FA5}">
                      <a16:colId xmlns:a16="http://schemas.microsoft.com/office/drawing/2014/main" val="20001"/>
                    </a:ext>
                  </a:extLst>
                </a:gridCol>
              </a:tblGrid>
              <a:tr h="446709">
                <a:tc>
                  <a:txBody>
                    <a:bodyPr/>
                    <a:lstStyle/>
                    <a:p>
                      <a:pPr algn="ctr"/>
                      <a:r>
                        <a:rPr lang="en-US" sz="2400" dirty="0"/>
                        <a:t>Humans</a:t>
                      </a:r>
                    </a:p>
                  </a:txBody>
                  <a:tcPr marL="127462" marR="127462"/>
                </a:tc>
                <a:tc>
                  <a:txBody>
                    <a:bodyPr/>
                    <a:lstStyle/>
                    <a:p>
                      <a:pPr algn="ctr"/>
                      <a:r>
                        <a:rPr lang="en-US" sz="2400" dirty="0"/>
                        <a:t>Machines</a:t>
                      </a:r>
                    </a:p>
                  </a:txBody>
                  <a:tcPr marL="127462" marR="127462"/>
                </a:tc>
                <a:extLst>
                  <a:ext uri="{0D108BD9-81ED-4DB2-BD59-A6C34878D82A}">
                    <a16:rowId xmlns:a16="http://schemas.microsoft.com/office/drawing/2014/main" val="10000"/>
                  </a:ext>
                </a:extLst>
              </a:tr>
              <a:tr h="2753691">
                <a:tc>
                  <a:txBody>
                    <a:bodyPr/>
                    <a:lstStyle/>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Symbolic calculation</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Natural language understanding</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Not very precise</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Knowledge</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Generalize from examples</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Deal with noisy inputs</a:t>
                      </a:r>
                    </a:p>
                    <a:p>
                      <a:endParaRPr lang="en-US" dirty="0"/>
                    </a:p>
                  </a:txBody>
                  <a:tcPr marL="127462" marR="127462"/>
                </a:tc>
                <a:tc>
                  <a:txBody>
                    <a:bodyPr/>
                    <a:lstStyle/>
                    <a:p>
                      <a:pPr marL="342900" indent="-342900">
                        <a:spcBef>
                          <a:spcPct val="20000"/>
                        </a:spcBef>
                        <a:buFontTx/>
                        <a:buChar char="•"/>
                      </a:pPr>
                      <a:r>
                        <a:rPr lang="en-US" sz="2000" dirty="0">
                          <a:latin typeface="Book Antiqua" pitchFamily="18" charset="0"/>
                        </a:rPr>
                        <a:t>Numeric calculation</a:t>
                      </a:r>
                    </a:p>
                    <a:p>
                      <a:pPr marL="342900" indent="-342900">
                        <a:spcBef>
                          <a:spcPct val="20000"/>
                        </a:spcBef>
                        <a:buFontTx/>
                        <a:buChar char="•"/>
                      </a:pPr>
                      <a:r>
                        <a:rPr lang="en-US" sz="2000" dirty="0">
                          <a:latin typeface="Book Antiqua" pitchFamily="18" charset="0"/>
                        </a:rPr>
                        <a:t>Machine Language</a:t>
                      </a:r>
                    </a:p>
                    <a:p>
                      <a:pPr marL="342900" indent="-342900">
                        <a:spcBef>
                          <a:spcPct val="20000"/>
                        </a:spcBef>
                        <a:buFontTx/>
                        <a:buChar char="•"/>
                      </a:pPr>
                      <a:r>
                        <a:rPr lang="en-US" sz="2000" dirty="0">
                          <a:latin typeface="Book Antiqua" pitchFamily="18" charset="0"/>
                        </a:rPr>
                        <a:t>Precise</a:t>
                      </a:r>
                    </a:p>
                    <a:p>
                      <a:pPr marL="342900" indent="-342900">
                        <a:spcBef>
                          <a:spcPct val="20000"/>
                        </a:spcBef>
                        <a:buFontTx/>
                        <a:buChar char="•"/>
                      </a:pPr>
                      <a:r>
                        <a:rPr lang="en-US" sz="2000" dirty="0">
                          <a:latin typeface="Book Antiqua" pitchFamily="18" charset="0"/>
                        </a:rPr>
                        <a:t>Data</a:t>
                      </a:r>
                    </a:p>
                    <a:p>
                      <a:pPr marL="342900" indent="-342900">
                        <a:spcBef>
                          <a:spcPct val="20000"/>
                        </a:spcBef>
                        <a:buFontTx/>
                        <a:buChar char="•"/>
                      </a:pPr>
                      <a:r>
                        <a:rPr lang="en-US" sz="2000" dirty="0">
                          <a:latin typeface="Book Antiqua" pitchFamily="18" charset="0"/>
                        </a:rPr>
                        <a:t>Cannot generalize</a:t>
                      </a:r>
                    </a:p>
                    <a:p>
                      <a:pPr marL="342900" indent="-342900">
                        <a:spcBef>
                          <a:spcPct val="20000"/>
                        </a:spcBef>
                        <a:buFontTx/>
                        <a:buChar char="•"/>
                      </a:pPr>
                      <a:r>
                        <a:rPr lang="en-US" sz="2000" dirty="0">
                          <a:latin typeface="Book Antiqua" pitchFamily="18" charset="0"/>
                        </a:rPr>
                        <a:t>Cannot deal with noise</a:t>
                      </a:r>
                    </a:p>
                    <a:p>
                      <a:endParaRPr lang="en-US" sz="2000" dirty="0"/>
                    </a:p>
                  </a:txBody>
                  <a:tcPr marL="127462" marR="127462"/>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37562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a:t>What is AI?</a:t>
            </a:r>
          </a:p>
        </p:txBody>
      </p:sp>
      <p:sp>
        <p:nvSpPr>
          <p:cNvPr id="11279" name="Text Box 16"/>
          <p:cNvSpPr txBox="1">
            <a:spLocks noChangeArrowheads="1"/>
          </p:cNvSpPr>
          <p:nvPr/>
        </p:nvSpPr>
        <p:spPr bwMode="auto">
          <a:xfrm>
            <a:off x="2870200" y="1397001"/>
            <a:ext cx="7391400" cy="584773"/>
          </a:xfrm>
          <a:prstGeom prst="rect">
            <a:avLst/>
          </a:prstGeom>
          <a:noFill/>
          <a:ln w="9525">
            <a:noFill/>
            <a:miter lim="800000"/>
            <a:headEnd/>
            <a:tailEnd/>
          </a:ln>
        </p:spPr>
        <p:txBody>
          <a:bodyPr lIns="91439" tIns="45719" rIns="91439" bIns="45719">
            <a:spAutoFit/>
          </a:bodyPr>
          <a:lstStyle/>
          <a:p>
            <a:pPr>
              <a:spcBef>
                <a:spcPct val="50000"/>
              </a:spcBef>
            </a:pPr>
            <a:r>
              <a:rPr lang="en-US" sz="3200" dirty="0">
                <a:latin typeface="Calibri" pitchFamily="34" charset="0"/>
              </a:rPr>
              <a:t>The science of making machines that:</a:t>
            </a:r>
          </a:p>
        </p:txBody>
      </p:sp>
      <p:sp>
        <p:nvSpPr>
          <p:cNvPr id="7" name="TextBox 6"/>
          <p:cNvSpPr txBox="1"/>
          <p:nvPr/>
        </p:nvSpPr>
        <p:spPr>
          <a:xfrm>
            <a:off x="406400" y="2819401"/>
            <a:ext cx="2844800" cy="502766"/>
          </a:xfrm>
          <a:prstGeom prst="rect">
            <a:avLst/>
          </a:prstGeom>
          <a:noFill/>
        </p:spPr>
        <p:txBody>
          <a:bodyPr wrap="square" rtlCol="0">
            <a:spAutoFit/>
          </a:bodyPr>
          <a:lstStyle/>
          <a:p>
            <a:pPr algn="ctr"/>
            <a:r>
              <a:rPr lang="en-US" sz="2667" dirty="0">
                <a:solidFill>
                  <a:schemeClr val="accent2"/>
                </a:solidFill>
                <a:latin typeface="Calibri" pitchFamily="34" charset="0"/>
              </a:rPr>
              <a:t>Think like people</a:t>
            </a:r>
          </a:p>
        </p:txBody>
      </p:sp>
      <p:sp>
        <p:nvSpPr>
          <p:cNvPr id="8" name="TextBox 7"/>
          <p:cNvSpPr txBox="1"/>
          <p:nvPr/>
        </p:nvSpPr>
        <p:spPr>
          <a:xfrm>
            <a:off x="406400" y="4866958"/>
            <a:ext cx="2844800" cy="502766"/>
          </a:xfrm>
          <a:prstGeom prst="rect">
            <a:avLst/>
          </a:prstGeom>
          <a:noFill/>
        </p:spPr>
        <p:txBody>
          <a:bodyPr wrap="square" rtlCol="0">
            <a:spAutoFit/>
          </a:bodyPr>
          <a:lstStyle/>
          <a:p>
            <a:pPr algn="ctr"/>
            <a:r>
              <a:rPr lang="en-US" sz="2667" dirty="0">
                <a:solidFill>
                  <a:schemeClr val="accent2"/>
                </a:solidFill>
                <a:latin typeface="Calibri" pitchFamily="34" charset="0"/>
              </a:rPr>
              <a:t>Act like people</a:t>
            </a:r>
          </a:p>
        </p:txBody>
      </p:sp>
      <p:sp>
        <p:nvSpPr>
          <p:cNvPr id="9" name="TextBox 8"/>
          <p:cNvSpPr txBox="1"/>
          <p:nvPr/>
        </p:nvSpPr>
        <p:spPr>
          <a:xfrm>
            <a:off x="8839200" y="2819401"/>
            <a:ext cx="2844800" cy="502766"/>
          </a:xfrm>
          <a:prstGeom prst="rect">
            <a:avLst/>
          </a:prstGeom>
          <a:noFill/>
        </p:spPr>
        <p:txBody>
          <a:bodyPr wrap="square" rtlCol="0">
            <a:spAutoFit/>
          </a:bodyPr>
          <a:lstStyle/>
          <a:p>
            <a:pPr algn="ctr"/>
            <a:r>
              <a:rPr lang="en-US" sz="2667" dirty="0">
                <a:solidFill>
                  <a:schemeClr val="accent2"/>
                </a:solidFill>
                <a:latin typeface="Calibri" pitchFamily="34" charset="0"/>
              </a:rPr>
              <a:t>Think rationally</a:t>
            </a:r>
          </a:p>
        </p:txBody>
      </p:sp>
      <p:sp>
        <p:nvSpPr>
          <p:cNvPr id="10" name="TextBox 9"/>
          <p:cNvSpPr txBox="1"/>
          <p:nvPr/>
        </p:nvSpPr>
        <p:spPr>
          <a:xfrm>
            <a:off x="8839200" y="4866957"/>
            <a:ext cx="2844800" cy="502766"/>
          </a:xfrm>
          <a:prstGeom prst="rect">
            <a:avLst/>
          </a:prstGeom>
          <a:noFill/>
        </p:spPr>
        <p:txBody>
          <a:bodyPr wrap="square" rtlCol="0">
            <a:spAutoFit/>
          </a:bodyPr>
          <a:lstStyle/>
          <a:p>
            <a:pPr algn="ctr"/>
            <a:r>
              <a:rPr lang="en-US" sz="2667" dirty="0">
                <a:solidFill>
                  <a:schemeClr val="accent2"/>
                </a:solidFill>
                <a:latin typeface="Calibri" pitchFamily="34" charset="0"/>
              </a:rPr>
              <a:t>Act rationally</a:t>
            </a:r>
          </a:p>
        </p:txBody>
      </p:sp>
      <p:pic>
        <p:nvPicPr>
          <p:cNvPr id="2" name="Picture 1"/>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352800" y="2209800"/>
            <a:ext cx="5418667" cy="4064000"/>
          </a:xfrm>
          <a:prstGeom prst="rect">
            <a:avLst/>
          </a:prstGeom>
          <a:noFill/>
        </p:spPr>
      </p:pic>
      <p:sp>
        <p:nvSpPr>
          <p:cNvPr id="3" name="TextBox 2"/>
          <p:cNvSpPr txBox="1"/>
          <p:nvPr/>
        </p:nvSpPr>
        <p:spPr>
          <a:xfrm>
            <a:off x="596347" y="3331291"/>
            <a:ext cx="2464905" cy="646331"/>
          </a:xfrm>
          <a:prstGeom prst="rect">
            <a:avLst/>
          </a:prstGeom>
          <a:noFill/>
        </p:spPr>
        <p:txBody>
          <a:bodyPr wrap="square" rtlCol="0">
            <a:spAutoFit/>
          </a:bodyPr>
          <a:lstStyle/>
          <a:p>
            <a:pPr algn="ctr"/>
            <a:r>
              <a:rPr lang="en-US" b="1" dirty="0">
                <a:latin typeface="Book Antiqua" pitchFamily="18" charset="0"/>
              </a:rPr>
              <a:t>Cognitive modeling approach</a:t>
            </a:r>
            <a:endParaRPr lang="en-US" dirty="0"/>
          </a:p>
        </p:txBody>
      </p:sp>
      <p:sp>
        <p:nvSpPr>
          <p:cNvPr id="11" name="TextBox 10"/>
          <p:cNvSpPr txBox="1"/>
          <p:nvPr/>
        </p:nvSpPr>
        <p:spPr>
          <a:xfrm>
            <a:off x="596347" y="5369723"/>
            <a:ext cx="2464905" cy="646331"/>
          </a:xfrm>
          <a:prstGeom prst="rect">
            <a:avLst/>
          </a:prstGeom>
          <a:noFill/>
        </p:spPr>
        <p:txBody>
          <a:bodyPr wrap="square" rtlCol="0">
            <a:spAutoFit/>
          </a:bodyPr>
          <a:lstStyle/>
          <a:p>
            <a:pPr algn="ctr"/>
            <a:r>
              <a:rPr lang="en-US" b="1" dirty="0">
                <a:latin typeface="Book Antiqua" pitchFamily="18" charset="0"/>
              </a:rPr>
              <a:t>Turing Test </a:t>
            </a:r>
          </a:p>
          <a:p>
            <a:pPr algn="ctr"/>
            <a:r>
              <a:rPr lang="en-US" b="1" dirty="0">
                <a:latin typeface="Book Antiqua" pitchFamily="18" charset="0"/>
              </a:rPr>
              <a:t>approach</a:t>
            </a:r>
            <a:endParaRPr lang="en-US" dirty="0"/>
          </a:p>
        </p:txBody>
      </p:sp>
      <p:sp>
        <p:nvSpPr>
          <p:cNvPr id="12" name="TextBox 11"/>
          <p:cNvSpPr txBox="1"/>
          <p:nvPr/>
        </p:nvSpPr>
        <p:spPr>
          <a:xfrm>
            <a:off x="9029147" y="3331291"/>
            <a:ext cx="2464905" cy="646331"/>
          </a:xfrm>
          <a:prstGeom prst="rect">
            <a:avLst/>
          </a:prstGeom>
          <a:noFill/>
        </p:spPr>
        <p:txBody>
          <a:bodyPr wrap="square" rtlCol="0">
            <a:spAutoFit/>
          </a:bodyPr>
          <a:lstStyle/>
          <a:p>
            <a:pPr algn="ctr"/>
            <a:r>
              <a:rPr lang="en-US" b="1" dirty="0">
                <a:latin typeface="Book Antiqua" pitchFamily="18" charset="0"/>
              </a:rPr>
              <a:t>Laws of thought approach</a:t>
            </a:r>
          </a:p>
        </p:txBody>
      </p:sp>
      <p:sp>
        <p:nvSpPr>
          <p:cNvPr id="13" name="TextBox 12"/>
          <p:cNvSpPr txBox="1"/>
          <p:nvPr/>
        </p:nvSpPr>
        <p:spPr>
          <a:xfrm>
            <a:off x="9063015" y="5369722"/>
            <a:ext cx="2464905" cy="646331"/>
          </a:xfrm>
          <a:prstGeom prst="rect">
            <a:avLst/>
          </a:prstGeom>
          <a:noFill/>
        </p:spPr>
        <p:txBody>
          <a:bodyPr wrap="square" rtlCol="0">
            <a:spAutoFit/>
          </a:bodyPr>
          <a:lstStyle/>
          <a:p>
            <a:pPr algn="ctr"/>
            <a:r>
              <a:rPr lang="en-US" b="1" dirty="0">
                <a:latin typeface="Book Antiqua" pitchFamily="18" charset="0"/>
              </a:rPr>
              <a:t>Rational agent approach</a:t>
            </a:r>
          </a:p>
        </p:txBody>
      </p:sp>
    </p:spTree>
    <p:extLst>
      <p:ext uri="{BB962C8B-B14F-4D97-AF65-F5344CB8AC3E}">
        <p14:creationId xmlns:p14="http://schemas.microsoft.com/office/powerpoint/2010/main" val="1334846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a:defRPr/>
            </a:pPr>
            <a:r>
              <a:rPr lang="en-US" dirty="0"/>
              <a:t>Acting Humanly: </a:t>
            </a:r>
            <a:br>
              <a:rPr lang="en-US" dirty="0"/>
            </a:br>
            <a:r>
              <a:rPr lang="en-US" dirty="0"/>
              <a:t>Turing Test</a:t>
            </a:r>
          </a:p>
        </p:txBody>
      </p:sp>
      <p:sp>
        <p:nvSpPr>
          <p:cNvPr id="11267" name="Rectangle 3"/>
          <p:cNvSpPr>
            <a:spLocks noGrp="1" noChangeArrowheads="1"/>
          </p:cNvSpPr>
          <p:nvPr>
            <p:ph idx="1"/>
          </p:nvPr>
        </p:nvSpPr>
        <p:spPr>
          <a:xfrm>
            <a:off x="838200" y="1825625"/>
            <a:ext cx="9290538" cy="4351338"/>
          </a:xfrm>
        </p:spPr>
        <p:txBody>
          <a:bodyPr>
            <a:normAutofit/>
          </a:bodyPr>
          <a:lstStyle/>
          <a:p>
            <a:pPr>
              <a:lnSpc>
                <a:spcPct val="110000"/>
              </a:lnSpc>
            </a:pPr>
            <a:r>
              <a:rPr lang="en-US" dirty="0"/>
              <a:t>Alan Turing (1950)</a:t>
            </a:r>
            <a:r>
              <a:rPr lang="en-US" dirty="0">
                <a:solidFill>
                  <a:srgbClr val="FF0000"/>
                </a:solidFill>
              </a:rPr>
              <a:t> “Computing machinery and intelligence”.</a:t>
            </a:r>
            <a:endParaRPr lang="en-US" dirty="0"/>
          </a:p>
          <a:p>
            <a:pPr>
              <a:lnSpc>
                <a:spcPct val="80000"/>
              </a:lnSpc>
            </a:pPr>
            <a:endParaRPr lang="en-US" dirty="0"/>
          </a:p>
          <a:p>
            <a:pPr>
              <a:lnSpc>
                <a:spcPct val="80000"/>
              </a:lnSpc>
            </a:pPr>
            <a:endParaRPr lang="en-US" dirty="0"/>
          </a:p>
          <a:p>
            <a:pPr>
              <a:lnSpc>
                <a:spcPct val="80000"/>
              </a:lnSpc>
              <a:buFontTx/>
              <a:buNone/>
            </a:pPr>
            <a:endParaRPr lang="en-US" dirty="0"/>
          </a:p>
          <a:p>
            <a:pPr>
              <a:lnSpc>
                <a:spcPct val="80000"/>
              </a:lnSpc>
            </a:pPr>
            <a:endParaRPr lang="en-US" dirty="0">
              <a:solidFill>
                <a:srgbClr val="FF0000"/>
              </a:solidFill>
            </a:endParaRPr>
          </a:p>
          <a:p>
            <a:pPr>
              <a:lnSpc>
                <a:spcPct val="80000"/>
              </a:lnSpc>
            </a:pPr>
            <a:endParaRPr lang="en-US" dirty="0"/>
          </a:p>
        </p:txBody>
      </p:sp>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2711"/>
          <a:stretch/>
        </p:blipFill>
        <p:spPr bwMode="auto">
          <a:xfrm>
            <a:off x="9988647" y="2493000"/>
            <a:ext cx="1688502" cy="193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483158" y="2611505"/>
            <a:ext cx="7785296"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800" dirty="0"/>
              <a:t>A computer passes the test if a human interrogator, after posing some written questions, cannot tell whether the written responses come from a person or from a computer.</a:t>
            </a:r>
          </a:p>
        </p:txBody>
      </p:sp>
      <p:pic>
        <p:nvPicPr>
          <p:cNvPr id="4" name="Picture 3"/>
          <p:cNvPicPr>
            <a:picLocks noChangeAspect="1"/>
          </p:cNvPicPr>
          <p:nvPr/>
        </p:nvPicPr>
        <p:blipFill>
          <a:blip r:embed="rId3"/>
          <a:stretch>
            <a:fillRect/>
          </a:stretch>
        </p:blipFill>
        <p:spPr>
          <a:xfrm>
            <a:off x="2838657" y="4544046"/>
            <a:ext cx="6143625" cy="2143125"/>
          </a:xfrm>
          <a:prstGeom prst="rect">
            <a:avLst/>
          </a:prstGeom>
        </p:spPr>
      </p:pic>
    </p:spTree>
    <p:extLst>
      <p:ext uri="{BB962C8B-B14F-4D97-AF65-F5344CB8AC3E}">
        <p14:creationId xmlns:p14="http://schemas.microsoft.com/office/powerpoint/2010/main" val="2515027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23189" r="26896"/>
          <a:stretch/>
        </p:blipFill>
        <p:spPr bwMode="auto">
          <a:xfrm>
            <a:off x="8449389" y="2671690"/>
            <a:ext cx="3042745" cy="3924301"/>
          </a:xfrm>
          <a:prstGeom prst="rect">
            <a:avLst/>
          </a:prstGeom>
          <a:noFill/>
          <a:extLst>
            <a:ext uri="{909E8E84-426E-40DD-AFC4-6F175D3DCCD1}">
              <a14:hiddenFill xmlns:a14="http://schemas.microsoft.com/office/drawing/2010/main">
                <a:solidFill>
                  <a:srgbClr val="FFFFFF"/>
                </a:solidFill>
              </a14:hiddenFill>
            </a:ext>
          </a:extLst>
        </p:spPr>
      </p:pic>
      <p:sp>
        <p:nvSpPr>
          <p:cNvPr id="9218" name="Rectangle 2"/>
          <p:cNvSpPr>
            <a:spLocks noGrp="1" noChangeArrowheads="1"/>
          </p:cNvSpPr>
          <p:nvPr>
            <p:ph type="title"/>
          </p:nvPr>
        </p:nvSpPr>
        <p:spPr/>
        <p:txBody>
          <a:bodyPr>
            <a:noAutofit/>
          </a:bodyPr>
          <a:lstStyle/>
          <a:p>
            <a:pPr algn="ctr">
              <a:defRPr/>
            </a:pPr>
            <a:r>
              <a:rPr lang="en-US" sz="4000" dirty="0"/>
              <a:t>Thinking Humanly: </a:t>
            </a:r>
            <a:br>
              <a:rPr lang="en-US" sz="4000" dirty="0"/>
            </a:br>
            <a:r>
              <a:rPr lang="en-US" sz="4000" dirty="0"/>
              <a:t>The cognitive modeling approach</a:t>
            </a:r>
          </a:p>
        </p:txBody>
      </p:sp>
      <p:sp>
        <p:nvSpPr>
          <p:cNvPr id="12291" name="Rectangle 3"/>
          <p:cNvSpPr>
            <a:spLocks noGrp="1" noChangeArrowheads="1"/>
          </p:cNvSpPr>
          <p:nvPr>
            <p:ph idx="1"/>
          </p:nvPr>
        </p:nvSpPr>
        <p:spPr/>
        <p:txBody>
          <a:bodyPr>
            <a:normAutofit lnSpcReduction="10000"/>
          </a:bodyPr>
          <a:lstStyle/>
          <a:p>
            <a:r>
              <a:rPr lang="en-US" dirty="0"/>
              <a:t>For that we must determine </a:t>
            </a:r>
            <a:r>
              <a:rPr lang="en-US" dirty="0">
                <a:solidFill>
                  <a:srgbClr val="FF0000"/>
                </a:solidFill>
              </a:rPr>
              <a:t>how humans think</a:t>
            </a:r>
            <a:r>
              <a:rPr lang="en-US" dirty="0"/>
              <a:t>. </a:t>
            </a:r>
          </a:p>
          <a:p>
            <a:r>
              <a:rPr lang="en-US" dirty="0"/>
              <a:t>Need to get </a:t>
            </a:r>
            <a:r>
              <a:rPr lang="en-US" i="1" dirty="0"/>
              <a:t>inside </a:t>
            </a:r>
            <a:r>
              <a:rPr lang="en-US" dirty="0"/>
              <a:t>the actual workings of human minds.</a:t>
            </a:r>
          </a:p>
          <a:p>
            <a:pPr marL="0" indent="0">
              <a:buNone/>
            </a:pPr>
            <a:r>
              <a:rPr lang="en-US" dirty="0"/>
              <a:t>Three ways to do this: </a:t>
            </a:r>
          </a:p>
          <a:p>
            <a:r>
              <a:rPr lang="en-US" dirty="0">
                <a:solidFill>
                  <a:srgbClr val="0033CC"/>
                </a:solidFill>
              </a:rPr>
              <a:t>Through introspection</a:t>
            </a:r>
          </a:p>
          <a:p>
            <a:pPr lvl="1"/>
            <a:r>
              <a:rPr lang="en-US" dirty="0"/>
              <a:t>trying to catch our own thoughts </a:t>
            </a:r>
          </a:p>
          <a:p>
            <a:pPr marL="457200" lvl="1" indent="0">
              <a:buNone/>
            </a:pPr>
            <a:r>
              <a:rPr lang="en-US" dirty="0"/>
              <a:t>as they go by</a:t>
            </a:r>
          </a:p>
          <a:p>
            <a:r>
              <a:rPr lang="en-US" dirty="0">
                <a:solidFill>
                  <a:srgbClr val="FF0000"/>
                </a:solidFill>
              </a:rPr>
              <a:t>Through psychological experiments</a:t>
            </a:r>
          </a:p>
          <a:p>
            <a:pPr lvl="1"/>
            <a:r>
              <a:rPr lang="en-US" dirty="0"/>
              <a:t>observing a person in action</a:t>
            </a:r>
          </a:p>
          <a:p>
            <a:r>
              <a:rPr lang="en-US" dirty="0">
                <a:solidFill>
                  <a:srgbClr val="FF0000"/>
                </a:solidFill>
              </a:rPr>
              <a:t>Through brain imaging</a:t>
            </a:r>
          </a:p>
          <a:p>
            <a:pPr lvl="1"/>
            <a:r>
              <a:rPr lang="en-US" dirty="0"/>
              <a:t>observing the brain in action.</a:t>
            </a:r>
          </a:p>
        </p:txBody>
      </p:sp>
    </p:spTree>
    <p:extLst>
      <p:ext uri="{BB962C8B-B14F-4D97-AF65-F5344CB8AC3E}">
        <p14:creationId xmlns:p14="http://schemas.microsoft.com/office/powerpoint/2010/main" val="221994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1">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291">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2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aristot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6699" y="417810"/>
            <a:ext cx="2307101" cy="2680694"/>
          </a:xfrm>
          <a:prstGeom prst="rect">
            <a:avLst/>
          </a:prstGeom>
          <a:noFill/>
          <a:extLst>
            <a:ext uri="{909E8E84-426E-40DD-AFC4-6F175D3DCCD1}">
              <a14:hiddenFill xmlns:a14="http://schemas.microsoft.com/office/drawing/2010/main">
                <a:solidFill>
                  <a:srgbClr val="FFFFFF"/>
                </a:solidFill>
              </a14:hiddenFill>
            </a:ext>
          </a:extLst>
        </p:spPr>
      </p:pic>
      <p:sp>
        <p:nvSpPr>
          <p:cNvPr id="10242" name="Rectangle 2"/>
          <p:cNvSpPr>
            <a:spLocks noGrp="1" noChangeArrowheads="1"/>
          </p:cNvSpPr>
          <p:nvPr>
            <p:ph type="title"/>
          </p:nvPr>
        </p:nvSpPr>
        <p:spPr/>
        <p:txBody>
          <a:bodyPr>
            <a:normAutofit/>
          </a:bodyPr>
          <a:lstStyle/>
          <a:p>
            <a:pPr algn="ctr">
              <a:defRPr/>
            </a:pPr>
            <a:r>
              <a:rPr lang="en-US" sz="4000" dirty="0"/>
              <a:t>Thinking Rationally:  </a:t>
            </a:r>
            <a:br>
              <a:rPr lang="en-US" sz="4000" dirty="0"/>
            </a:br>
            <a:r>
              <a:rPr lang="en-US" sz="4000" dirty="0"/>
              <a:t>Laws of Thought</a:t>
            </a:r>
          </a:p>
        </p:txBody>
      </p:sp>
      <p:sp>
        <p:nvSpPr>
          <p:cNvPr id="13315" name="Rectangle 3"/>
          <p:cNvSpPr>
            <a:spLocks noGrp="1" noChangeArrowheads="1"/>
          </p:cNvSpPr>
          <p:nvPr>
            <p:ph idx="1"/>
          </p:nvPr>
        </p:nvSpPr>
        <p:spPr/>
        <p:txBody>
          <a:bodyPr>
            <a:normAutofit lnSpcReduction="10000"/>
          </a:bodyPr>
          <a:lstStyle/>
          <a:p>
            <a:r>
              <a:rPr lang="en-US" dirty="0">
                <a:solidFill>
                  <a:srgbClr val="FF0000"/>
                </a:solidFill>
              </a:rPr>
              <a:t>Aristotle: </a:t>
            </a:r>
            <a:r>
              <a:rPr lang="en-US" dirty="0"/>
              <a:t>First to codify </a:t>
            </a:r>
            <a:r>
              <a:rPr lang="en-US" dirty="0">
                <a:solidFill>
                  <a:srgbClr val="0033CC"/>
                </a:solidFill>
              </a:rPr>
              <a:t>“right thinking”</a:t>
            </a:r>
          </a:p>
          <a:p>
            <a:r>
              <a:rPr lang="en-US" dirty="0"/>
              <a:t>Several Greek schools developed various forms of logic:</a:t>
            </a:r>
          </a:p>
          <a:p>
            <a:pPr lvl="1"/>
            <a:r>
              <a:rPr lang="en-US" dirty="0"/>
              <a:t>Notation and rules of derivation for thoughts</a:t>
            </a:r>
          </a:p>
          <a:p>
            <a:pPr lvl="1"/>
            <a:r>
              <a:rPr lang="en-US" dirty="0"/>
              <a:t>Propositional logic, Predicate logic, etc.</a:t>
            </a:r>
          </a:p>
          <a:p>
            <a:endParaRPr lang="en-US" dirty="0"/>
          </a:p>
          <a:p>
            <a:r>
              <a:rPr lang="en-US" dirty="0"/>
              <a:t>Always yield correct conclusions when given correct premises</a:t>
            </a:r>
          </a:p>
          <a:p>
            <a:pPr lvl="1"/>
            <a:r>
              <a:rPr lang="en-US" dirty="0"/>
              <a:t>E.g. “Socrates is a man; all men are mortal; therefore, Socrates is mortal.”</a:t>
            </a:r>
          </a:p>
          <a:p>
            <a:endParaRPr lang="en-US" dirty="0"/>
          </a:p>
          <a:p>
            <a:r>
              <a:rPr lang="en-US" dirty="0"/>
              <a:t>These laws of thought were supposed to govern the operation of the mind; their study initiated the field called </a:t>
            </a:r>
            <a:r>
              <a:rPr lang="en-US" b="1" dirty="0"/>
              <a:t>logic</a:t>
            </a:r>
            <a:r>
              <a:rPr lang="en-US" dirty="0"/>
              <a:t>.</a:t>
            </a:r>
          </a:p>
          <a:p>
            <a:endParaRPr lang="en-US" dirty="0"/>
          </a:p>
          <a:p>
            <a:endParaRPr lang="en-US" dirty="0"/>
          </a:p>
        </p:txBody>
      </p:sp>
    </p:spTree>
    <p:extLst>
      <p:ext uri="{BB962C8B-B14F-4D97-AF65-F5344CB8AC3E}">
        <p14:creationId xmlns:p14="http://schemas.microsoft.com/office/powerpoint/2010/main" val="54405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1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Acting rationally: </a:t>
            </a:r>
            <a:br>
              <a:rPr lang="en-US" dirty="0"/>
            </a:br>
            <a:r>
              <a:rPr lang="en-US" dirty="0"/>
              <a:t>Rational agent</a:t>
            </a:r>
          </a:p>
        </p:txBody>
      </p:sp>
      <p:sp>
        <p:nvSpPr>
          <p:cNvPr id="3" name="Content Placeholder 2"/>
          <p:cNvSpPr>
            <a:spLocks noGrp="1"/>
          </p:cNvSpPr>
          <p:nvPr>
            <p:ph idx="1"/>
          </p:nvPr>
        </p:nvSpPr>
        <p:spPr>
          <a:xfrm>
            <a:off x="838200" y="1825625"/>
            <a:ext cx="7489874" cy="4351338"/>
          </a:xfrm>
        </p:spPr>
        <p:txBody>
          <a:bodyPr>
            <a:normAutofit/>
          </a:bodyPr>
          <a:lstStyle/>
          <a:p>
            <a:r>
              <a:rPr lang="en-US" dirty="0"/>
              <a:t>An </a:t>
            </a:r>
            <a:r>
              <a:rPr lang="en-US" b="1" dirty="0">
                <a:solidFill>
                  <a:srgbClr val="0033CC"/>
                </a:solidFill>
              </a:rPr>
              <a:t>agent</a:t>
            </a:r>
            <a:r>
              <a:rPr lang="en-US" b="1" dirty="0"/>
              <a:t> </a:t>
            </a:r>
            <a:r>
              <a:rPr lang="en-US" dirty="0"/>
              <a:t>is something that acts.</a:t>
            </a:r>
          </a:p>
          <a:p>
            <a:endParaRPr lang="en-US" dirty="0"/>
          </a:p>
          <a:p>
            <a:r>
              <a:rPr lang="en-US" dirty="0"/>
              <a:t>All computer programs do something, but </a:t>
            </a:r>
            <a:r>
              <a:rPr lang="en-US" dirty="0">
                <a:solidFill>
                  <a:srgbClr val="FF0000"/>
                </a:solidFill>
              </a:rPr>
              <a:t>computer </a:t>
            </a:r>
            <a:r>
              <a:rPr lang="en-US" b="1" dirty="0">
                <a:solidFill>
                  <a:srgbClr val="FF0000"/>
                </a:solidFill>
              </a:rPr>
              <a:t>agents</a:t>
            </a:r>
            <a:r>
              <a:rPr lang="en-US" dirty="0">
                <a:solidFill>
                  <a:srgbClr val="FF0000"/>
                </a:solidFill>
              </a:rPr>
              <a:t> are expected to do more:</a:t>
            </a:r>
            <a:r>
              <a:rPr lang="en-US" dirty="0"/>
              <a:t> </a:t>
            </a:r>
          </a:p>
          <a:p>
            <a:pPr lvl="1"/>
            <a:r>
              <a:rPr lang="en-US" dirty="0">
                <a:solidFill>
                  <a:srgbClr val="0033CC"/>
                </a:solidFill>
              </a:rPr>
              <a:t>Operate autonomously, </a:t>
            </a:r>
          </a:p>
          <a:p>
            <a:pPr lvl="1"/>
            <a:r>
              <a:rPr lang="en-US" dirty="0"/>
              <a:t>Perceive their environment, </a:t>
            </a:r>
          </a:p>
          <a:p>
            <a:pPr lvl="1"/>
            <a:r>
              <a:rPr lang="en-US" dirty="0"/>
              <a:t>Persist over a prolonged time period</a:t>
            </a:r>
          </a:p>
          <a:p>
            <a:pPr lvl="1"/>
            <a:r>
              <a:rPr lang="en-US" dirty="0"/>
              <a:t>Adapt to change, and create and pursue goals. </a:t>
            </a:r>
          </a:p>
          <a:p>
            <a:pPr lvl="1"/>
            <a:r>
              <a:rPr lang="en-US" dirty="0"/>
              <a:t>Make correct inferences</a:t>
            </a:r>
          </a:p>
          <a:p>
            <a:pPr marL="457200" lvl="1" indent="0">
              <a:buNone/>
            </a:pPr>
            <a:r>
              <a:rPr lang="en-US" dirty="0"/>
              <a:t> </a:t>
            </a:r>
          </a:p>
          <a:p>
            <a:endParaRPr lang="en-US" b="1" dirty="0"/>
          </a:p>
        </p:txBody>
      </p:sp>
      <p:sp>
        <p:nvSpPr>
          <p:cNvPr id="4" name="Slide Number Placeholder 3"/>
          <p:cNvSpPr>
            <a:spLocks noGrp="1"/>
          </p:cNvSpPr>
          <p:nvPr>
            <p:ph type="sldNum" sz="quarter" idx="12"/>
          </p:nvPr>
        </p:nvSpPr>
        <p:spPr/>
        <p:txBody>
          <a:bodyPr/>
          <a:lstStyle/>
          <a:p>
            <a:fld id="{FDFCE4C1-E6A0-4AA9-9965-F1CD6F0FDCC0}" type="slidenum">
              <a:rPr lang="en-US" smtClean="0"/>
              <a:t>18</a:t>
            </a:fld>
            <a:endParaRPr lang="en-US"/>
          </a:p>
        </p:txBody>
      </p:sp>
      <p:pic>
        <p:nvPicPr>
          <p:cNvPr id="6" name="Picture 2" descr="Curiosity Self-Portrait at 'Big Sky' Drilling Sit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4400" y="2084070"/>
            <a:ext cx="2781104" cy="383444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9048652" y="6079744"/>
            <a:ext cx="1752600" cy="369332"/>
          </a:xfrm>
          <a:prstGeom prst="rect">
            <a:avLst/>
          </a:prstGeom>
        </p:spPr>
        <p:txBody>
          <a:bodyPr wrap="square">
            <a:spAutoFit/>
          </a:bodyPr>
          <a:lstStyle/>
          <a:p>
            <a:r>
              <a:rPr lang="en-US" b="1" i="1" dirty="0"/>
              <a:t>Curiosity</a:t>
            </a:r>
            <a:r>
              <a:rPr lang="en-US" b="1" dirty="0"/>
              <a:t> (rover)</a:t>
            </a:r>
          </a:p>
        </p:txBody>
      </p:sp>
    </p:spTree>
    <p:extLst>
      <p:ext uri="{BB962C8B-B14F-4D97-AF65-F5344CB8AC3E}">
        <p14:creationId xmlns:p14="http://schemas.microsoft.com/office/powerpoint/2010/main" val="120627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Acting rationally: </a:t>
            </a:r>
            <a:br>
              <a:rPr lang="en-US" dirty="0"/>
            </a:br>
            <a:r>
              <a:rPr lang="en-US" dirty="0"/>
              <a:t>Rational agent</a:t>
            </a:r>
          </a:p>
        </p:txBody>
      </p:sp>
      <p:sp>
        <p:nvSpPr>
          <p:cNvPr id="3" name="Content Placeholder 2"/>
          <p:cNvSpPr>
            <a:spLocks noGrp="1"/>
          </p:cNvSpPr>
          <p:nvPr>
            <p:ph idx="1"/>
          </p:nvPr>
        </p:nvSpPr>
        <p:spPr/>
        <p:txBody>
          <a:bodyPr>
            <a:normAutofit/>
          </a:bodyPr>
          <a:lstStyle/>
          <a:p>
            <a:r>
              <a:rPr lang="en-US" dirty="0"/>
              <a:t>A </a:t>
            </a:r>
            <a:r>
              <a:rPr lang="en-US" b="1" dirty="0">
                <a:solidFill>
                  <a:srgbClr val="0033CC"/>
                </a:solidFill>
              </a:rPr>
              <a:t>rational agent </a:t>
            </a:r>
            <a:r>
              <a:rPr lang="en-US" dirty="0"/>
              <a:t>is one that acts so as </a:t>
            </a:r>
            <a:r>
              <a:rPr lang="en-US" b="1" dirty="0"/>
              <a:t>to achieve the best outcome</a:t>
            </a:r>
            <a:r>
              <a:rPr lang="en-US" dirty="0"/>
              <a:t> or, when there is uncertainty, the </a:t>
            </a:r>
            <a:r>
              <a:rPr lang="en-US" b="1" dirty="0"/>
              <a:t>best expected outcome</a:t>
            </a:r>
            <a:r>
              <a:rPr lang="en-US" dirty="0"/>
              <a:t>.</a:t>
            </a:r>
          </a:p>
          <a:p>
            <a:r>
              <a:rPr lang="en-US" dirty="0">
                <a:solidFill>
                  <a:srgbClr val="0033CC"/>
                </a:solidFill>
              </a:rPr>
              <a:t>Rational behavior:</a:t>
            </a:r>
            <a:r>
              <a:rPr lang="en-US" dirty="0"/>
              <a:t> </a:t>
            </a:r>
            <a:r>
              <a:rPr lang="en-US" b="1" dirty="0"/>
              <a:t>doing the right thing</a:t>
            </a:r>
          </a:p>
          <a:p>
            <a:r>
              <a:rPr lang="en-US" dirty="0"/>
              <a:t>The right thing: </a:t>
            </a:r>
            <a:r>
              <a:rPr lang="en-US" dirty="0">
                <a:solidFill>
                  <a:srgbClr val="FF0000"/>
                </a:solidFill>
              </a:rPr>
              <a:t>the optimal (best) thing </a:t>
            </a:r>
            <a:r>
              <a:rPr lang="en-US" dirty="0"/>
              <a:t>that is expected</a:t>
            </a:r>
            <a:r>
              <a:rPr lang="en-US" dirty="0">
                <a:solidFill>
                  <a:srgbClr val="FF0000"/>
                </a:solidFill>
              </a:rPr>
              <a:t> </a:t>
            </a:r>
            <a:r>
              <a:rPr lang="en-US" dirty="0"/>
              <a:t>to </a:t>
            </a:r>
            <a:r>
              <a:rPr lang="en-US" dirty="0">
                <a:solidFill>
                  <a:srgbClr val="FF0000"/>
                </a:solidFill>
              </a:rPr>
              <a:t>maximize the chances of achieving a set of goals, in a given situation</a:t>
            </a:r>
          </a:p>
          <a:p>
            <a:endParaRPr lang="en-US" b="1" dirty="0"/>
          </a:p>
        </p:txBody>
      </p:sp>
      <p:sp>
        <p:nvSpPr>
          <p:cNvPr id="4" name="Slide Number Placeholder 3"/>
          <p:cNvSpPr>
            <a:spLocks noGrp="1"/>
          </p:cNvSpPr>
          <p:nvPr>
            <p:ph type="sldNum" sz="quarter" idx="12"/>
          </p:nvPr>
        </p:nvSpPr>
        <p:spPr/>
        <p:txBody>
          <a:bodyPr/>
          <a:lstStyle/>
          <a:p>
            <a:fld id="{FDFCE4C1-E6A0-4AA9-9965-F1CD6F0FDCC0}" type="slidenum">
              <a:rPr lang="en-US" smtClean="0"/>
              <a:t>19</a:t>
            </a:fld>
            <a:endParaRPr lang="en-US"/>
          </a:p>
        </p:txBody>
      </p:sp>
    </p:spTree>
    <p:extLst>
      <p:ext uri="{BB962C8B-B14F-4D97-AF65-F5344CB8AC3E}">
        <p14:creationId xmlns:p14="http://schemas.microsoft.com/office/powerpoint/2010/main" val="267377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0201" y="838200"/>
            <a:ext cx="8915400" cy="5562600"/>
          </a:xfrm>
        </p:spPr>
        <p:style>
          <a:lnRef idx="2">
            <a:schemeClr val="dk1"/>
          </a:lnRef>
          <a:fillRef idx="1">
            <a:schemeClr val="lt1"/>
          </a:fillRef>
          <a:effectRef idx="0">
            <a:schemeClr val="dk1"/>
          </a:effectRef>
          <a:fontRef idx="minor">
            <a:schemeClr val="dk1"/>
          </a:fontRef>
        </p:style>
        <p:txBody>
          <a:bodyPr>
            <a:normAutofit/>
          </a:bodyPr>
          <a:lstStyle/>
          <a:p>
            <a:pPr marL="0" indent="0" algn="ctr">
              <a:buNone/>
            </a:pPr>
            <a:endParaRPr lang="en-US" sz="4400" b="1" dirty="0">
              <a:solidFill>
                <a:schemeClr val="tx1"/>
              </a:solidFill>
            </a:endParaRPr>
          </a:p>
          <a:p>
            <a:pPr marL="0" indent="0" algn="ctr">
              <a:buNone/>
            </a:pPr>
            <a:r>
              <a:rPr lang="en-US" sz="4400" b="1" dirty="0">
                <a:solidFill>
                  <a:schemeClr val="tx1"/>
                </a:solidFill>
              </a:rPr>
              <a:t>This course is about designing </a:t>
            </a:r>
          </a:p>
          <a:p>
            <a:pPr marL="0" indent="0" algn="ctr">
              <a:buNone/>
            </a:pPr>
            <a:r>
              <a:rPr lang="en-US" sz="4400" b="1" dirty="0">
                <a:solidFill>
                  <a:schemeClr val="tx1"/>
                </a:solidFill>
              </a:rPr>
              <a:t>rational/intelligent agents</a:t>
            </a:r>
          </a:p>
          <a:p>
            <a:pPr marL="0" indent="0" algn="ctr">
              <a:buNone/>
            </a:pPr>
            <a:endParaRPr lang="en-US" sz="4400" dirty="0">
              <a:solidFill>
                <a:schemeClr val="tx1"/>
              </a:solidFill>
            </a:endParaRPr>
          </a:p>
          <a:p>
            <a:pPr marL="0" indent="0" algn="ctr">
              <a:buNone/>
            </a:pPr>
            <a:r>
              <a:rPr lang="en-US" sz="4400" dirty="0">
                <a:solidFill>
                  <a:schemeClr val="tx1"/>
                </a:solidFill>
              </a:rPr>
              <a:t>Build REPRESENTATIONS that </a:t>
            </a:r>
          </a:p>
          <a:p>
            <a:pPr marL="0" indent="0" algn="ctr">
              <a:buNone/>
            </a:pPr>
            <a:r>
              <a:rPr lang="en-US" sz="4400" dirty="0">
                <a:solidFill>
                  <a:schemeClr val="tx1"/>
                </a:solidFill>
              </a:rPr>
              <a:t>support MODELS targeted at</a:t>
            </a:r>
          </a:p>
          <a:p>
            <a:pPr marL="0" indent="0" algn="ctr">
              <a:buNone/>
            </a:pPr>
            <a:r>
              <a:rPr lang="en-US" sz="4400" dirty="0">
                <a:solidFill>
                  <a:schemeClr val="tx1"/>
                </a:solidFill>
              </a:rPr>
              <a:t>THINKING 	PERCEPTION	ACTION</a:t>
            </a:r>
          </a:p>
        </p:txBody>
      </p:sp>
      <p:sp>
        <p:nvSpPr>
          <p:cNvPr id="4" name="Slide Number Placeholder 3"/>
          <p:cNvSpPr>
            <a:spLocks noGrp="1"/>
          </p:cNvSpPr>
          <p:nvPr>
            <p:ph type="sldNum" sz="quarter" idx="12"/>
          </p:nvPr>
        </p:nvSpPr>
        <p:spPr/>
        <p:txBody>
          <a:bodyPr/>
          <a:lstStyle/>
          <a:p>
            <a:fld id="{FDFCE4C1-E6A0-4AA9-9965-F1CD6F0FDCC0}" type="slidenum">
              <a:rPr lang="en-US" smtClean="0"/>
              <a:t>20</a:t>
            </a:fld>
            <a:endParaRPr lang="en-US"/>
          </a:p>
        </p:txBody>
      </p:sp>
    </p:spTree>
    <p:extLst>
      <p:ext uri="{BB962C8B-B14F-4D97-AF65-F5344CB8AC3E}">
        <p14:creationId xmlns:p14="http://schemas.microsoft.com/office/powerpoint/2010/main" val="3462232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4"/>
          <p:cNvSpPr>
            <a:spLocks noGrp="1" noChangeArrowheads="1"/>
          </p:cNvSpPr>
          <p:nvPr>
            <p:ph type="title"/>
          </p:nvPr>
        </p:nvSpPr>
        <p:spPr/>
        <p:txBody>
          <a:bodyPr vert="horz" lIns="91440" tIns="45720" rIns="132077" bIns="45720" rtlCol="0" anchor="ctr">
            <a:normAutofit/>
          </a:bodyPr>
          <a:lstStyle/>
          <a:p>
            <a:r>
              <a:rPr lang="en-US"/>
              <a:t>Designing Rational Agents</a:t>
            </a:r>
          </a:p>
        </p:txBody>
      </p:sp>
      <p:sp>
        <p:nvSpPr>
          <p:cNvPr id="27653" name="Rectangle 5"/>
          <p:cNvSpPr>
            <a:spLocks noGrp="1" noChangeArrowheads="1"/>
          </p:cNvSpPr>
          <p:nvPr>
            <p:ph idx="1"/>
          </p:nvPr>
        </p:nvSpPr>
        <p:spPr>
          <a:xfrm>
            <a:off x="838200" y="1825625"/>
            <a:ext cx="6398040" cy="4351338"/>
          </a:xfrm>
        </p:spPr>
        <p:txBody>
          <a:bodyPr vert="horz" lIns="91440" tIns="45720" rIns="132077" bIns="45720" rtlCol="0">
            <a:normAutofit lnSpcReduction="10000"/>
          </a:bodyPr>
          <a:lstStyle/>
          <a:p>
            <a:pPr marL="457178" indent="-457178">
              <a:spcBef>
                <a:spcPct val="0"/>
              </a:spcBef>
            </a:pPr>
            <a:r>
              <a:rPr lang="en-US" sz="2400" dirty="0"/>
              <a:t>An </a:t>
            </a:r>
            <a:r>
              <a:rPr lang="en-US" sz="2400" b="1" dirty="0"/>
              <a:t>agent</a:t>
            </a:r>
            <a:r>
              <a:rPr lang="en-US" sz="2400" dirty="0"/>
              <a:t> is an entity that </a:t>
            </a:r>
            <a:r>
              <a:rPr lang="en-US" sz="2400" i="1" dirty="0"/>
              <a:t>perceives</a:t>
            </a:r>
            <a:r>
              <a:rPr lang="en-US" sz="2400" dirty="0"/>
              <a:t> and </a:t>
            </a:r>
            <a:r>
              <a:rPr lang="en-US" sz="2400" i="1" dirty="0"/>
              <a:t>acts</a:t>
            </a:r>
            <a:r>
              <a:rPr lang="en-US" sz="2400" dirty="0"/>
              <a:t>.</a:t>
            </a:r>
          </a:p>
          <a:p>
            <a:pPr marL="457178" indent="-457178">
              <a:spcBef>
                <a:spcPts val="1500"/>
              </a:spcBef>
            </a:pPr>
            <a:r>
              <a:rPr lang="en-US" sz="2400" dirty="0"/>
              <a:t>A </a:t>
            </a:r>
            <a:r>
              <a:rPr lang="en-US" sz="2400" b="1" dirty="0"/>
              <a:t>rational agent</a:t>
            </a:r>
            <a:r>
              <a:rPr lang="en-US" sz="2400" b="1" i="1" dirty="0"/>
              <a:t> </a:t>
            </a:r>
            <a:r>
              <a:rPr lang="en-US" sz="2400" dirty="0"/>
              <a:t>selects actions that maximize its (expected) </a:t>
            </a:r>
            <a:r>
              <a:rPr lang="en-US" sz="2400" b="1" dirty="0"/>
              <a:t>utility</a:t>
            </a:r>
            <a:r>
              <a:rPr lang="en-US" sz="2400" dirty="0"/>
              <a:t>.  </a:t>
            </a:r>
          </a:p>
          <a:p>
            <a:pPr marL="457178" indent="-457178">
              <a:spcBef>
                <a:spcPts val="1500"/>
              </a:spcBef>
            </a:pPr>
            <a:r>
              <a:rPr lang="en-US" sz="2400" dirty="0"/>
              <a:t>Characteristics of the </a:t>
            </a:r>
            <a:r>
              <a:rPr lang="en-US" sz="2400" b="1" dirty="0"/>
              <a:t>percepts, environment,</a:t>
            </a:r>
            <a:r>
              <a:rPr lang="en-US" sz="2400" dirty="0"/>
              <a:t> and </a:t>
            </a:r>
            <a:r>
              <a:rPr lang="en-US" sz="2400" b="1" dirty="0"/>
              <a:t>action space </a:t>
            </a:r>
            <a:r>
              <a:rPr lang="en-US" sz="2400" dirty="0"/>
              <a:t>dictate techniques for selecting rational actions</a:t>
            </a:r>
          </a:p>
          <a:p>
            <a:pPr marL="457178" indent="-457178">
              <a:spcBef>
                <a:spcPts val="1500"/>
              </a:spcBef>
            </a:pPr>
            <a:r>
              <a:rPr lang="en-US" sz="2400" b="1" dirty="0">
                <a:solidFill>
                  <a:srgbClr val="333399"/>
                </a:solidFill>
                <a:cs typeface="Arial" charset="0"/>
              </a:rPr>
              <a:t>This course </a:t>
            </a:r>
            <a:r>
              <a:rPr lang="en-US" sz="2400" dirty="0">
                <a:solidFill>
                  <a:srgbClr val="333399"/>
                </a:solidFill>
                <a:cs typeface="Arial" charset="0"/>
              </a:rPr>
              <a:t>is about:</a:t>
            </a:r>
          </a:p>
          <a:p>
            <a:pPr marL="839746" lvl="1" indent="-342882">
              <a:lnSpc>
                <a:spcPct val="80000"/>
              </a:lnSpc>
              <a:spcBef>
                <a:spcPts val="739"/>
              </a:spcBef>
              <a:buSzPct val="100000"/>
            </a:pPr>
            <a:r>
              <a:rPr lang="en-US" dirty="0">
                <a:cs typeface="Arial" charset="0"/>
              </a:rPr>
              <a:t>General AI techniques for a variety of problem types</a:t>
            </a:r>
          </a:p>
          <a:p>
            <a:pPr marL="839746" lvl="1" indent="-342882">
              <a:lnSpc>
                <a:spcPct val="80000"/>
              </a:lnSpc>
              <a:spcBef>
                <a:spcPts val="739"/>
              </a:spcBef>
              <a:buSzPct val="100000"/>
            </a:pPr>
            <a:r>
              <a:rPr lang="en-US" dirty="0">
                <a:cs typeface="Arial" charset="0"/>
              </a:rPr>
              <a:t>Learning to recognize when and how a new problem can be solved with an existing technique</a:t>
            </a:r>
          </a:p>
          <a:p>
            <a:pPr marL="457178" indent="-457178">
              <a:spcBef>
                <a:spcPts val="1500"/>
              </a:spcBef>
            </a:pPr>
            <a:endParaRPr lang="en-US" sz="2133" dirty="0"/>
          </a:p>
        </p:txBody>
      </p:sp>
      <p:grpSp>
        <p:nvGrpSpPr>
          <p:cNvPr id="34" name="Group 33"/>
          <p:cNvGrpSpPr/>
          <p:nvPr/>
        </p:nvGrpSpPr>
        <p:grpSpPr>
          <a:xfrm>
            <a:off x="7416802" y="4564064"/>
            <a:ext cx="3860797" cy="1912937"/>
            <a:chOff x="4616215" y="3194447"/>
            <a:chExt cx="4052397" cy="1434703"/>
          </a:xfrm>
        </p:grpSpPr>
        <p:sp>
          <p:nvSpPr>
            <p:cNvPr id="19" name="AutoShape 7"/>
            <p:cNvSpPr>
              <a:spLocks/>
            </p:cNvSpPr>
            <p:nvPr/>
          </p:nvSpPr>
          <p:spPr bwMode="auto">
            <a:xfrm>
              <a:off x="4616215" y="3200398"/>
              <a:ext cx="1919558" cy="1309688"/>
            </a:xfrm>
            <a:prstGeom prst="roundRect">
              <a:avLst>
                <a:gd name="adj" fmla="val 10912"/>
              </a:avLst>
            </a:prstGeom>
            <a:solidFill>
              <a:srgbClr val="9FB0D1"/>
            </a:solidFill>
            <a:ln w="12700">
              <a:solidFill>
                <a:schemeClr val="tx1"/>
              </a:solidFill>
              <a:round/>
              <a:headEnd/>
              <a:tailEnd/>
            </a:ln>
          </p:spPr>
          <p:txBody>
            <a:bodyPr lIns="0" tIns="0" rIns="0" bIns="0"/>
            <a:lstStyle/>
            <a:p>
              <a:endParaRPr lang="en-US" sz="2133">
                <a:latin typeface="Calibri" pitchFamily="34" charset="0"/>
              </a:endParaRPr>
            </a:p>
          </p:txBody>
        </p:sp>
        <p:sp>
          <p:nvSpPr>
            <p:cNvPr id="20" name="Line 8"/>
            <p:cNvSpPr>
              <a:spLocks noChangeShapeType="1"/>
            </p:cNvSpPr>
            <p:nvPr/>
          </p:nvSpPr>
          <p:spPr bwMode="auto">
            <a:xfrm rot="10800000" flipH="1">
              <a:off x="5611414" y="3672670"/>
              <a:ext cx="0" cy="531019"/>
            </a:xfrm>
            <a:prstGeom prst="line">
              <a:avLst/>
            </a:prstGeom>
            <a:noFill/>
            <a:ln w="25400">
              <a:solidFill>
                <a:schemeClr val="tx1"/>
              </a:solidFill>
              <a:round/>
              <a:headEnd type="stealth" w="med" len="med"/>
              <a:tailEnd/>
            </a:ln>
          </p:spPr>
          <p:txBody>
            <a:bodyPr lIns="91439" tIns="45719" rIns="91439" bIns="45719"/>
            <a:lstStyle/>
            <a:p>
              <a:endParaRPr lang="en-US" sz="2133">
                <a:latin typeface="Calibri" pitchFamily="34" charset="0"/>
              </a:endParaRPr>
            </a:p>
          </p:txBody>
        </p:sp>
        <p:sp>
          <p:nvSpPr>
            <p:cNvPr id="21" name="Rectangle 9"/>
            <p:cNvSpPr>
              <a:spLocks/>
            </p:cNvSpPr>
            <p:nvPr/>
          </p:nvSpPr>
          <p:spPr bwMode="auto">
            <a:xfrm rot="16200000">
              <a:off x="4687016" y="3598189"/>
              <a:ext cx="564897" cy="493220"/>
            </a:xfrm>
            <a:prstGeom prst="rect">
              <a:avLst/>
            </a:prstGeom>
            <a:noFill/>
            <a:ln w="12700">
              <a:noFill/>
              <a:miter lim="800000"/>
              <a:headEnd/>
              <a:tailEnd/>
            </a:ln>
          </p:spPr>
          <p:txBody>
            <a:bodyPr lIns="0" tIns="0" rIns="40639" bIns="0"/>
            <a:lstStyle/>
            <a:p>
              <a:pPr marL="39686"/>
              <a:r>
                <a:rPr lang="en-US" sz="2133" b="1" dirty="0">
                  <a:latin typeface="Calibri" pitchFamily="34" charset="0"/>
                  <a:cs typeface="Arial" charset="0"/>
                </a:rPr>
                <a:t>Agent</a:t>
              </a:r>
            </a:p>
          </p:txBody>
        </p:sp>
        <p:grpSp>
          <p:nvGrpSpPr>
            <p:cNvPr id="22" name="Group 10"/>
            <p:cNvGrpSpPr>
              <a:grpSpLocks/>
            </p:cNvGrpSpPr>
            <p:nvPr/>
          </p:nvGrpSpPr>
          <p:grpSpPr bwMode="auto">
            <a:xfrm>
              <a:off x="5363764" y="3748869"/>
              <a:ext cx="476250" cy="323850"/>
              <a:chOff x="0" y="0"/>
              <a:chExt cx="400" cy="272"/>
            </a:xfrm>
          </p:grpSpPr>
          <p:sp>
            <p:nvSpPr>
              <p:cNvPr id="23" name="AutoShape 11"/>
              <p:cNvSpPr>
                <a:spLocks/>
              </p:cNvSpPr>
              <p:nvPr/>
            </p:nvSpPr>
            <p:spPr bwMode="auto">
              <a:xfrm>
                <a:off x="0" y="0"/>
                <a:ext cx="400" cy="272"/>
              </a:xfrm>
              <a:prstGeom prst="roundRect">
                <a:avLst>
                  <a:gd name="adj" fmla="val 28120"/>
                </a:avLst>
              </a:prstGeom>
              <a:solidFill>
                <a:srgbClr val="FFFFFF"/>
              </a:solidFill>
              <a:ln w="12700">
                <a:solidFill>
                  <a:schemeClr val="tx1"/>
                </a:solidFill>
                <a:round/>
                <a:headEnd/>
                <a:tailEnd/>
              </a:ln>
            </p:spPr>
            <p:txBody>
              <a:bodyPr lIns="0" tIns="0" rIns="0" bIns="0"/>
              <a:lstStyle/>
              <a:p>
                <a:endParaRPr lang="en-US" sz="2133">
                  <a:latin typeface="Calibri" pitchFamily="34" charset="0"/>
                </a:endParaRPr>
              </a:p>
            </p:txBody>
          </p:sp>
          <p:sp>
            <p:nvSpPr>
              <p:cNvPr id="24" name="Rectangle 12"/>
              <p:cNvSpPr>
                <a:spLocks/>
              </p:cNvSpPr>
              <p:nvPr/>
            </p:nvSpPr>
            <p:spPr bwMode="auto">
              <a:xfrm>
                <a:off x="135" y="32"/>
                <a:ext cx="139" cy="236"/>
              </a:xfrm>
              <a:prstGeom prst="rect">
                <a:avLst/>
              </a:prstGeom>
              <a:noFill/>
              <a:ln w="12700">
                <a:noFill/>
                <a:miter lim="800000"/>
                <a:headEnd/>
                <a:tailEnd/>
              </a:ln>
            </p:spPr>
            <p:txBody>
              <a:bodyPr lIns="0" tIns="0" rIns="54185" bIns="0"/>
              <a:lstStyle/>
              <a:p>
                <a:pPr marL="39686" algn="ctr"/>
                <a:r>
                  <a:rPr lang="en-US" sz="2133" b="1" dirty="0">
                    <a:latin typeface="Calibri" pitchFamily="34" charset="0"/>
                    <a:cs typeface="Arial" charset="0"/>
                  </a:rPr>
                  <a:t>?</a:t>
                </a:r>
              </a:p>
            </p:txBody>
          </p:sp>
        </p:grpSp>
        <p:grpSp>
          <p:nvGrpSpPr>
            <p:cNvPr id="25" name="Group 13"/>
            <p:cNvGrpSpPr>
              <a:grpSpLocks/>
            </p:cNvGrpSpPr>
            <p:nvPr/>
          </p:nvGrpSpPr>
          <p:grpSpPr bwMode="auto">
            <a:xfrm>
              <a:off x="5073252" y="3430191"/>
              <a:ext cx="1104900" cy="1059657"/>
              <a:chOff x="32" y="19"/>
              <a:chExt cx="928" cy="890"/>
            </a:xfrm>
          </p:grpSpPr>
          <p:sp>
            <p:nvSpPr>
              <p:cNvPr id="26" name="Rectangle 14"/>
              <p:cNvSpPr>
                <a:spLocks/>
              </p:cNvSpPr>
              <p:nvPr/>
            </p:nvSpPr>
            <p:spPr bwMode="auto">
              <a:xfrm>
                <a:off x="84" y="19"/>
                <a:ext cx="824" cy="304"/>
              </a:xfrm>
              <a:prstGeom prst="rect">
                <a:avLst/>
              </a:prstGeom>
              <a:noFill/>
              <a:ln w="12700">
                <a:noFill/>
                <a:miter lim="800000"/>
                <a:headEnd/>
                <a:tailEnd/>
              </a:ln>
            </p:spPr>
            <p:txBody>
              <a:bodyPr lIns="0" tIns="0" rIns="54185" bIns="0"/>
              <a:lstStyle/>
              <a:p>
                <a:pPr marL="39686" algn="ctr"/>
                <a:r>
                  <a:rPr lang="en-US" sz="1867" dirty="0">
                    <a:latin typeface="Calibri" pitchFamily="34" charset="0"/>
                    <a:cs typeface="Arial" charset="0"/>
                  </a:rPr>
                  <a:t>Sensors</a:t>
                </a:r>
              </a:p>
            </p:txBody>
          </p:sp>
          <p:sp>
            <p:nvSpPr>
              <p:cNvPr id="27" name="Rectangle 15"/>
              <p:cNvSpPr>
                <a:spLocks/>
              </p:cNvSpPr>
              <p:nvPr/>
            </p:nvSpPr>
            <p:spPr bwMode="auto">
              <a:xfrm>
                <a:off x="32" y="661"/>
                <a:ext cx="928" cy="248"/>
              </a:xfrm>
              <a:prstGeom prst="rect">
                <a:avLst/>
              </a:prstGeom>
              <a:noFill/>
              <a:ln w="12700">
                <a:noFill/>
                <a:miter lim="800000"/>
                <a:headEnd/>
                <a:tailEnd/>
              </a:ln>
            </p:spPr>
            <p:txBody>
              <a:bodyPr lIns="0" tIns="0" rIns="54185" bIns="0"/>
              <a:lstStyle/>
              <a:p>
                <a:pPr marL="39686" algn="ctr"/>
                <a:r>
                  <a:rPr lang="en-US" sz="1867" dirty="0">
                    <a:latin typeface="Calibri" pitchFamily="34" charset="0"/>
                    <a:cs typeface="Arial" charset="0"/>
                  </a:rPr>
                  <a:t>Actuators</a:t>
                </a:r>
              </a:p>
            </p:txBody>
          </p:sp>
        </p:grpSp>
        <p:sp>
          <p:nvSpPr>
            <p:cNvPr id="28" name="AutoShape 16"/>
            <p:cNvSpPr>
              <a:spLocks/>
            </p:cNvSpPr>
            <p:nvPr/>
          </p:nvSpPr>
          <p:spPr bwMode="auto">
            <a:xfrm>
              <a:off x="7815475" y="3194447"/>
              <a:ext cx="853137" cy="1304925"/>
            </a:xfrm>
            <a:prstGeom prst="roundRect">
              <a:avLst>
                <a:gd name="adj" fmla="val 10944"/>
              </a:avLst>
            </a:prstGeom>
            <a:solidFill>
              <a:srgbClr val="9FB0D1"/>
            </a:solidFill>
            <a:ln w="12700">
              <a:solidFill>
                <a:schemeClr val="tx1"/>
              </a:solidFill>
              <a:round/>
              <a:headEnd/>
              <a:tailEnd/>
            </a:ln>
          </p:spPr>
          <p:txBody>
            <a:bodyPr lIns="0" tIns="0" rIns="0" bIns="0"/>
            <a:lstStyle/>
            <a:p>
              <a:endParaRPr lang="en-US" sz="2133">
                <a:latin typeface="Calibri" pitchFamily="34" charset="0"/>
              </a:endParaRPr>
            </a:p>
          </p:txBody>
        </p:sp>
        <p:sp>
          <p:nvSpPr>
            <p:cNvPr id="29" name="Rectangle 17"/>
            <p:cNvSpPr>
              <a:spLocks/>
            </p:cNvSpPr>
            <p:nvPr/>
          </p:nvSpPr>
          <p:spPr bwMode="auto">
            <a:xfrm rot="5400000">
              <a:off x="7696859" y="3589450"/>
              <a:ext cx="1157018" cy="493220"/>
            </a:xfrm>
            <a:prstGeom prst="rect">
              <a:avLst/>
            </a:prstGeom>
            <a:noFill/>
            <a:ln w="12700">
              <a:noFill/>
              <a:miter lim="800000"/>
              <a:headEnd/>
              <a:tailEnd/>
            </a:ln>
          </p:spPr>
          <p:txBody>
            <a:bodyPr lIns="0" tIns="0" rIns="40639" bIns="0"/>
            <a:lstStyle/>
            <a:p>
              <a:pPr marL="39686" algn="ctr"/>
              <a:r>
                <a:rPr lang="en-US" sz="2133" b="1" dirty="0">
                  <a:latin typeface="Calibri" pitchFamily="34" charset="0"/>
                  <a:cs typeface="Arial" charset="0"/>
                </a:rPr>
                <a:t>Environment</a:t>
              </a:r>
            </a:p>
          </p:txBody>
        </p:sp>
        <p:sp>
          <p:nvSpPr>
            <p:cNvPr id="30" name="Line 18"/>
            <p:cNvSpPr>
              <a:spLocks noChangeShapeType="1"/>
            </p:cNvSpPr>
            <p:nvPr/>
          </p:nvSpPr>
          <p:spPr bwMode="auto">
            <a:xfrm rot="10800000" flipH="1">
              <a:off x="6182915" y="3574256"/>
              <a:ext cx="1859756" cy="0"/>
            </a:xfrm>
            <a:prstGeom prst="line">
              <a:avLst/>
            </a:prstGeom>
            <a:noFill/>
            <a:ln w="25400">
              <a:solidFill>
                <a:schemeClr val="tx1"/>
              </a:solidFill>
              <a:round/>
              <a:headEnd type="stealth" w="med" len="med"/>
              <a:tailEnd/>
            </a:ln>
          </p:spPr>
          <p:txBody>
            <a:bodyPr lIns="91439" tIns="45719" rIns="91439" bIns="45719"/>
            <a:lstStyle/>
            <a:p>
              <a:endParaRPr lang="en-US" sz="2133">
                <a:latin typeface="Calibri" pitchFamily="34" charset="0"/>
              </a:endParaRPr>
            </a:p>
          </p:txBody>
        </p:sp>
        <p:sp>
          <p:nvSpPr>
            <p:cNvPr id="31" name="Line 19"/>
            <p:cNvSpPr>
              <a:spLocks noChangeShapeType="1"/>
            </p:cNvSpPr>
            <p:nvPr/>
          </p:nvSpPr>
          <p:spPr bwMode="auto">
            <a:xfrm flipH="1">
              <a:off x="6275783" y="4324350"/>
              <a:ext cx="1760934" cy="0"/>
            </a:xfrm>
            <a:prstGeom prst="line">
              <a:avLst/>
            </a:prstGeom>
            <a:noFill/>
            <a:ln w="25400">
              <a:solidFill>
                <a:schemeClr val="tx1"/>
              </a:solidFill>
              <a:round/>
              <a:headEnd type="stealth" w="med" len="med"/>
              <a:tailEnd/>
            </a:ln>
          </p:spPr>
          <p:txBody>
            <a:bodyPr lIns="91439" tIns="45719" rIns="91439" bIns="45719"/>
            <a:lstStyle/>
            <a:p>
              <a:endParaRPr lang="en-US" sz="2133">
                <a:latin typeface="Calibri" pitchFamily="34" charset="0"/>
              </a:endParaRPr>
            </a:p>
          </p:txBody>
        </p:sp>
        <p:sp>
          <p:nvSpPr>
            <p:cNvPr id="32" name="Rectangle 20"/>
            <p:cNvSpPr>
              <a:spLocks/>
            </p:cNvSpPr>
            <p:nvPr/>
          </p:nvSpPr>
          <p:spPr bwMode="auto">
            <a:xfrm>
              <a:off x="6682977" y="3584972"/>
              <a:ext cx="942975" cy="266700"/>
            </a:xfrm>
            <a:prstGeom prst="rect">
              <a:avLst/>
            </a:prstGeom>
            <a:noFill/>
            <a:ln w="12700">
              <a:noFill/>
              <a:miter lim="800000"/>
              <a:headEnd/>
              <a:tailEnd/>
            </a:ln>
          </p:spPr>
          <p:txBody>
            <a:bodyPr lIns="0" tIns="0" rIns="40639" bIns="0"/>
            <a:lstStyle/>
            <a:p>
              <a:pPr marL="39686" algn="ctr"/>
              <a:r>
                <a:rPr lang="en-US" sz="1467" dirty="0">
                  <a:latin typeface="Calibri" pitchFamily="34" charset="0"/>
                  <a:cs typeface="Arial" charset="0"/>
                </a:rPr>
                <a:t>Percepts</a:t>
              </a:r>
            </a:p>
          </p:txBody>
        </p:sp>
        <p:sp>
          <p:nvSpPr>
            <p:cNvPr id="33" name="Rectangle 21"/>
            <p:cNvSpPr>
              <a:spLocks/>
            </p:cNvSpPr>
            <p:nvPr/>
          </p:nvSpPr>
          <p:spPr bwMode="auto">
            <a:xfrm>
              <a:off x="6749652" y="4324350"/>
              <a:ext cx="809625" cy="304800"/>
            </a:xfrm>
            <a:prstGeom prst="rect">
              <a:avLst/>
            </a:prstGeom>
            <a:noFill/>
            <a:ln w="12700">
              <a:noFill/>
              <a:miter lim="800000"/>
              <a:headEnd/>
              <a:tailEnd/>
            </a:ln>
          </p:spPr>
          <p:txBody>
            <a:bodyPr lIns="0" tIns="0" rIns="40639" bIns="0"/>
            <a:lstStyle/>
            <a:p>
              <a:pPr marL="39686" algn="ctr"/>
              <a:r>
                <a:rPr lang="en-US" sz="1467" dirty="0">
                  <a:latin typeface="Calibri" pitchFamily="34" charset="0"/>
                  <a:cs typeface="Arial" charset="0"/>
                </a:rPr>
                <a:t>Actions</a:t>
              </a:r>
            </a:p>
          </p:txBody>
        </p:sp>
      </p:grpSp>
      <p:pic>
        <p:nvPicPr>
          <p:cNvPr id="46083" name="Picture 3"/>
          <p:cNvPicPr preferRelativeResize="0">
            <a:picLocks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7721601" y="1496302"/>
            <a:ext cx="3759199" cy="2942868"/>
          </a:xfrm>
          <a:prstGeom prst="rect">
            <a:avLst/>
          </a:prstGeom>
          <a:noFill/>
        </p:spPr>
      </p:pic>
    </p:spTree>
    <p:extLst>
      <p:ext uri="{BB962C8B-B14F-4D97-AF65-F5344CB8AC3E}">
        <p14:creationId xmlns:p14="http://schemas.microsoft.com/office/powerpoint/2010/main" val="29586103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6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765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765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7653">
                                            <p:txEl>
                                              <p:pRg st="3" end="3"/>
                                            </p:txEl>
                                          </p:spTgt>
                                        </p:tgtEl>
                                        <p:attrNameLst>
                                          <p:attrName>style.visibility</p:attrName>
                                        </p:attrNameLst>
                                      </p:cBhvr>
                                      <p:to>
                                        <p:strVal val="visible"/>
                                      </p:to>
                                    </p:se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27653">
                                            <p:txEl>
                                              <p:pRg st="4" end="4"/>
                                            </p:txEl>
                                          </p:spTgt>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499"/>
                                          </p:stCondLst>
                                        </p:cTn>
                                        <p:tgtEl>
                                          <p:spTgt spid="2765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build="p" bldLvl="5" autoUpdateAnimBg="0"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4"/>
          <p:cNvSpPr>
            <a:spLocks noGrp="1" noChangeArrowheads="1"/>
          </p:cNvSpPr>
          <p:nvPr>
            <p:ph type="title"/>
          </p:nvPr>
        </p:nvSpPr>
        <p:spPr/>
        <p:txBody>
          <a:bodyPr vert="horz" lIns="91440" tIns="45720" rIns="132077" bIns="45720" rtlCol="0" anchor="ctr">
            <a:normAutofit/>
          </a:bodyPr>
          <a:lstStyle/>
          <a:p>
            <a:r>
              <a:rPr lang="en-US" dirty="0"/>
              <a:t>Rational Decisions</a:t>
            </a:r>
          </a:p>
        </p:txBody>
      </p:sp>
      <p:sp>
        <p:nvSpPr>
          <p:cNvPr id="2" name="Content Placeholder 1"/>
          <p:cNvSpPr>
            <a:spLocks noGrp="1"/>
          </p:cNvSpPr>
          <p:nvPr>
            <p:ph idx="1"/>
          </p:nvPr>
        </p:nvSpPr>
        <p:spPr/>
        <p:txBody>
          <a:bodyPr/>
          <a:lstStyle/>
          <a:p>
            <a:r>
              <a:rPr lang="en-US" dirty="0"/>
              <a:t>We’ll use the term rational in a very specific, technical way:</a:t>
            </a:r>
          </a:p>
          <a:p>
            <a:r>
              <a:rPr lang="en-US" dirty="0"/>
              <a:t>Rational: maximally achieving pre-defined goals</a:t>
            </a:r>
          </a:p>
          <a:p>
            <a:r>
              <a:rPr lang="en-US" dirty="0"/>
              <a:t>Rationality only concerns what decisions are made (not the thought process behind them)</a:t>
            </a:r>
          </a:p>
          <a:p>
            <a:r>
              <a:rPr lang="en-US" dirty="0"/>
              <a:t>Goals are expressed in terms of the utility of outcomes</a:t>
            </a:r>
          </a:p>
          <a:p>
            <a:r>
              <a:rPr lang="en-US" dirty="0"/>
              <a:t>Being rational means </a:t>
            </a:r>
            <a:r>
              <a:rPr lang="en-US" b="1" dirty="0"/>
              <a:t>maximizing your expected utility</a:t>
            </a:r>
          </a:p>
          <a:p>
            <a:pPr marL="39686"/>
            <a:endParaRPr lang="en-US" dirty="0"/>
          </a:p>
        </p:txBody>
      </p:sp>
      <p:pic>
        <p:nvPicPr>
          <p:cNvPr id="6" name="Picture 1"/>
          <p:cNvPicPr>
            <a:picLocks noChangeAspect="1" noChangeArrowheads="1"/>
          </p:cNvPicPr>
          <p:nvPr/>
        </p:nvPicPr>
        <p:blipFill>
          <a:blip r:embed="rId3" cstate="print"/>
          <a:srcRect/>
          <a:stretch>
            <a:fillRect/>
          </a:stretch>
        </p:blipFill>
        <p:spPr bwMode="auto">
          <a:xfrm>
            <a:off x="8637922" y="4709078"/>
            <a:ext cx="2715878" cy="1774662"/>
          </a:xfrm>
          <a:prstGeom prst="rect">
            <a:avLst/>
          </a:prstGeom>
          <a:noFill/>
          <a:ln w="9525">
            <a:noFill/>
            <a:miter lim="800000"/>
            <a:headEnd/>
            <a:tailEnd/>
          </a:ln>
          <a:effectLst/>
        </p:spPr>
      </p:pic>
    </p:spTree>
    <p:extLst>
      <p:ext uri="{BB962C8B-B14F-4D97-AF65-F5344CB8AC3E}">
        <p14:creationId xmlns:p14="http://schemas.microsoft.com/office/powerpoint/2010/main" val="38378612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7A2B76F-67FB-4FBE-B83F-CC9A2B89E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9055" y="996580"/>
            <a:ext cx="7893889" cy="4864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8346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Approaches to AI</a:t>
            </a:r>
          </a:p>
        </p:txBody>
      </p:sp>
      <p:sp>
        <p:nvSpPr>
          <p:cNvPr id="3" name="Content Placeholder 2"/>
          <p:cNvSpPr>
            <a:spLocks noGrp="1"/>
          </p:cNvSpPr>
          <p:nvPr>
            <p:ph idx="1"/>
          </p:nvPr>
        </p:nvSpPr>
        <p:spPr/>
        <p:txBody>
          <a:bodyPr>
            <a:normAutofit lnSpcReduction="10000"/>
          </a:bodyPr>
          <a:lstStyle/>
          <a:p>
            <a:r>
              <a:rPr lang="en-US" b="1" dirty="0"/>
              <a:t>Strong AI</a:t>
            </a:r>
          </a:p>
          <a:p>
            <a:pPr lvl="1"/>
            <a:r>
              <a:rPr lang="en-US" dirty="0"/>
              <a:t>Strong AI aims to build machines that can truly reason and solve problems who is self aware and whose overall intellectual ability is indistinguishable from that of a human being.</a:t>
            </a:r>
          </a:p>
          <a:p>
            <a:pPr lvl="2"/>
            <a:r>
              <a:rPr lang="en-US" dirty="0"/>
              <a:t>Human-Like </a:t>
            </a:r>
          </a:p>
          <a:p>
            <a:r>
              <a:rPr lang="en-US" b="1" dirty="0"/>
              <a:t>Weak AI</a:t>
            </a:r>
          </a:p>
          <a:p>
            <a:pPr lvl="1"/>
            <a:r>
              <a:rPr lang="en-US" dirty="0"/>
              <a:t>Weak artificial intelligence (</a:t>
            </a:r>
            <a:r>
              <a:rPr lang="en-US" b="1" dirty="0"/>
              <a:t>weak AI</a:t>
            </a:r>
            <a:r>
              <a:rPr lang="en-US" dirty="0"/>
              <a:t>), also known as narrow AI, is artificial intelligence that is </a:t>
            </a:r>
            <a:r>
              <a:rPr lang="en-US" b="1" dirty="0"/>
              <a:t>focused on one narrow task</a:t>
            </a:r>
            <a:r>
              <a:rPr lang="en-US" dirty="0"/>
              <a:t>.</a:t>
            </a:r>
          </a:p>
          <a:p>
            <a:pPr lvl="1"/>
            <a:r>
              <a:rPr lang="en-US" dirty="0"/>
              <a:t>Deals with the creation of some form of computer-based artificial intelligence that </a:t>
            </a:r>
            <a:r>
              <a:rPr lang="en-US" b="1" dirty="0"/>
              <a:t>cannot</a:t>
            </a:r>
            <a:r>
              <a:rPr lang="en-US" dirty="0"/>
              <a:t> truly reason and solve problems, but can act as if it were intelligent.</a:t>
            </a:r>
          </a:p>
          <a:p>
            <a:pPr lvl="1"/>
            <a:r>
              <a:rPr lang="en-US" b="1" dirty="0"/>
              <a:t>Siri</a:t>
            </a:r>
            <a:r>
              <a:rPr lang="en-US" dirty="0"/>
              <a:t> is a good example of narrow intelligence. </a:t>
            </a:r>
          </a:p>
        </p:txBody>
      </p:sp>
    </p:spTree>
    <p:extLst>
      <p:ext uri="{BB962C8B-B14F-4D97-AF65-F5344CB8AC3E}">
        <p14:creationId xmlns:p14="http://schemas.microsoft.com/office/powerpoint/2010/main" val="602208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Quiz</a:t>
            </a:r>
          </a:p>
        </p:txBody>
      </p:sp>
      <p:sp>
        <p:nvSpPr>
          <p:cNvPr id="3" name="Content Placeholder 2"/>
          <p:cNvSpPr>
            <a:spLocks noGrp="1"/>
          </p:cNvSpPr>
          <p:nvPr>
            <p:ph idx="1"/>
          </p:nvPr>
        </p:nvSpPr>
        <p:spPr/>
        <p:txBody>
          <a:bodyPr/>
          <a:lstStyle/>
          <a:p>
            <a:r>
              <a:rPr lang="en-US" dirty="0"/>
              <a:t>To what extent are the following computer systems instances of artificial intelligence:</a:t>
            </a:r>
          </a:p>
          <a:p>
            <a:pPr lvl="1"/>
            <a:r>
              <a:rPr lang="en-US" dirty="0"/>
              <a:t>Supermarket bar code scanners.</a:t>
            </a:r>
          </a:p>
          <a:p>
            <a:pPr lvl="1"/>
            <a:r>
              <a:rPr lang="en-US" dirty="0"/>
              <a:t>Web search engines.</a:t>
            </a:r>
          </a:p>
          <a:p>
            <a:pPr lvl="1"/>
            <a:r>
              <a:rPr lang="en-US" dirty="0"/>
              <a:t>Voice-activated telephone menus.</a:t>
            </a:r>
          </a:p>
          <a:p>
            <a:endParaRPr lang="en-US" dirty="0"/>
          </a:p>
        </p:txBody>
      </p:sp>
    </p:spTree>
    <p:extLst>
      <p:ext uri="{BB962C8B-B14F-4D97-AF65-F5344CB8AC3E}">
        <p14:creationId xmlns:p14="http://schemas.microsoft.com/office/powerpoint/2010/main" val="27268595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Applications of AI</a:t>
            </a:r>
          </a:p>
        </p:txBody>
      </p:sp>
      <p:sp>
        <p:nvSpPr>
          <p:cNvPr id="3" name="Content Placeholder 2"/>
          <p:cNvSpPr>
            <a:spLocks noGrp="1"/>
          </p:cNvSpPr>
          <p:nvPr>
            <p:ph idx="1"/>
          </p:nvPr>
        </p:nvSpPr>
        <p:spPr/>
        <p:txBody>
          <a:bodyPr/>
          <a:lstStyle/>
          <a:p>
            <a:r>
              <a:rPr lang="sv-SE" dirty="0"/>
              <a:t>Game playing</a:t>
            </a:r>
          </a:p>
          <a:p>
            <a:r>
              <a:rPr lang="sv-SE" dirty="0"/>
              <a:t>Computer vision</a:t>
            </a:r>
          </a:p>
          <a:p>
            <a:r>
              <a:rPr lang="sv-SE" dirty="0"/>
              <a:t>Natural language processing</a:t>
            </a:r>
          </a:p>
          <a:p>
            <a:r>
              <a:rPr lang="sv-SE" dirty="0"/>
              <a:t>Diagnosis systems</a:t>
            </a:r>
          </a:p>
          <a:p>
            <a:r>
              <a:rPr lang="sv-SE" dirty="0"/>
              <a:t>Control</a:t>
            </a:r>
          </a:p>
          <a:p>
            <a:r>
              <a:rPr lang="sv-SE" dirty="0"/>
              <a:t>Optimisation</a:t>
            </a:r>
          </a:p>
          <a:p>
            <a:r>
              <a:rPr lang="sv-SE" dirty="0"/>
              <a:t>Robotics</a:t>
            </a:r>
          </a:p>
          <a:p>
            <a:endParaRPr lang="en-US" dirty="0"/>
          </a:p>
        </p:txBody>
      </p:sp>
    </p:spTree>
    <p:extLst>
      <p:ext uri="{BB962C8B-B14F-4D97-AF65-F5344CB8AC3E}">
        <p14:creationId xmlns:p14="http://schemas.microsoft.com/office/powerpoint/2010/main" val="3860971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solidFill>
                  <a:schemeClr val="tx1"/>
                </a:solidFill>
              </a:rPr>
              <a:t>Natural Language</a:t>
            </a:r>
          </a:p>
        </p:txBody>
      </p:sp>
      <p:sp>
        <p:nvSpPr>
          <p:cNvPr id="542723" name="Rectangle 3"/>
          <p:cNvSpPr>
            <a:spLocks noGrp="1" noChangeArrowheads="1"/>
          </p:cNvSpPr>
          <p:nvPr>
            <p:ph idx="1"/>
          </p:nvPr>
        </p:nvSpPr>
        <p:spPr/>
        <p:txBody>
          <a:bodyPr>
            <a:normAutofit fontScale="70000" lnSpcReduction="20000"/>
          </a:bodyPr>
          <a:lstStyle/>
          <a:p>
            <a:pPr eaLnBrk="1" hangingPunct="1">
              <a:lnSpc>
                <a:spcPct val="80000"/>
              </a:lnSpc>
            </a:pPr>
            <a:r>
              <a:rPr lang="en-US" sz="2400" dirty="0"/>
              <a:t>Speech technologies (e.g. </a:t>
            </a:r>
            <a:r>
              <a:rPr lang="en-US" sz="2400" dirty="0" err="1"/>
              <a:t>Siri</a:t>
            </a:r>
            <a:r>
              <a:rPr lang="en-US" sz="2400" dirty="0"/>
              <a:t>)</a:t>
            </a:r>
          </a:p>
          <a:p>
            <a:pPr lvl="1" eaLnBrk="1" hangingPunct="1">
              <a:lnSpc>
                <a:spcPct val="80000"/>
              </a:lnSpc>
            </a:pPr>
            <a:r>
              <a:rPr lang="en-US" sz="2000" dirty="0"/>
              <a:t>Automatic speech recognition (ASR)</a:t>
            </a:r>
          </a:p>
          <a:p>
            <a:pPr lvl="1" eaLnBrk="1" hangingPunct="1">
              <a:lnSpc>
                <a:spcPct val="80000"/>
              </a:lnSpc>
            </a:pPr>
            <a:r>
              <a:rPr lang="en-US" sz="2000" dirty="0"/>
              <a:t>Text-to-speech synthesis (TTS)</a:t>
            </a:r>
          </a:p>
          <a:p>
            <a:pPr lvl="1" eaLnBrk="1" hangingPunct="1">
              <a:lnSpc>
                <a:spcPct val="80000"/>
              </a:lnSpc>
            </a:pPr>
            <a:r>
              <a:rPr lang="en-US" sz="2000" dirty="0"/>
              <a:t>Dialog systems</a:t>
            </a:r>
          </a:p>
          <a:p>
            <a:pPr lvl="1" eaLnBrk="1" hangingPunct="1">
              <a:lnSpc>
                <a:spcPct val="80000"/>
              </a:lnSpc>
            </a:pPr>
            <a:endParaRPr lang="en-US" sz="2000" dirty="0"/>
          </a:p>
          <a:p>
            <a:pPr eaLnBrk="1" hangingPunct="1">
              <a:lnSpc>
                <a:spcPct val="80000"/>
              </a:lnSpc>
            </a:pPr>
            <a:r>
              <a:rPr lang="en-US" sz="2400" dirty="0"/>
              <a:t>Language processing technologies</a:t>
            </a:r>
          </a:p>
          <a:p>
            <a:pPr lvl="1" eaLnBrk="1" hangingPunct="1">
              <a:lnSpc>
                <a:spcPct val="80000"/>
              </a:lnSpc>
            </a:pPr>
            <a:r>
              <a:rPr lang="en-US" sz="2000" dirty="0"/>
              <a:t>Question answering</a:t>
            </a:r>
          </a:p>
          <a:p>
            <a:pPr lvl="1" eaLnBrk="1" hangingPunct="1">
              <a:lnSpc>
                <a:spcPct val="80000"/>
              </a:lnSpc>
            </a:pPr>
            <a:r>
              <a:rPr lang="en-US" sz="2000" dirty="0"/>
              <a:t>Machine translation</a:t>
            </a:r>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buFont typeface="Wingdings" pitchFamily="2" charset="2"/>
              <a:buNone/>
            </a:pPr>
            <a:r>
              <a:rPr lang="en-US" sz="2000" dirty="0"/>
              <a:t>	</a:t>
            </a:r>
          </a:p>
          <a:p>
            <a:pPr lvl="1" eaLnBrk="1" hangingPunct="1">
              <a:lnSpc>
                <a:spcPct val="80000"/>
              </a:lnSpc>
            </a:pPr>
            <a:endParaRPr lang="en-US" sz="2000" dirty="0"/>
          </a:p>
          <a:p>
            <a:pPr lvl="1" eaLnBrk="1" hangingPunct="1">
              <a:lnSpc>
                <a:spcPct val="80000"/>
              </a:lnSpc>
            </a:pPr>
            <a:r>
              <a:rPr lang="en-US" sz="2000" dirty="0"/>
              <a:t>Web search</a:t>
            </a:r>
          </a:p>
          <a:p>
            <a:pPr lvl="1" eaLnBrk="1" hangingPunct="1">
              <a:lnSpc>
                <a:spcPct val="80000"/>
              </a:lnSpc>
            </a:pPr>
            <a:r>
              <a:rPr lang="en-US" sz="2000" dirty="0"/>
              <a:t>Text classification, spam filtering, etc…</a:t>
            </a:r>
          </a:p>
        </p:txBody>
      </p:sp>
      <p:pic>
        <p:nvPicPr>
          <p:cNvPr id="11" name="Picture 3"/>
          <p:cNvPicPr>
            <a:picLocks noChangeAspect="1" noChangeArrowheads="1"/>
          </p:cNvPicPr>
          <p:nvPr/>
        </p:nvPicPr>
        <p:blipFill>
          <a:blip r:embed="rId3" cstate="print"/>
          <a:srcRect l="7121" t="21938" r="10979" b="50627"/>
          <a:stretch>
            <a:fillRect/>
          </a:stretch>
        </p:blipFill>
        <p:spPr bwMode="auto">
          <a:xfrm>
            <a:off x="1171564" y="3646578"/>
            <a:ext cx="3367088" cy="1647825"/>
          </a:xfrm>
          <a:prstGeom prst="rect">
            <a:avLst/>
          </a:prstGeom>
          <a:noFill/>
          <a:ln w="12700">
            <a:solidFill>
              <a:schemeClr val="tx1"/>
            </a:solidFill>
            <a:miter lim="800000"/>
            <a:headEnd/>
            <a:tailEnd/>
          </a:ln>
        </p:spPr>
      </p:pic>
      <p:pic>
        <p:nvPicPr>
          <p:cNvPr id="13" name="Picture 5"/>
          <p:cNvPicPr>
            <a:picLocks noChangeAspect="1" noChangeArrowheads="1"/>
          </p:cNvPicPr>
          <p:nvPr/>
        </p:nvPicPr>
        <p:blipFill>
          <a:blip r:embed="rId4" cstate="print"/>
          <a:srcRect l="4761" t="14677" r="7295" b="52715"/>
          <a:stretch>
            <a:fillRect/>
          </a:stretch>
        </p:blipFill>
        <p:spPr bwMode="auto">
          <a:xfrm>
            <a:off x="4872016" y="3646578"/>
            <a:ext cx="3581400" cy="1652587"/>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2493096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2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2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272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42723">
                                            <p:txEl>
                                              <p:pRg st="18" end="1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272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1"/>
          <p:cNvPicPr>
            <a:picLocks noChangeAspect="1" noChangeArrowheads="1"/>
          </p:cNvPicPr>
          <p:nvPr/>
        </p:nvPicPr>
        <p:blipFill>
          <a:blip r:embed="rId2" cstate="print"/>
          <a:srcRect/>
          <a:stretch>
            <a:fillRect/>
          </a:stretch>
        </p:blipFill>
        <p:spPr bwMode="auto">
          <a:xfrm>
            <a:off x="838200" y="3490845"/>
            <a:ext cx="7366000" cy="3192463"/>
          </a:xfrm>
          <a:prstGeom prst="rect">
            <a:avLst/>
          </a:prstGeom>
          <a:noFill/>
          <a:ln w="12700">
            <a:noFill/>
            <a:miter lim="800000"/>
            <a:headEnd/>
            <a:tailEnd/>
          </a:ln>
        </p:spPr>
      </p:pic>
      <p:sp>
        <p:nvSpPr>
          <p:cNvPr id="18436" name="Rectangle 5"/>
          <p:cNvSpPr>
            <a:spLocks noGrp="1" noChangeArrowheads="1"/>
          </p:cNvSpPr>
          <p:nvPr>
            <p:ph type="title"/>
          </p:nvPr>
        </p:nvSpPr>
        <p:spPr/>
        <p:txBody>
          <a:bodyPr vert="horz" lIns="91440" tIns="45720" rIns="132077" bIns="45720" rtlCol="0" anchor="ctr">
            <a:normAutofit/>
          </a:bodyPr>
          <a:lstStyle/>
          <a:p>
            <a:r>
              <a:rPr lang="en-US" dirty="0"/>
              <a:t>Vision (Perception)</a:t>
            </a:r>
          </a:p>
        </p:txBody>
      </p:sp>
      <p:sp>
        <p:nvSpPr>
          <p:cNvPr id="3" name="Content Placeholder 2"/>
          <p:cNvSpPr>
            <a:spLocks noGrp="1"/>
          </p:cNvSpPr>
          <p:nvPr>
            <p:ph idx="1"/>
          </p:nvPr>
        </p:nvSpPr>
        <p:spPr/>
        <p:txBody>
          <a:bodyPr/>
          <a:lstStyle/>
          <a:p>
            <a:r>
              <a:rPr lang="en-US" dirty="0"/>
              <a:t>Object and face recognition</a:t>
            </a:r>
          </a:p>
          <a:p>
            <a:r>
              <a:rPr lang="en-US" dirty="0"/>
              <a:t>Scene segmentation</a:t>
            </a:r>
          </a:p>
          <a:p>
            <a:r>
              <a:rPr lang="en-US" dirty="0"/>
              <a:t>Image classification (say hand pic as hand)</a:t>
            </a:r>
          </a:p>
          <a:p>
            <a:endParaRPr lang="en-US" dirty="0"/>
          </a:p>
        </p:txBody>
      </p:sp>
      <p:pic>
        <p:nvPicPr>
          <p:cNvPr id="59394" name="Picture 2" descr="File:Kinect2-ir-image.png">
            <a:hlinkClick r:id="rId3"/>
          </p:cNvPr>
          <p:cNvPicPr>
            <a:picLocks noChangeAspect="1" noChangeArrowheads="1"/>
          </p:cNvPicPr>
          <p:nvPr/>
        </p:nvPicPr>
        <p:blipFill>
          <a:blip r:embed="rId4" cstate="print"/>
          <a:srcRect/>
          <a:stretch>
            <a:fillRect/>
          </a:stretch>
        </p:blipFill>
        <p:spPr bwMode="auto">
          <a:xfrm>
            <a:off x="9068905" y="1998231"/>
            <a:ext cx="2445173" cy="1930400"/>
          </a:xfrm>
          <a:prstGeom prst="rect">
            <a:avLst/>
          </a:prstGeom>
          <a:noFill/>
        </p:spPr>
      </p:pic>
      <p:pic>
        <p:nvPicPr>
          <p:cNvPr id="59396" name="Picture 4" descr="File:Kinect2-deepmap.png">
            <a:hlinkClick r:id="rId5"/>
          </p:cNvPr>
          <p:cNvPicPr>
            <a:picLocks noChangeAspect="1" noChangeArrowheads="1"/>
          </p:cNvPicPr>
          <p:nvPr/>
        </p:nvPicPr>
        <p:blipFill>
          <a:blip r:embed="rId6" cstate="print"/>
          <a:srcRect/>
          <a:stretch>
            <a:fillRect/>
          </a:stretch>
        </p:blipFill>
        <p:spPr bwMode="auto">
          <a:xfrm>
            <a:off x="9068905" y="4030232"/>
            <a:ext cx="2438400" cy="1963812"/>
          </a:xfrm>
          <a:prstGeom prst="rect">
            <a:avLst/>
          </a:prstGeom>
          <a:noFill/>
        </p:spPr>
      </p:pic>
      <p:pic>
        <p:nvPicPr>
          <p:cNvPr id="59398" name="Picture 6" descr="File:Xbox-360-Kinect-Standalone.png">
            <a:hlinkClick r:id="rId7"/>
          </p:cNvPr>
          <p:cNvPicPr>
            <a:picLocks noChangeAspect="1" noChangeArrowheads="1"/>
          </p:cNvPicPr>
          <p:nvPr/>
        </p:nvPicPr>
        <p:blipFill>
          <a:blip r:embed="rId8" cstate="print"/>
          <a:srcRect/>
          <a:stretch>
            <a:fillRect/>
          </a:stretch>
        </p:blipFill>
        <p:spPr bwMode="auto">
          <a:xfrm>
            <a:off x="6096000" y="1896630"/>
            <a:ext cx="3048000" cy="1052876"/>
          </a:xfrm>
          <a:prstGeom prst="rect">
            <a:avLst/>
          </a:prstGeom>
          <a:noFill/>
        </p:spPr>
      </p:pic>
    </p:spTree>
    <p:extLst>
      <p:ext uri="{BB962C8B-B14F-4D97-AF65-F5344CB8AC3E}">
        <p14:creationId xmlns:p14="http://schemas.microsoft.com/office/powerpoint/2010/main" val="111192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dirty="0">
                <a:solidFill>
                  <a:schemeClr val="tx1"/>
                </a:solidFill>
              </a:rPr>
              <a:t>Robotics</a:t>
            </a:r>
          </a:p>
        </p:txBody>
      </p:sp>
      <p:sp>
        <p:nvSpPr>
          <p:cNvPr id="2052" name="Rectangle 3"/>
          <p:cNvSpPr>
            <a:spLocks noGrp="1" noChangeArrowheads="1"/>
          </p:cNvSpPr>
          <p:nvPr>
            <p:ph idx="1"/>
          </p:nvPr>
        </p:nvSpPr>
        <p:spPr>
          <a:xfrm>
            <a:off x="838200" y="1825625"/>
            <a:ext cx="3031435" cy="4651376"/>
          </a:xfrm>
        </p:spPr>
        <p:txBody>
          <a:bodyPr>
            <a:normAutofit/>
          </a:bodyPr>
          <a:lstStyle/>
          <a:p>
            <a:pPr eaLnBrk="1" hangingPunct="1">
              <a:lnSpc>
                <a:spcPct val="80000"/>
              </a:lnSpc>
            </a:pPr>
            <a:r>
              <a:rPr lang="en-US" dirty="0"/>
              <a:t>Robotics</a:t>
            </a:r>
          </a:p>
          <a:p>
            <a:pPr lvl="1" eaLnBrk="1" hangingPunct="1">
              <a:lnSpc>
                <a:spcPct val="80000"/>
              </a:lnSpc>
            </a:pPr>
            <a:endParaRPr lang="en-US" sz="2800" dirty="0"/>
          </a:p>
          <a:p>
            <a:pPr eaLnBrk="1" hangingPunct="1">
              <a:lnSpc>
                <a:spcPct val="80000"/>
              </a:lnSpc>
            </a:pPr>
            <a:r>
              <a:rPr lang="en-US" dirty="0"/>
              <a:t>Technologies</a:t>
            </a:r>
          </a:p>
          <a:p>
            <a:pPr lvl="1">
              <a:lnSpc>
                <a:spcPct val="80000"/>
              </a:lnSpc>
            </a:pPr>
            <a:r>
              <a:rPr lang="en-US" dirty="0"/>
              <a:t>Vehicles</a:t>
            </a:r>
          </a:p>
          <a:p>
            <a:pPr lvl="1">
              <a:lnSpc>
                <a:spcPct val="80000"/>
              </a:lnSpc>
            </a:pPr>
            <a:r>
              <a:rPr lang="en-US" dirty="0"/>
              <a:t>Rescue</a:t>
            </a:r>
          </a:p>
          <a:p>
            <a:pPr lvl="1">
              <a:lnSpc>
                <a:spcPct val="80000"/>
              </a:lnSpc>
            </a:pPr>
            <a:r>
              <a:rPr lang="en-US" dirty="0"/>
              <a:t>Soccer!</a:t>
            </a:r>
          </a:p>
          <a:p>
            <a:pPr lvl="1">
              <a:lnSpc>
                <a:spcPct val="80000"/>
              </a:lnSpc>
            </a:pPr>
            <a:r>
              <a:rPr lang="en-US" dirty="0"/>
              <a:t>Lots of automation…</a:t>
            </a:r>
          </a:p>
          <a:p>
            <a:pPr marL="457200" lvl="1" indent="0" eaLnBrk="1" hangingPunct="1">
              <a:lnSpc>
                <a:spcPct val="80000"/>
              </a:lnSpc>
              <a:buNone/>
            </a:pPr>
            <a:endParaRPr lang="en-US" sz="2800" dirty="0"/>
          </a:p>
        </p:txBody>
      </p:sp>
      <p:pic>
        <p:nvPicPr>
          <p:cNvPr id="2" name="Picture 3"/>
          <p:cNvPicPr>
            <a:picLocks noChangeAspect="1" noChangeArrowheads="1"/>
          </p:cNvPicPr>
          <p:nvPr/>
        </p:nvPicPr>
        <p:blipFill>
          <a:blip r:embed="rId2" cstate="print"/>
          <a:srcRect/>
          <a:stretch>
            <a:fillRect/>
          </a:stretch>
        </p:blipFill>
        <p:spPr bwMode="auto">
          <a:xfrm>
            <a:off x="4135717" y="1295400"/>
            <a:ext cx="2468283" cy="2743200"/>
          </a:xfrm>
          <a:prstGeom prst="rect">
            <a:avLst/>
          </a:prstGeom>
          <a:noFill/>
          <a:ln w="9525">
            <a:noFill/>
            <a:miter lim="800000"/>
            <a:headEnd/>
            <a:tailEnd/>
          </a:ln>
        </p:spPr>
      </p:pic>
      <p:pic>
        <p:nvPicPr>
          <p:cNvPr id="3" name="Picture 4"/>
          <p:cNvPicPr>
            <a:picLocks noChangeAspect="1" noChangeArrowheads="1"/>
          </p:cNvPicPr>
          <p:nvPr/>
        </p:nvPicPr>
        <p:blipFill>
          <a:blip r:embed="rId3" cstate="print"/>
          <a:srcRect/>
          <a:stretch>
            <a:fillRect/>
          </a:stretch>
        </p:blipFill>
        <p:spPr bwMode="auto">
          <a:xfrm>
            <a:off x="6870082" y="1295400"/>
            <a:ext cx="4252608" cy="2133600"/>
          </a:xfrm>
          <a:prstGeom prst="rect">
            <a:avLst/>
          </a:prstGeom>
          <a:noFill/>
          <a:ln w="9525">
            <a:noFill/>
            <a:miter lim="800000"/>
            <a:headEnd/>
            <a:tailEnd/>
          </a:ln>
        </p:spPr>
      </p:pic>
      <p:pic>
        <p:nvPicPr>
          <p:cNvPr id="4" name="Picture 6" descr="http://www.bostondynamics.com/img/PETMAN_Mar-2012_crop.jpg"/>
          <p:cNvPicPr>
            <a:picLocks noChangeAspect="1" noChangeArrowheads="1"/>
          </p:cNvPicPr>
          <p:nvPr/>
        </p:nvPicPr>
        <p:blipFill>
          <a:blip r:embed="rId4" cstate="print"/>
          <a:srcRect l="28571" r="25714"/>
          <a:stretch>
            <a:fillRect/>
          </a:stretch>
        </p:blipFill>
        <p:spPr bwMode="auto">
          <a:xfrm>
            <a:off x="8446053" y="3618948"/>
            <a:ext cx="2133600" cy="3015761"/>
          </a:xfrm>
          <a:prstGeom prst="rect">
            <a:avLst/>
          </a:prstGeom>
          <a:noFill/>
        </p:spPr>
      </p:pic>
      <p:pic>
        <p:nvPicPr>
          <p:cNvPr id="1026" name="Picture 2"/>
          <p:cNvPicPr>
            <a:picLocks noChangeAspect="1" noChangeArrowheads="1"/>
          </p:cNvPicPr>
          <p:nvPr/>
        </p:nvPicPr>
        <p:blipFill>
          <a:blip r:embed="rId5" cstate="print"/>
          <a:srcRect/>
          <a:stretch>
            <a:fillRect/>
          </a:stretch>
        </p:blipFill>
        <p:spPr bwMode="auto">
          <a:xfrm>
            <a:off x="4135717" y="4151313"/>
            <a:ext cx="3454400" cy="2168491"/>
          </a:xfrm>
          <a:prstGeom prst="rect">
            <a:avLst/>
          </a:prstGeom>
          <a:noFill/>
          <a:ln w="9525">
            <a:noFill/>
            <a:miter lim="800000"/>
            <a:headEnd/>
            <a:tailEnd/>
          </a:ln>
        </p:spPr>
      </p:pic>
    </p:spTree>
    <p:extLst>
      <p:ext uri="{BB962C8B-B14F-4D97-AF65-F5344CB8AC3E}">
        <p14:creationId xmlns:p14="http://schemas.microsoft.com/office/powerpoint/2010/main" val="2917479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708" y="1587501"/>
            <a:ext cx="2674491" cy="4178296"/>
          </a:xfrm>
          <a:prstGeom prst="rect">
            <a:avLst/>
          </a:prstGeom>
          <a:noFill/>
        </p:spPr>
      </p:pic>
      <p:pic>
        <p:nvPicPr>
          <p:cNvPr id="43010"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841368" y="1803400"/>
            <a:ext cx="3982331" cy="3555997"/>
          </a:xfrm>
          <a:prstGeom prst="rect">
            <a:avLst/>
          </a:prstGeom>
          <a:noFill/>
        </p:spPr>
      </p:pic>
      <p:sp>
        <p:nvSpPr>
          <p:cNvPr id="21507" name="Rectangle 4"/>
          <p:cNvSpPr>
            <a:spLocks noGrp="1" noChangeArrowheads="1"/>
          </p:cNvSpPr>
          <p:nvPr>
            <p:ph type="title"/>
          </p:nvPr>
        </p:nvSpPr>
        <p:spPr/>
        <p:txBody>
          <a:bodyPr vert="horz" lIns="91440" tIns="45720" rIns="132077" bIns="45720" rtlCol="0" anchor="ctr">
            <a:normAutofit/>
          </a:bodyPr>
          <a:lstStyle/>
          <a:p>
            <a:r>
              <a:rPr lang="en-US" dirty="0"/>
              <a:t>Decision Making</a:t>
            </a:r>
          </a:p>
        </p:txBody>
      </p:sp>
      <p:sp>
        <p:nvSpPr>
          <p:cNvPr id="21508" name="Rectangle 5"/>
          <p:cNvSpPr>
            <a:spLocks noGrp="1" noChangeArrowheads="1"/>
          </p:cNvSpPr>
          <p:nvPr>
            <p:ph idx="1"/>
          </p:nvPr>
        </p:nvSpPr>
        <p:spPr>
          <a:xfrm>
            <a:off x="2085008" y="1927088"/>
            <a:ext cx="8432800" cy="3545021"/>
          </a:xfrm>
        </p:spPr>
        <p:txBody>
          <a:bodyPr vert="horz" lIns="91440" tIns="45720" rIns="132077" bIns="45720" rtlCol="0">
            <a:normAutofit/>
          </a:bodyPr>
          <a:lstStyle/>
          <a:p>
            <a:pPr marL="782599" lvl="1"/>
            <a:r>
              <a:rPr lang="en-US" dirty="0">
                <a:solidFill>
                  <a:schemeClr val="accent6"/>
                </a:solidFill>
              </a:rPr>
              <a:t>Applied AI involves many kinds of automation</a:t>
            </a:r>
          </a:p>
          <a:p>
            <a:pPr marL="1182628" lvl="2"/>
            <a:r>
              <a:rPr lang="en-US" dirty="0"/>
              <a:t>Scheduling, e.g. airline routing, military</a:t>
            </a:r>
          </a:p>
          <a:p>
            <a:pPr marL="1182628" lvl="2"/>
            <a:r>
              <a:rPr lang="en-US" dirty="0"/>
              <a:t>Route planning, e.g. Google maps</a:t>
            </a:r>
          </a:p>
          <a:p>
            <a:pPr marL="1182628" lvl="2"/>
            <a:r>
              <a:rPr lang="en-US" dirty="0"/>
              <a:t>Medical diagnosis</a:t>
            </a:r>
          </a:p>
          <a:p>
            <a:pPr marL="1182628" lvl="2"/>
            <a:r>
              <a:rPr lang="en-US" dirty="0"/>
              <a:t>Web search engines</a:t>
            </a:r>
          </a:p>
          <a:p>
            <a:pPr marL="1182628" lvl="2"/>
            <a:r>
              <a:rPr lang="en-US" dirty="0"/>
              <a:t>Spam classifiers</a:t>
            </a:r>
          </a:p>
          <a:p>
            <a:pPr marL="1182628" lvl="2"/>
            <a:r>
              <a:rPr lang="en-US" dirty="0"/>
              <a:t>Automated help desks</a:t>
            </a:r>
          </a:p>
          <a:p>
            <a:pPr marL="1182628" lvl="2"/>
            <a:r>
              <a:rPr lang="en-US" dirty="0"/>
              <a:t>Fraud detection</a:t>
            </a:r>
          </a:p>
          <a:p>
            <a:pPr marL="1182628" lvl="2"/>
            <a:r>
              <a:rPr lang="en-US" dirty="0"/>
              <a:t>Product recommendations</a:t>
            </a:r>
          </a:p>
          <a:p>
            <a:pPr marL="1182628" lvl="2"/>
            <a:r>
              <a:rPr lang="en-US" dirty="0"/>
              <a:t>… Lots more!</a:t>
            </a:r>
          </a:p>
        </p:txBody>
      </p:sp>
    </p:spTree>
    <p:extLst>
      <p:ext uri="{BB962C8B-B14F-4D97-AF65-F5344CB8AC3E}">
        <p14:creationId xmlns:p14="http://schemas.microsoft.com/office/powerpoint/2010/main" val="147268807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t>AI Topics: A Quick Introductory Overview</a:t>
            </a:r>
            <a:endParaRPr lang="en-GB" dirty="0"/>
          </a:p>
        </p:txBody>
      </p:sp>
      <p:pic>
        <p:nvPicPr>
          <p:cNvPr id="46084" name="Picture 4" descr="fig03_03"/>
          <p:cNvPicPr>
            <a:picLocks noGrp="1" noChangeAspect="1" noChangeArrowheads="1"/>
          </p:cNvPicPr>
          <p:nvPr>
            <p:ph idx="1"/>
          </p:nvPr>
        </p:nvPicPr>
        <p:blipFill>
          <a:blip r:embed="rId2"/>
          <a:stretch>
            <a:fillRect/>
          </a:stretch>
        </p:blipFill>
        <p:spPr>
          <a:xfrm>
            <a:off x="2655364" y="2506662"/>
            <a:ext cx="7326836" cy="4351338"/>
          </a:xfrm>
          <a:noFill/>
          <a:ln/>
        </p:spPr>
      </p:pic>
      <p:sp>
        <p:nvSpPr>
          <p:cNvPr id="7" name="Slide Number Placeholder 6"/>
          <p:cNvSpPr>
            <a:spLocks noGrp="1"/>
          </p:cNvSpPr>
          <p:nvPr>
            <p:ph type="sldNum" sz="quarter" idx="12"/>
          </p:nvPr>
        </p:nvSpPr>
        <p:spPr/>
        <p:txBody>
          <a:bodyPr/>
          <a:lstStyle/>
          <a:p>
            <a:fld id="{B419ECF2-FB11-4DF6-A0A9-BC3140D2ABBB}" type="slidenum">
              <a:rPr lang="en-GB"/>
              <a:pPr/>
              <a:t>31</a:t>
            </a:fld>
            <a:endParaRPr lang="en-GB"/>
          </a:p>
        </p:txBody>
      </p:sp>
      <p:sp>
        <p:nvSpPr>
          <p:cNvPr id="46083" name="Rectangle 3"/>
          <p:cNvSpPr>
            <a:spLocks noGrp="1" noChangeArrowheads="1"/>
          </p:cNvSpPr>
          <p:nvPr>
            <p:ph type="body" sz="half" idx="4294967295"/>
          </p:nvPr>
        </p:nvSpPr>
        <p:spPr>
          <a:xfrm>
            <a:off x="838200" y="1955800"/>
            <a:ext cx="10515600" cy="1030287"/>
          </a:xfrm>
        </p:spPr>
        <p:txBody>
          <a:bodyPr/>
          <a:lstStyle/>
          <a:p>
            <a:pPr marL="381000" indent="-381000">
              <a:buNone/>
            </a:pPr>
            <a:r>
              <a:rPr lang="en-US" dirty="0"/>
              <a:t>Classic AI search problems: Map searching (navigation)</a:t>
            </a:r>
          </a:p>
        </p:txBody>
      </p:sp>
      <p:sp>
        <p:nvSpPr>
          <p:cNvPr id="46086" name="Oval 6"/>
          <p:cNvSpPr>
            <a:spLocks noChangeArrowheads="1"/>
          </p:cNvSpPr>
          <p:nvPr/>
        </p:nvSpPr>
        <p:spPr bwMode="auto">
          <a:xfrm>
            <a:off x="3071191" y="3436144"/>
            <a:ext cx="3048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6087" name="Oval 7"/>
          <p:cNvSpPr>
            <a:spLocks noChangeArrowheads="1"/>
          </p:cNvSpPr>
          <p:nvPr/>
        </p:nvSpPr>
        <p:spPr bwMode="auto">
          <a:xfrm>
            <a:off x="7298635" y="5695122"/>
            <a:ext cx="304800" cy="457200"/>
          </a:xfrm>
          <a:prstGeom prst="ellipse">
            <a:avLst/>
          </a:prstGeom>
          <a:solidFill>
            <a:schemeClr val="hlink"/>
          </a:solidFill>
          <a:ln w="9525">
            <a:solidFill>
              <a:schemeClr val="tx1"/>
            </a:solidFill>
            <a:round/>
            <a:headEnd/>
            <a:tailEnd/>
          </a:ln>
          <a:effectLst/>
        </p:spPr>
        <p:txBody>
          <a:bodyPr wrap="none" anchor="ctr"/>
          <a:lstStyle/>
          <a:p>
            <a:endParaRPr lang="en-US"/>
          </a:p>
        </p:txBody>
      </p:sp>
    </p:spTree>
    <p:extLst>
      <p:ext uri="{BB962C8B-B14F-4D97-AF65-F5344CB8AC3E}">
        <p14:creationId xmlns:p14="http://schemas.microsoft.com/office/powerpoint/2010/main" val="2603390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Topics: A Quick Introductory Overview</a:t>
            </a:r>
          </a:p>
        </p:txBody>
      </p:sp>
      <p:sp>
        <p:nvSpPr>
          <p:cNvPr id="3" name="Content Placeholder 2"/>
          <p:cNvSpPr>
            <a:spLocks noGrp="1"/>
          </p:cNvSpPr>
          <p:nvPr>
            <p:ph idx="1"/>
          </p:nvPr>
        </p:nvSpPr>
        <p:spPr/>
        <p:txBody>
          <a:bodyPr/>
          <a:lstStyle/>
          <a:p>
            <a:r>
              <a:rPr lang="en-US" dirty="0"/>
              <a:t>Classic AI search problems</a:t>
            </a:r>
          </a:p>
          <a:p>
            <a:pPr lvl="1"/>
            <a:r>
              <a:rPr lang="en-US" dirty="0"/>
              <a:t>3*3*3 Rubik’s Cube</a:t>
            </a:r>
          </a:p>
          <a:p>
            <a:endParaRPr lang="en-US" dirty="0"/>
          </a:p>
        </p:txBody>
      </p:sp>
      <p:pic>
        <p:nvPicPr>
          <p:cNvPr id="4" name="Picture 7"/>
          <p:cNvPicPr>
            <a:picLocks noChangeAspect="1" noChangeArrowheads="1"/>
          </p:cNvPicPr>
          <p:nvPr/>
        </p:nvPicPr>
        <p:blipFill>
          <a:blip r:embed="rId2"/>
          <a:stretch>
            <a:fillRect/>
          </a:stretch>
        </p:blipFill>
        <p:spPr>
          <a:xfrm>
            <a:off x="3670853" y="3062992"/>
            <a:ext cx="5131283" cy="3113971"/>
          </a:xfrm>
          <a:prstGeom prst="rect">
            <a:avLst/>
          </a:prstGeom>
          <a:noFill/>
          <a:ln/>
        </p:spPr>
      </p:pic>
    </p:spTree>
    <p:extLst>
      <p:ext uri="{BB962C8B-B14F-4D97-AF65-F5344CB8AC3E}">
        <p14:creationId xmlns:p14="http://schemas.microsoft.com/office/powerpoint/2010/main" val="2514150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Classical AI Search Problems</a:t>
            </a:r>
          </a:p>
        </p:txBody>
      </p:sp>
      <p:sp>
        <p:nvSpPr>
          <p:cNvPr id="7" name="Content Placeholder 6"/>
          <p:cNvSpPr>
            <a:spLocks noGrp="1"/>
          </p:cNvSpPr>
          <p:nvPr>
            <p:ph idx="1"/>
          </p:nvPr>
        </p:nvSpPr>
        <p:spPr/>
        <p:txBody>
          <a:bodyPr/>
          <a:lstStyle/>
          <a:p>
            <a:r>
              <a:rPr lang="en-US" dirty="0"/>
              <a:t>8-Puzzle</a:t>
            </a:r>
          </a:p>
          <a:p>
            <a:endParaRPr lang="en-US" dirty="0"/>
          </a:p>
        </p:txBody>
      </p:sp>
      <p:grpSp>
        <p:nvGrpSpPr>
          <p:cNvPr id="8" name="Group 5"/>
          <p:cNvGrpSpPr>
            <a:grpSpLocks/>
          </p:cNvGrpSpPr>
          <p:nvPr/>
        </p:nvGrpSpPr>
        <p:grpSpPr bwMode="auto">
          <a:xfrm>
            <a:off x="1189382" y="3343413"/>
            <a:ext cx="1752600" cy="1524000"/>
            <a:chOff x="4312" y="828"/>
            <a:chExt cx="1104" cy="960"/>
          </a:xfrm>
        </p:grpSpPr>
        <p:sp>
          <p:nvSpPr>
            <p:cNvPr id="9" name="Rectangle 6"/>
            <p:cNvSpPr>
              <a:spLocks noChangeArrowheads="1"/>
            </p:cNvSpPr>
            <p:nvPr/>
          </p:nvSpPr>
          <p:spPr bwMode="auto">
            <a:xfrm>
              <a:off x="4312" y="828"/>
              <a:ext cx="1104" cy="96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0" name="Text Box 7"/>
            <p:cNvSpPr txBox="1">
              <a:spLocks noChangeArrowheads="1"/>
            </p:cNvSpPr>
            <p:nvPr/>
          </p:nvSpPr>
          <p:spPr bwMode="auto">
            <a:xfrm>
              <a:off x="4360"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1</a:t>
              </a:r>
            </a:p>
          </p:txBody>
        </p:sp>
        <p:sp>
          <p:nvSpPr>
            <p:cNvPr id="11" name="Text Box 8"/>
            <p:cNvSpPr txBox="1">
              <a:spLocks noChangeArrowheads="1"/>
            </p:cNvSpPr>
            <p:nvPr/>
          </p:nvSpPr>
          <p:spPr bwMode="auto">
            <a:xfrm>
              <a:off x="4696" y="876"/>
              <a:ext cx="336" cy="523"/>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4	</a:t>
              </a:r>
              <a:endParaRPr lang="en-US" sz="2400" dirty="0">
                <a:solidFill>
                  <a:srgbClr val="000000"/>
                </a:solidFill>
                <a:latin typeface="Times New Roman" pitchFamily="18" charset="0"/>
              </a:endParaRPr>
            </a:p>
          </p:txBody>
        </p:sp>
        <p:sp>
          <p:nvSpPr>
            <p:cNvPr id="12" name="Text Box 9"/>
            <p:cNvSpPr txBox="1">
              <a:spLocks noChangeArrowheads="1"/>
            </p:cNvSpPr>
            <p:nvPr/>
          </p:nvSpPr>
          <p:spPr bwMode="auto">
            <a:xfrm>
              <a:off x="5032"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2</a:t>
              </a:r>
              <a:endParaRPr lang="en-US" sz="2400" dirty="0">
                <a:solidFill>
                  <a:srgbClr val="000000"/>
                </a:solidFill>
                <a:latin typeface="Times New Roman" pitchFamily="18" charset="0"/>
              </a:endParaRPr>
            </a:p>
          </p:txBody>
        </p:sp>
        <p:sp>
          <p:nvSpPr>
            <p:cNvPr id="13" name="Text Box 10"/>
            <p:cNvSpPr txBox="1">
              <a:spLocks noChangeArrowheads="1"/>
            </p:cNvSpPr>
            <p:nvPr/>
          </p:nvSpPr>
          <p:spPr bwMode="auto">
            <a:xfrm>
              <a:off x="4360"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6</a:t>
              </a:r>
              <a:endParaRPr lang="en-US" sz="2400" dirty="0">
                <a:solidFill>
                  <a:srgbClr val="000000"/>
                </a:solidFill>
                <a:latin typeface="Times New Roman" pitchFamily="18" charset="0"/>
              </a:endParaRPr>
            </a:p>
          </p:txBody>
        </p:sp>
        <p:sp>
          <p:nvSpPr>
            <p:cNvPr id="14" name="Text Box 11"/>
            <p:cNvSpPr txBox="1">
              <a:spLocks noChangeArrowheads="1"/>
            </p:cNvSpPr>
            <p:nvPr/>
          </p:nvSpPr>
          <p:spPr bwMode="auto">
            <a:xfrm>
              <a:off x="4696"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5</a:t>
              </a:r>
              <a:endParaRPr lang="en-US" sz="2400" dirty="0">
                <a:solidFill>
                  <a:srgbClr val="000000"/>
                </a:solidFill>
                <a:latin typeface="Times New Roman" pitchFamily="18" charset="0"/>
              </a:endParaRPr>
            </a:p>
          </p:txBody>
        </p:sp>
        <p:sp>
          <p:nvSpPr>
            <p:cNvPr id="15" name="Text Box 12"/>
            <p:cNvSpPr txBox="1">
              <a:spLocks noChangeArrowheads="1"/>
            </p:cNvSpPr>
            <p:nvPr/>
          </p:nvSpPr>
          <p:spPr bwMode="auto">
            <a:xfrm>
              <a:off x="5032"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8</a:t>
              </a:r>
              <a:endParaRPr lang="en-US" sz="2400" dirty="0">
                <a:solidFill>
                  <a:srgbClr val="000000"/>
                </a:solidFill>
                <a:latin typeface="Times New Roman" pitchFamily="18" charset="0"/>
              </a:endParaRPr>
            </a:p>
          </p:txBody>
        </p:sp>
        <p:sp>
          <p:nvSpPr>
            <p:cNvPr id="16" name="Text Box 13"/>
            <p:cNvSpPr txBox="1">
              <a:spLocks noChangeArrowheads="1"/>
            </p:cNvSpPr>
            <p:nvPr/>
          </p:nvSpPr>
          <p:spPr bwMode="auto">
            <a:xfrm>
              <a:off x="4360" y="1452"/>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7</a:t>
              </a:r>
              <a:endParaRPr lang="en-US" sz="2400" dirty="0">
                <a:solidFill>
                  <a:srgbClr val="000000"/>
                </a:solidFill>
                <a:latin typeface="Times New Roman" pitchFamily="18" charset="0"/>
              </a:endParaRPr>
            </a:p>
          </p:txBody>
        </p:sp>
        <p:sp>
          <p:nvSpPr>
            <p:cNvPr id="17" name="Text Box 14"/>
            <p:cNvSpPr txBox="1">
              <a:spLocks noChangeArrowheads="1"/>
            </p:cNvSpPr>
            <p:nvPr/>
          </p:nvSpPr>
          <p:spPr bwMode="auto">
            <a:xfrm>
              <a:off x="4696" y="1452"/>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3</a:t>
              </a:r>
            </a:p>
          </p:txBody>
        </p:sp>
        <p:sp>
          <p:nvSpPr>
            <p:cNvPr id="18" name="Text Box 15"/>
            <p:cNvSpPr txBox="1">
              <a:spLocks noChangeArrowheads="1"/>
            </p:cNvSpPr>
            <p:nvPr/>
          </p:nvSpPr>
          <p:spPr bwMode="auto">
            <a:xfrm>
              <a:off x="5032" y="1452"/>
              <a:ext cx="336" cy="291"/>
            </a:xfrm>
            <a:prstGeom prst="rect">
              <a:avLst/>
            </a:prstGeom>
            <a:solidFill>
              <a:schemeClr val="bg1"/>
            </a:solidFill>
            <a:ln w="25400">
              <a:solidFill>
                <a:srgbClr val="808080"/>
              </a:solidFill>
              <a:miter lim="800000"/>
              <a:headEnd/>
              <a:tailEnd/>
            </a:ln>
            <a:effectLst/>
          </p:spPr>
          <p:txBody>
            <a:bodyPr>
              <a:spAutoFit/>
            </a:bodyPr>
            <a:lstStyle/>
            <a:p>
              <a:pPr algn="ctr" eaLnBrk="0" hangingPunct="0">
                <a:spcBef>
                  <a:spcPct val="50000"/>
                </a:spcBef>
              </a:pPr>
              <a:endParaRPr lang="en-US" sz="2400">
                <a:solidFill>
                  <a:srgbClr val="000000"/>
                </a:solidFill>
                <a:latin typeface="Times New Roman" pitchFamily="18" charset="0"/>
              </a:endParaRPr>
            </a:p>
          </p:txBody>
        </p:sp>
      </p:grpSp>
      <p:grpSp>
        <p:nvGrpSpPr>
          <p:cNvPr id="19" name="Group 17"/>
          <p:cNvGrpSpPr>
            <a:grpSpLocks/>
          </p:cNvGrpSpPr>
          <p:nvPr/>
        </p:nvGrpSpPr>
        <p:grpSpPr bwMode="auto">
          <a:xfrm>
            <a:off x="4542182" y="3343413"/>
            <a:ext cx="1752600" cy="1524000"/>
            <a:chOff x="4312" y="828"/>
            <a:chExt cx="1104" cy="960"/>
          </a:xfrm>
        </p:grpSpPr>
        <p:sp>
          <p:nvSpPr>
            <p:cNvPr id="20" name="Rectangle 18"/>
            <p:cNvSpPr>
              <a:spLocks noChangeArrowheads="1"/>
            </p:cNvSpPr>
            <p:nvPr/>
          </p:nvSpPr>
          <p:spPr bwMode="auto">
            <a:xfrm>
              <a:off x="4312" y="828"/>
              <a:ext cx="1104" cy="96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21" name="Text Box 19"/>
            <p:cNvSpPr txBox="1">
              <a:spLocks noChangeArrowheads="1"/>
            </p:cNvSpPr>
            <p:nvPr/>
          </p:nvSpPr>
          <p:spPr bwMode="auto">
            <a:xfrm>
              <a:off x="4360"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1</a:t>
              </a:r>
              <a:endParaRPr lang="en-US" sz="2400">
                <a:solidFill>
                  <a:srgbClr val="000000"/>
                </a:solidFill>
                <a:latin typeface="Times New Roman" pitchFamily="18" charset="0"/>
              </a:endParaRPr>
            </a:p>
          </p:txBody>
        </p:sp>
        <p:sp>
          <p:nvSpPr>
            <p:cNvPr id="22" name="Text Box 20"/>
            <p:cNvSpPr txBox="1">
              <a:spLocks noChangeArrowheads="1"/>
            </p:cNvSpPr>
            <p:nvPr/>
          </p:nvSpPr>
          <p:spPr bwMode="auto">
            <a:xfrm>
              <a:off x="4696"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2</a:t>
              </a:r>
              <a:endParaRPr lang="en-US" sz="2400">
                <a:solidFill>
                  <a:srgbClr val="000000"/>
                </a:solidFill>
                <a:latin typeface="Times New Roman" pitchFamily="18" charset="0"/>
              </a:endParaRPr>
            </a:p>
          </p:txBody>
        </p:sp>
        <p:sp>
          <p:nvSpPr>
            <p:cNvPr id="23" name="Text Box 21"/>
            <p:cNvSpPr txBox="1">
              <a:spLocks noChangeArrowheads="1"/>
            </p:cNvSpPr>
            <p:nvPr/>
          </p:nvSpPr>
          <p:spPr bwMode="auto">
            <a:xfrm>
              <a:off x="5032"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3</a:t>
              </a:r>
              <a:endParaRPr lang="en-US" sz="2400">
                <a:solidFill>
                  <a:srgbClr val="000000"/>
                </a:solidFill>
                <a:latin typeface="Times New Roman" pitchFamily="18" charset="0"/>
              </a:endParaRPr>
            </a:p>
          </p:txBody>
        </p:sp>
        <p:sp>
          <p:nvSpPr>
            <p:cNvPr id="24" name="Text Box 22"/>
            <p:cNvSpPr txBox="1">
              <a:spLocks noChangeArrowheads="1"/>
            </p:cNvSpPr>
            <p:nvPr/>
          </p:nvSpPr>
          <p:spPr bwMode="auto">
            <a:xfrm>
              <a:off x="4360"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4</a:t>
              </a:r>
              <a:endParaRPr lang="en-US" sz="2400">
                <a:solidFill>
                  <a:srgbClr val="000000"/>
                </a:solidFill>
                <a:latin typeface="Times New Roman" pitchFamily="18" charset="0"/>
              </a:endParaRPr>
            </a:p>
          </p:txBody>
        </p:sp>
        <p:sp>
          <p:nvSpPr>
            <p:cNvPr id="25" name="Text Box 23"/>
            <p:cNvSpPr txBox="1">
              <a:spLocks noChangeArrowheads="1"/>
            </p:cNvSpPr>
            <p:nvPr/>
          </p:nvSpPr>
          <p:spPr bwMode="auto">
            <a:xfrm>
              <a:off x="4696"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5</a:t>
              </a:r>
              <a:endParaRPr lang="en-US" sz="2400">
                <a:solidFill>
                  <a:srgbClr val="000000"/>
                </a:solidFill>
                <a:latin typeface="Times New Roman" pitchFamily="18" charset="0"/>
              </a:endParaRPr>
            </a:p>
          </p:txBody>
        </p:sp>
        <p:sp>
          <p:nvSpPr>
            <p:cNvPr id="26" name="Text Box 24"/>
            <p:cNvSpPr txBox="1">
              <a:spLocks noChangeArrowheads="1"/>
            </p:cNvSpPr>
            <p:nvPr/>
          </p:nvSpPr>
          <p:spPr bwMode="auto">
            <a:xfrm>
              <a:off x="5032"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6</a:t>
              </a:r>
              <a:endParaRPr lang="en-US" sz="2400">
                <a:solidFill>
                  <a:srgbClr val="000000"/>
                </a:solidFill>
                <a:latin typeface="Times New Roman" pitchFamily="18" charset="0"/>
              </a:endParaRPr>
            </a:p>
          </p:txBody>
        </p:sp>
        <p:sp>
          <p:nvSpPr>
            <p:cNvPr id="27" name="Text Box 25"/>
            <p:cNvSpPr txBox="1">
              <a:spLocks noChangeArrowheads="1"/>
            </p:cNvSpPr>
            <p:nvPr/>
          </p:nvSpPr>
          <p:spPr bwMode="auto">
            <a:xfrm>
              <a:off x="4360" y="1452"/>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7</a:t>
              </a:r>
              <a:endParaRPr lang="en-US" sz="2400">
                <a:solidFill>
                  <a:srgbClr val="000000"/>
                </a:solidFill>
                <a:latin typeface="Times New Roman" pitchFamily="18" charset="0"/>
              </a:endParaRPr>
            </a:p>
          </p:txBody>
        </p:sp>
        <p:sp>
          <p:nvSpPr>
            <p:cNvPr id="28" name="Text Box 26"/>
            <p:cNvSpPr txBox="1">
              <a:spLocks noChangeArrowheads="1"/>
            </p:cNvSpPr>
            <p:nvPr/>
          </p:nvSpPr>
          <p:spPr bwMode="auto">
            <a:xfrm>
              <a:off x="4696" y="1452"/>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8</a:t>
              </a:r>
            </a:p>
          </p:txBody>
        </p:sp>
        <p:sp>
          <p:nvSpPr>
            <p:cNvPr id="29" name="Text Box 27"/>
            <p:cNvSpPr txBox="1">
              <a:spLocks noChangeArrowheads="1"/>
            </p:cNvSpPr>
            <p:nvPr/>
          </p:nvSpPr>
          <p:spPr bwMode="auto">
            <a:xfrm>
              <a:off x="5032" y="1452"/>
              <a:ext cx="336" cy="291"/>
            </a:xfrm>
            <a:prstGeom prst="rect">
              <a:avLst/>
            </a:prstGeom>
            <a:solidFill>
              <a:schemeClr val="bg1"/>
            </a:solidFill>
            <a:ln w="25400">
              <a:solidFill>
                <a:srgbClr val="808080"/>
              </a:solidFill>
              <a:miter lim="800000"/>
              <a:headEnd/>
              <a:tailEnd/>
            </a:ln>
            <a:effectLst/>
          </p:spPr>
          <p:txBody>
            <a:bodyPr>
              <a:spAutoFit/>
            </a:bodyPr>
            <a:lstStyle/>
            <a:p>
              <a:pPr algn="ctr" eaLnBrk="0" hangingPunct="0">
                <a:spcBef>
                  <a:spcPct val="50000"/>
                </a:spcBef>
              </a:pPr>
              <a:endParaRPr lang="en-US" sz="2400">
                <a:solidFill>
                  <a:srgbClr val="000000"/>
                </a:solidFill>
                <a:latin typeface="Times New Roman" pitchFamily="18" charset="0"/>
              </a:endParaRPr>
            </a:p>
          </p:txBody>
        </p:sp>
      </p:grpSp>
      <p:sp>
        <p:nvSpPr>
          <p:cNvPr id="30" name="Line 28"/>
          <p:cNvSpPr>
            <a:spLocks noChangeShapeType="1"/>
          </p:cNvSpPr>
          <p:nvPr/>
        </p:nvSpPr>
        <p:spPr bwMode="auto">
          <a:xfrm>
            <a:off x="3170582" y="4105413"/>
            <a:ext cx="1066800" cy="0"/>
          </a:xfrm>
          <a:prstGeom prst="line">
            <a:avLst/>
          </a:prstGeom>
          <a:noFill/>
          <a:ln w="57150">
            <a:solidFill>
              <a:schemeClr val="tx1"/>
            </a:solidFill>
            <a:round/>
            <a:headEnd/>
            <a:tailEnd type="triangle" w="med" len="med"/>
          </a:ln>
          <a:effectLst/>
        </p:spPr>
        <p:txBody>
          <a:bodyPr/>
          <a:lstStyle/>
          <a:p>
            <a:endParaRPr lang="en-US"/>
          </a:p>
        </p:txBody>
      </p:sp>
      <p:pic>
        <p:nvPicPr>
          <p:cNvPr id="3076" name="Picture 4" descr="sol"/>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008743" y="1690688"/>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5501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Classical AI Search Problems</a:t>
            </a:r>
          </a:p>
        </p:txBody>
      </p:sp>
      <p:pic>
        <p:nvPicPr>
          <p:cNvPr id="2050" name="Picture 2" descr="https://cdn-images-1.medium.com/max/1600/1*hVbUfzgUGmaXfQ69U4t1wg.gif"/>
          <p:cNvPicPr>
            <a:picLocks noGrp="1" noChangeAspect="1" noChangeArrowheads="1" noCro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920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601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Classical AI Search Problem</a:t>
            </a:r>
          </a:p>
        </p:txBody>
      </p:sp>
      <p:sp>
        <p:nvSpPr>
          <p:cNvPr id="3" name="Content Placeholder 2"/>
          <p:cNvSpPr>
            <a:spLocks noGrp="1"/>
          </p:cNvSpPr>
          <p:nvPr>
            <p:ph idx="1"/>
          </p:nvPr>
        </p:nvSpPr>
        <p:spPr/>
        <p:txBody>
          <a:bodyPr/>
          <a:lstStyle/>
          <a:p>
            <a:r>
              <a:rPr lang="en-US" dirty="0"/>
              <a:t>Pac-Man</a:t>
            </a:r>
          </a:p>
        </p:txBody>
      </p:sp>
      <p:pic>
        <p:nvPicPr>
          <p:cNvPr id="4098" name="Picture 2" descr="Pac-Man Gam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062287" y="2807458"/>
            <a:ext cx="6067425"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910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5e93d4a-e23b-42c8-8ff1-78131b2d8e46">
      <Terms xmlns="http://schemas.microsoft.com/office/infopath/2007/PartnerControls"/>
    </lcf76f155ced4ddcb4097134ff3c332f>
    <TaxCatchAll xmlns="4365d7e7-07f8-46ee-9253-0d9db5cf024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59C947163D0D9438ADFAABD5D135A8E" ma:contentTypeVersion="15" ma:contentTypeDescription="Create a new document." ma:contentTypeScope="" ma:versionID="5b4f94f29af92c2c38760606e13a76fa">
  <xsd:schema xmlns:xsd="http://www.w3.org/2001/XMLSchema" xmlns:xs="http://www.w3.org/2001/XMLSchema" xmlns:p="http://schemas.microsoft.com/office/2006/metadata/properties" xmlns:ns2="4365d7e7-07f8-46ee-9253-0d9db5cf0247" xmlns:ns3="c5e93d4a-e23b-42c8-8ff1-78131b2d8e46" targetNamespace="http://schemas.microsoft.com/office/2006/metadata/properties" ma:root="true" ma:fieldsID="27929261d078ce812582891b1a16c94f" ns2:_="" ns3:_="">
    <xsd:import namespace="4365d7e7-07f8-46ee-9253-0d9db5cf0247"/>
    <xsd:import namespace="c5e93d4a-e23b-42c8-8ff1-78131b2d8e4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5d7e7-07f8-46ee-9253-0d9db5cf02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b5eb382-fb55-4e68-ad83-511be951eceb}" ma:internalName="TaxCatchAll" ma:showField="CatchAllData" ma:web="4365d7e7-07f8-46ee-9253-0d9db5cf024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5e93d4a-e23b-42c8-8ff1-78131b2d8e4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b19d95c-03cc-479b-95fc-186cd9d3511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6C4528-5205-4C8B-ADD5-A81ADD6590E1}">
  <ds:schemaRefs>
    <ds:schemaRef ds:uri="http://schemas.microsoft.com/office/2006/metadata/properties"/>
    <ds:schemaRef ds:uri="http://schemas.microsoft.com/office/infopath/2007/PartnerControls"/>
    <ds:schemaRef ds:uri="c5e93d4a-e23b-42c8-8ff1-78131b2d8e46"/>
    <ds:schemaRef ds:uri="4365d7e7-07f8-46ee-9253-0d9db5cf0247"/>
  </ds:schemaRefs>
</ds:datastoreItem>
</file>

<file path=customXml/itemProps2.xml><?xml version="1.0" encoding="utf-8"?>
<ds:datastoreItem xmlns:ds="http://schemas.openxmlformats.org/officeDocument/2006/customXml" ds:itemID="{4BA63DB8-E0A2-40ED-85BA-3F84F776899A}">
  <ds:schemaRefs>
    <ds:schemaRef ds:uri="http://schemas.microsoft.com/sharepoint/v3/contenttype/forms"/>
  </ds:schemaRefs>
</ds:datastoreItem>
</file>

<file path=customXml/itemProps3.xml><?xml version="1.0" encoding="utf-8"?>
<ds:datastoreItem xmlns:ds="http://schemas.openxmlformats.org/officeDocument/2006/customXml" ds:itemID="{9A497F16-CC02-42CC-A1C8-97B80B2719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5d7e7-07f8-46ee-9253-0d9db5cf0247"/>
    <ds:schemaRef ds:uri="c5e93d4a-e23b-42c8-8ff1-78131b2d8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942</TotalTime>
  <Words>1495</Words>
  <Application>Microsoft Office PowerPoint</Application>
  <PresentationFormat>Widescreen</PresentationFormat>
  <Paragraphs>309</Paragraphs>
  <Slides>35</Slides>
  <Notes>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5" baseType="lpstr">
      <vt:lpstr>Arial</vt:lpstr>
      <vt:lpstr>Book Antiqua</vt:lpstr>
      <vt:lpstr>Calibri</vt:lpstr>
      <vt:lpstr>Calibri Light</vt:lpstr>
      <vt:lpstr>Franklin Gothic Book</vt:lpstr>
      <vt:lpstr>Helvetica</vt:lpstr>
      <vt:lpstr>Times New Roman</vt:lpstr>
      <vt:lpstr>Wingdings</vt:lpstr>
      <vt:lpstr>Office Theme</vt:lpstr>
      <vt:lpstr>Clip</vt:lpstr>
      <vt:lpstr>Artificial Intelligence</vt:lpstr>
      <vt:lpstr>Recommended Books</vt:lpstr>
      <vt:lpstr>Recommended Books</vt:lpstr>
      <vt:lpstr>Grading (Tentative)</vt:lpstr>
      <vt:lpstr>Logistics</vt:lpstr>
      <vt:lpstr>Other Announcements</vt:lpstr>
      <vt:lpstr>Course Topics</vt:lpstr>
      <vt:lpstr>Question</vt:lpstr>
      <vt:lpstr>Why AI?</vt:lpstr>
      <vt:lpstr>What is Intelligence?</vt:lpstr>
      <vt:lpstr>Artificial Intelligence</vt:lpstr>
      <vt:lpstr>Artificial Intelligence</vt:lpstr>
      <vt:lpstr>Humans Vs Machines</vt:lpstr>
      <vt:lpstr>What is AI?</vt:lpstr>
      <vt:lpstr>Acting Humanly:  Turing Test</vt:lpstr>
      <vt:lpstr>Thinking Humanly:  The cognitive modeling approach</vt:lpstr>
      <vt:lpstr>Thinking Rationally:   Laws of Thought</vt:lpstr>
      <vt:lpstr>Acting rationally:  Rational agent</vt:lpstr>
      <vt:lpstr>Acting rationally:  Rational agent</vt:lpstr>
      <vt:lpstr>PowerPoint Presentation</vt:lpstr>
      <vt:lpstr>Designing Rational Agents</vt:lpstr>
      <vt:lpstr>Rational Decisions</vt:lpstr>
      <vt:lpstr>PowerPoint Presentation</vt:lpstr>
      <vt:lpstr>Approaches to AI</vt:lpstr>
      <vt:lpstr>Quick Quiz</vt:lpstr>
      <vt:lpstr>Applications of AI</vt:lpstr>
      <vt:lpstr>Natural Language</vt:lpstr>
      <vt:lpstr>Vision (Perception)</vt:lpstr>
      <vt:lpstr>Robotics</vt:lpstr>
      <vt:lpstr>Decision Making</vt:lpstr>
      <vt:lpstr>AI Topics: A Quick Introductory Overview</vt:lpstr>
      <vt:lpstr>AI Topics: A Quick Introductory Overview</vt:lpstr>
      <vt:lpstr>Classical AI Search Problems</vt:lpstr>
      <vt:lpstr>Classical AI Search Problems</vt:lpstr>
      <vt:lpstr>Classical AI Search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cp:lastModifiedBy>Dr Rabia Tehseen</cp:lastModifiedBy>
  <cp:revision>163</cp:revision>
  <dcterms:created xsi:type="dcterms:W3CDTF">2019-03-06T07:15:08Z</dcterms:created>
  <dcterms:modified xsi:type="dcterms:W3CDTF">2026-09-28T04:42:19Z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0x010100C59C947163D0D9438ADFAABD5D135A8E</vt:lpwstr>
  </property>
</Properties>
</file>