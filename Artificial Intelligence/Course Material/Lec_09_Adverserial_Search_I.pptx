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3"/>
  </p:notesMasterIdLst>
  <p:sldIdLst>
    <p:sldId id="256" r:id="rId5"/>
    <p:sldId id="321" r:id="rId6"/>
    <p:sldId id="324" r:id="rId7"/>
    <p:sldId id="367" r:id="rId8"/>
    <p:sldId id="368" r:id="rId9"/>
    <p:sldId id="326" r:id="rId10"/>
    <p:sldId id="261" r:id="rId11"/>
    <p:sldId id="327" r:id="rId12"/>
    <p:sldId id="355" r:id="rId13"/>
    <p:sldId id="357" r:id="rId14"/>
    <p:sldId id="369" r:id="rId15"/>
    <p:sldId id="391" r:id="rId16"/>
    <p:sldId id="262" r:id="rId17"/>
    <p:sldId id="335" r:id="rId18"/>
    <p:sldId id="397" r:id="rId19"/>
    <p:sldId id="405" r:id="rId20"/>
    <p:sldId id="392" r:id="rId21"/>
    <p:sldId id="412" r:id="rId22"/>
    <p:sldId id="413" r:id="rId23"/>
    <p:sldId id="414" r:id="rId24"/>
    <p:sldId id="415" r:id="rId25"/>
    <p:sldId id="417" r:id="rId26"/>
    <p:sldId id="407" r:id="rId27"/>
    <p:sldId id="433" r:id="rId28"/>
    <p:sldId id="434" r:id="rId29"/>
    <p:sldId id="435" r:id="rId30"/>
    <p:sldId id="436" r:id="rId31"/>
    <p:sldId id="437" r:id="rId32"/>
    <p:sldId id="438" r:id="rId33"/>
    <p:sldId id="416" r:id="rId34"/>
    <p:sldId id="408" r:id="rId35"/>
    <p:sldId id="406" r:id="rId36"/>
    <p:sldId id="375" r:id="rId37"/>
    <p:sldId id="383" r:id="rId38"/>
    <p:sldId id="418" r:id="rId39"/>
    <p:sldId id="419" r:id="rId40"/>
    <p:sldId id="439" r:id="rId41"/>
    <p:sldId id="440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1BF15-9730-4365-B182-3BE4952AD8F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CE089A-02E0-4391-9449-225851756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55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C31169-8967-4479-BD8E-A9DFFFA5AB03}" type="slidenum">
              <a:rPr lang="en-US" smtClean="0">
                <a:latin typeface="Arial" charset="0"/>
              </a:rPr>
              <a:pPr/>
              <a:t>4</a:t>
            </a:fld>
            <a:endParaRPr lang="en-US">
              <a:latin typeface="Arial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924" y="4561576"/>
            <a:ext cx="5365352" cy="4318827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05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D6C518-FBD1-4593-88F8-1133D0309234}" type="slidenum">
              <a:rPr lang="en-US" smtClean="0">
                <a:latin typeface="Arial" charset="0"/>
              </a:rPr>
              <a:pPr/>
              <a:t>11</a:t>
            </a:fld>
            <a:endParaRPr lang="en-US">
              <a:latin typeface="Arial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924" y="4561576"/>
            <a:ext cx="5365352" cy="4318827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59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562BC8-C3F2-47A7-AF2C-13A94AF36327}" type="slidenum">
              <a:rPr lang="en-US" smtClean="0">
                <a:latin typeface="Arial" charset="0"/>
              </a:rPr>
              <a:pPr/>
              <a:t>12</a:t>
            </a:fld>
            <a:endParaRPr lang="en-US">
              <a:latin typeface="Arial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397625" cy="3598863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924" y="4561576"/>
            <a:ext cx="5365352" cy="4318827"/>
          </a:xfrm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713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1pPr>
            <a:lvl2pPr marL="37931725" indent="-374745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C9DC01FE-2A2F-4F89-A840-52DE3E22BCCF}" type="slidenum">
              <a:rPr lang="en-GB" altLang="en-US"/>
              <a:pPr eaLnBrk="1" hangingPunct="1">
                <a:spcBef>
                  <a:spcPct val="0"/>
                </a:spcBef>
              </a:pPr>
              <a:t>13</a:t>
            </a:fld>
            <a:endParaRPr lang="en-GB" alt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/>
              <a:t>Insert fig 4.21</a:t>
            </a:r>
          </a:p>
        </p:txBody>
      </p:sp>
    </p:spTree>
    <p:extLst>
      <p:ext uri="{BB962C8B-B14F-4D97-AF65-F5344CB8AC3E}">
        <p14:creationId xmlns:p14="http://schemas.microsoft.com/office/powerpoint/2010/main" val="3289280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>
                <a:latin typeface="Arial" charset="0"/>
              </a:rPr>
              <a:t>Pick an order for two reasons: sequential processor and pruning</a:t>
            </a:r>
            <a:endParaRPr lang="en-US" dirty="0">
              <a:latin typeface="Arial" charset="0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A9289E-F028-4C02-88DD-69770A826917}" type="slidenum">
              <a:rPr lang="en-US" smtClean="0">
                <a:latin typeface="Arial" charset="0"/>
              </a:rPr>
              <a:pPr/>
              <a:t>14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378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E089A-02E0-4391-9449-22585175661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03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E089A-02E0-4391-9449-22585175661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8283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8ADE4E-6B6A-43C5-A4E7-3C3886E87B4F}" type="slidenum">
              <a:rPr lang="en-US" smtClean="0">
                <a:latin typeface="Arial" charset="0"/>
              </a:rPr>
              <a:pPr/>
              <a:t>31</a:t>
            </a:fld>
            <a:endParaRPr lang="en-US">
              <a:latin typeface="Arial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924" y="4561576"/>
            <a:ext cx="5365352" cy="4318827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4705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DCDB44-FDFA-4020-8765-16E5EDF522FD}" type="slidenum">
              <a:rPr lang="en-US" smtClean="0">
                <a:latin typeface="Arial" charset="0"/>
              </a:rPr>
              <a:pPr/>
              <a:t>32</a:t>
            </a:fld>
            <a:endParaRPr lang="en-US">
              <a:latin typeface="Arial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924" y="4561576"/>
            <a:ext cx="5365352" cy="4318827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245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953F6-2C6D-4CBF-8365-3A6EC672244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CFB6-1551-4646-9D16-E8E5106A0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920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953F6-2C6D-4CBF-8365-3A6EC672244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CFB6-1551-4646-9D16-E8E5106A0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79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953F6-2C6D-4CBF-8365-3A6EC672244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CFB6-1551-4646-9D16-E8E5106A0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87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953F6-2C6D-4CBF-8365-3A6EC672244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CFB6-1551-4646-9D16-E8E5106A0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841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953F6-2C6D-4CBF-8365-3A6EC672244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CFB6-1551-4646-9D16-E8E5106A0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814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953F6-2C6D-4CBF-8365-3A6EC672244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CFB6-1551-4646-9D16-E8E5106A0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05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953F6-2C6D-4CBF-8365-3A6EC672244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CFB6-1551-4646-9D16-E8E5106A0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867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953F6-2C6D-4CBF-8365-3A6EC672244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CFB6-1551-4646-9D16-E8E5106A0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8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953F6-2C6D-4CBF-8365-3A6EC672244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CFB6-1551-4646-9D16-E8E5106A0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325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953F6-2C6D-4CBF-8365-3A6EC672244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CFB6-1551-4646-9D16-E8E5106A0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437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953F6-2C6D-4CBF-8365-3A6EC672244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CFB6-1551-4646-9D16-E8E5106A0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5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A953F6-2C6D-4CBF-8365-3A6EC672244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0CFB6-1551-4646-9D16-E8E5106A0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714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7009" y="32374"/>
            <a:ext cx="9144000" cy="2387600"/>
          </a:xfrm>
        </p:spPr>
        <p:txBody>
          <a:bodyPr/>
          <a:lstStyle/>
          <a:p>
            <a:r>
              <a:rPr lang="en-US" dirty="0"/>
              <a:t>Adversarial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7009" y="2512049"/>
            <a:ext cx="9144000" cy="1655762"/>
          </a:xfrm>
        </p:spPr>
        <p:txBody>
          <a:bodyPr/>
          <a:lstStyle/>
          <a:p>
            <a:r>
              <a:rPr lang="en-US"/>
              <a:t>MINIMAX </a:t>
            </a:r>
            <a:r>
              <a:rPr lang="en-US" dirty="0"/>
              <a:t>Search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39711" y="2975872"/>
            <a:ext cx="4818596" cy="367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8346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MAEs and Games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x-none" b="1" dirty="0"/>
              <a:t>Multi-agent environment</a:t>
            </a:r>
            <a:r>
              <a:rPr lang="en-US" altLang="x-none" dirty="0"/>
              <a:t>: every agent needs to consider the actions of the other agents, in order to optimize its own welfare</a:t>
            </a:r>
          </a:p>
          <a:p>
            <a:pPr lvl="1"/>
            <a:endParaRPr lang="en-US" altLang="x-none" dirty="0"/>
          </a:p>
          <a:p>
            <a:pPr lvl="1"/>
            <a:r>
              <a:rPr lang="en-US" altLang="x-none" b="1" dirty="0"/>
              <a:t>Cooperative</a:t>
            </a:r>
            <a:r>
              <a:rPr lang="en-US" altLang="x-none" dirty="0"/>
              <a:t>: </a:t>
            </a:r>
          </a:p>
          <a:p>
            <a:pPr lvl="2"/>
            <a:r>
              <a:rPr lang="en-US" altLang="x-none" dirty="0"/>
              <a:t>Agents act collectively to achieve a common goal</a:t>
            </a:r>
          </a:p>
          <a:p>
            <a:pPr lvl="1"/>
            <a:endParaRPr lang="en-US" altLang="x-none" dirty="0"/>
          </a:p>
          <a:p>
            <a:pPr lvl="1"/>
            <a:r>
              <a:rPr lang="en-US" altLang="x-none" b="1" dirty="0"/>
              <a:t>Competitive</a:t>
            </a:r>
            <a:r>
              <a:rPr lang="en-US" altLang="x-none" dirty="0"/>
              <a:t>: </a:t>
            </a:r>
          </a:p>
          <a:p>
            <a:pPr lvl="2"/>
            <a:r>
              <a:rPr lang="en-US" altLang="x-none" dirty="0"/>
              <a:t>Agents compete against each other </a:t>
            </a:r>
          </a:p>
          <a:p>
            <a:pPr lvl="2"/>
            <a:r>
              <a:rPr lang="en-US" altLang="x-none" dirty="0"/>
              <a:t>Their goals are in conflict</a:t>
            </a:r>
          </a:p>
          <a:p>
            <a:pPr lvl="2"/>
            <a:r>
              <a:rPr lang="en-US" altLang="x-none" dirty="0"/>
              <a:t>Gives rise to the concept of </a:t>
            </a:r>
            <a:r>
              <a:rPr lang="en-US" altLang="x-none" b="1" dirty="0"/>
              <a:t>adversarial</a:t>
            </a:r>
            <a:r>
              <a:rPr lang="en-US" altLang="x-none" dirty="0"/>
              <a:t> search problems – often known as </a:t>
            </a:r>
            <a:r>
              <a:rPr lang="en-US" altLang="x-none" b="1" dirty="0"/>
              <a:t>games</a:t>
            </a:r>
            <a:r>
              <a:rPr lang="en-US" altLang="x-none" dirty="0"/>
              <a:t>.</a:t>
            </a:r>
          </a:p>
          <a:p>
            <a:pPr lvl="1"/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48034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Games vs. Search problems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In typical search problems, </a:t>
            </a:r>
            <a:r>
              <a:rPr lang="en-US" dirty="0">
                <a:solidFill>
                  <a:srgbClr val="7030A0"/>
                </a:solidFill>
              </a:rPr>
              <a:t>we optimize a measure to acquire the goal: there is no opponent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In games, there is an "</a:t>
            </a:r>
            <a:r>
              <a:rPr lang="en-US" dirty="0">
                <a:solidFill>
                  <a:srgbClr val="7030A0"/>
                </a:solidFill>
              </a:rPr>
              <a:t>Unpredictable</a:t>
            </a:r>
            <a:r>
              <a:rPr lang="en-US" dirty="0"/>
              <a:t>" opponent</a:t>
            </a:r>
          </a:p>
          <a:p>
            <a:pPr lvl="1">
              <a:defRPr/>
            </a:pPr>
            <a:r>
              <a:rPr lang="en-US" dirty="0"/>
              <a:t>Need to specify a move for every possible opponent reply
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Strict penalty on an inefficient move</a:t>
            </a:r>
          </a:p>
          <a:p>
            <a:pPr lvl="1">
              <a:defRPr/>
            </a:pPr>
            <a:r>
              <a:rPr lang="en-US" dirty="0"/>
              <a:t>Stringent time constraints</a:t>
            </a:r>
          </a:p>
          <a:p>
            <a:pPr lvl="1">
              <a:defRPr/>
            </a:pPr>
            <a:r>
              <a:rPr lang="en-US" dirty="0"/>
              <a:t>Unlikely to find goal, must approximate</a:t>
            </a:r>
          </a:p>
          <a:p>
            <a:pPr lvl="1">
              <a:defRPr/>
            </a:pPr>
            <a:r>
              <a:rPr lang="en-US" dirty="0"/>
              <a:t>Requires some type of a decision to move the search forward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lvl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49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55744" y="2790619"/>
            <a:ext cx="3720685" cy="207876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Types of Games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Many different kinds of games!</a:t>
            </a:r>
          </a:p>
          <a:p>
            <a:pPr lvl="1" eaLnBrk="1" hangingPunct="1"/>
            <a:endParaRPr lang="en-US" sz="2400" dirty="0"/>
          </a:p>
          <a:p>
            <a:pPr eaLnBrk="1" hangingPunct="1"/>
            <a:r>
              <a:rPr lang="en-US" sz="2800" dirty="0"/>
              <a:t>Axes:</a:t>
            </a:r>
          </a:p>
          <a:p>
            <a:pPr lvl="1" eaLnBrk="1" hangingPunct="1"/>
            <a:r>
              <a:rPr lang="en-US" sz="2400" dirty="0"/>
              <a:t>Deterministic or stochastic?</a:t>
            </a:r>
          </a:p>
          <a:p>
            <a:pPr lvl="1" eaLnBrk="1" hangingPunct="1"/>
            <a:r>
              <a:rPr lang="en-US" sz="2400" dirty="0"/>
              <a:t>One, two, or more players?</a:t>
            </a:r>
          </a:p>
          <a:p>
            <a:pPr lvl="1" eaLnBrk="1" hangingPunct="1"/>
            <a:r>
              <a:rPr lang="en-US" sz="2400" dirty="0"/>
              <a:t>Zero sum?</a:t>
            </a:r>
          </a:p>
          <a:p>
            <a:pPr lvl="1" eaLnBrk="1" hangingPunct="1"/>
            <a:r>
              <a:rPr lang="en-US" sz="2400" dirty="0"/>
              <a:t>Perfect information (can you see the state)?</a:t>
            </a:r>
          </a:p>
          <a:p>
            <a:pPr lvl="1" eaLnBrk="1" hangingPunct="1"/>
            <a:endParaRPr lang="en-US" sz="2400" dirty="0"/>
          </a:p>
          <a:p>
            <a:pPr eaLnBrk="1" hangingPunct="1"/>
            <a:r>
              <a:rPr lang="en-US" sz="2800" dirty="0"/>
              <a:t>Want algorithms for calculating a </a:t>
            </a:r>
            <a:r>
              <a:rPr lang="en-US" sz="2800" b="1" u="sng" dirty="0"/>
              <a:t>strategy (policy) </a:t>
            </a:r>
            <a:r>
              <a:rPr lang="en-US" sz="2800" dirty="0"/>
              <a:t>which recommends a move from each state</a:t>
            </a:r>
          </a:p>
        </p:txBody>
      </p:sp>
    </p:spTree>
    <p:extLst>
      <p:ext uri="{BB962C8B-B14F-4D97-AF65-F5344CB8AC3E}">
        <p14:creationId xmlns:p14="http://schemas.microsoft.com/office/powerpoint/2010/main" val="2072096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21042" y="1850483"/>
            <a:ext cx="4464916" cy="181319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20518" y="1850483"/>
            <a:ext cx="3188363" cy="202060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Zero-Sum Games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457200" y="4191000"/>
            <a:ext cx="5715000" cy="2037522"/>
          </a:xfrm>
        </p:spPr>
        <p:txBody>
          <a:bodyPr>
            <a:normAutofit/>
          </a:bodyPr>
          <a:lstStyle/>
          <a:p>
            <a:r>
              <a:rPr lang="en-US" sz="2400" dirty="0"/>
              <a:t>Zero-Sum Games</a:t>
            </a:r>
          </a:p>
          <a:p>
            <a:pPr lvl="1"/>
            <a:r>
              <a:rPr lang="en-US" sz="2000" dirty="0"/>
              <a:t>Agents have opposite utilities (values on outcomes)</a:t>
            </a:r>
          </a:p>
          <a:p>
            <a:pPr lvl="1"/>
            <a:r>
              <a:rPr lang="en-US" sz="2000" dirty="0"/>
              <a:t>Lets us think of a single value that one maximizes and the other minimizes</a:t>
            </a:r>
          </a:p>
          <a:p>
            <a:pPr lvl="1"/>
            <a:r>
              <a:rPr lang="en-US" sz="2000" dirty="0"/>
              <a:t>Adversarial, pure competition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6172200" y="4191000"/>
            <a:ext cx="5562600" cy="2037522"/>
          </a:xfrm>
        </p:spPr>
        <p:txBody>
          <a:bodyPr>
            <a:normAutofit/>
          </a:bodyPr>
          <a:lstStyle/>
          <a:p>
            <a:r>
              <a:rPr lang="en-US" sz="2400" dirty="0"/>
              <a:t>General Games</a:t>
            </a:r>
          </a:p>
          <a:p>
            <a:pPr lvl="1"/>
            <a:r>
              <a:rPr lang="en-US" sz="2000" dirty="0"/>
              <a:t>Agents have independent utilities (values on outcomes)</a:t>
            </a:r>
          </a:p>
          <a:p>
            <a:pPr lvl="1"/>
            <a:r>
              <a:rPr lang="en-US" sz="2000" dirty="0"/>
              <a:t>Cooperation, indifference, competition, and more are all possible</a:t>
            </a:r>
          </a:p>
          <a:p>
            <a:pPr lvl="1"/>
            <a:r>
              <a:rPr lang="en-US" sz="2000" dirty="0"/>
              <a:t>More later on non-zero-sum games</a:t>
            </a:r>
          </a:p>
        </p:txBody>
      </p:sp>
    </p:spTree>
    <p:extLst>
      <p:ext uri="{BB962C8B-B14F-4D97-AF65-F5344CB8AC3E}">
        <p14:creationId xmlns:p14="http://schemas.microsoft.com/office/powerpoint/2010/main" val="2385875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Game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b="1" dirty="0"/>
              <a:t>States</a:t>
            </a:r>
            <a:r>
              <a:rPr lang="en-US" dirty="0"/>
              <a:t>: S (start at Initial State s</a:t>
            </a:r>
            <a:r>
              <a:rPr lang="en-US" baseline="-25000" dirty="0"/>
              <a:t>0</a:t>
            </a:r>
            <a:r>
              <a:rPr lang="en-US" dirty="0"/>
              <a:t>)</a:t>
            </a:r>
          </a:p>
          <a:p>
            <a:pPr>
              <a:defRPr/>
            </a:pPr>
            <a:r>
              <a:rPr lang="en-US" b="1" dirty="0"/>
              <a:t>Players</a:t>
            </a:r>
            <a:r>
              <a:rPr lang="en-US" dirty="0"/>
              <a:t>: P={1...N} (usually take turns)</a:t>
            </a:r>
          </a:p>
          <a:p>
            <a:pPr>
              <a:defRPr/>
            </a:pPr>
            <a:r>
              <a:rPr lang="en-US" b="1" dirty="0"/>
              <a:t>Actions</a:t>
            </a:r>
            <a:r>
              <a:rPr lang="en-US" dirty="0"/>
              <a:t>: A (may depend on player / state)</a:t>
            </a:r>
          </a:p>
          <a:p>
            <a:r>
              <a:rPr lang="en-US" b="1" dirty="0"/>
              <a:t>Transition Function</a:t>
            </a:r>
            <a:r>
              <a:rPr lang="en-US" dirty="0"/>
              <a:t>: </a:t>
            </a:r>
            <a:r>
              <a:rPr lang="en-US" dirty="0" err="1"/>
              <a:t>SxA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 S</a:t>
            </a:r>
          </a:p>
          <a:p>
            <a:r>
              <a:rPr lang="en-US" b="1" dirty="0">
                <a:sym typeface="Symbol" pitchFamily="18" charset="2"/>
              </a:rPr>
              <a:t>Terminal State Test</a:t>
            </a:r>
            <a:r>
              <a:rPr lang="en-US" dirty="0">
                <a:sym typeface="Symbol" pitchFamily="18" charset="2"/>
              </a:rPr>
              <a:t>: S  {</a:t>
            </a:r>
            <a:r>
              <a:rPr lang="en-US" dirty="0" err="1">
                <a:sym typeface="Symbol" pitchFamily="18" charset="2"/>
              </a:rPr>
              <a:t>t,f</a:t>
            </a:r>
            <a:r>
              <a:rPr lang="en-US" dirty="0">
                <a:sym typeface="Symbol" pitchFamily="18" charset="2"/>
              </a:rPr>
              <a:t>}</a:t>
            </a:r>
          </a:p>
          <a:p>
            <a:pPr>
              <a:defRPr/>
            </a:pPr>
            <a:r>
              <a:rPr lang="en-US" b="1" dirty="0">
                <a:sym typeface="Symbol" pitchFamily="18" charset="2"/>
              </a:rPr>
              <a:t>Terminal Utilities</a:t>
            </a:r>
            <a:r>
              <a:rPr lang="en-US" dirty="0">
                <a:sym typeface="Symbol" pitchFamily="18" charset="2"/>
              </a:rPr>
              <a:t>: </a:t>
            </a:r>
            <a:r>
              <a:rPr lang="en-US" dirty="0" err="1">
                <a:sym typeface="Symbol" pitchFamily="18" charset="2"/>
              </a:rPr>
              <a:t>SxP</a:t>
            </a:r>
            <a:r>
              <a:rPr lang="en-US" dirty="0">
                <a:sym typeface="Symbol" pitchFamily="18" charset="2"/>
              </a:rPr>
              <a:t>  R</a:t>
            </a:r>
          </a:p>
          <a:p>
            <a:pPr lvl="1">
              <a:defRPr/>
            </a:pPr>
            <a:r>
              <a:rPr lang="en-US" dirty="0"/>
              <a:t>defining the usefulness of the terminal states from the point of view of one of the players.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7F57F6-223E-4AB3-97D0-3504A43D4859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89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Grow a search tree – and examines enough nodes to allow a player to determine what move to make.</a:t>
            </a:r>
          </a:p>
          <a:p>
            <a:r>
              <a:rPr lang="en-US" dirty="0"/>
              <a:t>Only one player can make move at each turn.</a:t>
            </a:r>
          </a:p>
          <a:p>
            <a:r>
              <a:rPr lang="en-US" dirty="0"/>
              <a:t>Assume we can assign a payoff (utility value) at final position.</a:t>
            </a:r>
          </a:p>
          <a:p>
            <a:r>
              <a:rPr lang="en-US" dirty="0"/>
              <a:t>Assume opponent always makes moves worst for us. </a:t>
            </a:r>
          </a:p>
          <a:p>
            <a:r>
              <a:rPr lang="en-US" dirty="0"/>
              <a:t>Pick best move on own turn. </a:t>
            </a:r>
          </a:p>
        </p:txBody>
      </p:sp>
    </p:spTree>
    <p:extLst>
      <p:ext uri="{BB962C8B-B14F-4D97-AF65-F5344CB8AC3E}">
        <p14:creationId xmlns:p14="http://schemas.microsoft.com/office/powerpoint/2010/main" val="3304373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Tic-Tac-Toe, the function could be as simple as returning: </a:t>
            </a:r>
          </a:p>
          <a:p>
            <a:pPr lvl="1"/>
            <a:r>
              <a:rPr lang="en-US" dirty="0"/>
              <a:t>+1/ +C (+10); 		it means that MAX wins</a:t>
            </a:r>
          </a:p>
          <a:p>
            <a:pPr lvl="1"/>
            <a:r>
              <a:rPr lang="en-US" dirty="0"/>
              <a:t>-1/ -C (-10); 		it means that MIN wins</a:t>
            </a:r>
          </a:p>
          <a:p>
            <a:pPr lvl="1"/>
            <a:r>
              <a:rPr lang="en-US" dirty="0"/>
              <a:t>0 				otherwise. </a:t>
            </a:r>
          </a:p>
          <a:p>
            <a:endParaRPr lang="en-US" dirty="0"/>
          </a:p>
          <a:p>
            <a:r>
              <a:rPr lang="en-US" dirty="0"/>
              <a:t>However, </a:t>
            </a:r>
            <a:r>
              <a:rPr lang="en-US" b="1" dirty="0"/>
              <a:t>this simple evaluation function may require deeper search</a:t>
            </a:r>
          </a:p>
          <a:p>
            <a:endParaRPr lang="en-US" dirty="0"/>
          </a:p>
          <a:p>
            <a:r>
              <a:rPr lang="en-US" dirty="0"/>
              <a:t>Complete tree needs to be generated to calculate moves</a:t>
            </a:r>
          </a:p>
          <a:p>
            <a:pPr lvl="1"/>
            <a:r>
              <a:rPr lang="en-US" dirty="0"/>
              <a:t>May be slow/infeasible in some cases!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626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Optimal Strategy For MAX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x-none" dirty="0"/>
              <a:t>This is a Multi Agent Environment</a:t>
            </a:r>
          </a:p>
          <a:p>
            <a:pPr lvl="1"/>
            <a:r>
              <a:rPr lang="en-US" altLang="x-none" dirty="0"/>
              <a:t>In discovering the sequence of optimal moves by MAX, we have to consider that MIN is taking moves as well</a:t>
            </a:r>
          </a:p>
          <a:p>
            <a:pPr lvl="1"/>
            <a:r>
              <a:rPr lang="en-US" altLang="x-none" dirty="0"/>
              <a:t>So, the </a:t>
            </a:r>
            <a:r>
              <a:rPr lang="en-US" altLang="x-none" dirty="0">
                <a:solidFill>
                  <a:srgbClr val="7030A0"/>
                </a:solidFill>
              </a:rPr>
              <a:t>optimal strategy will tell how should MAX play against MIN (by considering the moves of the latter), in order to win the game</a:t>
            </a:r>
          </a:p>
          <a:p>
            <a:endParaRPr lang="en-US" altLang="x-none" dirty="0"/>
          </a:p>
          <a:p>
            <a:r>
              <a:rPr lang="en-US" altLang="x-none" dirty="0"/>
              <a:t>Let us consider a shortened game tree of TIC-TAC-TOE</a:t>
            </a:r>
          </a:p>
          <a:p>
            <a:pPr lvl="1"/>
            <a:r>
              <a:rPr lang="en-US" altLang="x-none" dirty="0">
                <a:solidFill>
                  <a:srgbClr val="7030A0"/>
                </a:solidFill>
              </a:rPr>
              <a:t>Numbers are the utilities</a:t>
            </a:r>
          </a:p>
          <a:p>
            <a:pPr lvl="1"/>
            <a:r>
              <a:rPr lang="en-US" altLang="x-none" dirty="0">
                <a:solidFill>
                  <a:srgbClr val="7030A0"/>
                </a:solidFill>
              </a:rPr>
              <a:t>Ply</a:t>
            </a:r>
            <a:r>
              <a:rPr lang="en-US" altLang="x-none" dirty="0"/>
              <a:t>: a move by MAX followed by a move from MIN.</a:t>
            </a:r>
          </a:p>
          <a:p>
            <a:pPr lvl="1"/>
            <a:endParaRPr lang="en-US" altLang="x-non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9C02F3-2CDC-48AD-B06E-FA406A5F4F4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543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Minimax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838200" y="1825623"/>
            <a:ext cx="10515600" cy="4681193"/>
          </a:xfrm>
        </p:spPr>
        <p:txBody>
          <a:bodyPr>
            <a:normAutofit lnSpcReduction="10000"/>
          </a:bodyPr>
          <a:lstStyle/>
          <a:p>
            <a:r>
              <a:rPr lang="en-US" altLang="x-none" dirty="0"/>
              <a:t>When it is the turn of MAX, </a:t>
            </a:r>
            <a:r>
              <a:rPr lang="en-US" altLang="x-none" dirty="0">
                <a:solidFill>
                  <a:srgbClr val="FF0000"/>
                </a:solidFill>
              </a:rPr>
              <a:t>it will always take an action in order to </a:t>
            </a:r>
            <a:r>
              <a:rPr lang="en-US" altLang="x-none" b="1" dirty="0">
                <a:solidFill>
                  <a:srgbClr val="0070C0"/>
                </a:solidFill>
              </a:rPr>
              <a:t>maximize</a:t>
            </a:r>
            <a:r>
              <a:rPr lang="en-US" altLang="x-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x-none" dirty="0">
                <a:solidFill>
                  <a:srgbClr val="FF0000"/>
                </a:solidFill>
              </a:rPr>
              <a:t>its utility</a:t>
            </a:r>
            <a:r>
              <a:rPr lang="en-US" altLang="x-none" dirty="0"/>
              <a:t>, because it’s winning configurations have high utilities</a:t>
            </a:r>
          </a:p>
          <a:p>
            <a:r>
              <a:rPr lang="en-US" altLang="x-none" dirty="0"/>
              <a:t>When it is the turn of MIN, </a:t>
            </a:r>
            <a:r>
              <a:rPr lang="en-US" altLang="x-none" dirty="0">
                <a:solidFill>
                  <a:srgbClr val="FF0000"/>
                </a:solidFill>
              </a:rPr>
              <a:t>it will always take an action in order to </a:t>
            </a:r>
            <a:r>
              <a:rPr lang="en-US" altLang="x-none" b="1" dirty="0">
                <a:solidFill>
                  <a:srgbClr val="0070C0"/>
                </a:solidFill>
              </a:rPr>
              <a:t>minimize</a:t>
            </a:r>
            <a:r>
              <a:rPr lang="en-US" altLang="x-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x-none" dirty="0">
                <a:solidFill>
                  <a:srgbClr val="FF0000"/>
                </a:solidFill>
              </a:rPr>
              <a:t>its utility</a:t>
            </a:r>
            <a:r>
              <a:rPr lang="en-US" altLang="x-none" dirty="0"/>
              <a:t>, because it’s winning configurations have low utilities</a:t>
            </a:r>
          </a:p>
          <a:p>
            <a:r>
              <a:rPr lang="en-US" altLang="x-none" dirty="0"/>
              <a:t>In order to implement this, we need to define a measure in each state that </a:t>
            </a:r>
            <a:r>
              <a:rPr lang="en-US" altLang="x-none" u="sng" dirty="0">
                <a:solidFill>
                  <a:srgbClr val="FF0000"/>
                </a:solidFill>
              </a:rPr>
              <a:t>takes the move of the opponent into account</a:t>
            </a:r>
            <a:r>
              <a:rPr lang="en-US" altLang="x-none" dirty="0"/>
              <a:t>.</a:t>
            </a:r>
          </a:p>
          <a:p>
            <a:r>
              <a:rPr lang="en-US" dirty="0"/>
              <a:t>The term “</a:t>
            </a:r>
            <a:r>
              <a:rPr lang="en-US" b="1" dirty="0">
                <a:solidFill>
                  <a:srgbClr val="FF0000"/>
                </a:solidFill>
              </a:rPr>
              <a:t>MINIMAX</a:t>
            </a:r>
            <a:r>
              <a:rPr lang="en-US" dirty="0"/>
              <a:t>” is used because: </a:t>
            </a:r>
          </a:p>
          <a:p>
            <a:pPr lvl="1"/>
            <a:r>
              <a:rPr lang="en-US" dirty="0"/>
              <a:t>the opponent is always trying to </a:t>
            </a:r>
            <a:r>
              <a:rPr lang="en-US" b="1" dirty="0">
                <a:solidFill>
                  <a:srgbClr val="FF0000"/>
                </a:solidFill>
              </a:rPr>
              <a:t>minimize</a:t>
            </a:r>
            <a:r>
              <a:rPr lang="en-US" dirty="0"/>
              <a:t> the utility of the player, and </a:t>
            </a:r>
          </a:p>
          <a:p>
            <a:pPr lvl="1"/>
            <a:r>
              <a:rPr lang="en-US" dirty="0"/>
              <a:t>the player is always trying to </a:t>
            </a:r>
            <a:r>
              <a:rPr lang="en-US" b="1" dirty="0">
                <a:solidFill>
                  <a:srgbClr val="FF0000"/>
                </a:solidFill>
              </a:rPr>
              <a:t>maximize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this minimized selection of the opponent.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D078CD-9DB5-4481-B29F-94FBF99FBB9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569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Adversarial Search (</a:t>
            </a:r>
            <a:r>
              <a:rPr lang="en-US" dirty="0" err="1"/>
              <a:t>Minimax</a:t>
            </a:r>
            <a:r>
              <a:rPr lang="en-US" dirty="0"/>
              <a:t>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6419850" cy="4351338"/>
          </a:xfrm>
        </p:spPr>
        <p:txBody>
          <a:bodyPr/>
          <a:lstStyle/>
          <a:p>
            <a:pPr eaLnBrk="1" hangingPunct="1"/>
            <a:r>
              <a:rPr lang="en-US" sz="2200" dirty="0"/>
              <a:t>Deterministic, zero-sum games:</a:t>
            </a:r>
          </a:p>
          <a:p>
            <a:pPr lvl="1" eaLnBrk="1" hangingPunct="1"/>
            <a:r>
              <a:rPr lang="en-US" sz="2200" dirty="0"/>
              <a:t>Tic-tac-toe, chess, checkers</a:t>
            </a:r>
          </a:p>
          <a:p>
            <a:pPr lvl="1" eaLnBrk="1" hangingPunct="1"/>
            <a:r>
              <a:rPr lang="en-US" sz="2200" dirty="0"/>
              <a:t>One player maximizes result</a:t>
            </a:r>
          </a:p>
          <a:p>
            <a:pPr lvl="1" eaLnBrk="1" hangingPunct="1"/>
            <a:r>
              <a:rPr lang="en-US" sz="2200" dirty="0"/>
              <a:t>The other minimizes result</a:t>
            </a:r>
          </a:p>
          <a:p>
            <a:pPr lvl="1" eaLnBrk="1" hangingPunct="1"/>
            <a:endParaRPr lang="en-US" sz="2200" dirty="0"/>
          </a:p>
          <a:p>
            <a:pPr eaLnBrk="1" hangingPunct="1"/>
            <a:r>
              <a:rPr lang="en-US" sz="2200" dirty="0" err="1"/>
              <a:t>Minimax</a:t>
            </a:r>
            <a:r>
              <a:rPr lang="en-US" sz="2200" dirty="0"/>
              <a:t> search:</a:t>
            </a:r>
          </a:p>
          <a:p>
            <a:pPr lvl="1" eaLnBrk="1" hangingPunct="1"/>
            <a:r>
              <a:rPr lang="en-US" sz="2200" dirty="0"/>
              <a:t>A state-space search tree</a:t>
            </a:r>
          </a:p>
          <a:p>
            <a:pPr lvl="1" eaLnBrk="1" hangingPunct="1"/>
            <a:r>
              <a:rPr lang="en-US" sz="2200" dirty="0"/>
              <a:t>Players alternate turns</a:t>
            </a:r>
          </a:p>
          <a:p>
            <a:pPr lvl="1" eaLnBrk="1" hangingPunct="1"/>
            <a:r>
              <a:rPr lang="en-US" sz="2200" dirty="0"/>
              <a:t>Compute each node’s </a:t>
            </a:r>
            <a:r>
              <a:rPr lang="en-US" sz="2200" dirty="0" err="1">
                <a:solidFill>
                  <a:srgbClr val="CC0000"/>
                </a:solidFill>
              </a:rPr>
              <a:t>minimax</a:t>
            </a:r>
            <a:r>
              <a:rPr lang="en-US" sz="2200" dirty="0">
                <a:solidFill>
                  <a:srgbClr val="CC0000"/>
                </a:solidFill>
              </a:rPr>
              <a:t> value: </a:t>
            </a:r>
            <a:r>
              <a:rPr lang="en-US" sz="2200" dirty="0"/>
              <a:t>the best achievable utility against a rational (optimal) adversary</a:t>
            </a:r>
          </a:p>
        </p:txBody>
      </p:sp>
      <p:sp>
        <p:nvSpPr>
          <p:cNvPr id="12292" name="AutoShape 4"/>
          <p:cNvSpPr>
            <a:spLocks noChangeArrowheads="1"/>
          </p:cNvSpPr>
          <p:nvPr/>
        </p:nvSpPr>
        <p:spPr bwMode="auto">
          <a:xfrm>
            <a:off x="8763000" y="2325687"/>
            <a:ext cx="381000" cy="304800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2293" name="AutoShape 5"/>
          <p:cNvSpPr>
            <a:spLocks noChangeArrowheads="1"/>
          </p:cNvSpPr>
          <p:nvPr/>
        </p:nvSpPr>
        <p:spPr bwMode="auto">
          <a:xfrm rot="10800000">
            <a:off x="8001000" y="3316287"/>
            <a:ext cx="381000" cy="304800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2294" name="AutoShape 6"/>
          <p:cNvSpPr>
            <a:spLocks noChangeArrowheads="1"/>
          </p:cNvSpPr>
          <p:nvPr/>
        </p:nvSpPr>
        <p:spPr bwMode="auto">
          <a:xfrm rot="10800000">
            <a:off x="9525000" y="3316287"/>
            <a:ext cx="381000" cy="304800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7620000" y="4611687"/>
            <a:ext cx="381000" cy="3048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8</a:t>
            </a:r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8305800" y="4611687"/>
            <a:ext cx="381000" cy="3048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2</a:t>
            </a:r>
          </a:p>
        </p:txBody>
      </p: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9144000" y="4611687"/>
            <a:ext cx="381000" cy="3048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5</a:t>
            </a:r>
          </a:p>
        </p:txBody>
      </p:sp>
      <p:sp>
        <p:nvSpPr>
          <p:cNvPr id="12298" name="Rectangle 10"/>
          <p:cNvSpPr>
            <a:spLocks noChangeArrowheads="1"/>
          </p:cNvSpPr>
          <p:nvPr/>
        </p:nvSpPr>
        <p:spPr bwMode="auto">
          <a:xfrm>
            <a:off x="9906000" y="4611687"/>
            <a:ext cx="381000" cy="3048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6</a:t>
            </a:r>
          </a:p>
        </p:txBody>
      </p:sp>
      <p:cxnSp>
        <p:nvCxnSpPr>
          <p:cNvPr id="12299" name="AutoShape 11"/>
          <p:cNvCxnSpPr>
            <a:cxnSpLocks noChangeShapeType="1"/>
            <a:stCxn id="12292" idx="3"/>
            <a:endCxn id="12293" idx="3"/>
          </p:cNvCxnSpPr>
          <p:nvPr/>
        </p:nvCxnSpPr>
        <p:spPr bwMode="auto">
          <a:xfrm flipH="1">
            <a:off x="8191500" y="2630487"/>
            <a:ext cx="7620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2300" name="AutoShape 12"/>
          <p:cNvCxnSpPr>
            <a:cxnSpLocks noChangeShapeType="1"/>
            <a:stCxn id="12292" idx="3"/>
            <a:endCxn id="12294" idx="3"/>
          </p:cNvCxnSpPr>
          <p:nvPr/>
        </p:nvCxnSpPr>
        <p:spPr bwMode="auto">
          <a:xfrm>
            <a:off x="8953500" y="2630487"/>
            <a:ext cx="7620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2301" name="AutoShape 13"/>
          <p:cNvCxnSpPr>
            <a:cxnSpLocks noChangeShapeType="1"/>
            <a:stCxn id="12293" idx="0"/>
            <a:endCxn id="12295" idx="0"/>
          </p:cNvCxnSpPr>
          <p:nvPr/>
        </p:nvCxnSpPr>
        <p:spPr bwMode="auto">
          <a:xfrm flipH="1">
            <a:off x="7810500" y="3621087"/>
            <a:ext cx="3810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2302" name="AutoShape 14"/>
          <p:cNvCxnSpPr>
            <a:cxnSpLocks noChangeShapeType="1"/>
            <a:stCxn id="12293" idx="0"/>
            <a:endCxn id="12296" idx="0"/>
          </p:cNvCxnSpPr>
          <p:nvPr/>
        </p:nvCxnSpPr>
        <p:spPr bwMode="auto">
          <a:xfrm>
            <a:off x="8191500" y="3621087"/>
            <a:ext cx="3048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2303" name="AutoShape 15"/>
          <p:cNvCxnSpPr>
            <a:cxnSpLocks noChangeShapeType="1"/>
            <a:stCxn id="12294" idx="0"/>
            <a:endCxn id="12297" idx="0"/>
          </p:cNvCxnSpPr>
          <p:nvPr/>
        </p:nvCxnSpPr>
        <p:spPr bwMode="auto">
          <a:xfrm flipH="1">
            <a:off x="9334500" y="3621087"/>
            <a:ext cx="3810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2304" name="AutoShape 16"/>
          <p:cNvCxnSpPr>
            <a:cxnSpLocks noChangeShapeType="1"/>
            <a:stCxn id="12294" idx="0"/>
            <a:endCxn id="12298" idx="0"/>
          </p:cNvCxnSpPr>
          <p:nvPr/>
        </p:nvCxnSpPr>
        <p:spPr bwMode="auto">
          <a:xfrm>
            <a:off x="9715500" y="3621087"/>
            <a:ext cx="3810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2305" name="Text Box 17"/>
          <p:cNvSpPr txBox="1">
            <a:spLocks noChangeArrowheads="1"/>
          </p:cNvSpPr>
          <p:nvPr/>
        </p:nvSpPr>
        <p:spPr bwMode="auto">
          <a:xfrm>
            <a:off x="9166225" y="2325687"/>
            <a:ext cx="663575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>
                <a:latin typeface="Calibri" pitchFamily="34" charset="0"/>
              </a:rPr>
              <a:t>max</a:t>
            </a:r>
          </a:p>
        </p:txBody>
      </p:sp>
      <p:sp>
        <p:nvSpPr>
          <p:cNvPr id="12306" name="Text Box 18"/>
          <p:cNvSpPr txBox="1">
            <a:spLocks noChangeArrowheads="1"/>
          </p:cNvSpPr>
          <p:nvPr/>
        </p:nvSpPr>
        <p:spPr bwMode="auto">
          <a:xfrm>
            <a:off x="9982200" y="3240087"/>
            <a:ext cx="663575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>
                <a:latin typeface="Calibri" pitchFamily="34" charset="0"/>
              </a:rPr>
              <a:t>min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8040688" y="3255962"/>
            <a:ext cx="1846262" cy="381000"/>
            <a:chOff x="6059424" y="3215640"/>
            <a:chExt cx="1846050" cy="381000"/>
          </a:xfrm>
        </p:grpSpPr>
        <p:sp>
          <p:nvSpPr>
            <p:cNvPr id="12316" name="TextBox 19"/>
            <p:cNvSpPr txBox="1">
              <a:spLocks noChangeArrowheads="1"/>
            </p:cNvSpPr>
            <p:nvPr/>
          </p:nvSpPr>
          <p:spPr bwMode="auto">
            <a:xfrm>
              <a:off x="6059424" y="3227308"/>
              <a:ext cx="31290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2</a:t>
              </a:r>
            </a:p>
          </p:txBody>
        </p:sp>
        <p:sp>
          <p:nvSpPr>
            <p:cNvPr id="12317" name="TextBox 20"/>
            <p:cNvSpPr txBox="1">
              <a:spLocks noChangeArrowheads="1"/>
            </p:cNvSpPr>
            <p:nvPr/>
          </p:nvSpPr>
          <p:spPr bwMode="auto">
            <a:xfrm>
              <a:off x="7592568" y="3215640"/>
              <a:ext cx="31290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5</a:t>
              </a:r>
            </a:p>
          </p:txBody>
        </p:sp>
      </p:grp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8799513" y="2349500"/>
            <a:ext cx="3127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Calibri" pitchFamily="34" charset="0"/>
              </a:rPr>
              <a:t>5</a:t>
            </a:r>
          </a:p>
        </p:txBody>
      </p: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7467600" y="4383086"/>
            <a:ext cx="3048000" cy="1484313"/>
            <a:chOff x="5486400" y="4343400"/>
            <a:chExt cx="3048000" cy="1484543"/>
          </a:xfrm>
        </p:grpSpPr>
        <p:sp>
          <p:nvSpPr>
            <p:cNvPr id="23" name="Rounded Rectangle 22"/>
            <p:cNvSpPr/>
            <p:nvPr/>
          </p:nvSpPr>
          <p:spPr>
            <a:xfrm>
              <a:off x="5486400" y="4343400"/>
              <a:ext cx="3048000" cy="762118"/>
            </a:xfrm>
            <a:prstGeom prst="round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latin typeface="Calibri" pitchFamily="34" charset="0"/>
              </a:endParaRPr>
            </a:p>
          </p:txBody>
        </p:sp>
        <p:sp>
          <p:nvSpPr>
            <p:cNvPr id="12315" name="Text Box 17"/>
            <p:cNvSpPr txBox="1">
              <a:spLocks noChangeArrowheads="1"/>
            </p:cNvSpPr>
            <p:nvPr/>
          </p:nvSpPr>
          <p:spPr bwMode="auto">
            <a:xfrm>
              <a:off x="5486400" y="5181612"/>
              <a:ext cx="3048000" cy="6463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1" dirty="0">
                  <a:latin typeface="Calibri" pitchFamily="34" charset="0"/>
                </a:rPr>
                <a:t>Terminal values:</a:t>
              </a:r>
              <a:br>
                <a:rPr lang="en-US" b="1" dirty="0">
                  <a:latin typeface="Calibri" pitchFamily="34" charset="0"/>
                </a:rPr>
              </a:br>
              <a:r>
                <a:rPr lang="en-US" b="1" dirty="0">
                  <a:latin typeface="Calibri" pitchFamily="34" charset="0"/>
                </a:rPr>
                <a:t>part of the game </a:t>
              </a:r>
            </a:p>
          </p:txBody>
        </p: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7467600" y="1447800"/>
            <a:ext cx="3124200" cy="2362200"/>
            <a:chOff x="5334000" y="2855913"/>
            <a:chExt cx="3124200" cy="2362200"/>
          </a:xfrm>
        </p:grpSpPr>
        <p:sp>
          <p:nvSpPr>
            <p:cNvPr id="29" name="Rounded Rectangle 28"/>
            <p:cNvSpPr/>
            <p:nvPr/>
          </p:nvSpPr>
          <p:spPr>
            <a:xfrm>
              <a:off x="5334000" y="3541713"/>
              <a:ext cx="3124200" cy="1676400"/>
            </a:xfrm>
            <a:prstGeom prst="round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latin typeface="Calibri" pitchFamily="34" charset="0"/>
              </a:endParaRPr>
            </a:p>
          </p:txBody>
        </p:sp>
        <p:sp>
          <p:nvSpPr>
            <p:cNvPr id="12313" name="Text Box 17"/>
            <p:cNvSpPr txBox="1">
              <a:spLocks noChangeArrowheads="1"/>
            </p:cNvSpPr>
            <p:nvPr/>
          </p:nvSpPr>
          <p:spPr bwMode="auto">
            <a:xfrm>
              <a:off x="5334000" y="2855913"/>
              <a:ext cx="3124200" cy="6463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1" dirty="0" err="1">
                  <a:latin typeface="Calibri" pitchFamily="34" charset="0"/>
                </a:rPr>
                <a:t>Minimax</a:t>
              </a:r>
              <a:r>
                <a:rPr lang="en-US" b="1" dirty="0">
                  <a:latin typeface="Calibri" pitchFamily="34" charset="0"/>
                </a:rPr>
                <a:t> values:</a:t>
              </a:r>
              <a:br>
                <a:rPr lang="en-US" b="1" dirty="0">
                  <a:latin typeface="Calibri" pitchFamily="34" charset="0"/>
                </a:rPr>
              </a:br>
              <a:r>
                <a:rPr lang="en-US" b="1" dirty="0">
                  <a:latin typeface="Calibri" pitchFamily="34" charset="0"/>
                </a:rPr>
                <a:t>computed recursively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03232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sym typeface="Symbol" pitchFamily="18" charset="2"/>
              </a:rPr>
              <a:t>Minimax Example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584200" y="5335590"/>
            <a:ext cx="4343400" cy="131127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200" dirty="0"/>
              <a:t>At each node, </a:t>
            </a:r>
            <a:r>
              <a:rPr lang="en-US" sz="2200" b="1" dirty="0">
                <a:solidFill>
                  <a:srgbClr val="FF0000"/>
                </a:solidFill>
              </a:rPr>
              <a:t>MAX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/>
              <a:t>will always select the action with </a:t>
            </a:r>
            <a:r>
              <a:rPr lang="en-US" sz="2200" b="1" dirty="0">
                <a:solidFill>
                  <a:srgbClr val="FF0000"/>
                </a:solidFill>
              </a:rPr>
              <a:t>highest minimax value</a:t>
            </a:r>
            <a:r>
              <a:rPr lang="en-US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dirty="0"/>
              <a:t>(it wants to reach states with higher utilities)</a:t>
            </a:r>
          </a:p>
        </p:txBody>
      </p:sp>
      <p:sp>
        <p:nvSpPr>
          <p:cNvPr id="14339" name="AutoShape 4"/>
          <p:cNvSpPr>
            <a:spLocks noChangeArrowheads="1"/>
          </p:cNvSpPr>
          <p:nvPr/>
        </p:nvSpPr>
        <p:spPr bwMode="auto">
          <a:xfrm>
            <a:off x="5693833" y="2209800"/>
            <a:ext cx="50800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2641600" y="3765550"/>
            <a:ext cx="508000" cy="1187450"/>
            <a:chOff x="1981200" y="3765550"/>
            <a:chExt cx="381000" cy="1187450"/>
          </a:xfrm>
        </p:grpSpPr>
        <p:cxnSp>
          <p:nvCxnSpPr>
            <p:cNvPr id="14382" name="AutoShape 13"/>
            <p:cNvCxnSpPr>
              <a:cxnSpLocks noChangeShapeType="1"/>
              <a:stCxn id="14374" idx="0"/>
            </p:cNvCxnSpPr>
            <p:nvPr/>
          </p:nvCxnSpPr>
          <p:spPr bwMode="auto">
            <a:xfrm>
              <a:off x="2173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83" name="Rectangle 7"/>
            <p:cNvSpPr>
              <a:spLocks noChangeArrowheads="1"/>
            </p:cNvSpPr>
            <p:nvPr/>
          </p:nvSpPr>
          <p:spPr bwMode="auto">
            <a:xfrm>
              <a:off x="1981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12</a:t>
              </a:r>
            </a:p>
          </p:txBody>
        </p:sp>
      </p:grp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2897717" y="3765550"/>
            <a:ext cx="1267883" cy="1187450"/>
            <a:chOff x="2173288" y="3765550"/>
            <a:chExt cx="950912" cy="1187450"/>
          </a:xfrm>
        </p:grpSpPr>
        <p:cxnSp>
          <p:nvCxnSpPr>
            <p:cNvPr id="14380" name="AutoShape 17"/>
            <p:cNvCxnSpPr>
              <a:cxnSpLocks noChangeShapeType="1"/>
              <a:stCxn id="14374" idx="0"/>
            </p:cNvCxnSpPr>
            <p:nvPr/>
          </p:nvCxnSpPr>
          <p:spPr bwMode="auto">
            <a:xfrm>
              <a:off x="2173288" y="3765550"/>
              <a:ext cx="763586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81" name="Rectangle 7"/>
            <p:cNvSpPr>
              <a:spLocks noChangeArrowheads="1"/>
            </p:cNvSpPr>
            <p:nvPr/>
          </p:nvSpPr>
          <p:spPr bwMode="auto">
            <a:xfrm>
              <a:off x="2743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</p:grpSp>
      <p:grpSp>
        <p:nvGrpSpPr>
          <p:cNvPr id="4" name="Group 64"/>
          <p:cNvGrpSpPr>
            <a:grpSpLocks/>
          </p:cNvGrpSpPr>
          <p:nvPr/>
        </p:nvGrpSpPr>
        <p:grpSpPr bwMode="auto">
          <a:xfrm>
            <a:off x="8737600" y="3765550"/>
            <a:ext cx="508000" cy="1187450"/>
            <a:chOff x="6553200" y="3765550"/>
            <a:chExt cx="381000" cy="1187450"/>
          </a:xfrm>
        </p:grpSpPr>
        <p:cxnSp>
          <p:nvCxnSpPr>
            <p:cNvPr id="14378" name="AutoShape 33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79" name="Rectangle 7"/>
            <p:cNvSpPr>
              <a:spLocks noChangeArrowheads="1"/>
            </p:cNvSpPr>
            <p:nvPr/>
          </p:nvSpPr>
          <p:spPr bwMode="auto">
            <a:xfrm>
              <a:off x="6553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5</a:t>
              </a:r>
            </a:p>
          </p:txBody>
        </p:sp>
      </p:grpSp>
      <p:grpSp>
        <p:nvGrpSpPr>
          <p:cNvPr id="5" name="Group 65"/>
          <p:cNvGrpSpPr>
            <a:grpSpLocks/>
          </p:cNvGrpSpPr>
          <p:nvPr/>
        </p:nvGrpSpPr>
        <p:grpSpPr bwMode="auto">
          <a:xfrm>
            <a:off x="8993717" y="3765550"/>
            <a:ext cx="1267883" cy="1187450"/>
            <a:chOff x="6745288" y="3765550"/>
            <a:chExt cx="950912" cy="1187450"/>
          </a:xfrm>
        </p:grpSpPr>
        <p:cxnSp>
          <p:nvCxnSpPr>
            <p:cNvPr id="14376" name="AutoShape 37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763587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77" name="Rectangle 7"/>
            <p:cNvSpPr>
              <a:spLocks noChangeArrowheads="1"/>
            </p:cNvSpPr>
            <p:nvPr/>
          </p:nvSpPr>
          <p:spPr bwMode="auto">
            <a:xfrm>
              <a:off x="7315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</p:grpSp>
      <p:grpSp>
        <p:nvGrpSpPr>
          <p:cNvPr id="6" name="Group 51"/>
          <p:cNvGrpSpPr>
            <a:grpSpLocks/>
          </p:cNvGrpSpPr>
          <p:nvPr/>
        </p:nvGrpSpPr>
        <p:grpSpPr bwMode="auto">
          <a:xfrm>
            <a:off x="2645833" y="2514600"/>
            <a:ext cx="3302000" cy="1250950"/>
            <a:chOff x="1984375" y="2514600"/>
            <a:chExt cx="2476501" cy="1250950"/>
          </a:xfrm>
        </p:grpSpPr>
        <p:sp>
          <p:nvSpPr>
            <p:cNvPr id="14374" name="AutoShape 6"/>
            <p:cNvSpPr>
              <a:spLocks noChangeArrowheads="1"/>
            </p:cNvSpPr>
            <p:nvPr/>
          </p:nvSpPr>
          <p:spPr bwMode="auto">
            <a:xfrm flipV="1">
              <a:off x="1984375" y="346075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4375" name="AutoShape 7"/>
            <p:cNvCxnSpPr>
              <a:cxnSpLocks noChangeShapeType="1"/>
              <a:stCxn id="14339" idx="3"/>
              <a:endCxn id="14374" idx="3"/>
            </p:cNvCxnSpPr>
            <p:nvPr/>
          </p:nvCxnSpPr>
          <p:spPr bwMode="auto">
            <a:xfrm flipH="1">
              <a:off x="2173288" y="2514600"/>
              <a:ext cx="2287588" cy="9461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cxnSp>
        <p:nvCxnSpPr>
          <p:cNvPr id="28720" name="AutoShape 9"/>
          <p:cNvCxnSpPr>
            <a:cxnSpLocks noChangeShapeType="1"/>
            <a:stCxn id="14374" idx="0"/>
          </p:cNvCxnSpPr>
          <p:nvPr/>
        </p:nvCxnSpPr>
        <p:spPr bwMode="auto">
          <a:xfrm flipH="1">
            <a:off x="1883835" y="3765553"/>
            <a:ext cx="1013884" cy="8223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1" name="Rectangle 7"/>
          <p:cNvSpPr>
            <a:spLocks noChangeArrowheads="1"/>
          </p:cNvSpPr>
          <p:nvPr/>
        </p:nvSpPr>
        <p:spPr bwMode="auto">
          <a:xfrm>
            <a:off x="1625600" y="4648200"/>
            <a:ext cx="508000" cy="304800"/>
          </a:xfrm>
          <a:prstGeom prst="rect">
            <a:avLst/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cxnSp>
        <p:nvCxnSpPr>
          <p:cNvPr id="67" name="AutoShape 21"/>
          <p:cNvCxnSpPr>
            <a:cxnSpLocks noChangeShapeType="1"/>
          </p:cNvCxnSpPr>
          <p:nvPr/>
        </p:nvCxnSpPr>
        <p:spPr bwMode="auto">
          <a:xfrm rot="5400000">
            <a:off x="5790143" y="2665943"/>
            <a:ext cx="304800" cy="2116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0" name="AutoShape 21"/>
          <p:cNvCxnSpPr>
            <a:cxnSpLocks noChangeShapeType="1"/>
            <a:stCxn id="14339" idx="3"/>
          </p:cNvCxnSpPr>
          <p:nvPr/>
        </p:nvCxnSpPr>
        <p:spPr bwMode="auto">
          <a:xfrm rot="16200000" flipH="1">
            <a:off x="6212417" y="2250019"/>
            <a:ext cx="228600" cy="75776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4" name="AutoShape 21"/>
          <p:cNvCxnSpPr>
            <a:cxnSpLocks noChangeShapeType="1"/>
          </p:cNvCxnSpPr>
          <p:nvPr/>
        </p:nvCxnSpPr>
        <p:spPr bwMode="auto">
          <a:xfrm rot="5400000">
            <a:off x="2744259" y="3913717"/>
            <a:ext cx="304800" cy="211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5" name="AutoShape 21"/>
          <p:cNvCxnSpPr>
            <a:cxnSpLocks noChangeShapeType="1"/>
            <a:stCxn id="14374" idx="0"/>
          </p:cNvCxnSpPr>
          <p:nvPr/>
        </p:nvCxnSpPr>
        <p:spPr bwMode="auto">
          <a:xfrm rot="16200000" flipH="1">
            <a:off x="2926292" y="3739091"/>
            <a:ext cx="196850" cy="24976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7" name="Group 59"/>
          <p:cNvGrpSpPr>
            <a:grpSpLocks/>
          </p:cNvGrpSpPr>
          <p:nvPr/>
        </p:nvGrpSpPr>
        <p:grpSpPr bwMode="auto">
          <a:xfrm>
            <a:off x="5693833" y="2514603"/>
            <a:ext cx="508000" cy="1235075"/>
            <a:chOff x="4270375" y="2514600"/>
            <a:chExt cx="381000" cy="1235075"/>
          </a:xfrm>
        </p:grpSpPr>
        <p:sp>
          <p:nvSpPr>
            <p:cNvPr id="14372" name="AutoShape 20"/>
            <p:cNvSpPr>
              <a:spLocks noChangeArrowheads="1"/>
            </p:cNvSpPr>
            <p:nvPr/>
          </p:nvSpPr>
          <p:spPr bwMode="auto">
            <a:xfrm flipV="1">
              <a:off x="4270375" y="3444875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4373" name="AutoShape 21"/>
            <p:cNvCxnSpPr>
              <a:cxnSpLocks noChangeShapeType="1"/>
              <a:stCxn id="14339" idx="3"/>
              <a:endCxn id="14372" idx="3"/>
            </p:cNvCxnSpPr>
            <p:nvPr/>
          </p:nvCxnSpPr>
          <p:spPr bwMode="auto">
            <a:xfrm flipH="1">
              <a:off x="4459288" y="2514600"/>
              <a:ext cx="1588" cy="93027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8" name="Group 58"/>
          <p:cNvGrpSpPr>
            <a:grpSpLocks/>
          </p:cNvGrpSpPr>
          <p:nvPr/>
        </p:nvGrpSpPr>
        <p:grpSpPr bwMode="auto">
          <a:xfrm>
            <a:off x="4673600" y="3762375"/>
            <a:ext cx="1524000" cy="1190625"/>
            <a:chOff x="3505200" y="3762375"/>
            <a:chExt cx="1142999" cy="1190625"/>
          </a:xfrm>
        </p:grpSpPr>
        <p:cxnSp>
          <p:nvCxnSpPr>
            <p:cNvPr id="14368" name="AutoShape 23"/>
            <p:cNvCxnSpPr>
              <a:cxnSpLocks noChangeShapeType="1"/>
            </p:cNvCxnSpPr>
            <p:nvPr/>
          </p:nvCxnSpPr>
          <p:spPr bwMode="auto">
            <a:xfrm flipH="1">
              <a:off x="3698875" y="3765550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69" name="Rectangle 7"/>
            <p:cNvSpPr>
              <a:spLocks noChangeArrowheads="1"/>
            </p:cNvSpPr>
            <p:nvPr/>
          </p:nvSpPr>
          <p:spPr bwMode="auto">
            <a:xfrm>
              <a:off x="3505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cxnSp>
          <p:nvCxnSpPr>
            <p:cNvPr id="14370" name="AutoShape 21"/>
            <p:cNvCxnSpPr>
              <a:cxnSpLocks noChangeShapeType="1"/>
            </p:cNvCxnSpPr>
            <p:nvPr/>
          </p:nvCxnSpPr>
          <p:spPr bwMode="auto">
            <a:xfrm rot="5400000">
              <a:off x="4306094" y="3913981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4371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4456112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9" name="Group 61"/>
          <p:cNvGrpSpPr>
            <a:grpSpLocks/>
          </p:cNvGrpSpPr>
          <p:nvPr/>
        </p:nvGrpSpPr>
        <p:grpSpPr bwMode="auto">
          <a:xfrm>
            <a:off x="5947831" y="2514600"/>
            <a:ext cx="3301999" cy="1250950"/>
            <a:chOff x="4460875" y="2514600"/>
            <a:chExt cx="2476500" cy="1250950"/>
          </a:xfrm>
        </p:grpSpPr>
        <p:sp>
          <p:nvSpPr>
            <p:cNvPr id="14366" name="AutoShape 26"/>
            <p:cNvSpPr>
              <a:spLocks noChangeArrowheads="1"/>
            </p:cNvSpPr>
            <p:nvPr/>
          </p:nvSpPr>
          <p:spPr bwMode="auto">
            <a:xfrm flipV="1">
              <a:off x="6556375" y="346075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4367" name="AutoShape 27"/>
            <p:cNvCxnSpPr>
              <a:cxnSpLocks noChangeShapeType="1"/>
              <a:stCxn id="14339" idx="3"/>
              <a:endCxn id="14366" idx="3"/>
            </p:cNvCxnSpPr>
            <p:nvPr/>
          </p:nvCxnSpPr>
          <p:spPr bwMode="auto">
            <a:xfrm>
              <a:off x="4460875" y="2514600"/>
              <a:ext cx="2284413" cy="9461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0" name="Group 60"/>
          <p:cNvGrpSpPr>
            <a:grpSpLocks/>
          </p:cNvGrpSpPr>
          <p:nvPr/>
        </p:nvGrpSpPr>
        <p:grpSpPr bwMode="auto">
          <a:xfrm>
            <a:off x="7721600" y="3762375"/>
            <a:ext cx="1524000" cy="1190625"/>
            <a:chOff x="5791200" y="3762375"/>
            <a:chExt cx="1142999" cy="1190625"/>
          </a:xfrm>
        </p:grpSpPr>
        <p:cxnSp>
          <p:nvCxnSpPr>
            <p:cNvPr id="14362" name="AutoShape 29"/>
            <p:cNvCxnSpPr>
              <a:cxnSpLocks noChangeShapeType="1"/>
            </p:cNvCxnSpPr>
            <p:nvPr/>
          </p:nvCxnSpPr>
          <p:spPr bwMode="auto">
            <a:xfrm flipH="1">
              <a:off x="5984875" y="3765550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63" name="Rectangle 7"/>
            <p:cNvSpPr>
              <a:spLocks noChangeArrowheads="1"/>
            </p:cNvSpPr>
            <p:nvPr/>
          </p:nvSpPr>
          <p:spPr bwMode="auto">
            <a:xfrm>
              <a:off x="5791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cxnSp>
          <p:nvCxnSpPr>
            <p:cNvPr id="14364" name="AutoShape 21"/>
            <p:cNvCxnSpPr>
              <a:cxnSpLocks noChangeShapeType="1"/>
            </p:cNvCxnSpPr>
            <p:nvPr/>
          </p:nvCxnSpPr>
          <p:spPr bwMode="auto">
            <a:xfrm rot="5400000">
              <a:off x="6592094" y="3913981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4365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6742112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11" name="Group 64"/>
          <p:cNvGrpSpPr>
            <a:grpSpLocks/>
          </p:cNvGrpSpPr>
          <p:nvPr/>
        </p:nvGrpSpPr>
        <p:grpSpPr bwMode="auto">
          <a:xfrm>
            <a:off x="5689600" y="3765550"/>
            <a:ext cx="508000" cy="1187450"/>
            <a:chOff x="6553200" y="3765550"/>
            <a:chExt cx="381000" cy="1187450"/>
          </a:xfrm>
        </p:grpSpPr>
        <p:cxnSp>
          <p:nvCxnSpPr>
            <p:cNvPr id="14360" name="AutoShape 33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61" name="Rectangle 7"/>
            <p:cNvSpPr>
              <a:spLocks noChangeArrowheads="1"/>
            </p:cNvSpPr>
            <p:nvPr/>
          </p:nvSpPr>
          <p:spPr bwMode="auto">
            <a:xfrm>
              <a:off x="6553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4</a:t>
              </a:r>
            </a:p>
          </p:txBody>
        </p:sp>
      </p:grpSp>
      <p:grpSp>
        <p:nvGrpSpPr>
          <p:cNvPr id="12" name="Group 65"/>
          <p:cNvGrpSpPr>
            <a:grpSpLocks/>
          </p:cNvGrpSpPr>
          <p:nvPr/>
        </p:nvGrpSpPr>
        <p:grpSpPr bwMode="auto">
          <a:xfrm>
            <a:off x="5945717" y="3765550"/>
            <a:ext cx="1267883" cy="1187450"/>
            <a:chOff x="6745288" y="3765550"/>
            <a:chExt cx="950912" cy="1187450"/>
          </a:xfrm>
        </p:grpSpPr>
        <p:cxnSp>
          <p:nvCxnSpPr>
            <p:cNvPr id="14358" name="AutoShape 37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763587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4359" name="Rectangle 7"/>
            <p:cNvSpPr>
              <a:spLocks noChangeArrowheads="1"/>
            </p:cNvSpPr>
            <p:nvPr/>
          </p:nvSpPr>
          <p:spPr bwMode="auto">
            <a:xfrm>
              <a:off x="7315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6</a:t>
              </a:r>
            </a:p>
          </p:txBody>
        </p:sp>
      </p:grpSp>
      <p:sp>
        <p:nvSpPr>
          <p:cNvPr id="48" name="Content Placeholder 12"/>
          <p:cNvSpPr txBox="1">
            <a:spLocks/>
          </p:cNvSpPr>
          <p:nvPr/>
        </p:nvSpPr>
        <p:spPr>
          <a:xfrm>
            <a:off x="6798365" y="5363820"/>
            <a:ext cx="4971106" cy="12830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200" dirty="0"/>
              <a:t>At each node, </a:t>
            </a:r>
            <a:r>
              <a:rPr lang="en-US" sz="2200" b="1" dirty="0">
                <a:solidFill>
                  <a:srgbClr val="0000FF"/>
                </a:solidFill>
              </a:rPr>
              <a:t>MIN</a:t>
            </a:r>
            <a:r>
              <a:rPr lang="en-US" sz="2200" dirty="0">
                <a:solidFill>
                  <a:srgbClr val="0000FF"/>
                </a:solidFill>
              </a:rPr>
              <a:t> </a:t>
            </a:r>
            <a:r>
              <a:rPr lang="en-US" sz="2200" dirty="0"/>
              <a:t>will always select the action with </a:t>
            </a:r>
            <a:r>
              <a:rPr lang="en-US" sz="2200" b="1" dirty="0">
                <a:solidFill>
                  <a:srgbClr val="0000FF"/>
                </a:solidFill>
              </a:rPr>
              <a:t>lowest minimax </a:t>
            </a:r>
            <a:r>
              <a:rPr lang="en-US" sz="2200" dirty="0"/>
              <a:t>value (it wants to reach states with lower utilities).</a:t>
            </a:r>
          </a:p>
        </p:txBody>
      </p:sp>
    </p:spTree>
    <p:extLst>
      <p:ext uri="{BB962C8B-B14F-4D97-AF65-F5344CB8AC3E}">
        <p14:creationId xmlns:p14="http://schemas.microsoft.com/office/powerpoint/2010/main" val="38632559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498600"/>
            <a:ext cx="6405563" cy="330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2362200" y="533401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1pPr>
            <a:lvl2pPr marL="37931725" indent="-37474525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sz="2000" dirty="0"/>
              <a:t>Minimax to a hypothetical state space. Leaf states show heuristic values; internal states show backed-up values.</a:t>
            </a:r>
          </a:p>
        </p:txBody>
      </p:sp>
      <p:sp>
        <p:nvSpPr>
          <p:cNvPr id="297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1pPr>
            <a:lvl2pPr marL="37931725" indent="-37474525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25C869D-7707-4D50-8D54-410F278582F9}" type="slidenum">
              <a:rPr lang="en-GB" altLang="en-US" sz="1400"/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GB" altLang="en-US" sz="140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5181600"/>
            <a:ext cx="6372225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517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ft-Right-Up Arrow 8"/>
          <p:cNvSpPr/>
          <p:nvPr/>
        </p:nvSpPr>
        <p:spPr>
          <a:xfrm>
            <a:off x="5029200" y="2895600"/>
            <a:ext cx="2133600" cy="2590800"/>
          </a:xfrm>
          <a:prstGeom prst="leftRightUpArrow">
            <a:avLst>
              <a:gd name="adj1" fmla="val 18522"/>
              <a:gd name="adj2" fmla="val 19062"/>
              <a:gd name="adj3" fmla="val 19062"/>
            </a:avLst>
          </a:prstGeom>
          <a:solidFill>
            <a:srgbClr val="BD92DE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7239000" y="3962400"/>
            <a:ext cx="4724400" cy="2209800"/>
          </a:xfrm>
          <a:prstGeom prst="roundRect">
            <a:avLst/>
          </a:prstGeom>
          <a:solidFill>
            <a:srgbClr val="C00000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228600" y="3962400"/>
            <a:ext cx="4724400" cy="2209800"/>
          </a:xfrm>
          <a:prstGeom prst="roundRect">
            <a:avLst/>
          </a:prstGeom>
          <a:solidFill>
            <a:srgbClr val="0066CC">
              <a:alpha val="16000"/>
            </a:srgb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2286000" y="1371600"/>
            <a:ext cx="7620000" cy="2057400"/>
          </a:xfrm>
          <a:prstGeom prst="roundRect">
            <a:avLst/>
          </a:prstGeom>
          <a:solidFill>
            <a:srgbClr val="C39BE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Minimax</a:t>
            </a:r>
            <a:r>
              <a:rPr lang="en-US" dirty="0"/>
              <a:t> Implementation (Dispatch)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438400" y="1371600"/>
            <a:ext cx="8229600" cy="38100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1200"/>
              </a:spcBef>
              <a:buFont typeface="Wingdings" pitchFamily="2" charset="2"/>
              <a:buNone/>
            </a:pPr>
            <a:endParaRPr lang="en-US" sz="200" dirty="0"/>
          </a:p>
          <a:p>
            <a:pPr>
              <a:lnSpc>
                <a:spcPct val="8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sz="2400" dirty="0">
                <a:solidFill>
                  <a:srgbClr val="7030A0"/>
                </a:solidFill>
              </a:rPr>
              <a:t>def value(state):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/>
              <a:t>if the state is a terminal state: return the state’s utility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/>
              <a:t>if the next agent is </a:t>
            </a:r>
            <a:r>
              <a:rPr lang="en-US" sz="2400" dirty="0">
                <a:solidFill>
                  <a:srgbClr val="0070C0"/>
                </a:solidFill>
              </a:rPr>
              <a:t>MAX</a:t>
            </a:r>
            <a:r>
              <a:rPr lang="en-US" sz="2400" dirty="0"/>
              <a:t>: return </a:t>
            </a:r>
            <a:r>
              <a:rPr lang="en-US" sz="2400" dirty="0">
                <a:solidFill>
                  <a:srgbClr val="0070C0"/>
                </a:solidFill>
              </a:rPr>
              <a:t>max-value(state)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/>
              <a:t>if the next agent is </a:t>
            </a:r>
            <a:r>
              <a:rPr lang="en-US" sz="2400" dirty="0">
                <a:solidFill>
                  <a:srgbClr val="C00000"/>
                </a:solidFill>
              </a:rPr>
              <a:t>MIN</a:t>
            </a:r>
            <a:r>
              <a:rPr lang="en-US" sz="2400" dirty="0"/>
              <a:t>: return </a:t>
            </a:r>
            <a:r>
              <a:rPr lang="en-US" sz="2400" dirty="0">
                <a:solidFill>
                  <a:srgbClr val="C00000"/>
                </a:solidFill>
              </a:rPr>
              <a:t>min-value(state)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365024" y="4114800"/>
            <a:ext cx="48006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def min-value(state):</a:t>
            </a:r>
          </a:p>
          <a:p>
            <a:pPr marL="742913" lvl="1" indent="-285737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sz="2400" kern="0" dirty="0">
                <a:latin typeface="Calibri" pitchFamily="34" charset="0"/>
              </a:rPr>
              <a:t>initialize v = 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+∞</a:t>
            </a:r>
          </a:p>
          <a:p>
            <a:pPr marL="742913" lvl="1" indent="-285737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sz="2400" kern="0" dirty="0"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sz="2400" kern="0" dirty="0">
                <a:latin typeface="Calibri" pitchFamily="34" charset="0"/>
              </a:rPr>
              <a:t>v = min(v, </a:t>
            </a:r>
            <a:r>
              <a:rPr lang="en-US" sz="2400" kern="0" dirty="0">
                <a:solidFill>
                  <a:srgbClr val="7030A0"/>
                </a:solidFill>
                <a:latin typeface="Calibri" pitchFamily="34" charset="0"/>
              </a:rPr>
              <a:t>value(successor)</a:t>
            </a:r>
            <a:r>
              <a:rPr lang="en-US" sz="2400" kern="0" dirty="0">
                <a:latin typeface="Calibri" pitchFamily="34" charset="0"/>
              </a:rPr>
              <a:t>)</a:t>
            </a:r>
          </a:p>
          <a:p>
            <a:pPr marL="742913" lvl="1" indent="-285737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sz="2400" kern="0" dirty="0">
                <a:latin typeface="Calibri" pitchFamily="34" charset="0"/>
              </a:rPr>
              <a:t>return v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54624" y="3810000"/>
            <a:ext cx="5410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def max-value(state):</a:t>
            </a:r>
          </a:p>
          <a:p>
            <a:pPr marL="742913" lvl="1" indent="-285737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sz="2400" kern="0" dirty="0">
                <a:latin typeface="Calibri" pitchFamily="34" charset="0"/>
              </a:rPr>
              <a:t>initialize v = </a:t>
            </a:r>
            <a:r>
              <a:rPr lang="en-US" sz="2400" kern="0" dirty="0">
                <a:latin typeface="Times New Roman" pitchFamily="18" charset="0"/>
                <a:cs typeface="Times New Roman" pitchFamily="18" charset="0"/>
              </a:rPr>
              <a:t>-∞</a:t>
            </a:r>
          </a:p>
          <a:p>
            <a:pPr marL="742913" lvl="1" indent="-285737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sz="2400" kern="0" dirty="0">
                <a:latin typeface="Calibri" pitchFamily="34" charset="0"/>
              </a:rPr>
              <a:t>for each successor of state:</a:t>
            </a:r>
          </a:p>
          <a:p>
            <a:pPr marL="1142942" lvl="2" indent="-228589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defRPr/>
            </a:pPr>
            <a:r>
              <a:rPr lang="en-US" sz="2400" kern="0" dirty="0">
                <a:latin typeface="Calibri" pitchFamily="34" charset="0"/>
              </a:rPr>
              <a:t>v = max(v, </a:t>
            </a:r>
            <a:r>
              <a:rPr lang="en-US" sz="2400" kern="0" dirty="0">
                <a:solidFill>
                  <a:srgbClr val="7030A0"/>
                </a:solidFill>
                <a:latin typeface="Calibri" pitchFamily="34" charset="0"/>
              </a:rPr>
              <a:t>value(successor)</a:t>
            </a:r>
            <a:r>
              <a:rPr lang="en-US" sz="2400" kern="0" dirty="0">
                <a:latin typeface="Calibri" pitchFamily="34" charset="0"/>
              </a:rPr>
              <a:t>)</a:t>
            </a:r>
          </a:p>
          <a:p>
            <a:pPr marL="742913" lvl="1" indent="-285737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en-US" sz="2400" kern="0" dirty="0">
                <a:latin typeface="Calibri" pitchFamily="34" charset="0"/>
              </a:rPr>
              <a:t>return v</a:t>
            </a:r>
          </a:p>
        </p:txBody>
      </p:sp>
      <p:pic>
        <p:nvPicPr>
          <p:cNvPr id="13" name="Picture 12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886864" y="6188075"/>
            <a:ext cx="3407872" cy="533312"/>
          </a:xfrm>
          <a:prstGeom prst="rect">
            <a:avLst/>
          </a:prstGeom>
          <a:noFill/>
          <a:ln/>
          <a:effectLst/>
        </p:spPr>
      </p:pic>
      <p:pic>
        <p:nvPicPr>
          <p:cNvPr id="14" name="Picture 13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7897893" y="6286642"/>
            <a:ext cx="3406613" cy="533115"/>
          </a:xfrm>
          <a:prstGeom prst="rect">
            <a:avLst/>
          </a:prstGeom>
          <a:noFill/>
          <a:ln/>
          <a:effectLst/>
        </p:spPr>
      </p:pic>
    </p:spTree>
    <p:extLst>
      <p:ext uri="{BB962C8B-B14F-4D97-AF65-F5344CB8AC3E}">
        <p14:creationId xmlns:p14="http://schemas.microsoft.com/office/powerpoint/2010/main" val="226486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1" grpId="0" animBg="1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295401"/>
            <a:ext cx="7804556" cy="412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4880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476" y="1295400"/>
            <a:ext cx="8535725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0544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30344" y="2042438"/>
            <a:ext cx="3579027" cy="1395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9593" y="1690688"/>
            <a:ext cx="3674720" cy="197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Minimax Properties</a:t>
            </a:r>
          </a:p>
        </p:txBody>
      </p:sp>
      <p:sp>
        <p:nvSpPr>
          <p:cNvPr id="935939" name="Rectangle 3"/>
          <p:cNvSpPr>
            <a:spLocks noGrp="1" noChangeArrowheads="1"/>
          </p:cNvSpPr>
          <p:nvPr>
            <p:ph idx="1"/>
          </p:nvPr>
        </p:nvSpPr>
        <p:spPr>
          <a:xfrm>
            <a:off x="2418522" y="5411935"/>
            <a:ext cx="7366000" cy="685800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None/>
            </a:pPr>
            <a:r>
              <a:rPr lang="en-US" sz="2800" dirty="0"/>
              <a:t>Optimal against a perfect player.  Otherwise?</a:t>
            </a:r>
          </a:p>
          <a:p>
            <a:pPr algn="ctr" eaLnBrk="1" hangingPunct="1">
              <a:lnSpc>
                <a:spcPct val="90000"/>
              </a:lnSpc>
            </a:pPr>
            <a:endParaRPr lang="en-US" sz="2800" dirty="0"/>
          </a:p>
        </p:txBody>
      </p:sp>
      <p:sp>
        <p:nvSpPr>
          <p:cNvPr id="16388" name="AutoShape 5"/>
          <p:cNvSpPr>
            <a:spLocks noChangeArrowheads="1"/>
          </p:cNvSpPr>
          <p:nvPr/>
        </p:nvSpPr>
        <p:spPr bwMode="auto">
          <a:xfrm>
            <a:off x="5923722" y="2211535"/>
            <a:ext cx="381000" cy="304800"/>
          </a:xfrm>
          <a:prstGeom prst="triangle">
            <a:avLst>
              <a:gd name="adj" fmla="val 50000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389" name="AutoShape 6"/>
          <p:cNvSpPr>
            <a:spLocks noChangeArrowheads="1"/>
          </p:cNvSpPr>
          <p:nvPr/>
        </p:nvSpPr>
        <p:spPr bwMode="auto">
          <a:xfrm rot="10800000">
            <a:off x="5161722" y="3202135"/>
            <a:ext cx="381000" cy="304800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390" name="AutoShape 7"/>
          <p:cNvSpPr>
            <a:spLocks noChangeArrowheads="1"/>
          </p:cNvSpPr>
          <p:nvPr/>
        </p:nvSpPr>
        <p:spPr bwMode="auto">
          <a:xfrm rot="10800000">
            <a:off x="6685722" y="3202135"/>
            <a:ext cx="381000" cy="304800"/>
          </a:xfrm>
          <a:prstGeom prst="triangle">
            <a:avLst>
              <a:gd name="adj" fmla="val 50000"/>
            </a:avLst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6391" name="Rectangle 8"/>
          <p:cNvSpPr>
            <a:spLocks noChangeArrowheads="1"/>
          </p:cNvSpPr>
          <p:nvPr/>
        </p:nvSpPr>
        <p:spPr bwMode="auto">
          <a:xfrm>
            <a:off x="4780722" y="4497535"/>
            <a:ext cx="381000" cy="3048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10</a:t>
            </a:r>
          </a:p>
        </p:txBody>
      </p:sp>
      <p:sp>
        <p:nvSpPr>
          <p:cNvPr id="16392" name="Rectangle 9"/>
          <p:cNvSpPr>
            <a:spLocks noChangeArrowheads="1"/>
          </p:cNvSpPr>
          <p:nvPr/>
        </p:nvSpPr>
        <p:spPr bwMode="auto">
          <a:xfrm>
            <a:off x="5466522" y="4497535"/>
            <a:ext cx="381000" cy="3048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10</a:t>
            </a: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6304722" y="4497535"/>
            <a:ext cx="381000" cy="3048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alibri" pitchFamily="34" charset="0"/>
              </a:rPr>
              <a:t>9</a:t>
            </a:r>
          </a:p>
        </p:txBody>
      </p:sp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7066722" y="4497535"/>
            <a:ext cx="381000" cy="304800"/>
          </a:xfrm>
          <a:prstGeom prst="rect">
            <a:avLst/>
          </a:prstGeom>
          <a:solidFill>
            <a:srgbClr val="BD92D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Calibri" pitchFamily="34" charset="0"/>
              </a:rPr>
              <a:t>100</a:t>
            </a:r>
          </a:p>
        </p:txBody>
      </p:sp>
      <p:cxnSp>
        <p:nvCxnSpPr>
          <p:cNvPr id="16395" name="AutoShape 12"/>
          <p:cNvCxnSpPr>
            <a:cxnSpLocks noChangeShapeType="1"/>
            <a:stCxn id="16388" idx="3"/>
            <a:endCxn id="16389" idx="3"/>
          </p:cNvCxnSpPr>
          <p:nvPr/>
        </p:nvCxnSpPr>
        <p:spPr bwMode="auto">
          <a:xfrm flipH="1">
            <a:off x="5352222" y="2516335"/>
            <a:ext cx="7620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396" name="AutoShape 13"/>
          <p:cNvCxnSpPr>
            <a:cxnSpLocks noChangeShapeType="1"/>
            <a:stCxn id="16388" idx="3"/>
            <a:endCxn id="16390" idx="3"/>
          </p:cNvCxnSpPr>
          <p:nvPr/>
        </p:nvCxnSpPr>
        <p:spPr bwMode="auto">
          <a:xfrm>
            <a:off x="6114222" y="2516335"/>
            <a:ext cx="7620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397" name="AutoShape 14"/>
          <p:cNvCxnSpPr>
            <a:cxnSpLocks noChangeShapeType="1"/>
            <a:stCxn id="16389" idx="0"/>
            <a:endCxn id="16391" idx="0"/>
          </p:cNvCxnSpPr>
          <p:nvPr/>
        </p:nvCxnSpPr>
        <p:spPr bwMode="auto">
          <a:xfrm flipH="1">
            <a:off x="4971222" y="3506935"/>
            <a:ext cx="3810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398" name="AutoShape 15"/>
          <p:cNvCxnSpPr>
            <a:cxnSpLocks noChangeShapeType="1"/>
            <a:stCxn id="16389" idx="0"/>
            <a:endCxn id="16392" idx="0"/>
          </p:cNvCxnSpPr>
          <p:nvPr/>
        </p:nvCxnSpPr>
        <p:spPr bwMode="auto">
          <a:xfrm>
            <a:off x="5352222" y="3506935"/>
            <a:ext cx="3048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399" name="AutoShape 16"/>
          <p:cNvCxnSpPr>
            <a:cxnSpLocks noChangeShapeType="1"/>
            <a:stCxn id="16390" idx="0"/>
            <a:endCxn id="16393" idx="0"/>
          </p:cNvCxnSpPr>
          <p:nvPr/>
        </p:nvCxnSpPr>
        <p:spPr bwMode="auto">
          <a:xfrm flipH="1">
            <a:off x="6495222" y="3506935"/>
            <a:ext cx="3810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400" name="AutoShape 17"/>
          <p:cNvCxnSpPr>
            <a:cxnSpLocks noChangeShapeType="1"/>
            <a:stCxn id="16390" idx="0"/>
            <a:endCxn id="16394" idx="0"/>
          </p:cNvCxnSpPr>
          <p:nvPr/>
        </p:nvCxnSpPr>
        <p:spPr bwMode="auto">
          <a:xfrm>
            <a:off x="6876222" y="3506935"/>
            <a:ext cx="3810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6401" name="Text Box 18"/>
          <p:cNvSpPr txBox="1">
            <a:spLocks noChangeArrowheads="1"/>
          </p:cNvSpPr>
          <p:nvPr/>
        </p:nvSpPr>
        <p:spPr bwMode="auto">
          <a:xfrm>
            <a:off x="6326947" y="2211535"/>
            <a:ext cx="663575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>
                <a:latin typeface="Calibri" pitchFamily="34" charset="0"/>
              </a:rPr>
              <a:t>max</a:t>
            </a:r>
          </a:p>
        </p:txBody>
      </p:sp>
      <p:sp>
        <p:nvSpPr>
          <p:cNvPr id="16402" name="Text Box 19"/>
          <p:cNvSpPr txBox="1">
            <a:spLocks noChangeArrowheads="1"/>
          </p:cNvSpPr>
          <p:nvPr/>
        </p:nvSpPr>
        <p:spPr bwMode="auto">
          <a:xfrm>
            <a:off x="7142922" y="3125935"/>
            <a:ext cx="663575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>
                <a:latin typeface="Calibri" pitchFamily="34" charset="0"/>
              </a:rPr>
              <a:t>min</a:t>
            </a:r>
          </a:p>
        </p:txBody>
      </p:sp>
    </p:spTree>
    <p:extLst>
      <p:ext uri="{BB962C8B-B14F-4D97-AF65-F5344CB8AC3E}">
        <p14:creationId xmlns:p14="http://schemas.microsoft.com/office/powerpoint/2010/main" val="3939390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Perhaps a better utility function?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+100 for EACH 3-in-a-line for computer (Max).</a:t>
            </a:r>
          </a:p>
          <a:p>
            <a:r>
              <a:rPr lang="en-US" dirty="0"/>
              <a:t>+10 for EACH 2-in-a-line (with a empty cell) for computer.</a:t>
            </a:r>
          </a:p>
          <a:p>
            <a:r>
              <a:rPr lang="en-US" dirty="0"/>
              <a:t>+1 for EACH 1-in-a-line (with two empty cells) for computer.</a:t>
            </a:r>
          </a:p>
          <a:p>
            <a:r>
              <a:rPr lang="en-US" dirty="0"/>
              <a:t>Same negative scores for opponent (Min), </a:t>
            </a:r>
          </a:p>
          <a:p>
            <a:pPr lvl="1"/>
            <a:r>
              <a:rPr lang="en-US" dirty="0"/>
              <a:t>-100 for EACH 3-in-a-line</a:t>
            </a:r>
          </a:p>
          <a:p>
            <a:pPr lvl="1"/>
            <a:r>
              <a:rPr lang="en-US" dirty="0"/>
              <a:t>-10 for EACH 2-in-a-line</a:t>
            </a:r>
          </a:p>
          <a:p>
            <a:pPr lvl="1"/>
            <a:r>
              <a:rPr lang="en-US" dirty="0"/>
              <a:t>-1 for EACH 1-in-a-line.</a:t>
            </a:r>
          </a:p>
          <a:p>
            <a:endParaRPr lang="en-US" sz="2100" dirty="0"/>
          </a:p>
          <a:p>
            <a:r>
              <a:rPr lang="en-US" dirty="0"/>
              <a:t>0 otherwise (empty lines or lines with both computer's and opponent's seed).</a:t>
            </a:r>
          </a:p>
          <a:p>
            <a:endParaRPr lang="en-US" sz="1900" dirty="0"/>
          </a:p>
          <a:p>
            <a:r>
              <a:rPr lang="en-US" dirty="0">
                <a:solidFill>
                  <a:srgbClr val="FF0000"/>
                </a:solidFill>
              </a:rPr>
              <a:t>Compute the scores for each of the 8 lines</a:t>
            </a:r>
            <a:r>
              <a:rPr lang="en-US" dirty="0"/>
              <a:t> (3 rows, 3 columns and 2 diagonals) and obtain the 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28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Brief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19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489" y="1285875"/>
            <a:ext cx="5153025" cy="428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46882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20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851355"/>
            <a:ext cx="8248650" cy="601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6633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E4C1-E6A0-4AA9-9965-F1CD6F0FDCC0}" type="slidenum">
              <a:rPr lang="en-US" smtClean="0"/>
              <a:t>21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0657" y="152400"/>
            <a:ext cx="8247743" cy="6236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00846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54582" y="1627624"/>
            <a:ext cx="4918972" cy="4549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Minimax</a:t>
            </a:r>
            <a:r>
              <a:rPr lang="en-US" dirty="0"/>
              <a:t>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90000"/>
              </a:lnSpc>
              <a:buClr>
                <a:srgbClr val="333399"/>
              </a:buClr>
            </a:pPr>
            <a:r>
              <a:rPr lang="en-US" sz="2800" dirty="0">
                <a:solidFill>
                  <a:srgbClr val="333399"/>
                </a:solidFill>
              </a:rPr>
              <a:t>How efficient is </a:t>
            </a:r>
            <a:r>
              <a:rPr lang="en-US" sz="2800" dirty="0" err="1">
                <a:solidFill>
                  <a:srgbClr val="333399"/>
                </a:solidFill>
              </a:rPr>
              <a:t>minimax</a:t>
            </a:r>
            <a:r>
              <a:rPr lang="en-US" sz="2800" dirty="0">
                <a:solidFill>
                  <a:srgbClr val="333399"/>
                </a:solidFill>
              </a:rPr>
              <a:t>?</a:t>
            </a:r>
          </a:p>
          <a:p>
            <a:pPr lvl="1">
              <a:lnSpc>
                <a:spcPct val="90000"/>
              </a:lnSpc>
              <a:buClr>
                <a:srgbClr val="333399"/>
              </a:buClr>
            </a:pPr>
            <a:r>
              <a:rPr lang="en-US" sz="2400" dirty="0"/>
              <a:t>Just like (exhaustive) DFS</a:t>
            </a:r>
          </a:p>
          <a:p>
            <a:pPr lvl="1">
              <a:lnSpc>
                <a:spcPct val="90000"/>
              </a:lnSpc>
              <a:buClr>
                <a:srgbClr val="000000"/>
              </a:buClr>
            </a:pPr>
            <a:r>
              <a:rPr lang="en-US" sz="2400" dirty="0">
                <a:solidFill>
                  <a:srgbClr val="000000"/>
                </a:solidFill>
                <a:ea typeface="+mn-ea"/>
                <a:cs typeface="+mn-cs"/>
              </a:rPr>
              <a:t>Time: O(</a:t>
            </a:r>
            <a:r>
              <a:rPr lang="en-US" sz="2400" dirty="0" err="1">
                <a:solidFill>
                  <a:srgbClr val="000000"/>
                </a:solidFill>
                <a:ea typeface="+mn-ea"/>
                <a:cs typeface="+mn-cs"/>
              </a:rPr>
              <a:t>b</a:t>
            </a:r>
            <a:r>
              <a:rPr lang="en-US" sz="2400" baseline="30000" dirty="0" err="1">
                <a:solidFill>
                  <a:srgbClr val="000000"/>
                </a:solidFill>
                <a:ea typeface="+mn-ea"/>
                <a:cs typeface="+mn-cs"/>
              </a:rPr>
              <a:t>m</a:t>
            </a:r>
            <a:r>
              <a:rPr lang="en-US" sz="2400" dirty="0">
                <a:solidFill>
                  <a:srgbClr val="000000"/>
                </a:solidFill>
                <a:ea typeface="+mn-ea"/>
                <a:cs typeface="+mn-cs"/>
              </a:rPr>
              <a:t>)</a:t>
            </a:r>
          </a:p>
          <a:p>
            <a:pPr lvl="1">
              <a:lnSpc>
                <a:spcPct val="90000"/>
              </a:lnSpc>
              <a:buClr>
                <a:srgbClr val="000000"/>
              </a:buClr>
            </a:pPr>
            <a:r>
              <a:rPr lang="en-US" sz="2400" dirty="0">
                <a:solidFill>
                  <a:srgbClr val="000000"/>
                </a:solidFill>
                <a:ea typeface="+mn-ea"/>
                <a:cs typeface="+mn-cs"/>
              </a:rPr>
              <a:t>Space: O(</a:t>
            </a:r>
            <a:r>
              <a:rPr lang="en-US" sz="2400" dirty="0" err="1">
                <a:solidFill>
                  <a:srgbClr val="000000"/>
                </a:solidFill>
                <a:ea typeface="+mn-ea"/>
                <a:cs typeface="+mn-cs"/>
              </a:rPr>
              <a:t>bm</a:t>
            </a:r>
            <a:r>
              <a:rPr lang="en-US" sz="2400" dirty="0">
                <a:solidFill>
                  <a:srgbClr val="000000"/>
                </a:solidFill>
                <a:ea typeface="+mn-ea"/>
                <a:cs typeface="+mn-cs"/>
              </a:rPr>
              <a:t>)</a:t>
            </a:r>
          </a:p>
          <a:p>
            <a:pPr lvl="1">
              <a:defRPr/>
            </a:pPr>
            <a:r>
              <a:rPr lang="en-US" dirty="0"/>
              <a:t>Complete: </a:t>
            </a:r>
            <a:r>
              <a:rPr lang="en-US" b="1" dirty="0"/>
              <a:t>Yes</a:t>
            </a:r>
            <a:r>
              <a:rPr lang="en-US" dirty="0"/>
              <a:t> (if tree is finite)</a:t>
            </a:r>
          </a:p>
          <a:p>
            <a:pPr lvl="1">
              <a:defRPr/>
            </a:pPr>
            <a:r>
              <a:rPr lang="en-US" dirty="0"/>
              <a:t>Optimal? </a:t>
            </a:r>
            <a:r>
              <a:rPr lang="en-US" b="1" dirty="0"/>
              <a:t>Yes</a:t>
            </a:r>
            <a:r>
              <a:rPr lang="en-US" dirty="0"/>
              <a:t> (against an optimal opponent)</a:t>
            </a:r>
          </a:p>
          <a:p>
            <a:pPr lvl="1">
              <a:lnSpc>
                <a:spcPct val="90000"/>
              </a:lnSpc>
              <a:buClr>
                <a:srgbClr val="000000"/>
              </a:buClr>
            </a:pPr>
            <a:endParaRPr lang="en-US" sz="2400" dirty="0">
              <a:solidFill>
                <a:srgbClr val="000000"/>
              </a:solidFill>
              <a:ea typeface="+mn-ea"/>
              <a:cs typeface="+mn-cs"/>
            </a:endParaRPr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986739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19400" y="1448322"/>
            <a:ext cx="6723063" cy="4418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Tree Pruning</a:t>
            </a:r>
          </a:p>
        </p:txBody>
      </p:sp>
    </p:spTree>
    <p:extLst>
      <p:ext uri="{BB962C8B-B14F-4D97-AF65-F5344CB8AC3E}">
        <p14:creationId xmlns:p14="http://schemas.microsoft.com/office/powerpoint/2010/main" val="29449518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31BB-A048-CFE3-9456-7414A8B32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7441A-E3FA-D83B-05D6-57FDAF81D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C45AE0-1619-5D48-62B8-B8D1497D6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70" y="365125"/>
            <a:ext cx="10334625" cy="1895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98EC42-7126-EB36-ECAA-7B5DA97FA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477" y="2260600"/>
            <a:ext cx="6276975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7836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70607-6775-F5C7-E605-042B23117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E5590-9BE7-8702-2E76-174466C2A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CACBB4-5958-2105-98CC-001A0C38B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2" y="65199"/>
            <a:ext cx="10201275" cy="152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8F88AA-F36D-7C8E-4304-46AFAB31D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949" y="1690688"/>
            <a:ext cx="769620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6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3A8E5-38A8-E970-F8B7-B80520B12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41FC1-E7F3-DFD5-F1A4-1FC8DCB55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B0F30A-57B2-B71D-D48F-25A6E75BF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2" y="601644"/>
            <a:ext cx="10277475" cy="1695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C8EDFE-12C3-16D1-2BAE-AA47A4F83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769" y="2545927"/>
            <a:ext cx="589597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910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55BED-AD99-DB61-E4A8-037634C5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59812-F3B8-A6F6-A4BD-B6DEFDF25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F2AE97-023F-9F92-D41F-BD1A5CFBA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70800"/>
            <a:ext cx="10248900" cy="2266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498816-0A18-C2F3-35E5-AA1CB102E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675" y="2632075"/>
            <a:ext cx="5600700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7674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75F36-72C8-862D-5261-98597DB4D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B6321-F338-FAEA-A0F7-84F4FB8EA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D28313-52A6-2496-051B-430798B20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21" y="604838"/>
            <a:ext cx="10220325" cy="9048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8F496D-3429-67F1-67B7-3CA3743BE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434" y="2273300"/>
            <a:ext cx="5905500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2161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937E1-E19B-841E-2D9E-C876B34E8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DB6EF-3C03-7D05-DCF7-72935AF53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68EACD-FFB3-5E7B-F495-676F49888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10" y="416842"/>
            <a:ext cx="10296525" cy="971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D56C05-0E86-BB60-FCE1-9CF2EBAE8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015" y="1742405"/>
            <a:ext cx="638175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737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Minimax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2700"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r>
              <a:rPr lang="en-US" dirty="0"/>
              <a:t>Straight minimax requires a two-pass analysis of the search space, </a:t>
            </a:r>
          </a:p>
          <a:p>
            <a:pPr lvl="1"/>
            <a:r>
              <a:rPr lang="en-US" dirty="0"/>
              <a:t>the first to descend to the level depth and </a:t>
            </a:r>
          </a:p>
          <a:p>
            <a:pPr lvl="1"/>
            <a:r>
              <a:rPr lang="en-US" dirty="0"/>
              <a:t>the second to propagate values back up the tree. </a:t>
            </a:r>
          </a:p>
          <a:p>
            <a:r>
              <a:rPr lang="en-US" dirty="0"/>
              <a:t>Minimax pursues all branches in the space, including many that could be ignored or pruned by a more intelligent algorithm.</a:t>
            </a:r>
          </a:p>
          <a:p>
            <a:r>
              <a:rPr lang="en-US" altLang="x-none" dirty="0"/>
              <a:t>Recursion: Winds all the way to the terminal nodes, and then unwinds back by backing up the values</a:t>
            </a:r>
          </a:p>
          <a:p>
            <a:pPr marL="0" indent="0">
              <a:buNone/>
            </a:pPr>
            <a:r>
              <a:rPr lang="en-US" altLang="x-none" b="1" dirty="0"/>
              <a:t>Time complexity:</a:t>
            </a:r>
          </a:p>
          <a:p>
            <a:pPr marL="0" indent="0">
              <a:buNone/>
            </a:pPr>
            <a:r>
              <a:rPr lang="en-US" altLang="x-none" dirty="0"/>
              <a:t>Worst Case	O(</a:t>
            </a:r>
            <a:r>
              <a:rPr lang="en-US" altLang="x-none" dirty="0" err="1"/>
              <a:t>b^d</a:t>
            </a:r>
            <a:r>
              <a:rPr lang="en-US" altLang="x-none" dirty="0"/>
              <a:t>)	No pruning (same as Minimax)</a:t>
            </a:r>
          </a:p>
          <a:p>
            <a:pPr marL="0" indent="0">
              <a:buNone/>
            </a:pPr>
            <a:r>
              <a:rPr lang="en-US" altLang="x-none" dirty="0"/>
              <a:t>Best Case	O(b^(d/2))	Perfect move ordering → maximum pruning</a:t>
            </a:r>
          </a:p>
          <a:p>
            <a:pPr marL="0" indent="0">
              <a:buNone/>
            </a:pPr>
            <a:r>
              <a:rPr lang="en-US" altLang="x-none" b="1" dirty="0"/>
              <a:t>Space Complexity: </a:t>
            </a:r>
            <a:r>
              <a:rPr lang="en-US" dirty="0"/>
              <a:t>O(bd)</a:t>
            </a:r>
            <a:endParaRPr lang="en-US" altLang="x-none" b="1" dirty="0"/>
          </a:p>
          <a:p>
            <a:endParaRPr lang="en-US" altLang="x-non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9078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sym typeface="Symbol" pitchFamily="18" charset="2"/>
              </a:rPr>
              <a:t>Minimax Example</a:t>
            </a:r>
          </a:p>
        </p:txBody>
      </p:sp>
      <p:sp>
        <p:nvSpPr>
          <p:cNvPr id="21507" name="AutoShape 4"/>
          <p:cNvSpPr>
            <a:spLocks noChangeArrowheads="1"/>
          </p:cNvSpPr>
          <p:nvPr/>
        </p:nvSpPr>
        <p:spPr bwMode="auto">
          <a:xfrm>
            <a:off x="5693833" y="2209800"/>
            <a:ext cx="50800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2641600" y="3765550"/>
            <a:ext cx="508000" cy="1187450"/>
            <a:chOff x="1981200" y="3765550"/>
            <a:chExt cx="381000" cy="1187450"/>
          </a:xfrm>
        </p:grpSpPr>
        <p:cxnSp>
          <p:nvCxnSpPr>
            <p:cNvPr id="21550" name="AutoShape 13"/>
            <p:cNvCxnSpPr>
              <a:cxnSpLocks noChangeShapeType="1"/>
              <a:stCxn id="21542" idx="0"/>
            </p:cNvCxnSpPr>
            <p:nvPr/>
          </p:nvCxnSpPr>
          <p:spPr bwMode="auto">
            <a:xfrm>
              <a:off x="2173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51" name="Rectangle 7"/>
            <p:cNvSpPr>
              <a:spLocks noChangeArrowheads="1"/>
            </p:cNvSpPr>
            <p:nvPr/>
          </p:nvSpPr>
          <p:spPr bwMode="auto">
            <a:xfrm>
              <a:off x="1981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12</a:t>
              </a:r>
            </a:p>
          </p:txBody>
        </p:sp>
      </p:grp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2897717" y="3765550"/>
            <a:ext cx="1267883" cy="1187450"/>
            <a:chOff x="2173288" y="3765550"/>
            <a:chExt cx="950912" cy="1187450"/>
          </a:xfrm>
        </p:grpSpPr>
        <p:cxnSp>
          <p:nvCxnSpPr>
            <p:cNvPr id="21548" name="AutoShape 17"/>
            <p:cNvCxnSpPr>
              <a:cxnSpLocks noChangeShapeType="1"/>
              <a:stCxn id="21542" idx="0"/>
            </p:cNvCxnSpPr>
            <p:nvPr/>
          </p:nvCxnSpPr>
          <p:spPr bwMode="auto">
            <a:xfrm>
              <a:off x="2173288" y="3765550"/>
              <a:ext cx="763587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49" name="Rectangle 7"/>
            <p:cNvSpPr>
              <a:spLocks noChangeArrowheads="1"/>
            </p:cNvSpPr>
            <p:nvPr/>
          </p:nvSpPr>
          <p:spPr bwMode="auto">
            <a:xfrm>
              <a:off x="2743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</p:grpSp>
      <p:grpSp>
        <p:nvGrpSpPr>
          <p:cNvPr id="4" name="Group 64"/>
          <p:cNvGrpSpPr>
            <a:grpSpLocks/>
          </p:cNvGrpSpPr>
          <p:nvPr/>
        </p:nvGrpSpPr>
        <p:grpSpPr bwMode="auto">
          <a:xfrm>
            <a:off x="8737600" y="3765550"/>
            <a:ext cx="508000" cy="1187450"/>
            <a:chOff x="6553200" y="3765550"/>
            <a:chExt cx="381000" cy="1187450"/>
          </a:xfrm>
        </p:grpSpPr>
        <p:cxnSp>
          <p:nvCxnSpPr>
            <p:cNvPr id="21546" name="AutoShape 33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47" name="Rectangle 7"/>
            <p:cNvSpPr>
              <a:spLocks noChangeArrowheads="1"/>
            </p:cNvSpPr>
            <p:nvPr/>
          </p:nvSpPr>
          <p:spPr bwMode="auto">
            <a:xfrm>
              <a:off x="6553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5</a:t>
              </a:r>
            </a:p>
          </p:txBody>
        </p:sp>
      </p:grpSp>
      <p:grpSp>
        <p:nvGrpSpPr>
          <p:cNvPr id="5" name="Group 65"/>
          <p:cNvGrpSpPr>
            <a:grpSpLocks/>
          </p:cNvGrpSpPr>
          <p:nvPr/>
        </p:nvGrpSpPr>
        <p:grpSpPr bwMode="auto">
          <a:xfrm>
            <a:off x="8993717" y="3765550"/>
            <a:ext cx="1267883" cy="1187450"/>
            <a:chOff x="6745288" y="3765550"/>
            <a:chExt cx="950912" cy="1187450"/>
          </a:xfrm>
        </p:grpSpPr>
        <p:cxnSp>
          <p:nvCxnSpPr>
            <p:cNvPr id="21544" name="AutoShape 37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763587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45" name="Rectangle 7"/>
            <p:cNvSpPr>
              <a:spLocks noChangeArrowheads="1"/>
            </p:cNvSpPr>
            <p:nvPr/>
          </p:nvSpPr>
          <p:spPr bwMode="auto">
            <a:xfrm>
              <a:off x="7315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</p:grpSp>
      <p:grpSp>
        <p:nvGrpSpPr>
          <p:cNvPr id="6" name="Group 51"/>
          <p:cNvGrpSpPr>
            <a:grpSpLocks/>
          </p:cNvGrpSpPr>
          <p:nvPr/>
        </p:nvGrpSpPr>
        <p:grpSpPr bwMode="auto">
          <a:xfrm>
            <a:off x="2645833" y="2514600"/>
            <a:ext cx="3302000" cy="1250950"/>
            <a:chOff x="1984375" y="2514600"/>
            <a:chExt cx="2476501" cy="1250950"/>
          </a:xfrm>
        </p:grpSpPr>
        <p:sp>
          <p:nvSpPr>
            <p:cNvPr id="21542" name="AutoShape 6"/>
            <p:cNvSpPr>
              <a:spLocks noChangeArrowheads="1"/>
            </p:cNvSpPr>
            <p:nvPr/>
          </p:nvSpPr>
          <p:spPr bwMode="auto">
            <a:xfrm flipV="1">
              <a:off x="1984375" y="346075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1543" name="AutoShape 7"/>
            <p:cNvCxnSpPr>
              <a:cxnSpLocks noChangeShapeType="1"/>
              <a:stCxn id="21507" idx="3"/>
              <a:endCxn id="21542" idx="3"/>
            </p:cNvCxnSpPr>
            <p:nvPr/>
          </p:nvCxnSpPr>
          <p:spPr bwMode="auto">
            <a:xfrm flipH="1">
              <a:off x="2173288" y="2514600"/>
              <a:ext cx="2287588" cy="9461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cxnSp>
        <p:nvCxnSpPr>
          <p:cNvPr id="28720" name="AutoShape 9"/>
          <p:cNvCxnSpPr>
            <a:cxnSpLocks noChangeShapeType="1"/>
            <a:stCxn id="21542" idx="0"/>
          </p:cNvCxnSpPr>
          <p:nvPr/>
        </p:nvCxnSpPr>
        <p:spPr bwMode="auto">
          <a:xfrm flipH="1">
            <a:off x="1883834" y="3765551"/>
            <a:ext cx="1013884" cy="8223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1" name="Rectangle 7"/>
          <p:cNvSpPr>
            <a:spLocks noChangeArrowheads="1"/>
          </p:cNvSpPr>
          <p:nvPr/>
        </p:nvSpPr>
        <p:spPr bwMode="auto">
          <a:xfrm>
            <a:off x="1625600" y="4648200"/>
            <a:ext cx="508000" cy="304800"/>
          </a:xfrm>
          <a:prstGeom prst="rect">
            <a:avLst/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cxnSp>
        <p:nvCxnSpPr>
          <p:cNvPr id="67" name="AutoShape 21"/>
          <p:cNvCxnSpPr>
            <a:cxnSpLocks noChangeShapeType="1"/>
          </p:cNvCxnSpPr>
          <p:nvPr/>
        </p:nvCxnSpPr>
        <p:spPr bwMode="auto">
          <a:xfrm rot="5400000">
            <a:off x="5790143" y="2665942"/>
            <a:ext cx="304800" cy="2116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0" name="AutoShape 21"/>
          <p:cNvCxnSpPr>
            <a:cxnSpLocks noChangeShapeType="1"/>
            <a:stCxn id="21507" idx="3"/>
          </p:cNvCxnSpPr>
          <p:nvPr/>
        </p:nvCxnSpPr>
        <p:spPr bwMode="auto">
          <a:xfrm rot="16200000" flipH="1">
            <a:off x="6212417" y="2250017"/>
            <a:ext cx="228600" cy="75776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4" name="AutoShape 21"/>
          <p:cNvCxnSpPr>
            <a:cxnSpLocks noChangeShapeType="1"/>
          </p:cNvCxnSpPr>
          <p:nvPr/>
        </p:nvCxnSpPr>
        <p:spPr bwMode="auto">
          <a:xfrm rot="5400000">
            <a:off x="2744259" y="3913717"/>
            <a:ext cx="304800" cy="211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5" name="AutoShape 21"/>
          <p:cNvCxnSpPr>
            <a:cxnSpLocks noChangeShapeType="1"/>
            <a:stCxn id="21542" idx="0"/>
          </p:cNvCxnSpPr>
          <p:nvPr/>
        </p:nvCxnSpPr>
        <p:spPr bwMode="auto">
          <a:xfrm rot="16200000" flipH="1">
            <a:off x="2926292" y="3739091"/>
            <a:ext cx="196850" cy="24976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7" name="Group 59"/>
          <p:cNvGrpSpPr>
            <a:grpSpLocks/>
          </p:cNvGrpSpPr>
          <p:nvPr/>
        </p:nvGrpSpPr>
        <p:grpSpPr bwMode="auto">
          <a:xfrm>
            <a:off x="5693833" y="2514601"/>
            <a:ext cx="508000" cy="1235075"/>
            <a:chOff x="4270375" y="2514600"/>
            <a:chExt cx="381000" cy="1235075"/>
          </a:xfrm>
        </p:grpSpPr>
        <p:sp>
          <p:nvSpPr>
            <p:cNvPr id="21540" name="AutoShape 20"/>
            <p:cNvSpPr>
              <a:spLocks noChangeArrowheads="1"/>
            </p:cNvSpPr>
            <p:nvPr/>
          </p:nvSpPr>
          <p:spPr bwMode="auto">
            <a:xfrm flipV="1">
              <a:off x="4270375" y="3444875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1541" name="AutoShape 21"/>
            <p:cNvCxnSpPr>
              <a:cxnSpLocks noChangeShapeType="1"/>
              <a:stCxn id="21507" idx="3"/>
              <a:endCxn id="21540" idx="3"/>
            </p:cNvCxnSpPr>
            <p:nvPr/>
          </p:nvCxnSpPr>
          <p:spPr bwMode="auto">
            <a:xfrm flipH="1">
              <a:off x="4459288" y="2514600"/>
              <a:ext cx="1588" cy="93027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8" name="Group 58"/>
          <p:cNvGrpSpPr>
            <a:grpSpLocks/>
          </p:cNvGrpSpPr>
          <p:nvPr/>
        </p:nvGrpSpPr>
        <p:grpSpPr bwMode="auto">
          <a:xfrm>
            <a:off x="4673600" y="3762376"/>
            <a:ext cx="1524000" cy="1190625"/>
            <a:chOff x="3505200" y="3762375"/>
            <a:chExt cx="1142999" cy="1190625"/>
          </a:xfrm>
        </p:grpSpPr>
        <p:cxnSp>
          <p:nvCxnSpPr>
            <p:cNvPr id="21536" name="AutoShape 23"/>
            <p:cNvCxnSpPr>
              <a:cxnSpLocks noChangeShapeType="1"/>
            </p:cNvCxnSpPr>
            <p:nvPr/>
          </p:nvCxnSpPr>
          <p:spPr bwMode="auto">
            <a:xfrm flipH="1">
              <a:off x="3698875" y="3765550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37" name="Rectangle 7"/>
            <p:cNvSpPr>
              <a:spLocks noChangeArrowheads="1"/>
            </p:cNvSpPr>
            <p:nvPr/>
          </p:nvSpPr>
          <p:spPr bwMode="auto">
            <a:xfrm>
              <a:off x="3505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cxnSp>
          <p:nvCxnSpPr>
            <p:cNvPr id="21538" name="AutoShape 21"/>
            <p:cNvCxnSpPr>
              <a:cxnSpLocks noChangeShapeType="1"/>
            </p:cNvCxnSpPr>
            <p:nvPr/>
          </p:nvCxnSpPr>
          <p:spPr bwMode="auto">
            <a:xfrm rot="5400000">
              <a:off x="4306094" y="3913981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539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4456112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9" name="Group 61"/>
          <p:cNvGrpSpPr>
            <a:grpSpLocks/>
          </p:cNvGrpSpPr>
          <p:nvPr/>
        </p:nvGrpSpPr>
        <p:grpSpPr bwMode="auto">
          <a:xfrm>
            <a:off x="5947833" y="2514600"/>
            <a:ext cx="3302000" cy="1250950"/>
            <a:chOff x="4460875" y="2514600"/>
            <a:chExt cx="2476500" cy="1250950"/>
          </a:xfrm>
        </p:grpSpPr>
        <p:sp>
          <p:nvSpPr>
            <p:cNvPr id="21534" name="AutoShape 26"/>
            <p:cNvSpPr>
              <a:spLocks noChangeArrowheads="1"/>
            </p:cNvSpPr>
            <p:nvPr/>
          </p:nvSpPr>
          <p:spPr bwMode="auto">
            <a:xfrm flipV="1">
              <a:off x="6556375" y="346075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1535" name="AutoShape 27"/>
            <p:cNvCxnSpPr>
              <a:cxnSpLocks noChangeShapeType="1"/>
              <a:stCxn id="21507" idx="3"/>
              <a:endCxn id="21534" idx="3"/>
            </p:cNvCxnSpPr>
            <p:nvPr/>
          </p:nvCxnSpPr>
          <p:spPr bwMode="auto">
            <a:xfrm>
              <a:off x="4460875" y="2514600"/>
              <a:ext cx="2284413" cy="9461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0" name="Group 60"/>
          <p:cNvGrpSpPr>
            <a:grpSpLocks/>
          </p:cNvGrpSpPr>
          <p:nvPr/>
        </p:nvGrpSpPr>
        <p:grpSpPr bwMode="auto">
          <a:xfrm>
            <a:off x="7721600" y="3762376"/>
            <a:ext cx="1524000" cy="1190625"/>
            <a:chOff x="5791200" y="3762375"/>
            <a:chExt cx="1142999" cy="1190625"/>
          </a:xfrm>
        </p:grpSpPr>
        <p:cxnSp>
          <p:nvCxnSpPr>
            <p:cNvPr id="21530" name="AutoShape 29"/>
            <p:cNvCxnSpPr>
              <a:cxnSpLocks noChangeShapeType="1"/>
            </p:cNvCxnSpPr>
            <p:nvPr/>
          </p:nvCxnSpPr>
          <p:spPr bwMode="auto">
            <a:xfrm flipH="1">
              <a:off x="5984875" y="3765550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31" name="Rectangle 7"/>
            <p:cNvSpPr>
              <a:spLocks noChangeArrowheads="1"/>
            </p:cNvSpPr>
            <p:nvPr/>
          </p:nvSpPr>
          <p:spPr bwMode="auto">
            <a:xfrm>
              <a:off x="5791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cxnSp>
          <p:nvCxnSpPr>
            <p:cNvPr id="21532" name="AutoShape 21"/>
            <p:cNvCxnSpPr>
              <a:cxnSpLocks noChangeShapeType="1"/>
            </p:cNvCxnSpPr>
            <p:nvPr/>
          </p:nvCxnSpPr>
          <p:spPr bwMode="auto">
            <a:xfrm rot="5400000">
              <a:off x="6592094" y="3913981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533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6742112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11" name="Group 64"/>
          <p:cNvGrpSpPr>
            <a:grpSpLocks/>
          </p:cNvGrpSpPr>
          <p:nvPr/>
        </p:nvGrpSpPr>
        <p:grpSpPr bwMode="auto">
          <a:xfrm>
            <a:off x="5689600" y="3765550"/>
            <a:ext cx="508000" cy="1187450"/>
            <a:chOff x="6553200" y="3765550"/>
            <a:chExt cx="381000" cy="1187450"/>
          </a:xfrm>
        </p:grpSpPr>
        <p:cxnSp>
          <p:nvCxnSpPr>
            <p:cNvPr id="21528" name="AutoShape 33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29" name="Rectangle 7"/>
            <p:cNvSpPr>
              <a:spLocks noChangeArrowheads="1"/>
            </p:cNvSpPr>
            <p:nvPr/>
          </p:nvSpPr>
          <p:spPr bwMode="auto">
            <a:xfrm>
              <a:off x="6553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4</a:t>
              </a:r>
            </a:p>
          </p:txBody>
        </p:sp>
      </p:grpSp>
      <p:grpSp>
        <p:nvGrpSpPr>
          <p:cNvPr id="12" name="Group 65"/>
          <p:cNvGrpSpPr>
            <a:grpSpLocks/>
          </p:cNvGrpSpPr>
          <p:nvPr/>
        </p:nvGrpSpPr>
        <p:grpSpPr bwMode="auto">
          <a:xfrm>
            <a:off x="5945717" y="3765550"/>
            <a:ext cx="1267883" cy="1187450"/>
            <a:chOff x="6745288" y="3765550"/>
            <a:chExt cx="950912" cy="1187450"/>
          </a:xfrm>
        </p:grpSpPr>
        <p:cxnSp>
          <p:nvCxnSpPr>
            <p:cNvPr id="21526" name="AutoShape 37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763587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1527" name="Rectangle 7"/>
            <p:cNvSpPr>
              <a:spLocks noChangeArrowheads="1"/>
            </p:cNvSpPr>
            <p:nvPr/>
          </p:nvSpPr>
          <p:spPr bwMode="auto">
            <a:xfrm>
              <a:off x="7315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74753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sym typeface="Symbol" pitchFamily="18" charset="2"/>
              </a:rPr>
              <a:t>Minimax</a:t>
            </a:r>
            <a:r>
              <a:rPr lang="en-US" dirty="0">
                <a:sym typeface="Symbol" pitchFamily="18" charset="2"/>
              </a:rPr>
              <a:t> Pruning</a:t>
            </a:r>
          </a:p>
        </p:txBody>
      </p:sp>
      <p:sp>
        <p:nvSpPr>
          <p:cNvPr id="22531" name="AutoShape 4"/>
          <p:cNvSpPr>
            <a:spLocks noChangeArrowheads="1"/>
          </p:cNvSpPr>
          <p:nvPr/>
        </p:nvSpPr>
        <p:spPr bwMode="auto">
          <a:xfrm>
            <a:off x="5693833" y="2209800"/>
            <a:ext cx="508000" cy="304800"/>
          </a:xfrm>
          <a:prstGeom prst="triangle">
            <a:avLst>
              <a:gd name="adj" fmla="val 50000"/>
            </a:avLst>
          </a:prstGeom>
          <a:solidFill>
            <a:srgbClr val="CCCC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60"/>
          <p:cNvGrpSpPr>
            <a:grpSpLocks/>
          </p:cNvGrpSpPr>
          <p:nvPr/>
        </p:nvGrpSpPr>
        <p:grpSpPr bwMode="auto">
          <a:xfrm>
            <a:off x="2641600" y="3765550"/>
            <a:ext cx="508000" cy="1187450"/>
            <a:chOff x="1981200" y="3765550"/>
            <a:chExt cx="381000" cy="1187450"/>
          </a:xfrm>
        </p:grpSpPr>
        <p:cxnSp>
          <p:nvCxnSpPr>
            <p:cNvPr id="22568" name="AutoShape 13"/>
            <p:cNvCxnSpPr>
              <a:cxnSpLocks noChangeShapeType="1"/>
              <a:stCxn id="22560" idx="0"/>
            </p:cNvCxnSpPr>
            <p:nvPr/>
          </p:nvCxnSpPr>
          <p:spPr bwMode="auto">
            <a:xfrm>
              <a:off x="2173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2569" name="Rectangle 7"/>
            <p:cNvSpPr>
              <a:spLocks noChangeArrowheads="1"/>
            </p:cNvSpPr>
            <p:nvPr/>
          </p:nvSpPr>
          <p:spPr bwMode="auto">
            <a:xfrm>
              <a:off x="1981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12</a:t>
              </a:r>
            </a:p>
          </p:txBody>
        </p:sp>
      </p:grp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2897717" y="3765550"/>
            <a:ext cx="1267883" cy="1187450"/>
            <a:chOff x="2173288" y="3765550"/>
            <a:chExt cx="950912" cy="1187450"/>
          </a:xfrm>
        </p:grpSpPr>
        <p:cxnSp>
          <p:nvCxnSpPr>
            <p:cNvPr id="22566" name="AutoShape 17"/>
            <p:cNvCxnSpPr>
              <a:cxnSpLocks noChangeShapeType="1"/>
              <a:stCxn id="22560" idx="0"/>
            </p:cNvCxnSpPr>
            <p:nvPr/>
          </p:nvCxnSpPr>
          <p:spPr bwMode="auto">
            <a:xfrm>
              <a:off x="2173288" y="3765550"/>
              <a:ext cx="763587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2567" name="Rectangle 7"/>
            <p:cNvSpPr>
              <a:spLocks noChangeArrowheads="1"/>
            </p:cNvSpPr>
            <p:nvPr/>
          </p:nvSpPr>
          <p:spPr bwMode="auto">
            <a:xfrm>
              <a:off x="2743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8</a:t>
              </a:r>
            </a:p>
          </p:txBody>
        </p:sp>
      </p:grpSp>
      <p:grpSp>
        <p:nvGrpSpPr>
          <p:cNvPr id="4" name="Group 64"/>
          <p:cNvGrpSpPr>
            <a:grpSpLocks/>
          </p:cNvGrpSpPr>
          <p:nvPr/>
        </p:nvGrpSpPr>
        <p:grpSpPr bwMode="auto">
          <a:xfrm>
            <a:off x="8737600" y="3765550"/>
            <a:ext cx="508000" cy="1187450"/>
            <a:chOff x="6553200" y="3765550"/>
            <a:chExt cx="381000" cy="1187450"/>
          </a:xfrm>
        </p:grpSpPr>
        <p:cxnSp>
          <p:nvCxnSpPr>
            <p:cNvPr id="22564" name="AutoShape 33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1588" cy="8064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2565" name="Rectangle 7"/>
            <p:cNvSpPr>
              <a:spLocks noChangeArrowheads="1"/>
            </p:cNvSpPr>
            <p:nvPr/>
          </p:nvSpPr>
          <p:spPr bwMode="auto">
            <a:xfrm>
              <a:off x="6553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5</a:t>
              </a:r>
            </a:p>
          </p:txBody>
        </p:sp>
      </p:grpSp>
      <p:grpSp>
        <p:nvGrpSpPr>
          <p:cNvPr id="5" name="Group 65"/>
          <p:cNvGrpSpPr>
            <a:grpSpLocks/>
          </p:cNvGrpSpPr>
          <p:nvPr/>
        </p:nvGrpSpPr>
        <p:grpSpPr bwMode="auto">
          <a:xfrm>
            <a:off x="8993717" y="3765550"/>
            <a:ext cx="1267883" cy="1187450"/>
            <a:chOff x="6745288" y="3765550"/>
            <a:chExt cx="950912" cy="1187450"/>
          </a:xfrm>
        </p:grpSpPr>
        <p:cxnSp>
          <p:nvCxnSpPr>
            <p:cNvPr id="22562" name="AutoShape 37"/>
            <p:cNvCxnSpPr>
              <a:cxnSpLocks noChangeShapeType="1"/>
            </p:cNvCxnSpPr>
            <p:nvPr/>
          </p:nvCxnSpPr>
          <p:spPr bwMode="auto">
            <a:xfrm>
              <a:off x="6745288" y="3765550"/>
              <a:ext cx="763587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2563" name="Rectangle 7"/>
            <p:cNvSpPr>
              <a:spLocks noChangeArrowheads="1"/>
            </p:cNvSpPr>
            <p:nvPr/>
          </p:nvSpPr>
          <p:spPr bwMode="auto">
            <a:xfrm>
              <a:off x="7315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</p:grpSp>
      <p:grpSp>
        <p:nvGrpSpPr>
          <p:cNvPr id="6" name="Group 51"/>
          <p:cNvGrpSpPr>
            <a:grpSpLocks/>
          </p:cNvGrpSpPr>
          <p:nvPr/>
        </p:nvGrpSpPr>
        <p:grpSpPr bwMode="auto">
          <a:xfrm>
            <a:off x="2645833" y="2514600"/>
            <a:ext cx="3302000" cy="1250950"/>
            <a:chOff x="1984375" y="2514600"/>
            <a:chExt cx="2476501" cy="1250950"/>
          </a:xfrm>
        </p:grpSpPr>
        <p:sp>
          <p:nvSpPr>
            <p:cNvPr id="22560" name="AutoShape 6"/>
            <p:cNvSpPr>
              <a:spLocks noChangeArrowheads="1"/>
            </p:cNvSpPr>
            <p:nvPr/>
          </p:nvSpPr>
          <p:spPr bwMode="auto">
            <a:xfrm flipV="1">
              <a:off x="1984375" y="346075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2561" name="AutoShape 7"/>
            <p:cNvCxnSpPr>
              <a:cxnSpLocks noChangeShapeType="1"/>
              <a:stCxn id="22531" idx="3"/>
              <a:endCxn id="22560" idx="3"/>
            </p:cNvCxnSpPr>
            <p:nvPr/>
          </p:nvCxnSpPr>
          <p:spPr bwMode="auto">
            <a:xfrm flipH="1">
              <a:off x="2173288" y="2514600"/>
              <a:ext cx="2287588" cy="9461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cxnSp>
        <p:nvCxnSpPr>
          <p:cNvPr id="28720" name="AutoShape 9"/>
          <p:cNvCxnSpPr>
            <a:cxnSpLocks noChangeShapeType="1"/>
            <a:stCxn id="22560" idx="0"/>
          </p:cNvCxnSpPr>
          <p:nvPr/>
        </p:nvCxnSpPr>
        <p:spPr bwMode="auto">
          <a:xfrm flipH="1">
            <a:off x="1883834" y="3765551"/>
            <a:ext cx="1013884" cy="8223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1" name="Rectangle 7"/>
          <p:cNvSpPr>
            <a:spLocks noChangeArrowheads="1"/>
          </p:cNvSpPr>
          <p:nvPr/>
        </p:nvSpPr>
        <p:spPr bwMode="auto">
          <a:xfrm>
            <a:off x="1625600" y="4648200"/>
            <a:ext cx="508000" cy="304800"/>
          </a:xfrm>
          <a:prstGeom prst="rect">
            <a:avLst/>
          </a:prstGeom>
          <a:solidFill>
            <a:srgbClr val="CC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cxnSp>
        <p:nvCxnSpPr>
          <p:cNvPr id="67" name="AutoShape 21"/>
          <p:cNvCxnSpPr>
            <a:cxnSpLocks noChangeShapeType="1"/>
          </p:cNvCxnSpPr>
          <p:nvPr/>
        </p:nvCxnSpPr>
        <p:spPr bwMode="auto">
          <a:xfrm rot="5400000">
            <a:off x="5790143" y="2665942"/>
            <a:ext cx="304800" cy="2116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0" name="AutoShape 21"/>
          <p:cNvCxnSpPr>
            <a:cxnSpLocks noChangeShapeType="1"/>
            <a:stCxn id="22531" idx="3"/>
          </p:cNvCxnSpPr>
          <p:nvPr/>
        </p:nvCxnSpPr>
        <p:spPr bwMode="auto">
          <a:xfrm rot="16200000" flipH="1">
            <a:off x="6212417" y="2250017"/>
            <a:ext cx="228600" cy="75776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4" name="AutoShape 21"/>
          <p:cNvCxnSpPr>
            <a:cxnSpLocks noChangeShapeType="1"/>
          </p:cNvCxnSpPr>
          <p:nvPr/>
        </p:nvCxnSpPr>
        <p:spPr bwMode="auto">
          <a:xfrm rot="5400000">
            <a:off x="2744259" y="3913717"/>
            <a:ext cx="304800" cy="211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5" name="AutoShape 21"/>
          <p:cNvCxnSpPr>
            <a:cxnSpLocks noChangeShapeType="1"/>
            <a:stCxn id="22560" idx="0"/>
          </p:cNvCxnSpPr>
          <p:nvPr/>
        </p:nvCxnSpPr>
        <p:spPr bwMode="auto">
          <a:xfrm rot="16200000" flipH="1">
            <a:off x="2926292" y="3739091"/>
            <a:ext cx="196850" cy="24976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7" name="Group 59"/>
          <p:cNvGrpSpPr>
            <a:grpSpLocks/>
          </p:cNvGrpSpPr>
          <p:nvPr/>
        </p:nvGrpSpPr>
        <p:grpSpPr bwMode="auto">
          <a:xfrm>
            <a:off x="5693833" y="2514601"/>
            <a:ext cx="508000" cy="1235075"/>
            <a:chOff x="4270375" y="2514600"/>
            <a:chExt cx="381000" cy="1235075"/>
          </a:xfrm>
        </p:grpSpPr>
        <p:sp>
          <p:nvSpPr>
            <p:cNvPr id="22558" name="AutoShape 20"/>
            <p:cNvSpPr>
              <a:spLocks noChangeArrowheads="1"/>
            </p:cNvSpPr>
            <p:nvPr/>
          </p:nvSpPr>
          <p:spPr bwMode="auto">
            <a:xfrm flipV="1">
              <a:off x="4270375" y="3444875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2559" name="AutoShape 21"/>
            <p:cNvCxnSpPr>
              <a:cxnSpLocks noChangeShapeType="1"/>
              <a:stCxn id="22531" idx="3"/>
              <a:endCxn id="22558" idx="3"/>
            </p:cNvCxnSpPr>
            <p:nvPr/>
          </p:nvCxnSpPr>
          <p:spPr bwMode="auto">
            <a:xfrm flipH="1">
              <a:off x="4459288" y="2514600"/>
              <a:ext cx="1588" cy="93027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8" name="Group 58"/>
          <p:cNvGrpSpPr>
            <a:grpSpLocks/>
          </p:cNvGrpSpPr>
          <p:nvPr/>
        </p:nvGrpSpPr>
        <p:grpSpPr bwMode="auto">
          <a:xfrm>
            <a:off x="4673600" y="3762376"/>
            <a:ext cx="1524000" cy="1190625"/>
            <a:chOff x="3505200" y="3762375"/>
            <a:chExt cx="1142999" cy="1190625"/>
          </a:xfrm>
        </p:grpSpPr>
        <p:cxnSp>
          <p:nvCxnSpPr>
            <p:cNvPr id="22554" name="AutoShape 23"/>
            <p:cNvCxnSpPr>
              <a:cxnSpLocks noChangeShapeType="1"/>
            </p:cNvCxnSpPr>
            <p:nvPr/>
          </p:nvCxnSpPr>
          <p:spPr bwMode="auto">
            <a:xfrm flipH="1">
              <a:off x="3698875" y="3765550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2555" name="Rectangle 7"/>
            <p:cNvSpPr>
              <a:spLocks noChangeArrowheads="1"/>
            </p:cNvSpPr>
            <p:nvPr/>
          </p:nvSpPr>
          <p:spPr bwMode="auto">
            <a:xfrm>
              <a:off x="3505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2</a:t>
              </a:r>
            </a:p>
          </p:txBody>
        </p:sp>
        <p:cxnSp>
          <p:nvCxnSpPr>
            <p:cNvPr id="22556" name="AutoShape 21"/>
            <p:cNvCxnSpPr>
              <a:cxnSpLocks noChangeShapeType="1"/>
            </p:cNvCxnSpPr>
            <p:nvPr/>
          </p:nvCxnSpPr>
          <p:spPr bwMode="auto">
            <a:xfrm rot="5400000">
              <a:off x="4306094" y="3913981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2557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4456112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9" name="Group 61"/>
          <p:cNvGrpSpPr>
            <a:grpSpLocks/>
          </p:cNvGrpSpPr>
          <p:nvPr/>
        </p:nvGrpSpPr>
        <p:grpSpPr bwMode="auto">
          <a:xfrm>
            <a:off x="5947833" y="2514600"/>
            <a:ext cx="3302000" cy="1250950"/>
            <a:chOff x="4460875" y="2514600"/>
            <a:chExt cx="2476500" cy="1250950"/>
          </a:xfrm>
        </p:grpSpPr>
        <p:sp>
          <p:nvSpPr>
            <p:cNvPr id="22552" name="AutoShape 26"/>
            <p:cNvSpPr>
              <a:spLocks noChangeArrowheads="1"/>
            </p:cNvSpPr>
            <p:nvPr/>
          </p:nvSpPr>
          <p:spPr bwMode="auto">
            <a:xfrm flipV="1">
              <a:off x="6556375" y="346075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2553" name="AutoShape 27"/>
            <p:cNvCxnSpPr>
              <a:cxnSpLocks noChangeShapeType="1"/>
              <a:stCxn id="22531" idx="3"/>
              <a:endCxn id="22552" idx="3"/>
            </p:cNvCxnSpPr>
            <p:nvPr/>
          </p:nvCxnSpPr>
          <p:spPr bwMode="auto">
            <a:xfrm>
              <a:off x="4460875" y="2514600"/>
              <a:ext cx="2284413" cy="94615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0" name="Group 60"/>
          <p:cNvGrpSpPr>
            <a:grpSpLocks/>
          </p:cNvGrpSpPr>
          <p:nvPr/>
        </p:nvGrpSpPr>
        <p:grpSpPr bwMode="auto">
          <a:xfrm>
            <a:off x="7721600" y="3762376"/>
            <a:ext cx="1524000" cy="1190625"/>
            <a:chOff x="5791200" y="3762375"/>
            <a:chExt cx="1142999" cy="1190625"/>
          </a:xfrm>
        </p:grpSpPr>
        <p:cxnSp>
          <p:nvCxnSpPr>
            <p:cNvPr id="22548" name="AutoShape 29"/>
            <p:cNvCxnSpPr>
              <a:cxnSpLocks noChangeShapeType="1"/>
            </p:cNvCxnSpPr>
            <p:nvPr/>
          </p:nvCxnSpPr>
          <p:spPr bwMode="auto">
            <a:xfrm flipH="1">
              <a:off x="5984875" y="3765550"/>
              <a:ext cx="760413" cy="822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22549" name="Rectangle 7"/>
            <p:cNvSpPr>
              <a:spLocks noChangeArrowheads="1"/>
            </p:cNvSpPr>
            <p:nvPr/>
          </p:nvSpPr>
          <p:spPr bwMode="auto">
            <a:xfrm>
              <a:off x="5791200" y="4648200"/>
              <a:ext cx="381000" cy="304800"/>
            </a:xfrm>
            <a:prstGeom prst="rect">
              <a:avLst/>
            </a:prstGeom>
            <a:solidFill>
              <a:srgbClr val="CC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14</a:t>
              </a:r>
            </a:p>
          </p:txBody>
        </p:sp>
        <p:cxnSp>
          <p:nvCxnSpPr>
            <p:cNvPr id="22550" name="AutoShape 21"/>
            <p:cNvCxnSpPr>
              <a:cxnSpLocks noChangeShapeType="1"/>
            </p:cNvCxnSpPr>
            <p:nvPr/>
          </p:nvCxnSpPr>
          <p:spPr bwMode="auto">
            <a:xfrm rot="5400000">
              <a:off x="6592094" y="3913981"/>
              <a:ext cx="304800" cy="15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2551" name="AutoShape 21"/>
            <p:cNvCxnSpPr>
              <a:cxnSpLocks noChangeShapeType="1"/>
            </p:cNvCxnSpPr>
            <p:nvPr/>
          </p:nvCxnSpPr>
          <p:spPr bwMode="auto">
            <a:xfrm rot="16200000" flipH="1">
              <a:off x="6742112" y="3770312"/>
              <a:ext cx="196850" cy="18732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</p:grpSp>
    </p:spTree>
    <p:extLst>
      <p:ext uri="{BB962C8B-B14F-4D97-AF65-F5344CB8AC3E}">
        <p14:creationId xmlns:p14="http://schemas.microsoft.com/office/powerpoint/2010/main" val="2237658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463" y="685800"/>
            <a:ext cx="7839075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942" y="4648200"/>
            <a:ext cx="7477858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05619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Minimax Activity Q1</a:t>
            </a:r>
          </a:p>
        </p:txBody>
      </p:sp>
      <p:pic>
        <p:nvPicPr>
          <p:cNvPr id="4" name="Picture 3" descr="alpha-beta-larg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75" y="1329883"/>
            <a:ext cx="8734425" cy="55281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37840" y="1027906"/>
            <a:ext cx="46541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is the value of the top node?</a:t>
            </a:r>
          </a:p>
          <a:p>
            <a:r>
              <a:rPr lang="en-US" sz="2400" dirty="0"/>
              <a:t>     A) 10</a:t>
            </a:r>
          </a:p>
          <a:p>
            <a:r>
              <a:rPr lang="en-US" sz="2400" dirty="0"/>
              <a:t>     B) 100</a:t>
            </a:r>
          </a:p>
          <a:p>
            <a:r>
              <a:rPr lang="en-US" sz="2400" dirty="0"/>
              <a:t>     C) 2</a:t>
            </a:r>
          </a:p>
          <a:p>
            <a:r>
              <a:rPr lang="en-US" sz="2400" dirty="0"/>
              <a:t>     D) 4</a:t>
            </a:r>
          </a:p>
        </p:txBody>
      </p:sp>
    </p:spTree>
    <p:extLst>
      <p:ext uri="{BB962C8B-B14F-4D97-AF65-F5344CB8AC3E}">
        <p14:creationId xmlns:p14="http://schemas.microsoft.com/office/powerpoint/2010/main" val="42947504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Minimax: Activity Q2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 the minimax algorithm on the figure below.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634" y="2526610"/>
            <a:ext cx="8876731" cy="365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459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Minimax </a:t>
            </a:r>
            <a:r>
              <a:rPr lang="en-US"/>
              <a:t>Search Activity Q3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705" y="2176462"/>
            <a:ext cx="9804589" cy="413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2312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C00BE-C493-6F48-D9DC-2B3555721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0C9F8D-EDD2-BE22-1695-3B6D9B054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12" y="1271790"/>
            <a:ext cx="103155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1027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B4AF-0DBB-36C0-FAF3-B3462B672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336094-ED48-6505-E053-64FFF3F9B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62" y="1866900"/>
            <a:ext cx="10277475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9665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V(s) = \max_{s' \in \mathrm{successors}(s)} V(s')&#10;\]&#10;\end{document}&#10;"/>
  <p:tag name="FILENAME" val="TP_tmp"/>
  <p:tag name="FORMAT" val="png16m"/>
  <p:tag name="RES" val="1200"/>
  <p:tag name="BLEND" val="0"/>
  <p:tag name="TRANSPARENT" val="0"/>
  <p:tag name="TBUG" val="0"/>
  <p:tag name="ALLOWFS" val="0"/>
  <p:tag name="ORIGWIDTH" val="115"/>
  <p:tag name="PICTUREFILESIZE" val="984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&#10;V(s') = \min_{s \in \mathrm{successors}(s')} V(s)&#10;\]&#10;\end{document}&#10;"/>
  <p:tag name="FILENAME" val="TP_tmp"/>
  <p:tag name="FORMAT" val="png16m"/>
  <p:tag name="RES" val="1200"/>
  <p:tag name="BLEND" val="0"/>
  <p:tag name="TRANSPARENT" val="0"/>
  <p:tag name="TBUG" val="0"/>
  <p:tag name="ALLOWFS" val="0"/>
  <p:tag name="ORIGWIDTH" val="115"/>
  <p:tag name="PICTUREFILESIZE" val="921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e93d4a-e23b-42c8-8ff1-78131b2d8e46">
      <Terms xmlns="http://schemas.microsoft.com/office/infopath/2007/PartnerControls"/>
    </lcf76f155ced4ddcb4097134ff3c332f>
    <TaxCatchAll xmlns="4365d7e7-07f8-46ee-9253-0d9db5cf024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9C947163D0D9438ADFAABD5D135A8E" ma:contentTypeVersion="14" ma:contentTypeDescription="Create a new document." ma:contentTypeScope="" ma:versionID="4e1af9cc4a66754e05256819fc0cf4eb">
  <xsd:schema xmlns:xsd="http://www.w3.org/2001/XMLSchema" xmlns:xs="http://www.w3.org/2001/XMLSchema" xmlns:p="http://schemas.microsoft.com/office/2006/metadata/properties" xmlns:ns2="4365d7e7-07f8-46ee-9253-0d9db5cf0247" xmlns:ns3="c5e93d4a-e23b-42c8-8ff1-78131b2d8e46" targetNamespace="http://schemas.microsoft.com/office/2006/metadata/properties" ma:root="true" ma:fieldsID="3c80ef98cdf9bd0c93d5f9836eb0b425" ns2:_="" ns3:_="">
    <xsd:import namespace="4365d7e7-07f8-46ee-9253-0d9db5cf0247"/>
    <xsd:import namespace="c5e93d4a-e23b-42c8-8ff1-78131b2d8e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65d7e7-07f8-46ee-9253-0d9db5cf024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2b5eb382-fb55-4e68-ad83-511be951eceb}" ma:internalName="TaxCatchAll" ma:showField="CatchAllData" ma:web="4365d7e7-07f8-46ee-9253-0d9db5cf02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e93d4a-e23b-42c8-8ff1-78131b2d8e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b19d95c-03cc-479b-95fc-186cd9d351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31C816-933D-4A9D-B1E2-FE99DA259CB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961B93-2254-4B86-9BFA-AFB10EFF6703}">
  <ds:schemaRefs>
    <ds:schemaRef ds:uri="http://schemas.microsoft.com/office/2006/metadata/properties"/>
    <ds:schemaRef ds:uri="http://schemas.microsoft.com/office/infopath/2007/PartnerControls"/>
    <ds:schemaRef ds:uri="c5e93d4a-e23b-42c8-8ff1-78131b2d8e46"/>
    <ds:schemaRef ds:uri="4365d7e7-07f8-46ee-9253-0d9db5cf0247"/>
  </ds:schemaRefs>
</ds:datastoreItem>
</file>

<file path=customXml/itemProps3.xml><?xml version="1.0" encoding="utf-8"?>
<ds:datastoreItem xmlns:ds="http://schemas.openxmlformats.org/officeDocument/2006/customXml" ds:itemID="{582B959B-1D4B-4BB7-92FD-71AE7A7B3C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65d7e7-07f8-46ee-9253-0d9db5cf0247"/>
    <ds:schemaRef ds:uri="c5e93d4a-e23b-42c8-8ff1-78131b2d8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6902</TotalTime>
  <Words>1309</Words>
  <Application>Microsoft Office PowerPoint</Application>
  <PresentationFormat>Widescreen</PresentationFormat>
  <Paragraphs>215</Paragraphs>
  <Slides>38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Adversarial Search</vt:lpstr>
      <vt:lpstr>MAEs and Games</vt:lpstr>
      <vt:lpstr>Games vs. Search problems</vt:lpstr>
      <vt:lpstr>Types of Games</vt:lpstr>
      <vt:lpstr>Zero-Sum Games</vt:lpstr>
      <vt:lpstr>Game Formulation</vt:lpstr>
      <vt:lpstr>Basic Strategy</vt:lpstr>
      <vt:lpstr>Utility function</vt:lpstr>
      <vt:lpstr>Optimal Strategy For MAX</vt:lpstr>
      <vt:lpstr>Minimax</vt:lpstr>
      <vt:lpstr>Adversarial Search (Minimax)</vt:lpstr>
      <vt:lpstr>Minimax Example</vt:lpstr>
      <vt:lpstr>PowerPoint Presentation</vt:lpstr>
      <vt:lpstr>Minimax Implementation (Dispatch)</vt:lpstr>
      <vt:lpstr>PowerPoint Presentation</vt:lpstr>
      <vt:lpstr>PowerPoint Presentation</vt:lpstr>
      <vt:lpstr>Minimax Properties</vt:lpstr>
      <vt:lpstr>Perhaps a better utility function?</vt:lpstr>
      <vt:lpstr>Brief Example</vt:lpstr>
      <vt:lpstr>PowerPoint Presentation</vt:lpstr>
      <vt:lpstr>PowerPoint Presentation</vt:lpstr>
      <vt:lpstr>Minimax Efficiency</vt:lpstr>
      <vt:lpstr>Game Tree Pruning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Minimax Search</vt:lpstr>
      <vt:lpstr>Minimax Example</vt:lpstr>
      <vt:lpstr>Minimax Pruning</vt:lpstr>
      <vt:lpstr>PowerPoint Presentation</vt:lpstr>
      <vt:lpstr>Minimax Activity Q1</vt:lpstr>
      <vt:lpstr>Minimax: Activity Q2</vt:lpstr>
      <vt:lpstr>Minimax Search Activity Q3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Adversarial Search</dc:title>
  <dc:creator>FARHAN DAWOOD</dc:creator>
  <cp:lastModifiedBy>Misbah Naz</cp:lastModifiedBy>
  <cp:revision>83</cp:revision>
  <dcterms:created xsi:type="dcterms:W3CDTF">2019-04-04T14:10:41Z</dcterms:created>
  <dcterms:modified xsi:type="dcterms:W3CDTF">2026-08-19T10:24:18Z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0x010100C59C947163D0D9438ADFAABD5D135A8E</vt:lpwstr>
  </property>
</Properties>
</file>