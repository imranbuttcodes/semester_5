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B7C3"/>
                </a:solidFill>
              </a:rPr>
              <a:t>UNIVERSITY OF CENTRAL PUNJAB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3D6"/>
                </a:solidFill>
              </a:rPr>
              <a:t>Faculty of Information Technology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Cyber Security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</a:rPr>
              <a:t>Week 1 — Introduction to Cybersecurity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</a:rPr>
              <a:t>Overview  •  Importance  •  CIA Triad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</a:rPr>
              <a:t>Basic Terminology  •  History of Cyber Threats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Instructor: Hafiz Usama Ishtiaq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3D6"/>
                </a:solidFill>
              </a:rPr>
              <a:t>BSCS  •  3 Credit Hours  •  Fall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WEEK 1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What we will cover this week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7C3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8249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</a:rPr>
              <a:t>Overview of Cybersecurity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05740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What cybersecurity is, in simple words, and why it matters today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5292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7C3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7980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</a:rPr>
              <a:t>The CIA Triad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17296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Confidentiality, Integrity, Availability — the three goals of security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68496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2A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684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7C3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9136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</a:rPr>
              <a:t>Basic Terminology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8853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Threat, vulnerability, risk, exploit, attack, asset — explained with examples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0118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084064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2A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084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7C3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0292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</a:rPr>
              <a:t>History of Cyber Threats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4041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How attacks grew from harmless experiments to today's global threats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What is Cybersecurity?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48132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</a:rPr>
              <a:t>Cybersecurity is the practice of protecting computers, networks, programs and data from digital attacks, unauthorized access, damage or theft.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7C86"/>
                </a:solidFill>
              </a:rPr>
              <a:t>In simple words:  </a:t>
            </a:r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</a:rPr>
              <a:t>it is everything we do to keep our digital life safe — just like we lock our house, we also need to "lock" our data and devices.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4747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FB7C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6908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75B"/>
                </a:solidFill>
              </a:rPr>
              <a:t>People, information and devices across websites, networks, software and mobile phones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1688" y="324612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34747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FB7C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6008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Ensures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406908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75B"/>
                </a:solidFill>
              </a:rPr>
              <a:t>That your data stays private, correct, and available whenever you need 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83296" y="324612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34747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FB7C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57616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Defends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4069080"/>
            <a:ext cx="2990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75B"/>
                </a:solidFill>
              </a:rPr>
              <a:t>Against dangers like viruses, hacking, phishing emails and data theft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IMPORTANCE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Why Cybersecurity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755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Everything is connected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30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Banking, hospitals, universities and government all run on digital systems now.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83080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755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Data is valuable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130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Your passwords, photos, bank details and ID are exactly what attackers want.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55848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328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Attacks are rising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03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Cybercrime happens every single day and costs the world billions each year.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12724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355848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3284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Trust &amp; reputation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703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One data breach can make customers lose trust in a company forever.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0001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928616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43000" y="49011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Legal responsibility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2760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Laws require organizations to protect user data — and report it if leaked.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70001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928616"/>
            <a:ext cx="128016" cy="960120"/>
          </a:xfrm>
          <a:prstGeom prst="roundRect">
            <a:avLst>
              <a:gd name="adj" fmla="val 21429"/>
            </a:avLst>
          </a:prstGeom>
          <a:solidFill>
            <a:srgbClr val="2FB7C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66560" y="490118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8"/>
                </a:solidFill>
              </a:rPr>
              <a:t>Safety of society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2760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Power grids, hospitals and transport must stay secure to keep people safe.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7C3"/>
                </a:solidFill>
              </a:rPr>
              <a:t>THE CORE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CIA Triad — 3 Goals of Security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60520" y="1783080"/>
            <a:ext cx="3840480" cy="3063240"/>
          </a:xfrm>
          <a:prstGeom prst="triangle">
            <a:avLst/>
          </a:prstGeom>
          <a:solidFill>
            <a:srgbClr val="163B5C"/>
          </a:solidFill>
          <a:ln w="25400">
            <a:solidFill>
              <a:srgbClr val="2FB7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60520" y="2880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2FB7C3"/>
                </a:solidFill>
              </a:rPr>
              <a:t>C I 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526"/>
                </a:solidFill>
              </a:rPr>
              <a:t>Confidentiality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526"/>
                </a:solidFill>
              </a:rPr>
              <a:t>Integrity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526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2120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7D6E5"/>
                </a:solidFill>
              </a:rPr>
              <a:t>These three goals work together. If even one fails, the system is not truly secure — so security means protecting all three at the same time.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CIA TRIAD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Confidentiality, Integrity, Availability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38728" cy="42976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3538728" cy="640080"/>
          </a:xfrm>
          <a:prstGeom prst="roundRect">
            <a:avLst>
              <a:gd name="adj" fmla="val 11429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538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Confidentiality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2402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526"/>
                </a:solidFill>
              </a:rPr>
              <a:t>Keeping data private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78608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Only the right people can see the information. It is kept secret from everyone else.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3520440"/>
            <a:ext cx="3026664" cy="1234440"/>
          </a:xfrm>
          <a:prstGeom prst="roundRect">
            <a:avLst>
              <a:gd name="adj" fmla="val 3704"/>
            </a:avLst>
          </a:prstGeom>
          <a:solidFill>
            <a:srgbClr val="EA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C86"/>
                </a:solidFill>
              </a:rPr>
              <a:t>EXAMPLE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Your exam result is shown only to you — not to the whole class.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86460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Protected by: Encryption, passwords, MFA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481328"/>
            <a:ext cx="3538728" cy="42976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481328"/>
            <a:ext cx="3538728" cy="640080"/>
          </a:xfrm>
          <a:prstGeom prst="roundRect">
            <a:avLst>
              <a:gd name="adj" fmla="val 11429"/>
            </a:avLst>
          </a:prstGeom>
          <a:solidFill>
            <a:srgbClr val="0F2A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61688" y="1481328"/>
            <a:ext cx="3538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Integrity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2402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526"/>
                </a:solidFill>
              </a:rPr>
              <a:t>Keeping data correct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578608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Information is accurate and no one has secretly changed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3026664" cy="1234440"/>
          </a:xfrm>
          <a:prstGeom prst="roundRect">
            <a:avLst>
              <a:gd name="adj" fmla="val 3704"/>
            </a:avLst>
          </a:prstGeom>
          <a:solidFill>
            <a:srgbClr val="EAF4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73168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C86"/>
                </a:solidFill>
              </a:rPr>
              <a:t>EXAMPLE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A bank makes sure nobody can change your account balance from Rs.5,000 to Rs.50,000.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86460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Protected by: Hashing, checksums, backups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3296" y="1481328"/>
            <a:ext cx="3538728" cy="429768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481328"/>
            <a:ext cx="3538728" cy="640080"/>
          </a:xfrm>
          <a:prstGeom prst="roundRect">
            <a:avLst>
              <a:gd name="adj" fmla="val 11429"/>
            </a:avLst>
          </a:prstGeom>
          <a:solidFill>
            <a:srgbClr val="0F2A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83296" y="1481328"/>
            <a:ext cx="3538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Availability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2402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526"/>
                </a:solidFill>
              </a:rPr>
              <a:t>Keeping data usable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578608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75B"/>
                </a:solidFill>
              </a:rPr>
              <a:t>Systems and data are up and working whenever you need them.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39328" y="3520440"/>
            <a:ext cx="3026664" cy="1234440"/>
          </a:xfrm>
          <a:prstGeom prst="roundRect">
            <a:avLst>
              <a:gd name="adj" fmla="val 3704"/>
            </a:avLst>
          </a:prstGeom>
          <a:solidFill>
            <a:srgbClr val="EAF4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94776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C86"/>
                </a:solidFill>
              </a:rPr>
              <a:t>EXAMPLE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494776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75B"/>
                </a:solidFill>
              </a:rPr>
              <a:t>An exam portal must stay online on results day so students can log in.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39328" y="486460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Protected by: Backups, redundancy, DDoS defense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BASIC TERMINOLOGY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Key Terms Every Student Must Know (1 of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Asset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65506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Anything valuable worth protecting.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039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Your laptop, phone, data, or a company's website and customer records.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62072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62072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Threat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82549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Anything that can cause harm.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32095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A hacker, a virus, a careless employee, or even a fire or power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32504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32504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Vulnerability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99592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A weakness that can be misused.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4379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A weak password, outdated software, or an unlocked door to a server room.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02936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202936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Risk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5166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Chance of harm actually happening.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550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High risk = a weak password (vulnerability) + an active hacker (threat).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BASIC TERMINOLOGY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Key Terms Every Student Must Know (2 of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Exploit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65506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A trick or code that uses a weakness.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039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A program that breaks into software through a known bug.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62072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862072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Attack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82549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A deliberate attempt to cause harm.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32095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Sending a fake email to steal a user's login password.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9624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32504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32504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Attack Vector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99592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The path used to get in.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4379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Email attachments, USB drives, fake websites, or public Wi-Fi.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02936"/>
            <a:ext cx="2286000" cy="704088"/>
          </a:xfrm>
          <a:prstGeom prst="roundRect">
            <a:avLst>
              <a:gd name="adj" fmla="val 7792"/>
            </a:avLst>
          </a:prstGeom>
          <a:solidFill>
            <a:srgbClr val="0F2A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202936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Payload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5166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38"/>
                </a:solidFill>
              </a:rPr>
              <a:t>The harmful part that does the damage.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550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C86"/>
                </a:solidFill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</a:rPr>
              <a:t>The code that locks your files and demands ransom money.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7C3"/>
                </a:solidFill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How the Terms Connect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6E5"/>
                </a:solidFill>
              </a:rPr>
              <a:t>Read the chain left to right — this is how a real attack unfolds: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63B5C"/>
          </a:solidFill>
          <a:ln w="19050">
            <a:solidFill>
              <a:srgbClr val="2FB7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Threat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5"/>
                </a:solidFill>
              </a:rPr>
              <a:t>the attacker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0574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0" y="20574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63B5C"/>
          </a:solidFill>
          <a:ln w="19050">
            <a:solidFill>
              <a:srgbClr val="2FB7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Vulnerability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5"/>
                </a:solidFill>
              </a:rPr>
              <a:t>the weakness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0574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92240" y="20574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63B5C"/>
          </a:solidFill>
          <a:ln w="19050">
            <a:solidFill>
              <a:srgbClr val="2FB7C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Exploit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5"/>
                </a:solidFill>
              </a:rPr>
              <a:t>method used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05740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526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326880" y="20574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63B5C"/>
          </a:solidFill>
          <a:ln w="19050">
            <a:solidFill>
              <a:srgbClr val="2FB7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B7C3"/>
                </a:solidFill>
              </a:rPr>
              <a:t>Risk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6E5"/>
                </a:solidFill>
              </a:rPr>
              <a:t>possible loss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163B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526"/>
                </a:solidFill>
              </a:rPr>
              <a:t>Real-life example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52628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A hacker </a:t>
            </a:r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</a:rPr>
              <a:t>(threat)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finds a website with an old, unpatched login page </a:t>
            </a:r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</a:rPr>
              <a:t>(vulnerability). </a:t>
            </a:r>
            <a:pPr indent="0" marL="0">
              <a:buNone/>
            </a:pPr>
            <a:r>
              <a:rPr lang="en-US" sz="1500" b="1" dirty="0">
                <a:solidFill>
                  <a:srgbClr val="2FB7C3"/>
                </a:solidFill>
              </a:rPr>
              <a:t>They use SQL injection </a:t>
            </a:r>
            <a:pPr indent="0" marL="0">
              <a:buNone/>
            </a:pPr>
            <a:r>
              <a:rPr lang="en-US" sz="1500" dirty="0">
                <a:solidFill>
                  <a:srgbClr val="C7D6E5"/>
                </a:solidFill>
              </a:rPr>
              <a:t>(exploit)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to break in. The chance that customer data gets stolen is the </a:t>
            </a:r>
            <a:pPr indent="0" marL="0">
              <a:buNone/>
            </a:pPr>
            <a:r>
              <a:rPr lang="en-US" sz="1500" b="1" dirty="0">
                <a:solidFill>
                  <a:srgbClr val="E0A526"/>
                </a:solidFill>
              </a:rPr>
              <a:t>risk.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HISTORY OF CYBER THREATS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How Cyber Threats Evolved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7C3"/>
                </a:solidFill>
              </a:rPr>
              <a:t>1970s–80s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481328"/>
            <a:ext cx="8869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15727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</a:rPr>
              <a:t>The first experiments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90195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Creeper (1971) &amp; Morris Worm (1988) — early self-copying programs, made out of curiosity, not for money.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A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414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7C3"/>
                </a:solidFill>
              </a:rPr>
              <a:t>1990s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441448"/>
            <a:ext cx="8869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25328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</a:rPr>
              <a:t>Viruses go mainstream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8620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As home PCs and email spread, viruses spread with them — often through infected email attachments.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A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40156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7C3"/>
                </a:solidFill>
              </a:rPr>
              <a:t>2000s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3401568"/>
            <a:ext cx="8869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3493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</a:rPr>
              <a:t>Worms &amp; organized crime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82219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Fast worms like ILOVEYOU &amp; Conficker spread worldwide; criminals started hacking to make money.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6168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A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3616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7C3"/>
                </a:solidFill>
              </a:rPr>
              <a:t>2010s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51760" y="4361688"/>
            <a:ext cx="8869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0360" y="4453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</a:rPr>
              <a:t>Nation-states &amp; ransomware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478231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Governments joined in (Stuxnet); huge company data breaches; ransomware like WannaCry locked files for money.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32180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0F2A4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3218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7C3"/>
                </a:solidFill>
              </a:rPr>
              <a:t>2020s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51760" y="5321808"/>
            <a:ext cx="8869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80360" y="5413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</a:rPr>
              <a:t>AI-era &amp; supply chain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574243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Ransomware-for-hire, attacks through trusted software vendors, and AI used to create smarter attacks.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HISTORY OF CYBER THREATS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Lessons From the Past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6232"/>
            <a:ext cx="128016" cy="1371600"/>
          </a:xfrm>
          <a:prstGeom prst="roundRect">
            <a:avLst>
              <a:gd name="adj" fmla="val 21429"/>
            </a:avLst>
          </a:prstGeom>
          <a:solidFill>
            <a:srgbClr val="E0A5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562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</a:rPr>
              <a:t>Attacks keep evolving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317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New tricks appear all the time, so defenders must keep learning. Yesterday's protection is not enough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56232"/>
            <a:ext cx="128016" cy="1371600"/>
          </a:xfrm>
          <a:prstGeom prst="roundRect">
            <a:avLst>
              <a:gd name="adj" fmla="val 21429"/>
            </a:avLst>
          </a:prstGeom>
          <a:solidFill>
            <a:srgbClr val="E0A5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8562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</a:rPr>
              <a:t>The motive changed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3317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Early hackers wanted fame or fun. Today it is mostly about money, spying, or political power.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886200"/>
            <a:ext cx="128016" cy="1371600"/>
          </a:xfrm>
          <a:prstGeom prst="roundRect">
            <a:avLst>
              <a:gd name="adj" fmla="val 21429"/>
            </a:avLst>
          </a:prstGeom>
          <a:solidFill>
            <a:srgbClr val="E0A5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886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</a:rPr>
              <a:t>The impact grew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6168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It started with one computer. Now a single attack can hit millions of users and whole countries.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630168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886200"/>
            <a:ext cx="128016" cy="1371600"/>
          </a:xfrm>
          <a:prstGeom prst="roundRect">
            <a:avLst>
              <a:gd name="adj" fmla="val 21429"/>
            </a:avLst>
          </a:prstGeom>
          <a:solidFill>
            <a:srgbClr val="E0A5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886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</a:rPr>
              <a:t>People are the weak point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36168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Most modern attacks trick a person (e.g. a fake email) rather than the machine — so awareness is our best defense.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C86"/>
                </a:solidFill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</a:rPr>
              <a:t>Week 1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100584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Cybersecurity means protecting our computers, networks and data — like locking the doors of our digital life.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It matters because everything is connected, our data is valuable, and attacks happen every day.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The CIA Triad — Confidentiality, Integrity, Availability — is the three-part goal of all security.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Core terms: asset (what we protect), threat (the danger), vulnerability (the weakness), risk (chance of harm), plus exploit, attack, attack vector and payload.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75B"/>
                </a:solidFill>
              </a:rPr>
              <a:t>Threats have grown from harmless 1980s experiments into organized, global, money-driven and AI-era attacks.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7C3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Review Questions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E8EEF5"/>
                </a:solidFill>
              </a:rPr>
              <a:t>1.  Define cybersecurity in your own words. Why is it important today?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E8EEF5"/>
                </a:solidFill>
              </a:rPr>
              <a:t>2.  Explain the CIA Triad. Give one real example for each of the three parts.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E8EEF5"/>
                </a:solidFill>
              </a:rPr>
              <a:t>3.  What is the difference between a threat, a vulnerability, and a risk?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E8EEF5"/>
                </a:solidFill>
              </a:rPr>
              <a:t>4.  Define exploit, attack vector and payload, each with a simple example.</a:t>
            </a:r>
            <a:endParaRPr lang="en-US" sz="17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dirty="0">
                <a:solidFill>
                  <a:srgbClr val="E8EEF5"/>
                </a:solidFill>
              </a:rPr>
              <a:t>5.  Describe how cyber threats have changed from the 1980s to today.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Cyber Security  |  Week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B7C3"/>
                </a:solidFill>
              </a:rPr>
              <a:t>WEEK 2 PREVIEW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Coming Next: Computer System Threats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7D6E5"/>
                </a:solidFill>
              </a:rPr>
              <a:t>Introduction to computer system threats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7D6E5"/>
                </a:solidFill>
              </a:rPr>
              <a:t>Types of threats: internal vs external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7D6E5"/>
                </a:solidFill>
              </a:rPr>
              <a:t>Attack vectors and common cyber threats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</a:rPr>
              <a:t>Cyber Security  •  Instructor: Hafiz Usama Ishtiaq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— Week 1</dc:title>
  <dc:subject>PptxGenJS Presentation</dc:subject>
  <dc:creator>UCP FIT</dc:creator>
  <cp:lastModifiedBy>UCP FIT</cp:lastModifiedBy>
  <cp:revision>1</cp:revision>
  <dcterms:created xsi:type="dcterms:W3CDTF">2026-09-18T05:08:05Z</dcterms:created>
  <dcterms:modified xsi:type="dcterms:W3CDTF">2026-09-18T05:08:05Z</dcterms:modified>
</cp:coreProperties>
</file>