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0"/>
  </p:notesMasterIdLst>
  <p:sldIdLst>
    <p:sldId id="276" r:id="rId2"/>
    <p:sldId id="277" r:id="rId3"/>
    <p:sldId id="294" r:id="rId4"/>
    <p:sldId id="316" r:id="rId5"/>
    <p:sldId id="317" r:id="rId6"/>
    <p:sldId id="318" r:id="rId7"/>
    <p:sldId id="319" r:id="rId8"/>
    <p:sldId id="336" r:id="rId9"/>
    <p:sldId id="332" r:id="rId10"/>
    <p:sldId id="333" r:id="rId11"/>
    <p:sldId id="334" r:id="rId12"/>
    <p:sldId id="335" r:id="rId13"/>
    <p:sldId id="320" r:id="rId14"/>
    <p:sldId id="337" r:id="rId15"/>
    <p:sldId id="338" r:id="rId16"/>
    <p:sldId id="339" r:id="rId17"/>
    <p:sldId id="321" r:id="rId18"/>
    <p:sldId id="330" r:id="rId19"/>
    <p:sldId id="322" r:id="rId20"/>
    <p:sldId id="323" r:id="rId21"/>
    <p:sldId id="329" r:id="rId22"/>
    <p:sldId id="324" r:id="rId23"/>
    <p:sldId id="325" r:id="rId24"/>
    <p:sldId id="331" r:id="rId25"/>
    <p:sldId id="326" r:id="rId26"/>
    <p:sldId id="327" r:id="rId27"/>
    <p:sldId id="328" r:id="rId28"/>
    <p:sldId id="275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098" autoAdjust="0"/>
  </p:normalViewPr>
  <p:slideViewPr>
    <p:cSldViewPr snapToGrid="0" snapToObjects="1">
      <p:cViewPr varScale="1">
        <p:scale>
          <a:sx n="70" d="100"/>
          <a:sy n="70" d="100"/>
        </p:scale>
        <p:origin x="181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ek Kausar" userId="3a5a0e80-1a0a-42e8-aacf-20faf71ac72f" providerId="ADAL" clId="{79482851-B4AB-466D-9A56-8C3B902AAC3F}"/>
    <pc:docChg chg="custSel addSld delSld modSld">
      <pc:chgData name="Mahek Kausar" userId="3a5a0e80-1a0a-42e8-aacf-20faf71ac72f" providerId="ADAL" clId="{79482851-B4AB-466D-9A56-8C3B902AAC3F}" dt="2026-10-08T07:29:43.868" v="38" actId="14100"/>
      <pc:docMkLst>
        <pc:docMk/>
      </pc:docMkLst>
      <pc:sldChg chg="add">
        <pc:chgData name="Mahek Kausar" userId="3a5a0e80-1a0a-42e8-aacf-20faf71ac72f" providerId="ADAL" clId="{79482851-B4AB-466D-9A56-8C3B902AAC3F}" dt="2026-10-08T07:21:57.728" v="13"/>
        <pc:sldMkLst>
          <pc:docMk/>
          <pc:sldMk cId="243692716" sldId="332"/>
        </pc:sldMkLst>
      </pc:sldChg>
      <pc:sldChg chg="del">
        <pc:chgData name="Mahek Kausar" userId="3a5a0e80-1a0a-42e8-aacf-20faf71ac72f" providerId="ADAL" clId="{79482851-B4AB-466D-9A56-8C3B902AAC3F}" dt="2026-10-08T07:21:31.026" v="12" actId="2696"/>
        <pc:sldMkLst>
          <pc:docMk/>
          <pc:sldMk cId="1380368565" sldId="332"/>
        </pc:sldMkLst>
      </pc:sldChg>
      <pc:sldChg chg="del">
        <pc:chgData name="Mahek Kausar" userId="3a5a0e80-1a0a-42e8-aacf-20faf71ac72f" providerId="ADAL" clId="{79482851-B4AB-466D-9A56-8C3B902AAC3F}" dt="2026-10-08T07:21:31.026" v="12" actId="2696"/>
        <pc:sldMkLst>
          <pc:docMk/>
          <pc:sldMk cId="2176247866" sldId="333"/>
        </pc:sldMkLst>
      </pc:sldChg>
      <pc:sldChg chg="add">
        <pc:chgData name="Mahek Kausar" userId="3a5a0e80-1a0a-42e8-aacf-20faf71ac72f" providerId="ADAL" clId="{79482851-B4AB-466D-9A56-8C3B902AAC3F}" dt="2026-10-08T07:21:57.728" v="13"/>
        <pc:sldMkLst>
          <pc:docMk/>
          <pc:sldMk cId="3988805863" sldId="333"/>
        </pc:sldMkLst>
      </pc:sldChg>
      <pc:sldChg chg="add del">
        <pc:chgData name="Mahek Kausar" userId="3a5a0e80-1a0a-42e8-aacf-20faf71ac72f" providerId="ADAL" clId="{79482851-B4AB-466D-9A56-8C3B902AAC3F}" dt="2026-10-08T07:15:08.299" v="1" actId="2696"/>
        <pc:sldMkLst>
          <pc:docMk/>
          <pc:sldMk cId="670021428" sldId="336"/>
        </pc:sldMkLst>
      </pc:sldChg>
      <pc:sldChg chg="modSp add mod">
        <pc:chgData name="Mahek Kausar" userId="3a5a0e80-1a0a-42e8-aacf-20faf71ac72f" providerId="ADAL" clId="{79482851-B4AB-466D-9A56-8C3B902AAC3F}" dt="2026-10-08T07:20:38.101" v="11" actId="27636"/>
        <pc:sldMkLst>
          <pc:docMk/>
          <pc:sldMk cId="1009342748" sldId="336"/>
        </pc:sldMkLst>
        <pc:spChg chg="mod">
          <ac:chgData name="Mahek Kausar" userId="3a5a0e80-1a0a-42e8-aacf-20faf71ac72f" providerId="ADAL" clId="{79482851-B4AB-466D-9A56-8C3B902AAC3F}" dt="2026-10-08T07:20:38.101" v="11" actId="27636"/>
          <ac:spMkLst>
            <pc:docMk/>
            <pc:sldMk cId="1009342748" sldId="336"/>
            <ac:spMk id="3" creationId="{51321B9D-EF32-FC06-9270-0F9348B0F088}"/>
          </ac:spMkLst>
        </pc:spChg>
      </pc:sldChg>
      <pc:sldChg chg="addSp delSp modSp add mod">
        <pc:chgData name="Mahek Kausar" userId="3a5a0e80-1a0a-42e8-aacf-20faf71ac72f" providerId="ADAL" clId="{79482851-B4AB-466D-9A56-8C3B902AAC3F}" dt="2026-10-08T07:26:08.394" v="26" actId="20577"/>
        <pc:sldMkLst>
          <pc:docMk/>
          <pc:sldMk cId="2268708604" sldId="337"/>
        </pc:sldMkLst>
        <pc:spChg chg="mod">
          <ac:chgData name="Mahek Kausar" userId="3a5a0e80-1a0a-42e8-aacf-20faf71ac72f" providerId="ADAL" clId="{79482851-B4AB-466D-9A56-8C3B902AAC3F}" dt="2026-10-08T07:26:08.394" v="26" actId="20577"/>
          <ac:spMkLst>
            <pc:docMk/>
            <pc:sldMk cId="2268708604" sldId="337"/>
            <ac:spMk id="2" creationId="{205BC237-8036-6309-2B13-60AEC545D1BC}"/>
          </ac:spMkLst>
        </pc:spChg>
        <pc:spChg chg="del mod">
          <ac:chgData name="Mahek Kausar" userId="3a5a0e80-1a0a-42e8-aacf-20faf71ac72f" providerId="ADAL" clId="{79482851-B4AB-466D-9A56-8C3B902AAC3F}" dt="2026-10-08T07:25:58.679" v="17"/>
          <ac:spMkLst>
            <pc:docMk/>
            <pc:sldMk cId="2268708604" sldId="337"/>
            <ac:spMk id="3" creationId="{894F2B2B-230E-5F79-6996-8C8E43C15A51}"/>
          </ac:spMkLst>
        </pc:spChg>
        <pc:picChg chg="add mod">
          <ac:chgData name="Mahek Kausar" userId="3a5a0e80-1a0a-42e8-aacf-20faf71ac72f" providerId="ADAL" clId="{79482851-B4AB-466D-9A56-8C3B902AAC3F}" dt="2026-10-08T07:25:58.679" v="17"/>
          <ac:picMkLst>
            <pc:docMk/>
            <pc:sldMk cId="2268708604" sldId="337"/>
            <ac:picMk id="5" creationId="{6B297F25-302E-597A-33E1-3922281A571B}"/>
          </ac:picMkLst>
        </pc:picChg>
      </pc:sldChg>
      <pc:sldChg chg="addSp delSp modSp add mod">
        <pc:chgData name="Mahek Kausar" userId="3a5a0e80-1a0a-42e8-aacf-20faf71ac72f" providerId="ADAL" clId="{79482851-B4AB-466D-9A56-8C3B902AAC3F}" dt="2026-10-08T07:26:48.839" v="31" actId="1076"/>
        <pc:sldMkLst>
          <pc:docMk/>
          <pc:sldMk cId="1562074698" sldId="338"/>
        </pc:sldMkLst>
        <pc:spChg chg="add mod">
          <ac:chgData name="Mahek Kausar" userId="3a5a0e80-1a0a-42e8-aacf-20faf71ac72f" providerId="ADAL" clId="{79482851-B4AB-466D-9A56-8C3B902AAC3F}" dt="2026-10-08T07:26:44.336" v="28" actId="478"/>
          <ac:spMkLst>
            <pc:docMk/>
            <pc:sldMk cId="1562074698" sldId="338"/>
            <ac:spMk id="7" creationId="{DB9A28BD-21FD-B2B9-1305-5FBEAAF6CD81}"/>
          </ac:spMkLst>
        </pc:spChg>
        <pc:picChg chg="del">
          <ac:chgData name="Mahek Kausar" userId="3a5a0e80-1a0a-42e8-aacf-20faf71ac72f" providerId="ADAL" clId="{79482851-B4AB-466D-9A56-8C3B902AAC3F}" dt="2026-10-08T07:26:44.336" v="28" actId="478"/>
          <ac:picMkLst>
            <pc:docMk/>
            <pc:sldMk cId="1562074698" sldId="338"/>
            <ac:picMk id="5" creationId="{3508FC44-7070-7410-9C15-340A5DA02158}"/>
          </ac:picMkLst>
        </pc:picChg>
        <pc:picChg chg="add mod">
          <ac:chgData name="Mahek Kausar" userId="3a5a0e80-1a0a-42e8-aacf-20faf71ac72f" providerId="ADAL" clId="{79482851-B4AB-466D-9A56-8C3B902AAC3F}" dt="2026-10-08T07:26:48.839" v="31" actId="1076"/>
          <ac:picMkLst>
            <pc:docMk/>
            <pc:sldMk cId="1562074698" sldId="338"/>
            <ac:picMk id="8" creationId="{80B7764F-BBB7-C328-8CC4-9A7F7953A8FB}"/>
          </ac:picMkLst>
        </pc:picChg>
      </pc:sldChg>
      <pc:sldChg chg="addSp delSp modSp add mod">
        <pc:chgData name="Mahek Kausar" userId="3a5a0e80-1a0a-42e8-aacf-20faf71ac72f" providerId="ADAL" clId="{79482851-B4AB-466D-9A56-8C3B902AAC3F}" dt="2026-10-08T07:29:43.868" v="38" actId="14100"/>
        <pc:sldMkLst>
          <pc:docMk/>
          <pc:sldMk cId="2288690186" sldId="339"/>
        </pc:sldMkLst>
        <pc:picChg chg="add mod">
          <ac:chgData name="Mahek Kausar" userId="3a5a0e80-1a0a-42e8-aacf-20faf71ac72f" providerId="ADAL" clId="{79482851-B4AB-466D-9A56-8C3B902AAC3F}" dt="2026-10-08T07:29:43.868" v="38" actId="14100"/>
          <ac:picMkLst>
            <pc:docMk/>
            <pc:sldMk cId="2288690186" sldId="339"/>
            <ac:picMk id="3" creationId="{CA82BEDD-521D-9934-AE6E-A216B3AB38AC}"/>
          </ac:picMkLst>
        </pc:picChg>
        <pc:picChg chg="del">
          <ac:chgData name="Mahek Kausar" userId="3a5a0e80-1a0a-42e8-aacf-20faf71ac72f" providerId="ADAL" clId="{79482851-B4AB-466D-9A56-8C3B902AAC3F}" dt="2026-10-08T07:29:35.475" v="33" actId="478"/>
          <ac:picMkLst>
            <pc:docMk/>
            <pc:sldMk cId="2288690186" sldId="339"/>
            <ac:picMk id="8" creationId="{034DDA35-470F-EE44-71A6-2EF77CF9EBE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22325D-236B-4F03-BA94-913479B19245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890B9C-8593-45BF-B5DF-D540ED82BD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715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420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272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178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05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774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610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1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5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583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533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6281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4543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850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8755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6971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1984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725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528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CS-</a:t>
            </a:r>
            <a:r>
              <a:rPr lang="en-US" sz="3300" dirty="0"/>
              <a:t>Cyber Security</a:t>
            </a:r>
            <a:br>
              <a:rPr lang="en-US" sz="3300" dirty="0"/>
            </a:br>
            <a:r>
              <a:rPr lang="en-US" sz="3300" dirty="0"/>
              <a:t>					Week-2		Lecture-2</a:t>
            </a:r>
            <a:br>
              <a:rPr lang="en-US" sz="3300" dirty="0"/>
            </a:br>
            <a:r>
              <a:rPr lang="en-US" sz="3300" dirty="0"/>
              <a:t>											</a:t>
            </a:r>
            <a:r>
              <a:rPr lang="en-US" sz="2100" dirty="0"/>
              <a:t>Semester- Spring 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" y="925013"/>
            <a:ext cx="1428750" cy="142875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5B861C-24A8-47D2-986E-481182106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098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Instructor Contact Details		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Lahore Garrison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B0DBE77-A541-4490-AAED-3BD2FDE53F15}"/>
              </a:ext>
            </a:extLst>
          </p:cNvPr>
          <p:cNvSpPr>
            <a:spLocks noGrp="1"/>
          </p:cNvSpPr>
          <p:nvPr/>
        </p:nvSpPr>
        <p:spPr>
          <a:xfrm>
            <a:off x="596456" y="2716418"/>
            <a:ext cx="8015232" cy="2562225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Name: Mahek Kausar	</a:t>
            </a:r>
          </a:p>
          <a:p>
            <a:r>
              <a:rPr lang="en-US" sz="16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Course Instructor:  Cyber Security</a:t>
            </a:r>
          </a:p>
          <a:p>
            <a:r>
              <a:rPr lang="en-US" sz="16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Credit Hours: 3</a:t>
            </a:r>
          </a:p>
          <a:p>
            <a:r>
              <a:rPr lang="en-US" sz="16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Designation : Lecturer</a:t>
            </a:r>
          </a:p>
          <a:p>
            <a:r>
              <a:rPr lang="en-US" sz="16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Office Location: 2</a:t>
            </a:r>
            <a:r>
              <a:rPr lang="en-US" sz="1650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st</a:t>
            </a:r>
            <a:r>
              <a:rPr lang="en-US" sz="16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 Floor D-Building </a:t>
            </a:r>
          </a:p>
          <a:p>
            <a:r>
              <a:rPr lang="en-US" sz="16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Email: mahek.kausar@ucp.edu.pk</a:t>
            </a:r>
          </a:p>
          <a:p>
            <a:r>
              <a:rPr lang="en-US" sz="165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ea typeface="Tahoma" pitchFamily="34" charset="0"/>
                <a:cs typeface="Times New Roman" pitchFamily="18" charset="0"/>
              </a:rPr>
              <a:t>Visiting Hours: Thursday-Friday (10:30-12:30)</a:t>
            </a:r>
          </a:p>
        </p:txBody>
      </p:sp>
    </p:spTree>
    <p:extLst>
      <p:ext uri="{BB962C8B-B14F-4D97-AF65-F5344CB8AC3E}">
        <p14:creationId xmlns:p14="http://schemas.microsoft.com/office/powerpoint/2010/main" val="1738954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Introduction to Computer System Threats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843" y="2418806"/>
            <a:ext cx="8278586" cy="3555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A </a:t>
            </a:r>
            <a:r>
              <a:rPr lang="en-US" sz="2000" b="1" dirty="0"/>
              <a:t>computer system threat</a:t>
            </a:r>
            <a:r>
              <a:rPr lang="en-US" sz="2000" dirty="0"/>
              <a:t> is any potential danger that can exploit vulnerabilities in a system and compromise its </a:t>
            </a:r>
            <a:r>
              <a:rPr lang="en-US" sz="2000" b="1" dirty="0"/>
              <a:t>confidentiality, integrity, or availability (CIA triad)</a:t>
            </a:r>
            <a:r>
              <a:rPr lang="en-US" sz="2000" dirty="0"/>
              <a:t>.</a:t>
            </a:r>
          </a:p>
          <a:p>
            <a:pPr lvl="1"/>
            <a:r>
              <a:rPr lang="en-US" sz="1800" dirty="0"/>
              <a:t>Computer threats target:</a:t>
            </a:r>
          </a:p>
          <a:p>
            <a:pPr lvl="1"/>
            <a:r>
              <a:rPr lang="en-US" sz="1800" dirty="0"/>
              <a:t>Hardware</a:t>
            </a:r>
          </a:p>
          <a:p>
            <a:pPr lvl="1"/>
            <a:r>
              <a:rPr lang="en-US" sz="1800" dirty="0"/>
              <a:t>Software</a:t>
            </a:r>
          </a:p>
          <a:p>
            <a:pPr lvl="1"/>
            <a:r>
              <a:rPr lang="en-US" sz="1800" dirty="0"/>
              <a:t>Networks</a:t>
            </a:r>
          </a:p>
          <a:p>
            <a:pPr lvl="1"/>
            <a:r>
              <a:rPr lang="en-US" sz="1800" dirty="0"/>
              <a:t>Data</a:t>
            </a:r>
          </a:p>
          <a:p>
            <a:pPr lvl="1"/>
            <a:r>
              <a:rPr lang="en-US" sz="1800" dirty="0"/>
              <a:t>Users</a:t>
            </a:r>
          </a:p>
          <a:p>
            <a:pPr marL="0" indent="0" algn="just">
              <a:buNone/>
            </a:pPr>
            <a:endParaRPr lang="en-US" sz="195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University of Central Punjab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3</a:t>
            </a:fld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1F171C-D51C-4674-FDD0-6195013C1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638" y="3727227"/>
            <a:ext cx="3659529" cy="2442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70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23BA6-E16C-54AC-BA2D-DB67B18A9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C07EB-1F95-FFE8-0547-C79432A8F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What is a Threat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E2EC1-622A-E78D-69F1-094AAD798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843" y="2418806"/>
            <a:ext cx="8278586" cy="3555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A </a:t>
            </a:r>
            <a:r>
              <a:rPr lang="en-US" sz="2000" b="1" dirty="0"/>
              <a:t>threat</a:t>
            </a:r>
            <a:r>
              <a:rPr lang="en-US" sz="2000" dirty="0"/>
              <a:t> is a possible event that can cause harm to a computer system or organization.</a:t>
            </a:r>
          </a:p>
          <a:p>
            <a:pPr marL="0" indent="0">
              <a:buNone/>
            </a:pPr>
            <a:r>
              <a:rPr lang="en-US" sz="2000" dirty="0"/>
              <a:t>Example:</a:t>
            </a:r>
          </a:p>
          <a:p>
            <a:r>
              <a:rPr lang="en-US" sz="2000" dirty="0"/>
              <a:t>A hacker attempting to steal passwords</a:t>
            </a:r>
          </a:p>
          <a:p>
            <a:r>
              <a:rPr lang="en-US" sz="2000" dirty="0"/>
              <a:t>A virus corrupting files</a:t>
            </a:r>
          </a:p>
          <a:p>
            <a:r>
              <a:rPr lang="en-US" sz="2000" dirty="0"/>
              <a:t>A power failure damaging hardware</a:t>
            </a:r>
          </a:p>
          <a:p>
            <a:pPr marL="0" indent="0" algn="just">
              <a:buNone/>
            </a:pPr>
            <a:endParaRPr lang="en-US" sz="195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4E54CF-CC44-BF5E-E13E-530C26423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University of Central Punjab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9E1B1-FD5A-7573-9C5A-8F2D33268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4</a:t>
            </a:fld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4D66E9-CFBB-90FF-3EDF-055B5F88A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279" y="4196617"/>
            <a:ext cx="2752725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044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AB640-4CCF-F07B-0595-1482400F7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1CE7E-F461-A1D5-FBBF-30CC7400A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Relationship Between Threat, Vulnerability, and Attack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E299E-F448-466D-A1CC-A97114D8D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843" y="2418806"/>
            <a:ext cx="8278586" cy="3555622"/>
          </a:xfrm>
        </p:spPr>
        <p:txBody>
          <a:bodyPr>
            <a:normAutofit/>
          </a:bodyPr>
          <a:lstStyle/>
          <a:p>
            <a:r>
              <a:rPr lang="en-US" sz="2000" b="1" dirty="0"/>
              <a:t>Vulnerability</a:t>
            </a:r>
            <a:r>
              <a:rPr lang="en-US" sz="2000" dirty="0"/>
              <a:t> → Weakness in a system</a:t>
            </a:r>
          </a:p>
          <a:p>
            <a:r>
              <a:rPr lang="en-US" sz="2000" b="1" dirty="0"/>
              <a:t>Threat</a:t>
            </a:r>
            <a:r>
              <a:rPr lang="en-US" sz="2000" dirty="0"/>
              <a:t> → Potential danger</a:t>
            </a:r>
          </a:p>
          <a:p>
            <a:r>
              <a:rPr lang="en-US" sz="2000" b="1" dirty="0"/>
              <a:t>Attack</a:t>
            </a:r>
            <a:r>
              <a:rPr lang="en-US" sz="2000" dirty="0"/>
              <a:t> → Actual exploitation of vulnerability</a:t>
            </a:r>
          </a:p>
          <a:p>
            <a:r>
              <a:rPr lang="en-US" sz="2000" dirty="0"/>
              <a:t>Example:</a:t>
            </a:r>
            <a:br>
              <a:rPr lang="en-US" sz="2000" dirty="0"/>
            </a:br>
            <a:r>
              <a:rPr lang="en-US" sz="2000" dirty="0"/>
              <a:t>If a system has weak passwords (vulnerability), a hacker (threat) may perform brute-force login attempts (attack).</a:t>
            </a:r>
          </a:p>
          <a:p>
            <a:pPr marL="0" indent="0" algn="just">
              <a:buNone/>
            </a:pPr>
            <a:endParaRPr lang="en-US" sz="195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7BFB47-346C-103E-F727-556573E67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University of Central Punjab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36B23-7199-F801-8501-99BA0ABB5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5</a:t>
            </a:fld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B727AB-79D5-C238-8863-3907FAE87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974" y="4860095"/>
            <a:ext cx="2762250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630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2C631-63A8-F281-30EA-7EC694F61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FD732-F37B-4E92-47A6-E74226FC7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Types of Computer System Threats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8BE4D-491B-0FC7-34A1-89A6897A2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843" y="2418806"/>
            <a:ext cx="8278586" cy="3555622"/>
          </a:xfrm>
        </p:spPr>
        <p:txBody>
          <a:bodyPr>
            <a:normAutofit/>
          </a:bodyPr>
          <a:lstStyle/>
          <a:p>
            <a:r>
              <a:rPr lang="en-US" sz="2000" b="1" dirty="0"/>
              <a:t>Internal Threats (Insider Threats)</a:t>
            </a:r>
          </a:p>
          <a:p>
            <a:pPr lvl="1"/>
            <a:r>
              <a:rPr lang="en-US" sz="1800" dirty="0"/>
              <a:t>These originate from within the organization.</a:t>
            </a:r>
          </a:p>
          <a:p>
            <a:r>
              <a:rPr lang="en-US" sz="2000" b="1" dirty="0"/>
              <a:t>Sources:</a:t>
            </a:r>
          </a:p>
          <a:p>
            <a:pPr lvl="1"/>
            <a:r>
              <a:rPr lang="en-US" sz="1800" dirty="0"/>
              <a:t>Employees</a:t>
            </a:r>
          </a:p>
          <a:p>
            <a:pPr lvl="1"/>
            <a:r>
              <a:rPr lang="en-US" sz="1800" dirty="0"/>
              <a:t>Administrators</a:t>
            </a:r>
          </a:p>
          <a:p>
            <a:pPr lvl="1"/>
            <a:r>
              <a:rPr lang="en-US" sz="1800" dirty="0"/>
              <a:t>Contractors</a:t>
            </a:r>
          </a:p>
          <a:p>
            <a:pPr lvl="1"/>
            <a:r>
              <a:rPr lang="en-US" sz="1800" dirty="0"/>
              <a:t>Business partners</a:t>
            </a:r>
          </a:p>
          <a:p>
            <a:pPr marL="0" indent="0" algn="just">
              <a:buNone/>
            </a:pPr>
            <a:endParaRPr lang="en-US" sz="195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70A406-F985-52E9-D4E5-EDF169AA8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University of Central Punjab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75251-8E35-6EB6-57AC-A90634FFE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6</a:t>
            </a:fld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44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2AC38-2CD9-8A08-CEFF-CD899EC7F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A89DE-FDF1-66C0-0607-E08163A8C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Types of Computer System Threats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B99DB-70D5-1B76-E4FC-6C95FDB90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843" y="2418806"/>
            <a:ext cx="8278586" cy="3555622"/>
          </a:xfrm>
        </p:spPr>
        <p:txBody>
          <a:bodyPr>
            <a:normAutofit/>
          </a:bodyPr>
          <a:lstStyle/>
          <a:p>
            <a:r>
              <a:rPr lang="en-US" sz="2000" b="1" dirty="0"/>
              <a:t>Types:</a:t>
            </a:r>
          </a:p>
          <a:p>
            <a:pPr marL="0" indent="0">
              <a:buNone/>
            </a:pPr>
            <a:endParaRPr lang="en-US" sz="2000" b="1" dirty="0"/>
          </a:p>
          <a:p>
            <a:pPr lvl="1"/>
            <a:r>
              <a:rPr lang="en-US" sz="1800" b="1" dirty="0"/>
              <a:t>Malicious Insider</a:t>
            </a:r>
            <a:r>
              <a:rPr lang="en-US" sz="1800" dirty="0"/>
              <a:t> – Intentionally steals or damages data.</a:t>
            </a:r>
          </a:p>
          <a:p>
            <a:pPr lvl="1"/>
            <a:r>
              <a:rPr lang="en-US" sz="1800" b="1" dirty="0"/>
              <a:t>Negligent Insider</a:t>
            </a:r>
            <a:r>
              <a:rPr lang="en-US" sz="1800" dirty="0"/>
              <a:t> – Accidentally exposes information.</a:t>
            </a:r>
          </a:p>
          <a:p>
            <a:pPr lvl="1"/>
            <a:r>
              <a:rPr lang="en-US" sz="1800" b="1" dirty="0"/>
              <a:t>Compromised Insider</a:t>
            </a:r>
            <a:r>
              <a:rPr lang="en-US" sz="1800" dirty="0"/>
              <a:t> – Account taken over by attacker.</a:t>
            </a:r>
          </a:p>
          <a:p>
            <a:pPr marL="402336" lvl="1" indent="0">
              <a:buNone/>
            </a:pPr>
            <a:endParaRPr lang="en-US" sz="1800" dirty="0"/>
          </a:p>
          <a:p>
            <a:r>
              <a:rPr lang="en-US" sz="2000" b="1" dirty="0"/>
              <a:t>Example:</a:t>
            </a:r>
          </a:p>
          <a:p>
            <a:pPr lvl="1"/>
            <a:r>
              <a:rPr lang="en-US" sz="1800" dirty="0"/>
              <a:t>An employee copying confidential data to a USB drive.</a:t>
            </a:r>
          </a:p>
          <a:p>
            <a:pPr marL="0" indent="0" algn="just">
              <a:buNone/>
            </a:pPr>
            <a:endParaRPr lang="en-US" sz="195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E0DD44-7EBC-6801-D917-030A417AA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University of Central Punjab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EBB8F-9F9B-4464-7D01-0ABDC438E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7</a:t>
            </a:fld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286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1B23A-BC4C-6348-3673-CEC98CE9D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9C051-D1A6-C757-E57A-584955FFE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21B9D-EF32-FC06-9270-0F9348B0F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At 9:15 AM, the university's finance department discovers that several student fee records have been modified.</a:t>
            </a:r>
          </a:p>
          <a:p>
            <a:pPr marL="0" indent="0">
              <a:buNone/>
            </a:pPr>
            <a:r>
              <a:rPr lang="en-US" dirty="0"/>
              <a:t>At the same time:</a:t>
            </a:r>
          </a:p>
          <a:p>
            <a:pPr lvl="1"/>
            <a:r>
              <a:rPr lang="en-US" dirty="0"/>
              <a:t>An employee's account was used at 2:00 AM. </a:t>
            </a:r>
          </a:p>
          <a:p>
            <a:pPr lvl="1"/>
            <a:r>
              <a:rPr lang="en-US" dirty="0"/>
              <a:t>The login originated from an unusual IP address. </a:t>
            </a:r>
          </a:p>
          <a:p>
            <a:pPr lvl="1"/>
            <a:r>
              <a:rPr lang="en-US" dirty="0"/>
              <a:t>A USB device was connected to the employee's computer yesterday. </a:t>
            </a:r>
          </a:p>
          <a:p>
            <a:pPr lvl="1"/>
            <a:r>
              <a:rPr lang="en-US" dirty="0"/>
              <a:t>A former employee's account is still active. </a:t>
            </a:r>
          </a:p>
          <a:p>
            <a:pPr lvl="1"/>
            <a:r>
              <a:rPr lang="en-US" dirty="0"/>
              <a:t>The firewall detected multiple failed login attempts from another country. </a:t>
            </a:r>
          </a:p>
          <a:p>
            <a:pPr lvl="1"/>
            <a:r>
              <a:rPr lang="en-US" dirty="0"/>
              <a:t>Someone sent a phishing email to three finance employees. </a:t>
            </a:r>
          </a:p>
          <a:p>
            <a:pPr lvl="1"/>
            <a:r>
              <a:rPr lang="en-US" dirty="0"/>
              <a:t>The database administrator says they did not modify anything. </a:t>
            </a:r>
          </a:p>
          <a:p>
            <a:r>
              <a:rPr lang="en-US" b="1" dirty="0"/>
              <a:t>Who is the most likely attacker?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342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5B598-69BB-C114-9C39-8678FDEE2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C1BF6-A0CA-AA3A-4469-852F37CB1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ABC University has a centralized server that stores:</a:t>
            </a:r>
          </a:p>
          <a:p>
            <a:pPr lvl="1"/>
            <a:r>
              <a:rPr lang="en-US" dirty="0"/>
              <a:t>Student records</a:t>
            </a:r>
          </a:p>
          <a:p>
            <a:pPr lvl="1"/>
            <a:r>
              <a:rPr lang="en-US" dirty="0"/>
              <a:t>Exam results</a:t>
            </a:r>
          </a:p>
          <a:p>
            <a:pPr lvl="1"/>
            <a:r>
              <a:rPr lang="en-US" dirty="0"/>
              <a:t>Payroll data</a:t>
            </a:r>
          </a:p>
          <a:p>
            <a:pPr lvl="1"/>
            <a:r>
              <a:rPr lang="en-US" dirty="0"/>
              <a:t>Research documents</a:t>
            </a:r>
          </a:p>
          <a:p>
            <a:pPr marL="0" indent="0" algn="just">
              <a:buNone/>
            </a:pPr>
            <a:r>
              <a:rPr lang="en-US" dirty="0"/>
              <a:t>Mr. Ali is a senior </a:t>
            </a:r>
            <a:r>
              <a:rPr lang="en-US" b="1" dirty="0"/>
              <a:t>system administrator</a:t>
            </a:r>
            <a:r>
              <a:rPr lang="en-US" dirty="0"/>
              <a:t> who has full access to the database. Recently, the university management announced budget cuts, and Mr. Ali feels unfairly treated after being denied a promotion.</a:t>
            </a:r>
          </a:p>
          <a:p>
            <a:pPr marL="0" indent="0">
              <a:buNone/>
            </a:pPr>
            <a:r>
              <a:rPr lang="en-US" dirty="0"/>
              <a:t>Two weeks later:</a:t>
            </a:r>
          </a:p>
          <a:p>
            <a:pPr lvl="1"/>
            <a:r>
              <a:rPr lang="en-US" dirty="0"/>
              <a:t>Some student grades are mysteriously modified.</a:t>
            </a:r>
          </a:p>
          <a:p>
            <a:pPr lvl="1"/>
            <a:r>
              <a:rPr lang="en-US" dirty="0"/>
              <a:t>Payroll data is leaked online.</a:t>
            </a:r>
          </a:p>
          <a:p>
            <a:pPr lvl="1"/>
            <a:r>
              <a:rPr lang="en-US" dirty="0"/>
              <a:t>Logs show access from Mr. Ali’s admin account at unusual hours.</a:t>
            </a:r>
          </a:p>
        </p:txBody>
      </p:sp>
    </p:spTree>
    <p:extLst>
      <p:ext uri="{BB962C8B-B14F-4D97-AF65-F5344CB8AC3E}">
        <p14:creationId xmlns:p14="http://schemas.microsoft.com/office/powerpoint/2010/main" val="243692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2FB7F-3AD9-FB23-0AA8-51F19A168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41EA9-447E-110E-258F-26D42A6BC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D3C8D-6DE4-22DD-5FAB-29218D454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Identify the Threat</a:t>
            </a:r>
          </a:p>
          <a:p>
            <a:pPr lvl="1"/>
            <a:r>
              <a:rPr lang="en-US" dirty="0"/>
              <a:t>What type of threat is this?</a:t>
            </a:r>
          </a:p>
          <a:p>
            <a:pPr lvl="1"/>
            <a:r>
              <a:rPr lang="en-US" dirty="0"/>
              <a:t>Is this malicious, negligent, or compromised insider?</a:t>
            </a:r>
          </a:p>
          <a:p>
            <a:pPr lvl="1"/>
            <a:r>
              <a:rPr lang="en-US" dirty="0"/>
              <a:t>What vulnerabilities might have enabled this?</a:t>
            </a:r>
          </a:p>
          <a:p>
            <a:pPr marL="0" indent="0">
              <a:buNone/>
            </a:pPr>
            <a:r>
              <a:rPr lang="en-US" b="1" dirty="0"/>
              <a:t>Identify:</a:t>
            </a:r>
          </a:p>
          <a:p>
            <a:pPr lvl="1"/>
            <a:r>
              <a:rPr lang="en-US" b="1" dirty="0"/>
              <a:t>Asset</a:t>
            </a:r>
            <a:r>
              <a:rPr lang="en-US" dirty="0"/>
              <a:t> → What is being protected?</a:t>
            </a:r>
          </a:p>
          <a:p>
            <a:pPr lvl="1"/>
            <a:r>
              <a:rPr lang="en-US" b="1" dirty="0"/>
              <a:t>Threat Actor</a:t>
            </a:r>
            <a:r>
              <a:rPr lang="en-US" dirty="0"/>
              <a:t> → Who caused the incident?</a:t>
            </a:r>
          </a:p>
          <a:p>
            <a:pPr lvl="1"/>
            <a:r>
              <a:rPr lang="en-US" b="1" dirty="0"/>
              <a:t>Impact</a:t>
            </a:r>
            <a:r>
              <a:rPr lang="en-US" dirty="0"/>
              <a:t> → Academic, financial, reputational damage?</a:t>
            </a:r>
          </a:p>
          <a:p>
            <a:pPr lvl="1"/>
            <a:r>
              <a:rPr lang="en-US" b="1" dirty="0"/>
              <a:t>Likelihood</a:t>
            </a:r>
            <a:r>
              <a:rPr lang="en-US" dirty="0"/>
              <a:t> → High / Medium / Low?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805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2DBFA-D639-4158-0AE1-B9B026BC4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556CE-12D5-E585-3136-AEC7B10BB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9C0F9-2899-E95C-E3E4-75E17119D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Students must propose controls such as:</a:t>
            </a:r>
          </a:p>
          <a:p>
            <a:pPr lvl="1"/>
            <a:r>
              <a:rPr lang="en-US" dirty="0"/>
              <a:t>Role-Based Access Control (RBAC)</a:t>
            </a:r>
          </a:p>
          <a:p>
            <a:pPr lvl="1"/>
            <a:r>
              <a:rPr lang="en-US" dirty="0"/>
              <a:t>Least Privilege Principle</a:t>
            </a:r>
          </a:p>
          <a:p>
            <a:pPr lvl="1"/>
            <a:r>
              <a:rPr lang="en-US" dirty="0"/>
              <a:t>Multi-Factor Authentication (MFA)</a:t>
            </a:r>
          </a:p>
          <a:p>
            <a:pPr lvl="1"/>
            <a:r>
              <a:rPr lang="en-US" dirty="0"/>
              <a:t>Log monitoring and SIEM systems</a:t>
            </a:r>
          </a:p>
          <a:p>
            <a:pPr lvl="1"/>
            <a:r>
              <a:rPr lang="en-US" dirty="0"/>
              <a:t>Separation of duties</a:t>
            </a:r>
          </a:p>
          <a:p>
            <a:pPr lvl="1"/>
            <a:r>
              <a:rPr lang="en-US" dirty="0"/>
              <a:t>Regular audits</a:t>
            </a:r>
          </a:p>
          <a:p>
            <a:pPr marL="402336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264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D75F3-FFE9-0B31-F77A-7C4E884C0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E6450-0C21-3432-6A96-7966580EF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9AE1354-23E9-2224-A73D-1FFC6684CA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64382" y="3792835"/>
            <a:ext cx="592566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could this incident be detected earlier?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Should administrators have unlimited access?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does insider threat differ from external hacking?</a:t>
            </a:r>
          </a:p>
        </p:txBody>
      </p:sp>
    </p:spTree>
    <p:extLst>
      <p:ext uri="{BB962C8B-B14F-4D97-AF65-F5344CB8AC3E}">
        <p14:creationId xmlns:p14="http://schemas.microsoft.com/office/powerpoint/2010/main" val="3176875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E0492-9E81-5337-BD70-432FE3401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19233-12B6-C82C-3C9F-A519FA80F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Types of Computer System Threats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E5F44-ED3B-519D-8572-5D69F3E19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843" y="2418806"/>
            <a:ext cx="8278586" cy="3555622"/>
          </a:xfrm>
        </p:spPr>
        <p:txBody>
          <a:bodyPr>
            <a:normAutofit fontScale="92500" lnSpcReduction="10000"/>
          </a:bodyPr>
          <a:lstStyle/>
          <a:p>
            <a:r>
              <a:rPr lang="en-US" sz="2000" b="1" dirty="0"/>
              <a:t>External Threats</a:t>
            </a:r>
          </a:p>
          <a:p>
            <a:pPr lvl="1"/>
            <a:r>
              <a:rPr lang="en-US" sz="1800" dirty="0"/>
              <a:t>These originate outside the organization.</a:t>
            </a:r>
          </a:p>
          <a:p>
            <a:r>
              <a:rPr lang="en-US" sz="2000" b="1" dirty="0"/>
              <a:t>Sources:</a:t>
            </a:r>
          </a:p>
          <a:p>
            <a:pPr lvl="1"/>
            <a:r>
              <a:rPr lang="en-US" sz="1800" dirty="0"/>
              <a:t>Hackers</a:t>
            </a:r>
          </a:p>
          <a:p>
            <a:pPr lvl="1"/>
            <a:r>
              <a:rPr lang="en-US" sz="1800" dirty="0"/>
              <a:t>Cybercriminal groups</a:t>
            </a:r>
          </a:p>
          <a:p>
            <a:pPr lvl="1"/>
            <a:r>
              <a:rPr lang="en-US" sz="1800" dirty="0"/>
              <a:t>Hacktivists</a:t>
            </a:r>
          </a:p>
          <a:p>
            <a:pPr lvl="1"/>
            <a:r>
              <a:rPr lang="en-US" sz="1800" dirty="0"/>
              <a:t>Nation-state actors</a:t>
            </a:r>
          </a:p>
          <a:p>
            <a:r>
              <a:rPr lang="en-US" sz="2000" b="1" dirty="0"/>
              <a:t>Example:</a:t>
            </a:r>
          </a:p>
          <a:p>
            <a:pPr lvl="1"/>
            <a:r>
              <a:rPr lang="en-US" sz="1800" dirty="0"/>
              <a:t>The </a:t>
            </a:r>
            <a:r>
              <a:rPr lang="en-US" sz="1800" b="1" dirty="0"/>
              <a:t>WannaCry</a:t>
            </a:r>
            <a:r>
              <a:rPr lang="en-US" sz="1800" dirty="0"/>
              <a:t> attack spread globally and encrypted hospital and corporate systems.</a:t>
            </a:r>
          </a:p>
          <a:p>
            <a:pPr marL="0" indent="0" algn="just">
              <a:buNone/>
            </a:pPr>
            <a:endParaRPr lang="en-US" sz="195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27BC5D-21F1-2F44-D61A-9542594B7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University of Central Punjab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FBF12-FE1E-BDBA-39C5-47F710B6E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13</a:t>
            </a:fld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4535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87A62-9EB6-319F-227C-F3A887246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BC237-8036-6309-2B13-60AEC545D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Wannacry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Content Placeholder 4" descr="The WannaCry Ransomware Attack: How a Kill Switch Stopped a Global Worm | Net Sec Group">
            <a:extLst>
              <a:ext uri="{FF2B5EF4-FFF2-40B4-BE49-F238E27FC236}">
                <a16:creationId xmlns:a16="http://schemas.microsoft.com/office/drawing/2014/main" id="{6B297F25-302E-597A-33E1-3922281A57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4801" y="2419350"/>
            <a:ext cx="6770310" cy="3554413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D73602-302E-1D24-BCA7-FFACB58A3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University of Central Punjab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CD2F9-4871-8086-4EDA-B42271A10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14</a:t>
            </a:fld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87086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FDED0-53C0-A89F-4058-65C9ABE58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5E8CD-92A0-4CB3-FBCC-17D02572A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Wannacry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D608FD-1370-ED66-2C91-0E6D3A266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University of Central Punjab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F9A68-7479-CBF4-278A-B691D23C6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15</a:t>
            </a:fld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B9A28BD-21FD-B2B9-1305-5FBEAAF6C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 descr="What is a WannaCry Ransomware Attack? | Fortinet">
            <a:extLst>
              <a:ext uri="{FF2B5EF4-FFF2-40B4-BE49-F238E27FC236}">
                <a16:creationId xmlns:a16="http://schemas.microsoft.com/office/drawing/2014/main" id="{80B7764F-BBB7-C328-8CC4-9A7F7953A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457" y="2411523"/>
            <a:ext cx="6857999" cy="368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0746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8A52E-FFE9-648E-B243-BE029669A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E0228-39D0-C4BC-C84D-A84F2EA96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Wannacry</a:t>
            </a:r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2EA2FE-D101-B868-55DB-0FEFC1DBD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University of Central Punjab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034F0-029D-8B69-BE9E-9DB5C2291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16</a:t>
            </a:fld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C89E9E6-900C-F346-CB8D-427115C68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NHS cyber-attack: More ransomware cases 'likely on Monday' - BBC News">
            <a:extLst>
              <a:ext uri="{FF2B5EF4-FFF2-40B4-BE49-F238E27FC236}">
                <a16:creationId xmlns:a16="http://schemas.microsoft.com/office/drawing/2014/main" id="{CA82BEDD-521D-9934-AE6E-A216B3AB3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15" y="2162175"/>
            <a:ext cx="7300127" cy="4106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6901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F680A-438E-D57D-3C39-F982A85F1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FE8B8C-D1EC-ACB2-0430-C443E0F51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University of Central Punjab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4AF5F-B157-7283-1136-535549CC5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17</a:t>
            </a:fld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DB5EAE-B8ED-D5B5-AF6C-19DB33797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0715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87F5E-5C97-F5CE-CF0B-D71743713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9C87D-F9DA-3B05-C554-3414B5096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Attack 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B3EA0-3B4B-F3D9-20AF-CF1698C08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843" y="2418806"/>
            <a:ext cx="8278586" cy="3555622"/>
          </a:xfrm>
        </p:spPr>
        <p:txBody>
          <a:bodyPr>
            <a:normAutofit/>
          </a:bodyPr>
          <a:lstStyle/>
          <a:p>
            <a:r>
              <a:rPr lang="en-US" sz="2000" dirty="0"/>
              <a:t>An </a:t>
            </a:r>
            <a:r>
              <a:rPr lang="en-US" sz="2000" b="1" dirty="0"/>
              <a:t>attack vector</a:t>
            </a:r>
            <a:r>
              <a:rPr lang="en-US" sz="2000" dirty="0"/>
              <a:t> is the path or method used by an attacker to gain unauthorized access.</a:t>
            </a:r>
          </a:p>
          <a:p>
            <a:pPr marL="0" indent="0">
              <a:buNone/>
            </a:pPr>
            <a:endParaRPr lang="en-US" sz="2000" dirty="0"/>
          </a:p>
          <a:p>
            <a:pPr lvl="1"/>
            <a:r>
              <a:rPr lang="en-US" sz="1800" b="1" dirty="0"/>
              <a:t>Common Attack Vectors:</a:t>
            </a:r>
          </a:p>
          <a:p>
            <a:pPr lvl="1"/>
            <a:r>
              <a:rPr lang="en-US" sz="1800" b="1" dirty="0"/>
              <a:t>Phishing Emails</a:t>
            </a:r>
            <a:endParaRPr lang="en-US" sz="1800" dirty="0"/>
          </a:p>
          <a:p>
            <a:pPr lvl="1"/>
            <a:r>
              <a:rPr lang="en-US" sz="1800" b="1" dirty="0"/>
              <a:t>Malicious Attachments</a:t>
            </a:r>
            <a:endParaRPr lang="en-US" sz="1800" dirty="0"/>
          </a:p>
          <a:p>
            <a:pPr lvl="1"/>
            <a:r>
              <a:rPr lang="en-US" sz="1800" b="1" dirty="0"/>
              <a:t>Infected Websites</a:t>
            </a:r>
            <a:endParaRPr lang="en-US" sz="1800" dirty="0"/>
          </a:p>
          <a:p>
            <a:pPr lvl="1"/>
            <a:r>
              <a:rPr lang="en-US" sz="1800" b="1" dirty="0"/>
              <a:t>Weak Passwords</a:t>
            </a:r>
            <a:endParaRPr lang="en-US" sz="1800" dirty="0"/>
          </a:p>
          <a:p>
            <a:pPr marL="0" indent="0" algn="just">
              <a:buNone/>
            </a:pPr>
            <a:endParaRPr lang="en-US" sz="195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3E3B66-35AE-1AF5-09BE-1A495B265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University of Central Punjab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9D67D-651A-B70E-8CE3-2223147F8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18</a:t>
            </a:fld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91516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5DB0A-C3D8-DF9F-1F6E-AFC80ED68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60586-7687-C868-63B2-5A1F145FE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Attack 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113A8-6632-71E3-5742-6996F05F9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843" y="2418806"/>
            <a:ext cx="8278586" cy="3555622"/>
          </a:xfrm>
        </p:spPr>
        <p:txBody>
          <a:bodyPr>
            <a:normAutofit/>
          </a:bodyPr>
          <a:lstStyle/>
          <a:p>
            <a:r>
              <a:rPr lang="en-US" sz="2000" dirty="0"/>
              <a:t>Common Attack Vectors</a:t>
            </a:r>
          </a:p>
          <a:p>
            <a:pPr lvl="1"/>
            <a:r>
              <a:rPr lang="en-US" b="1" dirty="0"/>
              <a:t>Unpatched Software</a:t>
            </a:r>
            <a:endParaRPr lang="en-US" dirty="0"/>
          </a:p>
          <a:p>
            <a:pPr lvl="1"/>
            <a:r>
              <a:rPr lang="en-US" b="1" dirty="0"/>
              <a:t>Open Network Ports</a:t>
            </a:r>
            <a:endParaRPr lang="en-US" dirty="0"/>
          </a:p>
          <a:p>
            <a:pPr lvl="1"/>
            <a:r>
              <a:rPr lang="en-US" b="1" dirty="0"/>
              <a:t>USB Devices</a:t>
            </a:r>
            <a:endParaRPr lang="en-US" dirty="0"/>
          </a:p>
          <a:p>
            <a:pPr lvl="1"/>
            <a:r>
              <a:rPr lang="en-US" b="1" dirty="0"/>
              <a:t>Remote Desktop Exploitation</a:t>
            </a:r>
            <a:endParaRPr lang="en-US" dirty="0"/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The </a:t>
            </a:r>
            <a:r>
              <a:rPr lang="en-US" b="1" dirty="0"/>
              <a:t>SolarWinds supply chain attack</a:t>
            </a:r>
            <a:r>
              <a:rPr lang="en-US" dirty="0"/>
              <a:t> used a software update as an attack vector to compromise organizations.</a:t>
            </a:r>
          </a:p>
          <a:p>
            <a:pPr marL="0" indent="0" algn="just">
              <a:buNone/>
            </a:pPr>
            <a:endParaRPr lang="en-US" sz="195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2739BD-D195-8359-897F-379318D57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University of Central Punjab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6AF86-F29B-D086-62DA-62C64115D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19</a:t>
            </a:fld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8052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FFBC4-046C-E421-FCB1-C810B4FA0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870C9-7F8D-2B44-DC71-1C2062EF3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Common Cyber Threats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534A6-33EC-021F-2E33-0666A8CBC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843" y="2418806"/>
            <a:ext cx="8278586" cy="3555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1. Malware</a:t>
            </a:r>
          </a:p>
          <a:p>
            <a:pPr lvl="1"/>
            <a:r>
              <a:rPr lang="en-US" sz="1800" dirty="0"/>
              <a:t>Virus</a:t>
            </a:r>
          </a:p>
          <a:p>
            <a:pPr lvl="1"/>
            <a:r>
              <a:rPr lang="en-US" sz="1800" dirty="0"/>
              <a:t>Worm</a:t>
            </a:r>
          </a:p>
          <a:p>
            <a:pPr lvl="1"/>
            <a:r>
              <a:rPr lang="en-US" sz="1800" dirty="0"/>
              <a:t>Trojan</a:t>
            </a:r>
          </a:p>
          <a:p>
            <a:pPr lvl="1"/>
            <a:r>
              <a:rPr lang="en-US" sz="1800" dirty="0"/>
              <a:t>Spyware</a:t>
            </a:r>
          </a:p>
          <a:p>
            <a:pPr lvl="1"/>
            <a:r>
              <a:rPr lang="en-US" sz="1800" dirty="0"/>
              <a:t>Ransomware</a:t>
            </a:r>
          </a:p>
          <a:p>
            <a:pPr marL="0" indent="0">
              <a:buNone/>
            </a:pPr>
            <a:r>
              <a:rPr lang="en-US" sz="2000" b="1" dirty="0"/>
              <a:t>2. Phishing</a:t>
            </a:r>
          </a:p>
          <a:p>
            <a:pPr lvl="1"/>
            <a:r>
              <a:rPr lang="en-US" sz="1800" dirty="0"/>
              <a:t>Fraudulent communication pretending to be legitimate.</a:t>
            </a:r>
          </a:p>
          <a:p>
            <a:pPr marL="0" indent="0" algn="just">
              <a:buNone/>
            </a:pPr>
            <a:endParaRPr lang="en-US" sz="195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0F57EE-B456-51F3-E6BD-8FF15A6DB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University of Central Punjab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C1149-4263-9AE3-1FD8-5247C6426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20</a:t>
            </a:fld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2043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E9AFE-4574-6E11-874B-9ECB8A395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0492A-2780-E40C-C1EA-201DCDA63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Common Cyber Threats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7B33F0-6A48-B099-4BA3-BB8E461A3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University of Central Punjab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0C1D0-51D6-3772-233C-1E6D11ADF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21</a:t>
            </a:fld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A18061-3376-87C0-94C6-C9C54B7CB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8" y="0"/>
            <a:ext cx="91524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0567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86B6A-EC65-8F3D-2F68-87D6A9B9F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2800F-41ED-6F4E-768A-9332B88F6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Common Cyber Threats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0FBC2-58E1-0BB6-FA0E-40B62CFD01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843" y="2418806"/>
            <a:ext cx="8278586" cy="3555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3. Ransomware</a:t>
            </a:r>
          </a:p>
          <a:p>
            <a:pPr lvl="1"/>
            <a:r>
              <a:rPr lang="en-US" sz="1800" dirty="0"/>
              <a:t>Encrypts files and demands payment.</a:t>
            </a:r>
          </a:p>
          <a:p>
            <a:pPr marL="0" indent="0">
              <a:buNone/>
            </a:pPr>
            <a:r>
              <a:rPr lang="en-US" sz="2000" b="1" dirty="0"/>
              <a:t>4. Password Attacks</a:t>
            </a:r>
          </a:p>
          <a:p>
            <a:pPr lvl="1"/>
            <a:r>
              <a:rPr lang="en-US" sz="1800" dirty="0"/>
              <a:t>Brute force</a:t>
            </a:r>
          </a:p>
          <a:p>
            <a:pPr lvl="1"/>
            <a:r>
              <a:rPr lang="en-US" sz="1800" dirty="0"/>
              <a:t>Dictionary attacks</a:t>
            </a:r>
          </a:p>
          <a:p>
            <a:pPr lvl="1"/>
            <a:r>
              <a:rPr lang="en-US" sz="1800" dirty="0"/>
              <a:t>Credential stuffing</a:t>
            </a:r>
          </a:p>
          <a:p>
            <a:pPr marL="0" indent="0">
              <a:buNone/>
            </a:pPr>
            <a:r>
              <a:rPr lang="en-US" sz="2000" b="1" dirty="0"/>
              <a:t>5. Man-in-the-Middle (MITM)</a:t>
            </a:r>
          </a:p>
          <a:p>
            <a:pPr lvl="1"/>
            <a:r>
              <a:rPr lang="en-US" sz="1800" dirty="0"/>
              <a:t>Intercepting communication between two parties.</a:t>
            </a:r>
          </a:p>
          <a:p>
            <a:pPr marL="0" indent="0" algn="just">
              <a:buNone/>
            </a:pPr>
            <a:endParaRPr lang="en-US" sz="195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632E9-0445-8B6E-00F9-6F94455A3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University of Central Punjab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A9590-D4E1-05FB-0826-94EFE42D5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22</a:t>
            </a:fld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49094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7A2EA-4745-2699-BED4-8C9F69CBF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09A37-E9F9-9019-C02A-55E313221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Common Cyber Threats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09550-9F58-DEA1-C250-F318C963B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843" y="2418806"/>
            <a:ext cx="8278586" cy="3555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6. Zero-Day Exploits</a:t>
            </a:r>
          </a:p>
          <a:p>
            <a:pPr lvl="1"/>
            <a:r>
              <a:rPr lang="en-US" sz="1800" dirty="0"/>
              <a:t>Attacks exploiting unknown vulnerabilities.</a:t>
            </a:r>
          </a:p>
          <a:p>
            <a:pPr marL="0" indent="0">
              <a:buNone/>
            </a:pPr>
            <a:r>
              <a:rPr lang="en-US" sz="2000" b="1" dirty="0"/>
              <a:t>7. Botnets</a:t>
            </a:r>
          </a:p>
          <a:p>
            <a:pPr lvl="1"/>
            <a:r>
              <a:rPr lang="en-US" sz="1800" dirty="0"/>
              <a:t>Compromised devices controlled remotely.</a:t>
            </a:r>
          </a:p>
          <a:p>
            <a:pPr lvl="1"/>
            <a:r>
              <a:rPr lang="en-US" sz="1800" dirty="0"/>
              <a:t>Example:</a:t>
            </a:r>
            <a:br>
              <a:rPr lang="en-US" sz="1800" dirty="0"/>
            </a:br>
            <a:r>
              <a:rPr lang="en-US" sz="1800" dirty="0"/>
              <a:t>The </a:t>
            </a:r>
            <a:r>
              <a:rPr lang="en-US" sz="1800" b="1" dirty="0"/>
              <a:t>Mirai botnet attack</a:t>
            </a:r>
            <a:r>
              <a:rPr lang="en-US" sz="1800" dirty="0"/>
              <a:t> used IoT devices to launch large-scale DDoS attacks.</a:t>
            </a:r>
          </a:p>
          <a:p>
            <a:pPr marL="0" indent="0" algn="just">
              <a:buNone/>
            </a:pPr>
            <a:endParaRPr lang="en-US" sz="195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6245CD-2D59-0989-2E45-029B1F760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University of Central Punjab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8D984-2163-3430-E804-58F6738B5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23</a:t>
            </a:fld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52208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B21A9C-55B8-EB93-0BD3-5086DCFE4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2552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A1A39-DF0F-0C2F-2912-C8DE37613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5C860-5D2D-08F0-B3F6-0E408E139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Service Attacks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DC7A9-654D-776D-226D-8C214C167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843" y="2418806"/>
            <a:ext cx="8278586" cy="3555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Service attacks target system availability and performance.</a:t>
            </a:r>
          </a:p>
          <a:p>
            <a:pPr marL="0" indent="0">
              <a:buNone/>
            </a:pPr>
            <a:r>
              <a:rPr lang="en-US" sz="2000" b="1" dirty="0"/>
              <a:t>A. Denial-of-Service (DoS)</a:t>
            </a:r>
          </a:p>
          <a:p>
            <a:pPr lvl="1"/>
            <a:r>
              <a:rPr lang="en-US" sz="1800" dirty="0"/>
              <a:t>Overwhelms a system with traffic to make it unavailable.</a:t>
            </a:r>
          </a:p>
          <a:p>
            <a:pPr marL="0" indent="0">
              <a:buNone/>
            </a:pPr>
            <a:r>
              <a:rPr lang="en-US" sz="2000" b="1" dirty="0"/>
              <a:t>B. Distributed Denial-of-Service (DDoS)</a:t>
            </a:r>
          </a:p>
          <a:p>
            <a:pPr lvl="1"/>
            <a:r>
              <a:rPr lang="en-US" sz="1800" dirty="0"/>
              <a:t>Multiple compromised systems attack a single target.</a:t>
            </a:r>
          </a:p>
          <a:p>
            <a:pPr marL="0" indent="0">
              <a:buNone/>
            </a:pPr>
            <a:r>
              <a:rPr lang="en-US" sz="2000" b="1" dirty="0"/>
              <a:t>C. Resource Exhaustion</a:t>
            </a:r>
          </a:p>
          <a:p>
            <a:pPr lvl="1"/>
            <a:r>
              <a:rPr lang="en-US" sz="1800" dirty="0"/>
              <a:t>Consumes CPU, memory, or bandwidth.</a:t>
            </a:r>
          </a:p>
          <a:p>
            <a:pPr marL="0" indent="0" algn="just">
              <a:buNone/>
            </a:pPr>
            <a:endParaRPr lang="en-US" sz="195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FF69A2-8CEE-509E-BD6E-B39C1C09C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University of Central Punjab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3891C-6CF1-3F0B-072A-B77829814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25</a:t>
            </a:fld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6290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36D78-89BF-E0C7-6700-5FB7D5DC5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29C25-5EBE-9826-1099-80DF49706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Service Attacks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203F2-34F8-6D28-ED93-8ED3155BA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843" y="2418806"/>
            <a:ext cx="8278586" cy="3555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D. DNS Amplification Attacks</a:t>
            </a:r>
          </a:p>
          <a:p>
            <a:pPr lvl="1"/>
            <a:r>
              <a:rPr lang="en-US" sz="1800" dirty="0"/>
              <a:t>Abuses DNS servers to flood victims with traffic.</a:t>
            </a:r>
          </a:p>
          <a:p>
            <a:r>
              <a:rPr lang="en-US" sz="2000" b="1" dirty="0"/>
              <a:t>Impact of Service Attacks:</a:t>
            </a:r>
          </a:p>
          <a:p>
            <a:pPr lvl="1"/>
            <a:r>
              <a:rPr lang="en-US" sz="1800" dirty="0"/>
              <a:t>Website downtime</a:t>
            </a:r>
          </a:p>
          <a:p>
            <a:pPr lvl="1"/>
            <a:r>
              <a:rPr lang="en-US" sz="1800" dirty="0"/>
              <a:t>Financial loss</a:t>
            </a:r>
          </a:p>
          <a:p>
            <a:pPr lvl="1"/>
            <a:r>
              <a:rPr lang="en-US" sz="1800" dirty="0"/>
              <a:t>Customer dissatisfaction</a:t>
            </a:r>
          </a:p>
          <a:p>
            <a:pPr lvl="1"/>
            <a:r>
              <a:rPr lang="en-US" sz="1800" dirty="0"/>
              <a:t>Business interruption</a:t>
            </a:r>
          </a:p>
          <a:p>
            <a:pPr marL="0" indent="0" algn="just">
              <a:buNone/>
            </a:pPr>
            <a:endParaRPr lang="en-US" sz="195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BEF0B8-CA49-502A-B725-0EC73018D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University of Central Punjab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63862-3812-710C-FD4C-056DB7BA2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26</a:t>
            </a:fld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0866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3B4D1-B288-10A4-5A37-2A03CA869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5AC59-397E-36B7-CBA1-4FD461C65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Summary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30EDB1-D0ED-007D-642D-5313D85EC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University of Central Punjab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F4AF0-0EDB-4B7A-DF94-8FD4948C5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D8F5-F0EE-4F30-BF79-1CB5FF8C36DA}" type="slidenum">
              <a:rPr lang="en-US" smtClean="0">
                <a:latin typeface="Times New Roman" pitchFamily="18" charset="0"/>
                <a:cs typeface="Times New Roman" pitchFamily="18" charset="0"/>
              </a:rPr>
              <a:pPr/>
              <a:t>27</a:t>
            </a:fld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039954-FA93-3BA0-FB9B-E63620FD4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843" y="2893671"/>
            <a:ext cx="7808859" cy="303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1814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505</TotalTime>
  <Words>995</Words>
  <Application>Microsoft Office PowerPoint</Application>
  <PresentationFormat>On-screen Show (4:3)</PresentationFormat>
  <Paragraphs>203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Century Gothic</vt:lpstr>
      <vt:lpstr>Times New Roman</vt:lpstr>
      <vt:lpstr>Wingdings</vt:lpstr>
      <vt:lpstr>Wingdings 3</vt:lpstr>
      <vt:lpstr>Ion Boardroom</vt:lpstr>
      <vt:lpstr>      CS-Cyber Security      Week-2  Lecture-2            Semester- Spring 2026</vt:lpstr>
      <vt:lpstr>Instructor Contact Details  </vt:lpstr>
      <vt:lpstr>Introduction to Computer System Threats </vt:lpstr>
      <vt:lpstr>What is a Threat</vt:lpstr>
      <vt:lpstr>Relationship Between Threat, Vulnerability, and Attack</vt:lpstr>
      <vt:lpstr>Types of Computer System Threats</vt:lpstr>
      <vt:lpstr>Types of Computer System Threats</vt:lpstr>
      <vt:lpstr>Case Study</vt:lpstr>
      <vt:lpstr>Case Study</vt:lpstr>
      <vt:lpstr>Case Study</vt:lpstr>
      <vt:lpstr>Case Study</vt:lpstr>
      <vt:lpstr>Case Study</vt:lpstr>
      <vt:lpstr>Types of Computer System Threats</vt:lpstr>
      <vt:lpstr>Wannacry </vt:lpstr>
      <vt:lpstr>Wannacry </vt:lpstr>
      <vt:lpstr>Wannacry </vt:lpstr>
      <vt:lpstr>PowerPoint Presentation</vt:lpstr>
      <vt:lpstr>Attack Vectors</vt:lpstr>
      <vt:lpstr>Attack Vectors</vt:lpstr>
      <vt:lpstr>Common Cyber Threats</vt:lpstr>
      <vt:lpstr>Common Cyber Threats</vt:lpstr>
      <vt:lpstr>Common Cyber Threats</vt:lpstr>
      <vt:lpstr>Common Cyber Threats</vt:lpstr>
      <vt:lpstr>PowerPoint Presentation</vt:lpstr>
      <vt:lpstr>Service Attacks</vt:lpstr>
      <vt:lpstr>Service Attacks</vt:lpstr>
      <vt:lpstr>Summary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Mahek Kausar</dc:creator>
  <cp:keywords/>
  <dc:description>generated using python-pptx</dc:description>
  <cp:lastModifiedBy>Mahek Kausar</cp:lastModifiedBy>
  <cp:revision>44</cp:revision>
  <dcterms:created xsi:type="dcterms:W3CDTF">2013-01-27T09:14:16Z</dcterms:created>
  <dcterms:modified xsi:type="dcterms:W3CDTF">2026-10-08T07:29:44Z</dcterms:modified>
  <cp:category/>
</cp:coreProperties>
</file>